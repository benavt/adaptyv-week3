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  <Override PartName="/ppt/slides/slide38.xml" ContentType="application/vnd.openxmlformats-officedocument.presentationml.slide+xml"/>
  <Override PartName="/ppt/notesSlides/notesSlide38.xml" ContentType="application/vnd.openxmlformats-officedocument.presentationml.notesSlide+xml"/>
  <Override PartName="/ppt/slides/slide39.xml" ContentType="application/vnd.openxmlformats-officedocument.presentationml.slide+xml"/>
  <Override PartName="/ppt/notesSlides/notesSlide39.xml" ContentType="application/vnd.openxmlformats-officedocument.presentationml.notesSlide+xml"/>
  <Override PartName="/ppt/slides/slide40.xml" ContentType="application/vnd.openxmlformats-officedocument.presentationml.slide+xml"/>
  <Override PartName="/ppt/notesSlides/notesSlide4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16eb1e804464001" /><Relationship Type="http://schemas.openxmlformats.org/officeDocument/2006/relationships/extended-properties" Target="/docProps/app.xml" Id="Rd3b67489950148dc" /><Relationship Type="http://schemas.openxmlformats.org/officeDocument/2006/relationships/officeDocument" Target="/ppt/presentation.xml" Id="R5da4daaff713442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e2cbff1b67340d3"/>
  </p:sldMasterIdLst>
  <p:notesMasterIdLst>
    <p:notesMasterId xmlns:r="http://schemas.openxmlformats.org/officeDocument/2006/relationships" r:id="R8f8f1e860f64476f"/>
  </p:notesMasterIdLst>
  <p:sldIdLst>
    <p:sldId xmlns:r="http://schemas.openxmlformats.org/officeDocument/2006/relationships" id="256" r:id="Ref4280dfbed448ec"/>
    <p:sldId xmlns:r="http://schemas.openxmlformats.org/officeDocument/2006/relationships" id="257" r:id="Rf0dab1cab89a49b3"/>
    <p:sldId xmlns:r="http://schemas.openxmlformats.org/officeDocument/2006/relationships" id="258" r:id="Rf3ef9427a1d84b63"/>
    <p:sldId xmlns:r="http://schemas.openxmlformats.org/officeDocument/2006/relationships" id="259" r:id="R863bd1da13184fc2"/>
    <p:sldId xmlns:r="http://schemas.openxmlformats.org/officeDocument/2006/relationships" id="260" r:id="Re00575268e99434b"/>
    <p:sldId xmlns:r="http://schemas.openxmlformats.org/officeDocument/2006/relationships" id="261" r:id="R2adc82862153407e"/>
    <p:sldId xmlns:r="http://schemas.openxmlformats.org/officeDocument/2006/relationships" id="262" r:id="R92456d489b47468a"/>
    <p:sldId xmlns:r="http://schemas.openxmlformats.org/officeDocument/2006/relationships" id="263" r:id="Rba180779f58c436f"/>
    <p:sldId xmlns:r="http://schemas.openxmlformats.org/officeDocument/2006/relationships" id="264" r:id="R921f19a3fba14d2a"/>
    <p:sldId xmlns:r="http://schemas.openxmlformats.org/officeDocument/2006/relationships" id="265" r:id="R27757f7921b64968"/>
    <p:sldId xmlns:r="http://schemas.openxmlformats.org/officeDocument/2006/relationships" id="266" r:id="R83e6bfbeaac44449"/>
    <p:sldId xmlns:r="http://schemas.openxmlformats.org/officeDocument/2006/relationships" id="267" r:id="R2f858319e4354b54"/>
    <p:sldId xmlns:r="http://schemas.openxmlformats.org/officeDocument/2006/relationships" id="268" r:id="R7ee66e1e17de4155"/>
    <p:sldId xmlns:r="http://schemas.openxmlformats.org/officeDocument/2006/relationships" id="269" r:id="R258bd62115054d9e"/>
    <p:sldId xmlns:r="http://schemas.openxmlformats.org/officeDocument/2006/relationships" id="270" r:id="R22ba3e975f1741e2"/>
    <p:sldId xmlns:r="http://schemas.openxmlformats.org/officeDocument/2006/relationships" id="271" r:id="R6fc2247fa8e745a3"/>
    <p:sldId xmlns:r="http://schemas.openxmlformats.org/officeDocument/2006/relationships" id="272" r:id="Rebafb65e7f1a4816"/>
    <p:sldId xmlns:r="http://schemas.openxmlformats.org/officeDocument/2006/relationships" id="273" r:id="Rac916ab19b564dff"/>
    <p:sldId xmlns:r="http://schemas.openxmlformats.org/officeDocument/2006/relationships" id="274" r:id="Re56c1cdc97f5448c"/>
    <p:sldId xmlns:r="http://schemas.openxmlformats.org/officeDocument/2006/relationships" id="275" r:id="Rfbdaf411308b4ff9"/>
    <p:sldId xmlns:r="http://schemas.openxmlformats.org/officeDocument/2006/relationships" id="276" r:id="Rf81581bb949b42e1"/>
    <p:sldId xmlns:r="http://schemas.openxmlformats.org/officeDocument/2006/relationships" id="277" r:id="R0eca06df453046a2"/>
    <p:sldId xmlns:r="http://schemas.openxmlformats.org/officeDocument/2006/relationships" id="278" r:id="R0d00906396c74989"/>
    <p:sldId xmlns:r="http://schemas.openxmlformats.org/officeDocument/2006/relationships" id="279" r:id="R16a7d9dea26a472e"/>
    <p:sldId xmlns:r="http://schemas.openxmlformats.org/officeDocument/2006/relationships" id="280" r:id="R8374c51f06db4208"/>
    <p:sldId xmlns:r="http://schemas.openxmlformats.org/officeDocument/2006/relationships" id="281" r:id="R0e4fdd910ade4094"/>
    <p:sldId xmlns:r="http://schemas.openxmlformats.org/officeDocument/2006/relationships" id="282" r:id="R2ce8f8aefa8b446e"/>
    <p:sldId xmlns:r="http://schemas.openxmlformats.org/officeDocument/2006/relationships" id="283" r:id="Rffcc9166682149a2"/>
    <p:sldId xmlns:r="http://schemas.openxmlformats.org/officeDocument/2006/relationships" id="284" r:id="R7547b77bcac44b19"/>
    <p:sldId xmlns:r="http://schemas.openxmlformats.org/officeDocument/2006/relationships" id="285" r:id="R9504fd4fc76040a7"/>
    <p:sldId xmlns:r="http://schemas.openxmlformats.org/officeDocument/2006/relationships" id="286" r:id="R501f273e32024a9c"/>
    <p:sldId xmlns:r="http://schemas.openxmlformats.org/officeDocument/2006/relationships" id="287" r:id="R4ebf76345064466e"/>
    <p:sldId xmlns:r="http://schemas.openxmlformats.org/officeDocument/2006/relationships" id="288" r:id="R7d1d028cbfc84cec"/>
    <p:sldId xmlns:r="http://schemas.openxmlformats.org/officeDocument/2006/relationships" id="289" r:id="R2f5c9165ec614abc"/>
    <p:sldId xmlns:r="http://schemas.openxmlformats.org/officeDocument/2006/relationships" id="290" r:id="Rceb1d684bdfe43ec"/>
    <p:sldId xmlns:r="http://schemas.openxmlformats.org/officeDocument/2006/relationships" id="291" r:id="Rbab3a0a18b5e492a"/>
    <p:sldId xmlns:r="http://schemas.openxmlformats.org/officeDocument/2006/relationships" id="292" r:id="R6d2208c271184d60"/>
    <p:sldId xmlns:r="http://schemas.openxmlformats.org/officeDocument/2006/relationships" id="293" r:id="Rc9c444b4a65541ee"/>
    <p:sldId xmlns:r="http://schemas.openxmlformats.org/officeDocument/2006/relationships" id="294" r:id="R56198dfd8e27429a"/>
    <p:sldId xmlns:r="http://schemas.openxmlformats.org/officeDocument/2006/relationships" id="295" r:id="Ra0664502f2504741"/>
  </p:sldIdLst>
  <p:sldSz cx="15240000" cy="85725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99795f249e04485" /><Relationship Type="http://schemas.openxmlformats.org/officeDocument/2006/relationships/slideMaster" Target="/ppt/slideMasters/slideMaster1.xml" Id="R3e2cbff1b67340d3" /><Relationship Type="http://schemas.openxmlformats.org/officeDocument/2006/relationships/notesMaster" Target="/ppt/notesMasters/notesMaster1.xml" Id="R8f8f1e860f64476f" /><Relationship Type="http://schemas.openxmlformats.org/officeDocument/2006/relationships/presProps" Target="/ppt/presProps.xml" Id="R1b4ea9adc4e24345" /><Relationship Type="http://schemas.openxmlformats.org/officeDocument/2006/relationships/tableStyles" Target="/ppt/tableStyles.xml" Id="R91a5cd358d664afc" /><Relationship Type="http://schemas.openxmlformats.org/officeDocument/2006/relationships/slide" Target="/ppt/slides/slide1.xml" Id="Ref4280dfbed448ec" /><Relationship Type="http://schemas.openxmlformats.org/officeDocument/2006/relationships/slide" Target="/ppt/slides/slide2.xml" Id="Rf0dab1cab89a49b3" /><Relationship Type="http://schemas.openxmlformats.org/officeDocument/2006/relationships/slide" Target="/ppt/slides/slide3.xml" Id="Rf3ef9427a1d84b63" /><Relationship Type="http://schemas.openxmlformats.org/officeDocument/2006/relationships/slide" Target="/ppt/slides/slide4.xml" Id="R863bd1da13184fc2" /><Relationship Type="http://schemas.openxmlformats.org/officeDocument/2006/relationships/slide" Target="/ppt/slides/slide5.xml" Id="Re00575268e99434b" /><Relationship Type="http://schemas.openxmlformats.org/officeDocument/2006/relationships/slide" Target="/ppt/slides/slide6.xml" Id="R2adc82862153407e" /><Relationship Type="http://schemas.openxmlformats.org/officeDocument/2006/relationships/slide" Target="/ppt/slides/slide7.xml" Id="R92456d489b47468a" /><Relationship Type="http://schemas.openxmlformats.org/officeDocument/2006/relationships/slide" Target="/ppt/slides/slide8.xml" Id="Rba180779f58c436f" /><Relationship Type="http://schemas.openxmlformats.org/officeDocument/2006/relationships/slide" Target="/ppt/slides/slide9.xml" Id="R921f19a3fba14d2a" /><Relationship Type="http://schemas.openxmlformats.org/officeDocument/2006/relationships/slide" Target="/ppt/slides/slide10.xml" Id="R27757f7921b64968" /><Relationship Type="http://schemas.openxmlformats.org/officeDocument/2006/relationships/slide" Target="/ppt/slides/slide11.xml" Id="R83e6bfbeaac44449" /><Relationship Type="http://schemas.openxmlformats.org/officeDocument/2006/relationships/slide" Target="/ppt/slides/slide12.xml" Id="R2f858319e4354b54" /><Relationship Type="http://schemas.openxmlformats.org/officeDocument/2006/relationships/slide" Target="/ppt/slides/slide13.xml" Id="R7ee66e1e17de4155" /><Relationship Type="http://schemas.openxmlformats.org/officeDocument/2006/relationships/slide" Target="/ppt/slides/slide14.xml" Id="R258bd62115054d9e" /><Relationship Type="http://schemas.openxmlformats.org/officeDocument/2006/relationships/slide" Target="/ppt/slides/slide15.xml" Id="R22ba3e975f1741e2" /><Relationship Type="http://schemas.openxmlformats.org/officeDocument/2006/relationships/slide" Target="/ppt/slides/slide16.xml" Id="R6fc2247fa8e745a3" /><Relationship Type="http://schemas.openxmlformats.org/officeDocument/2006/relationships/slide" Target="/ppt/slides/slide17.xml" Id="Rebafb65e7f1a4816" /><Relationship Type="http://schemas.openxmlformats.org/officeDocument/2006/relationships/slide" Target="/ppt/slides/slide18.xml" Id="Rac916ab19b564dff" /><Relationship Type="http://schemas.openxmlformats.org/officeDocument/2006/relationships/slide" Target="/ppt/slides/slide19.xml" Id="Re56c1cdc97f5448c" /><Relationship Type="http://schemas.openxmlformats.org/officeDocument/2006/relationships/slide" Target="/ppt/slides/slide20.xml" Id="Rfbdaf411308b4ff9" /><Relationship Type="http://schemas.openxmlformats.org/officeDocument/2006/relationships/slide" Target="/ppt/slides/slide21.xml" Id="Rf81581bb949b42e1" /><Relationship Type="http://schemas.openxmlformats.org/officeDocument/2006/relationships/slide" Target="/ppt/slides/slide22.xml" Id="R0eca06df453046a2" /><Relationship Type="http://schemas.openxmlformats.org/officeDocument/2006/relationships/slide" Target="/ppt/slides/slide23.xml" Id="R0d00906396c74989" /><Relationship Type="http://schemas.openxmlformats.org/officeDocument/2006/relationships/slide" Target="/ppt/slides/slide24.xml" Id="R16a7d9dea26a472e" /><Relationship Type="http://schemas.openxmlformats.org/officeDocument/2006/relationships/slide" Target="/ppt/slides/slide25.xml" Id="R8374c51f06db4208" /><Relationship Type="http://schemas.openxmlformats.org/officeDocument/2006/relationships/slide" Target="/ppt/slides/slide26.xml" Id="R0e4fdd910ade4094" /><Relationship Type="http://schemas.openxmlformats.org/officeDocument/2006/relationships/slide" Target="/ppt/slides/slide27.xml" Id="R2ce8f8aefa8b446e" /><Relationship Type="http://schemas.openxmlformats.org/officeDocument/2006/relationships/slide" Target="/ppt/slides/slide28.xml" Id="Rffcc9166682149a2" /><Relationship Type="http://schemas.openxmlformats.org/officeDocument/2006/relationships/slide" Target="/ppt/slides/slide29.xml" Id="R7547b77bcac44b19" /><Relationship Type="http://schemas.openxmlformats.org/officeDocument/2006/relationships/slide" Target="/ppt/slides/slide30.xml" Id="R9504fd4fc76040a7" /><Relationship Type="http://schemas.openxmlformats.org/officeDocument/2006/relationships/slide" Target="/ppt/slides/slide31.xml" Id="R501f273e32024a9c" /><Relationship Type="http://schemas.openxmlformats.org/officeDocument/2006/relationships/slide" Target="/ppt/slides/slide32.xml" Id="R4ebf76345064466e" /><Relationship Type="http://schemas.openxmlformats.org/officeDocument/2006/relationships/slide" Target="/ppt/slides/slide33.xml" Id="R7d1d028cbfc84cec" /><Relationship Type="http://schemas.openxmlformats.org/officeDocument/2006/relationships/slide" Target="/ppt/slides/slide34.xml" Id="R2f5c9165ec614abc" /><Relationship Type="http://schemas.openxmlformats.org/officeDocument/2006/relationships/slide" Target="/ppt/slides/slide35.xml" Id="Rceb1d684bdfe43ec" /><Relationship Type="http://schemas.openxmlformats.org/officeDocument/2006/relationships/slide" Target="/ppt/slides/slide36.xml" Id="Rbab3a0a18b5e492a" /><Relationship Type="http://schemas.openxmlformats.org/officeDocument/2006/relationships/slide" Target="/ppt/slides/slide37.xml" Id="R6d2208c271184d60" /><Relationship Type="http://schemas.openxmlformats.org/officeDocument/2006/relationships/slide" Target="/ppt/slides/slide38.xml" Id="Rc9c444b4a65541ee" /><Relationship Type="http://schemas.openxmlformats.org/officeDocument/2006/relationships/slide" Target="/ppt/slides/slide39.xml" Id="R56198dfd8e27429a" /><Relationship Type="http://schemas.openxmlformats.org/officeDocument/2006/relationships/slide" Target="/ppt/slides/slide40.xml" Id="Ra0664502f250474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b39df5edd7143b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DejaVu Sans"/>
        <a:ea typeface=""/>
        <a:cs typeface=""/>
      </a:majorFont>
      <a:minorFont>
        <a:latin typeface="DejaVu San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5122a33f8c94f8c" /><Relationship Type="http://schemas.openxmlformats.org/officeDocument/2006/relationships/notesMaster" Target="/ppt/notesMasters/notesMaster1.xml" Id="R75e2660b2b974e4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616bd7ee73e41c4" /><Relationship Type="http://schemas.openxmlformats.org/officeDocument/2006/relationships/notesMaster" Target="/ppt/notesMasters/notesMaster1.xml" Id="R84840df41a1f4a1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76bca698d9a4ac0" /><Relationship Type="http://schemas.openxmlformats.org/officeDocument/2006/relationships/notesMaster" Target="/ppt/notesMasters/notesMaster1.xml" Id="R821b877793ff44e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1541544cffb40f8" /><Relationship Type="http://schemas.openxmlformats.org/officeDocument/2006/relationships/notesMaster" Target="/ppt/notesMasters/notesMaster1.xml" Id="R9e2be6d8be4e487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3a800253639453a" /><Relationship Type="http://schemas.openxmlformats.org/officeDocument/2006/relationships/notesMaster" Target="/ppt/notesMasters/notesMaster1.xml" Id="R3742296187c9499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3b58a09bb0144d9" /><Relationship Type="http://schemas.openxmlformats.org/officeDocument/2006/relationships/notesMaster" Target="/ppt/notesMasters/notesMaster1.xml" Id="Rc9b74d2f96a74cc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d961cf149b664b2a" /><Relationship Type="http://schemas.openxmlformats.org/officeDocument/2006/relationships/notesMaster" Target="/ppt/notesMasters/notesMaster1.xml" Id="Rd612880836274344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2f89f168ff8f4597" /><Relationship Type="http://schemas.openxmlformats.org/officeDocument/2006/relationships/notesMaster" Target="/ppt/notesMasters/notesMaster1.xml" Id="R6fa757c5def549fb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39936699a1e94cfb" /><Relationship Type="http://schemas.openxmlformats.org/officeDocument/2006/relationships/notesMaster" Target="/ppt/notesMasters/notesMaster1.xml" Id="R124eab5d70f34efa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ba5331af5aa6455b" /><Relationship Type="http://schemas.openxmlformats.org/officeDocument/2006/relationships/notesMaster" Target="/ppt/notesMasters/notesMaster1.xml" Id="Rc758ec783106475d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72c3669478fa4a3b" /><Relationship Type="http://schemas.openxmlformats.org/officeDocument/2006/relationships/notesMaster" Target="/ppt/notesMasters/notesMaster1.xml" Id="Rcf4c9b0f54464690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6f5c400189794e20" /><Relationship Type="http://schemas.openxmlformats.org/officeDocument/2006/relationships/notesMaster" Target="/ppt/notesMasters/notesMaster1.xml" Id="R589c07852fce43de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98c9c5dfb902413a" /><Relationship Type="http://schemas.openxmlformats.org/officeDocument/2006/relationships/notesMaster" Target="/ppt/notesMasters/notesMaster1.xml" Id="R26ce39ef1f3047b9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b436d43cdb934aed" /><Relationship Type="http://schemas.openxmlformats.org/officeDocument/2006/relationships/notesMaster" Target="/ppt/notesMasters/notesMaster1.xml" Id="Ra741be7e623a4f71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9c82c423936c4d7b" /><Relationship Type="http://schemas.openxmlformats.org/officeDocument/2006/relationships/notesMaster" Target="/ppt/notesMasters/notesMaster1.xml" Id="R1fd00755ba904af4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51a8a60486954621" /><Relationship Type="http://schemas.openxmlformats.org/officeDocument/2006/relationships/notesMaster" Target="/ppt/notesMasters/notesMaster1.xml" Id="Refa3492a0c1e4a3f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c504728c5bca48d0" /><Relationship Type="http://schemas.openxmlformats.org/officeDocument/2006/relationships/notesMaster" Target="/ppt/notesMasters/notesMaster1.xml" Id="R6fa268fe1c984478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0c937b53a28f4b43" /><Relationship Type="http://schemas.openxmlformats.org/officeDocument/2006/relationships/notesMaster" Target="/ppt/notesMasters/notesMaster1.xml" Id="R68c8c7eef04749ac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e7372afed1904fd5" /><Relationship Type="http://schemas.openxmlformats.org/officeDocument/2006/relationships/notesMaster" Target="/ppt/notesMasters/notesMaster1.xml" Id="Rd274e1d63d164004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d806ff20311144b1" /><Relationship Type="http://schemas.openxmlformats.org/officeDocument/2006/relationships/notesMaster" Target="/ppt/notesMasters/notesMaster1.xml" Id="Rdb5779ca185b4a84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48083cab13d645df" /><Relationship Type="http://schemas.openxmlformats.org/officeDocument/2006/relationships/notesMaster" Target="/ppt/notesMasters/notesMaster1.xml" Id="R0c7f1ea1d8ef4624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a9179fde710a495e" /><Relationship Type="http://schemas.openxmlformats.org/officeDocument/2006/relationships/notesMaster" Target="/ppt/notesMasters/notesMaster1.xml" Id="Ra1d508dfc82c4d88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74e5233b3cbb435d" /><Relationship Type="http://schemas.openxmlformats.org/officeDocument/2006/relationships/notesMaster" Target="/ppt/notesMasters/notesMaster1.xml" Id="Rfa8d7429174d4775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b1a985ef4f86400f" /><Relationship Type="http://schemas.openxmlformats.org/officeDocument/2006/relationships/notesMaster" Target="/ppt/notesMasters/notesMaster1.xml" Id="R58e71250a27a4bb9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2b59e186919b4b17" /><Relationship Type="http://schemas.openxmlformats.org/officeDocument/2006/relationships/notesMaster" Target="/ppt/notesMasters/notesMaster1.xml" Id="R6fcfb17e6f7e4b32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b5f3f9ee5a054d20" /><Relationship Type="http://schemas.openxmlformats.org/officeDocument/2006/relationships/notesMaster" Target="/ppt/notesMasters/notesMaster1.xml" Id="Rc80a857b894142f6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52e6f6ab63cb4af5" /><Relationship Type="http://schemas.openxmlformats.org/officeDocument/2006/relationships/notesMaster" Target="/ppt/notesMasters/notesMaster1.xml" Id="R7266814469584d85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a22fd3abfdc14f04" /><Relationship Type="http://schemas.openxmlformats.org/officeDocument/2006/relationships/notesMaster" Target="/ppt/notesMasters/notesMaster1.xml" Id="Rd62668d5e99648bf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9583fcf45a5f4420" /><Relationship Type="http://schemas.openxmlformats.org/officeDocument/2006/relationships/notesMaster" Target="/ppt/notesMasters/notesMaster1.xml" Id="Raee5c67b281545ec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9fcfc0e5e39b4980" /><Relationship Type="http://schemas.openxmlformats.org/officeDocument/2006/relationships/notesMaster" Target="/ppt/notesMasters/notesMaster1.xml" Id="R08d7ef6ef8db448c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e522fea607b64a7b" /><Relationship Type="http://schemas.openxmlformats.org/officeDocument/2006/relationships/notesMaster" Target="/ppt/notesMasters/notesMaster1.xml" Id="R958fb7d517c344e1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fd76155885ea485e" /><Relationship Type="http://schemas.openxmlformats.org/officeDocument/2006/relationships/notesMaster" Target="/ppt/notesMasters/notesMaster1.xml" Id="Re3391e22a2124c85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49896599ccd743e0" /><Relationship Type="http://schemas.openxmlformats.org/officeDocument/2006/relationships/notesMaster" Target="/ppt/notesMasters/notesMaster1.xml" Id="R8d0607420e46440a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c1c99bbc783149a7" /><Relationship Type="http://schemas.openxmlformats.org/officeDocument/2006/relationships/notesMaster" Target="/ppt/notesMasters/notesMaster1.xml" Id="R8f74ae64a207436a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60f2be6f3ffb4ae8" /><Relationship Type="http://schemas.openxmlformats.org/officeDocument/2006/relationships/notesMaster" Target="/ppt/notesMasters/notesMaster1.xml" Id="R21e5f382598f466e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23c9349e4db24daa" /><Relationship Type="http://schemas.openxmlformats.org/officeDocument/2006/relationships/notesMaster" Target="/ppt/notesMasters/notesMaster1.xml" Id="R69f21faaca934989" /></Relationships>
</file>

<file path=ppt/notesSlides/_rels/notesSlide37.xml.rels>&#65279;<?xml version="1.0" encoding="utf-8"?><Relationships xmlns="http://schemas.openxmlformats.org/package/2006/relationships"><Relationship Type="http://schemas.openxmlformats.org/officeDocument/2006/relationships/slide" Target="/ppt/slides/slide37.xml" Id="Rf9605f422fe441df" /><Relationship Type="http://schemas.openxmlformats.org/officeDocument/2006/relationships/notesMaster" Target="/ppt/notesMasters/notesMaster1.xml" Id="R7026c858d2ba459a" /></Relationships>
</file>

<file path=ppt/notesSlides/_rels/notesSlide38.xml.rels>&#65279;<?xml version="1.0" encoding="utf-8"?><Relationships xmlns="http://schemas.openxmlformats.org/package/2006/relationships"><Relationship Type="http://schemas.openxmlformats.org/officeDocument/2006/relationships/slide" Target="/ppt/slides/slide38.xml" Id="R1fccd770ccce4955" /><Relationship Type="http://schemas.openxmlformats.org/officeDocument/2006/relationships/notesMaster" Target="/ppt/notesMasters/notesMaster1.xml" Id="R80a70fa331684cf7" /></Relationships>
</file>

<file path=ppt/notesSlides/_rels/notesSlide39.xml.rels>&#65279;<?xml version="1.0" encoding="utf-8"?><Relationships xmlns="http://schemas.openxmlformats.org/package/2006/relationships"><Relationship Type="http://schemas.openxmlformats.org/officeDocument/2006/relationships/slide" Target="/ppt/slides/slide39.xml" Id="R2944c35cdfb94953" /><Relationship Type="http://schemas.openxmlformats.org/officeDocument/2006/relationships/notesMaster" Target="/ppt/notesMasters/notesMaster1.xml" Id="R46bb9f12a389478f" /></Relationships>
</file>

<file path=ppt/notesSlides/_rels/notesSlide40.xml.rels>&#65279;<?xml version="1.0" encoding="utf-8"?><Relationships xmlns="http://schemas.openxmlformats.org/package/2006/relationships"><Relationship Type="http://schemas.openxmlformats.org/officeDocument/2006/relationships/slide" Target="/ppt/slides/slide40.xml" Id="R1f546e9d52294506" /><Relationship Type="http://schemas.openxmlformats.org/officeDocument/2006/relationships/notesMaster" Target="/ppt/notesMasters/notesMaster1.xml" Id="R0cd2e3a6fca2439b" /></Relationships>
</file>

<file path=ppt/notesSlides/notesSlide1.xml><?xml version="1.0" encoding="utf-8"?>
<ns0:notes xmlns:ns0="http://schemas.openxmlformats.org/presentationml/2006/main" xmlns:ns1="http://schemas.openxmlformats.org/drawingml/2006/main">
  <ns0:cSld>
    <ns0:spTree>
      <ns0:nvGrpSpPr>
        <ns0:cNvPr id="1" name=""/>
        <ns0:cNvGrpSpPr/>
        <ns0:nvPr/>
      </ns0:nvGrpSpPr>
      <ns0:grpSpPr>
        <ns1:xfrm/>
      </ns0:grpSpPr>
      <ns0:sp>
        <ns0:nvSpPr>
          <ns0:cNvPr id="2" name="Slide Image Placeholder 1"/>
          <ns0:cNvSpPr>
            <ns1:spLocks noGrp="1"/>
          </ns0:cNvSpPr>
          <ns0:nvPr>
            <ns0:ph type="sldImg" idx="0"/>
          </ns0:nvPr>
        </ns0:nvSpPr>
        <ns0:spPr/>
      </ns0:sp>
      <ns0:sp>
        <ns0:nvSpPr>
          <ns0:cNvPr id="3" name="Notes Placeholder 2"/>
          <ns0:cNvSpPr>
            <ns1:spLocks noGrp="1"/>
          </ns0:cNvSpPr>
          <ns0:nvPr>
            <ns0:ph type="body" idx="1"/>
          </ns0:nvPr>
        </ns0:nvSpPr>
        <ns0:spPr/>
        <ns0:txBody>
          <ns1:bodyPr/>
          <ns1:lstStyle/>
          <ns1:p>
            <ns1:r>
              <ns1:t>{</ns1:t>
            </ns1:r>
          </ns1:p>
          <ns1:p>
            <ns1:r>
              <ns1:t>  "candidate": "LK_P050_07",</ns1:t>
            </ns1:r>
          </ns1:p>
          <ns1:p>
            <ns1:r>
              <ns1:t>  "final_rank": 1,</ns1:t>
            </ns1:r>
          </ns1:p>
          <ns1:p>
            <ns1:r>
              <ns1:t>  "selection": "Exact ipSAE&gt;0.895 and DeltaForge predicted Kd&lt;10nM; first20 by Exact ipSAE descending",</ns1:t>
            </ns1:r>
          </ns1:p>
          <ns1:p>
            <ns1:r>
              <ns1:t>  "sequence_sha256": "8000f5c8beaabd85c535414db11b1dd318ccc9c2bba0011886cfc973fc322e70",</ns1:t>
            </ns1:r>
          </ns1:p>
          <ns1:p>
            <ns1:r>
              <ns1:t>  "sources": {</ns1:t>
            </ns1:r>
          </ns1:p>
          <ns1:p>
            <ns1:r>
              <ns1:t>    "source_table": {</ns1:t>
            </ns1:r>
          </ns1:p>
          <ns1:p>
            <ns1:r>
              <ns1:t>      "path": "local/2026-10-25_lf50-dld26-50-deltaforge_001/output/GLP1R_DLD_Top50_DeltaForge_Kd_and_Boltz2_Metrics.csv",</ns1:t>
            </ns1:r>
          </ns1:p>
          <ns1:p>
            <ns1:r>
              <ns1:t>      "sha256": "da9569bf0e8b74cce3d6792eb260d6a4b17b35e6f46e0793d49f02c0d3a0e728"</ns1:t>
            </ns1:r>
          </ns1:p>
          <ns1:p>
            <ns1:r>
              <ns1:t>    },</ns1:t>
            </ns1:r>
          </ns1:p>
          <ns1:p>
            <ns1:r>
              <ns1:t>    "native_cif": {</ns1:t>
            </ns1:r>
          </ns1:p>
          <ns1:p>
            <ns1:r>
              <ns1:t>      "path": "local/2026-10-25_linker-top100-review_001/models/LK_P050_07/boltz2.cif",</ns1:t>
            </ns1:r>
          </ns1:p>
          <ns1:p>
            <ns1:r>
              <ns1:t>      "sha256": "95fbf8fd1df93b530aa3e8891105ce33fa14c8f4927c88bc66508b78429a8cf4"</ns1:t>
            </ns1:r>
          </ns1:p>
          <ns1:p>
            <ns1:r>
              <ns1:t>    },</ns1:t>
            </ns1:r>
          </ns1:p>
          <ns1:p>
            <ns1:r>
              <ns1:t>    "scoring_pdb": {</ns1:t>
            </ns1:r>
          </ns1:p>
          <ns1:p>
            <ns1:r>
              <ns1:t>      "path": "local/2026-10-25_dld-top25-deltaforge_001/payload/structures/LK_P050_07.pdb",</ns1:t>
            </ns1:r>
          </ns1:p>
          <ns1:p>
            <ns1:r>
              <ns1:t>      "sha256": "d9b53c1f12d16d34a339b552c1949f02946de3defb87e31d4871c546eac5dd93"</ns1:t>
            </ns1:r>
          </ns1:p>
          <ns1:p>
            <ns1:r>
              <ns1:t>    },</ns1:t>
            </ns1:r>
          </ns1:p>
          <ns1:p>
            <ns1:r>
              <ns1:t>    "DeltaForge_result": {</ns1:t>
            </ns1:r>
          </ns1:p>
          <ns1:p>
            <ns1:r>
              <ns1:t>      "path": "campaigns/glp1r-r40-design/runs/2026-10-25_dld-top25-deltaforge_001/03_filtering/deltaforge_results/LK_P050_07.json",</ns1:t>
            </ns1:r>
          </ns1:p>
          <ns1:p>
            <ns1:r>
              <ns1:t>      "sha256": "494200dff525731399b30d8ee04f5fb949f6715eba38198a843dd4e65cc1fb24"</ns1:t>
            </ns1:r>
          </ns1:p>
          <ns1:p>
            <ns1:r>
              <ns1:t>    }</ns1:t>
            </ns1:r>
          </ns1:p>
          <ns1:p>
            <ns1:r>
              <ns1:t>  },</ns1:t>
            </ns1:r>
          </ns1:p>
          <ns1:p>
            <ns1:r>
              <ns1:t>  "source_ledger": "campaigns/glp1r-final-writeup/runs/2026-10-25_final20-writeup_001/04_analysis/provenance-ledger.json",</ns1:t>
            </ns1:r>
          </ns1:p>
          <ns1:p>
            <ns1:r>
              <ns1:t>  "scorer": "deltaforge_v10_2_unified_parallel / v10_2_unified_parallel_2026_05_08",</ns1:t>
            </ns1:r>
          </ns1:p>
          <ns1:p>
            <ns1:r>
              <ns1:t>  "calibration": "deltaforge_v10_boltz2_calibrated_gbr / v10_boltz2_gbr_2026_03_29",</ns1:t>
            </ns1:r>
          </ns1:p>
          <ns1:p>
            <ns1:r>
              <ns1:t>  "scope": "one complete candidate A against one receptor B; computational, no experimental Kd or activation"</ns1:t>
            </ns1:r>
          </ns1:p>
          <ns1:p>
            <ns1:r>
              <ns1:t>}</ns1:t>
            </ns1:r>
          </ns1:p>
        </ns0:txBody>
      </ns0:sp>
      <ns0:sp>
        <ns0:nvSpPr>
          <ns0:cNvPr id="4" name="Slide Number Placeholder 3"/>
          <ns0:cNvSpPr>
            <ns1:spLocks noGrp="1"/>
          </ns0:cNvSpPr>
          <ns0:nvPr>
            <ns0:ph type="sldNum" idx="5"/>
          </ns0:nvPr>
        </ns0:nvSpPr>
        <ns0:spPr/>
        <ns0:txBody>
          <ns1:bodyPr/>
          <ns1:lstStyle/>
          <ns1:p/>
        </ns0:txBody>
      </ns0:sp>
    </ns0:spTree>
  </ns0:cSld>
  <ns0:clrMapOvr>
    <ns1:masterClrMapping/>
  </ns0:clrMapOvr>
</ns0:notes>
</file>

<file path=ppt/notesSlides/notesSlide2.xml><?xml version="1.0" encoding="utf-8"?>
<ns0:notes xmlns:ns0="http://schemas.openxmlformats.org/presentationml/2006/main" xmlns:ns1="http://schemas.openxmlformats.org/drawingml/2006/main">
  <ns0:cSld>
    <ns0:spTree>
      <ns0:nvGrpSpPr>
        <ns0:cNvPr id="1" name=""/>
        <ns0:cNvGrpSpPr/>
        <ns0:nvPr/>
      </ns0:nvGrpSpPr>
      <ns0:grpSpPr>
        <ns1:xfrm/>
      </ns0:grpSpPr>
      <ns0:sp>
        <ns0:nvSpPr>
          <ns0:cNvPr id="2" name="Slide Image Placeholder 1"/>
          <ns0:cNvSpPr>
            <ns1:spLocks noGrp="1"/>
          </ns0:cNvSpPr>
          <ns0:nvPr>
            <ns0:ph type="sldImg" idx="0"/>
          </ns0:nvPr>
        </ns0:nvSpPr>
        <ns0:spPr/>
      </ns0:sp>
      <ns0:sp>
        <ns0:nvSpPr>
          <ns0:cNvPr id="3" name="Notes Placeholder 2"/>
          <ns0:cNvSpPr>
            <ns1:spLocks noGrp="1"/>
          </ns0:cNvSpPr>
          <ns0:nvPr>
            <ns0:ph type="body" idx="1"/>
          </ns0:nvPr>
        </ns0:nvSpPr>
        <ns0:spPr/>
        <ns0:txBody>
          <ns1:bodyPr/>
          <ns1:lstStyle/>
          <ns1:p>
            <ns1:r>
              <ns1:t>{</ns1:t>
            </ns1:r>
          </ns1:p>
          <ns1:p>
            <ns1:r>
              <ns1:t>  "candidate": "LK_P050_07",</ns1:t>
            </ns1:r>
          </ns1:p>
          <ns1:p>
            <ns1:r>
              <ns1:t>  "final_rank": 1,</ns1:t>
            </ns1:r>
          </ns1:p>
          <ns1:p>
            <ns1:r>
              <ns1:t>  "native_model_sha256": "95fbf8fd1df93b530aa3e8891105ce33fa14c8f4927c88bc66508b78429a8cf4",</ns1:t>
            </ns1:r>
          </ns1:p>
          <ns1:p>
            <ns1:r>
              <ns1:t>  "structure_views": {</ns1:t>
            </ns1:r>
          </ns1:p>
          <ns1:p>
            <ns1:r>
              <ns1:t>    "final_rank": 1,</ns1:t>
            </ns1:r>
          </ns1:p>
          <ns1:p>
            <ns1:r>
              <ns1:t>    "design_id": "LK_P050_07",</ns1:t>
            </ns1:r>
          </ns1:p>
          <ns1:p>
            <ns1:r>
              <ns1:t>    "sequence_sha256": "8000f5c8beaabd85c535414db11b1dd318ccc9c2bba0011886cfc973fc322e70",</ns1:t>
            </ns1:r>
          </ns1:p>
          <ns1:p>
            <ns1:r>
              <ns1:t>    "native_model_sha256": "95fbf8fd1df93b530aa3e8891105ce33fa14c8f4927c88bc66508b78429a8cf4",</ns1:t>
            </ns1:r>
          </ns1:p>
          <ns1:p>
            <ns1:r>
              <ns1:t>    "scoring_pdb_sha256": "d9b53c1f12d16d34a339b552c1949f02946de3defb87e31d4871c546eac5dd93",</ns1:t>
            </ns1:r>
          </ns1:p>
          <ns1:p>
            <ns1:r>
              <ns1:t>    "overview": {</ns1:t>
            </ns1:r>
          </ns1:p>
          <ns1:p>
            <ns1:r>
              <ns1:t>      "source_slide": 19,</ns1:t>
            </ns1:r>
          </ns1:p>
          <ns1:p>
            <ns1:r>
              <ns1:t>      "source_picture_index": 1,</ns1:t>
            </ns1:r>
          </ns1:p>
          <ns1:p>
            <ns1:r>
              <ns1:t>      "embedded_media": "ppt/media/image16.jpeg",</ns1:t>
            </ns1:r>
          </ns1:p>
          <ns1:p>
            <ns1:r>
              <ns1:t>      "image_sha256": "ae83cbaa9dac8d3734087495284e30462f740a35b08c6d2f18abbcd814f0c898",</ns1:t>
            </ns1:r>
          </ns1:p>
          <ns1:p>
            <ns1:r>
              <ns1:t>      "asset": "assets/LK_P050_07-complex.jpg"</ns1:t>
            </ns1:r>
          </ns1:p>
          <ns1:p>
            <ns1:r>
              <ns1:t>    },</ns1:t>
            </ns1:r>
          </ns1:p>
          <ns1:p>
            <ns1:r>
              <ns1:t>    "interface": {</ns1:t>
            </ns1:r>
          </ns1:p>
          <ns1:p>
            <ns1:r>
              <ns1:t>      "source_slide": 20,</ns1:t>
            </ns1:r>
          </ns1:p>
          <ns1:p>
            <ns1:r>
              <ns1:t>      "source_picture_index": 1,</ns1:t>
            </ns1:r>
          </ns1:p>
          <ns1:p>
            <ns1:r>
              <ns1:t>      "embedded_media": "ppt/media/image19.jpeg",</ns1:t>
            </ns1:r>
          </ns1:p>
          <ns1:p>
            <ns1:r>
              <ns1:t>      "image_sha256": "2ba45f31242c2b84ff21ec5e4c87f6c8a13013d6d28dcb2c19d463763dcb26d1",</ns1:t>
            </ns1:r>
          </ns1:p>
          <ns1:p>
            <ns1:r>
              <ns1:t>      "asset": "assets/LK_P050_07-interface.jpg"</ns1:t>
            </ns1:r>
          </ns1:p>
          <ns1:p>
            <ns1:r>
              <ns1:t>    },</ns1:t>
            </ns1:r>
          </ns1:p>
          <ns1:p>
            <ns1:r>
              <ns1:t>    "rendering_provenance": {</ns1:t>
            </ns1:r>
          </ns1:p>
          <ns1:p>
            <ns1:r>
              <ns1:t>      "DeltaForge_source_PDB_sha256": "d9b53c1f12d16d34a339b552c1949f02946de3defb87e31d4871c546eac5dd93",</ns1:t>
            </ns1:r>
          </ns1:p>
          <ns1:p>
            <ns1:r>
              <ns1:t>      "role_ranges_zero_based": {</ns1:t>
            </ns1:r>
          </ns1:p>
          <ns1:p>
            <ns1:r>
              <ns1:t>        "ECD": [</ns1:t>
            </ns1:r>
          </ns1:p>
          <ns1:p>
            <ns1:r>
              <ns1:t>          0,</ns1:t>
            </ns1:r>
          </ns1:p>
          <ns1:p>
            <ns1:r>
              <ns1:t>          53</ns1:t>
            </ns1:r>
          </ns1:p>
          <ns1:p>
            <ns1:r>
              <ns1:t>        ],</ns1:t>
            </ns1:r>
          </ns1:p>
          <ns1:p>
            <ns1:r>
              <ns1:t>        "linker": [</ns1:t>
            </ns1:r>
          </ns1:p>
          <ns1:p>
            <ns1:r>
              <ns1:t>          53,</ns1:t>
            </ns1:r>
          </ns1:p>
          <ns1:p>
            <ns1:r>
              <ns1:t>          82</ns1:t>
            </ns1:r>
          </ns1:p>
          <ns1:p>
            <ns1:r>
              <ns1:t>        ],</ns1:t>
            </ns1:r>
          </ns1:p>
          <ns1:p>
            <ns1:r>
              <ns1:t>        "LF": [</ns1:t>
            </ns1:r>
          </ns1:p>
          <ns1:p>
            <ns1:r>
              <ns1:t>          82,</ns1:t>
            </ns1:r>
          </ns1:p>
          <ns1:p>
            <ns1:r>
              <ns1:t>          151</ns1:t>
            </ns1:r>
          </ns1:p>
          <ns1:p>
            <ns1:r>
              <ns1:t>        ]</ns1:t>
            </ns1:r>
          </ns1:p>
          <ns1:p>
            <ns1:r>
              <ns1:t>      },</ns1:t>
            </ns1:r>
          </ns1:p>
          <ns1:p>
            <ns1:r>
              <ns1:t>      "model_sha256": "95fbf8fd1df93b530aa3e8891105ce33fa14c8f4927c88bc66508b78429a8cf4",</ns1:t>
            </ns1:r>
          </ns1:p>
          <ns1:p>
            <ns1:r>
              <ns1:t>      "source_run": "2026-10-24_pair183-extracellular-exact_001",</ns1:t>
            </ns1:r>
          </ns1:p>
          <ns1:p>
            <ns1:r>
              <ns1:t>      "source_methods": [</ns1:t>
            </ns1:r>
          </ns1:p>
          <ns1:p>
            <ns1:r>
              <ns1:t>        "https://github.com/DunbrackLab/IPSAE",</ns1:t>
            </ns1:r>
          </ns1:p>
          <ns1:p>
            <ns1:r>
              <ns1:t>        "https://github.com/wallnerlab/DockQ",</ns1:t>
            </ns1:r>
          </ns1:p>
          <ns1:p>
            <ns1:r>
              <ns1:t>        "https://zhanggroup.org/TM-score/"</ns1:t>
            </ns1:r>
          </ns1:p>
          <ns1:p>
            <ns1:r>
              <ns1:t>      ],</ns1:t>
            </ns1:r>
          </ns1:p>
          <ns1:p>
            <ns1:r>
              <ns1:t>      "saved_display_appendix": {</ns1:t>
            </ns1:r>
          </ns1:p>
          <ns1:p>
            <ns1:r>
              <ns1:t>        "parent_sources": {</ns1:t>
            </ns1:r>
          </ns1:p>
          <ns1:p>
            <ns1:r>
              <ns1:t>          "ECD-parent": {</ns1:t>
            </ns1:r>
          </ns1:p>
          <ns1:p>
            <ns1:r>
              <ns1:t>            "key": "LK_P050_07-ECD-parent",</ns1:t>
            </ns1:r>
          </ns1:p>
          <ns1:p>
            <ns1:r>
              <ns1:t>            "source_path": "local/2026-10-25_linker-parent-comparison_001/parents/S11_02_089/exact.pdb",</ns1:t>
            </ns1:r>
          </ns1:p>
          <ns1:p>
            <ns1:r>
              <ns1:t>            "source_sha256": "33a626296d1404a15d5b43fc0af2d090024dd0f999abdc0c455da40d2747c0cc",</ns1:t>
            </ns1:r>
          </ns1:p>
          <ns1:p>
            <ns1:r>
              <ns1:t>            "role": "ECD",</ns1:t>
            </ns1:r>
          </ns1:p>
          <ns1:p>
            <ns1:r>
              <ns1:t>            "ranges_zero_based": {</ns1:t>
            </ns1:r>
          </ns1:p>
          <ns1:p>
            <ns1:r>
              <ns1:t>              "ECD": [</ns1:t>
            </ns1:r>
          </ns1:p>
          <ns1:p>
            <ns1:r>
              <ns1:t>                0,</ns1:t>
            </ns1:r>
          </ns1:p>
          <ns1:p>
            <ns1:r>
              <ns1:t>                53</ns1:t>
            </ns1:r>
          </ns1:p>
          <ns1:p>
            <ns1:r>
              <ns1:t>              ]</ns1:t>
            </ns1:r>
          </ns1:p>
          <ns1:p>
            <ns1:r>
              <ns1:t>            },</ns1:t>
            </ns1:r>
          </ns1:p>
          <ns1:p>
            <ns1:r>
              <ns1:t>            "sequence": "MGISALEEFDRLRRASILLSLIRSGSTGSGFDAFLEKSGVKGAPAFLAVPSSN",</ns1:t>
            </ns1:r>
          </ns1:p>
          <ns1:p>
            <ns1:r>
              <ns1:t>            "rotation": [</ns1:t>
            </ns1:r>
          </ns1:p>
          <ns1:p>
            <ns1:r>
              <ns1:t>              [</ns1:t>
            </ns1:r>
          </ns1:p>
          <ns1:p>
            <ns1:r>
              <ns1:t>                0.4601914785026544,</ns1:t>
            </ns1:r>
          </ns1:p>
          <ns1:p>
            <ns1:r>
              <ns1:t>                0.8740030154194312,</ns1:t>
            </ns1:r>
          </ns1:p>
          <ns1:p>
            <ns1:r>
              <ns1:t>                0.15602098281507715</ns1:t>
            </ns1:r>
          </ns1:p>
          <ns1:p>
            <ns1:r>
              <ns1:t>              ],</ns1:t>
            </ns1:r>
          </ns1:p>
          <ns1:p>
            <ns1:r>
              <ns1:t>              [</ns1:t>
            </ns1:r>
          </ns1:p>
          <ns1:p>
            <ns1:r>
              <ns1:t>                -0.3553315001691105,</ns1:t>
            </ns1:r>
          </ns1:p>
          <ns1:p>
            <ns1:r>
              <ns1:t>                0.3423619380873384,</ns1:t>
            </ns1:r>
          </ns1:p>
          <ns1:p>
            <ns1:r>
              <ns1:t>                -0.8697860883530819</ns1:t>
            </ns1:r>
          </ns1:p>
          <ns1:p>
            <ns1:r>
              <ns1:t>              ],</ns1:t>
            </ns1:r>
          </ns1:p>
          <ns1:p>
            <ns1:r>
              <ns1:t>              [</ns1:t>
            </ns1:r>
          </ns1:p>
          <ns1:p>
            <ns1:r>
              <ns1:t>                -0.8136113209777376,</ns1:t>
            </ns1:r>
          </ns1:p>
          <ns1:p>
            <ns1:r>
              <ns1:t>                0.344828970313086,</ns1:t>
            </ns1:r>
          </ns1:p>
          <ns1:p>
            <ns1:r>
              <ns1:t>                0.4681128541492088</ns1:t>
            </ns1:r>
          </ns1:p>
          <ns1:p>
            <ns1:r>
              <ns1:t>              ]</ns1:t>
            </ns1:r>
          </ns1:p>
          <ns1:p>
            <ns1:r>
              <ns1:t>            ],</ns1:t>
            </ns1:r>
          </ns1:p>
          <ns1:p>
            <ns1:r>
              <ns1:t>            "translation": [</ns1:t>
            </ns1:r>
          </ns1:p>
          <ns1:p>
            <ns1:r>
              <ns1:t>              2.061273489264341,</ns1:t>
            </ns1:r>
          </ns1:p>
          <ns1:p>
            <ns1:r>
              <ns1:t>              3.6943565127962046,</ns1:t>
            </ns1:r>
          </ns1:p>
          <ns1:p>
            <ns1:r>
              <ns1:t>              -2.618342795969485</ns1:t>
            </ns1:r>
          </ns1:p>
          <ns1:p>
            <ns1:r>
              <ns1:t>            ],</ns1:t>
            </ns1:r>
          </ns1:p>
          <ns1:p>
            <ns1:r>
              <ns1:t>            "core_fit_CA_RMSD_A": 0.7641443086142279,</ns1:t>
            </ns1:r>
          </ns1:p>
          <ns1:p>
            <ns1:r>
              <ns1:t>            "output": "local/2026-10-25_linker-parent-views_001/build/renders-v2/LK_P050_07-ECD-parent.jpg",</ns1:t>
            </ns1:r>
          </ns1:p>
          <ns1:p>
            <ns1:r>
              <ns1:t>            "parent_or_fusion_id": "S11_02_089",</ns1:t>
            </ns1:r>
          </ns1:p>
          <ns1:p>
            <ns1:r>
              <ns1:t>            "design_id": "LK_P050_07",</ns1:t>
            </ns1:r>
          </ns1:p>
          <ns1:p>
            <ns1:r>
              <ns1:t>            "panel": "ECD-parent",</ns1:t>
            </ns1:r>
          </ns1:p>
          <ns1:p>
            <ns1:r>
              <ns1:t>            "view": [</ns1:t>
            </ns1:r>
          </ns1:p>
          <ns1:p>
            <ns1:r>
              <ns1:t>              1,</ns1:t>
            </ns1:r>
          </ns1:p>
          <ns1:p>
            <ns1:r>
              <ns1:t>              0,</ns1:t>
            </ns1:r>
          </ns1:p>
          <ns1:p>
            <ns1:r>
              <ns1:t>              0,</ns1:t>
            </ns1:r>
          </ns1:p>
          <ns1:p>
            <ns1:r>
              <ns1:t>              0,</ns1:t>
            </ns1:r>
          </ns1:p>
          <ns1:p>
            <ns1:r>
              <ns1:t>              1,</ns1:t>
            </ns1:r>
          </ns1:p>
          <ns1:p>
            <ns1:r>
              <ns1:t>              0,</ns1:t>
            </ns1:r>
          </ns1:p>
          <ns1:p>
            <ns1:r>
              <ns1:t>              0,</ns1:t>
            </ns1:r>
          </ns1:p>
          <ns1:p>
            <ns1:r>
              <ns1:t>              0,</ns1:t>
            </ns1:r>
          </ns1:p>
          <ns1:p>
            <ns1:r>
              <ns1:t>              1,</ns1:t>
            </ns1:r>
          </ns1:p>
          <ns1:p>
            <ns1:r>
              <ns1:t>              0,</ns1:t>
            </ns1:r>
          </ns1:p>
          <ns1:p>
            <ns1:r>
              <ns1:t>              0,</ns1:t>
            </ns1:r>
          </ns1:p>
          <ns1:p>
            <ns1:r>
              <ns1:t>              -401.09488161205957,</ns1:t>
            </ns1:r>
          </ns1:p>
          <ns1:p>
            <ns1:r>
              <ns1:t>              -8.021741623952924,</ns1:t>
            </ns1:r>
          </ns1:p>
          <ns1:p>
            <ns1:r>
              <ns1:t>              16.219807804331833,</ns1:t>
            </ns1:r>
          </ns1:p>
          <ns1:p>
            <ns1:r>
              <ns1:t>              -17.333378338804657,</ns1:t>
            </ns1:r>
          </ns1:p>
          <ns1:p>
            <ns1:r>
              <ns1:t>              323.14270913479584,</ns1:t>
            </ns1:r>
          </ns1:p>
          <ns1:p>
            <ns1:r>
              <ns1:t>              479.0470540893233,</ns1:t>
            </ns1:r>
          </ns1:p>
          <ns1:p>
            <ns1:r>
              <ns1:t>              -20</ns1:t>
            </ns1:r>
          </ns1:p>
          <ns1:p>
            <ns1:r>
              <ns1:t>            ],</ns1:t>
            </ns1:r>
          </ns1:p>
          <ns1:p>
            <ns1:r>
              <ns1:t>            "world_height_A": 141.44769890454734,</ns1:t>
            </ns1:r>
          </ns1:p>
          <ns1:p>
            <ns1:r>
              <ns1:t>            "row_bounds_all_atoms_A": [</ns1:t>
            </ns1:r>
          </ns1:p>
          <ns1:p>
            <ns1:r>
              <ns1:t>              [</ns1:t>
            </ns1:r>
          </ns1:p>
          <ns1:p>
            <ns1:r>
              <ns1:t>                -50.79037642370106,</ns1:t>
            </ns1:r>
          </ns1:p>
          <ns1:p>
            <ns1:r>
              <ns1:t>                -44.16816263862622,</ns1:t>
            </ns1:r>
          </ns1:p>
          <ns1:p>
            <ns1:r>
              <ns1:t>                -80.2855508160684</ns1:t>
            </ns1:r>
          </ns1:p>
          <ns1:p>
            <ns1:r>
              <ns1:t>              ],</ns1:t>
            </ns1:r>
          </ns1:p>
          <ns1:p>
            <ns1:r>
              <ns1:t>              [</ns1:t>
            </ns1:r>
          </ns1:p>
          <ns1:p>
            <ns1:r>
              <ns1:t>                34.746893175795215,</ns1:t>
            </ns1:r>
          </ns1:p>
          <ns1:p>
            <ns1:r>
              <ns1:t>                76.60777824728989,</ns1:t>
            </ns1:r>
          </ns1:p>
          <ns1:p>
            <ns1:r>
              <ns1:t>                45.61879413845908</ns1:t>
            </ns1:r>
          </ns1:p>
          <ns1:p>
            <ns1:r>
              <ns1:t>              ]</ns1:t>
            </ns1:r>
          </ns1:p>
          <ns1:p>
            <ns1:r>
              <ns1:t>            ]</ns1:t>
            </ns1:r>
          </ns1:p>
          <ns1:p>
            <ns1:r>
              <ns1:t>          },</ns1:t>
            </ns1:r>
          </ns1:p>
          <ns1:p>
            <ns1:r>
              <ns1:t>          "APNovo": {</ns1:t>
            </ns1:r>
          </ns1:p>
          <ns1:p>
            <ns1:r>
              <ns1:t>            "key": "LK_P050_07-APNovo",</ns1:t>
            </ns1:r>
          </ns1:p>
          <ns1:p>
            <ns1:r>
              <ns1:t>            "source_path": "local/2026-10-25_linker-top100-review_001/build/comparisons/LK_P050_07/reference.pdb",</ns1:t>
            </ns1:r>
          </ns1:p>
          <ns1:p>
            <ns1:r>
              <ns1:t>            "source_sha256": "ab126a8b97659ccf23cd74a36d6c911ced4ed975e8914929a8a52bdc7023787e",</ns1:t>
            </ns1:r>
          </ns1:p>
          <ns1:p>
            <ns1:r>
              <ns1:t>            "role": "fusion",</ns1:t>
            </ns1:r>
          </ns1:p>
          <ns1:p>
            <ns1:r>
              <ns1:t>            "ranges_zero_based": {</ns1:t>
            </ns1:r>
          </ns1:p>
          <ns1:p>
            <ns1:r>
              <ns1:t>              "ECD": [</ns1:t>
            </ns1:r>
          </ns1:p>
          <ns1:p>
            <ns1:r>
              <ns1:t>                0,</ns1:t>
            </ns1:r>
          </ns1:p>
          <ns1:p>
            <ns1:r>
              <ns1:t>                53</ns1:t>
            </ns1:r>
          </ns1:p>
          <ns1:p>
            <ns1:r>
              <ns1:t>              ],</ns1:t>
            </ns1:r>
          </ns1:p>
          <ns1:p>
            <ns1:r>
              <ns1:t>              "linker": [</ns1:t>
            </ns1:r>
          </ns1:p>
          <ns1:p>
            <ns1:r>
              <ns1:t>                53,</ns1:t>
            </ns1:r>
          </ns1:p>
          <ns1:p>
            <ns1:r>
              <ns1:t>                82</ns1:t>
            </ns1:r>
          </ns1:p>
          <ns1:p>
            <ns1:r>
              <ns1:t>              ],</ns1:t>
            </ns1:r>
          </ns1:p>
          <ns1:p>
            <ns1:r>
              <ns1:t>              "LF": [</ns1:t>
            </ns1:r>
          </ns1:p>
          <ns1:p>
            <ns1:r>
              <ns1:t>                82,</ns1:t>
            </ns1:r>
          </ns1:p>
          <ns1:p>
            <ns1:r>
              <ns1:t>                151</ns1:t>
            </ns1:r>
          </ns1:p>
          <ns1:p>
            <ns1:r>
              <ns1:t>              ]</ns1:t>
            </ns1:r>
          </ns1:p>
          <ns1:p>
            <ns1:r>
              <ns1:t>            },</ns1:t>
            </ns1:r>
          </ns1:p>
          <ns1:p>
            <ns1:r>
              <ns1:t>            "sequence": "MGISALEEFDRLRRASILLSLIRSGSTGSGFDAFLEKSGVKGAPAFLAVPSSNAFSPTSSEVAPDLPFVVLPYPPPPSSSVIEVSGATIDLRVKTCVDFKQTVNFFKLRNTQLPGSCTKDNTVLFLLEGLKLGYASRYFSIGSGSGSQQFS",</ns1:t>
            </ns1:r>
          </ns1:p>
          <ns1:p>
            <ns1:r>
              <ns1:t>            "rotation": [</ns1:t>
            </ns1:r>
          </ns1:p>
          <ns1:p>
            <ns1:r>
              <ns1:t>              [</ns1:t>
            </ns1:r>
          </ns1:p>
          <ns1:p>
            <ns1:r>
              <ns1:t>                -0.6102049170476462,</ns1:t>
            </ns1:r>
          </ns1:p>
          <ns1:p>
            <ns1:r>
              <ns1:t>                -0.2425680515738584,</ns1:t>
            </ns1:r>
          </ns1:p>
          <ns1:p>
            <ns1:r>
              <ns1:t>                -0.7541953877840903</ns1:t>
            </ns1:r>
          </ns1:p>
          <ns1:p>
            <ns1:r>
              <ns1:t>              ],</ns1:t>
            </ns1:r>
          </ns1:p>
          <ns1:p>
            <ns1:r>
              <ns1:t>              [</ns1:t>
            </ns1:r>
          </ns1:p>
          <ns1:p>
            <ns1:r>
              <ns1:t>                -0.7291263203266389,</ns1:t>
            </ns1:r>
          </ns1:p>
          <ns1:p>
            <ns1:r>
              <ns1:t>                0.544302593245821,</ns1:t>
            </ns1:r>
          </ns1:p>
          <ns1:p>
            <ns1:r>
              <ns1:t>                0.4148607638211814</ns1:t>
            </ns1:r>
          </ns1:p>
          <ns1:p>
            <ns1:r>
              <ns1:t>              ],</ns1:t>
            </ns1:r>
          </ns1:p>
          <ns1:p>
            <ns1:r>
              <ns1:t>              [</ns1:t>
            </ns1:r>
          </ns1:p>
          <ns1:p>
            <ns1:r>
              <ns1:t>                0.30987854854386043,</ns1:t>
            </ns1:r>
          </ns1:p>
          <ns1:p>
            <ns1:r>
              <ns1:t>                0.8030537886824152,</ns1:t>
            </ns1:r>
          </ns1:p>
          <ns1:p>
            <ns1:r>
              <ns1:t>                -0.5089989076390111</ns1:t>
            </ns1:r>
          </ns1:p>
          <ns1:p>
            <ns1:r>
              <ns1:t>              ]</ns1:t>
            </ns1:r>
          </ns1:p>
          <ns1:p>
            <ns1:r>
              <ns1:t>            ],</ns1:t>
            </ns1:r>
          </ns1:p>
          <ns1:p>
            <ns1:r>
              <ns1:t>            "translation": [</ns1:t>
            </ns1:r>
          </ns1:p>
          <ns1:p>
            <ns1:r>
              <ns1:t>              -11.29733540444457,</ns1:t>
            </ns1:r>
          </ns1:p>
          <ns1:p>
            <ns1:r>
              <ns1:t>              -12.610899067190573,</ns1:t>
            </ns1:r>
          </ns1:p>
          <ns1:p>
            <ns1:r>
              <ns1:t>              5.484263694487203</ns1:t>
            </ns1:r>
          </ns1:p>
          <ns1:p>
            <ns1:r>
              <ns1:t>            ],</ns1:t>
            </ns1:r>
          </ns1:p>
          <ns1:p>
            <ns1:r>
              <ns1:t>            "core_fit_CA_RMSD_A": 0.7641609644326763,</ns1:t>
            </ns1:r>
          </ns1:p>
          <ns1:p>
            <ns1:r>
              <ns1:t>            "output": "local/2026-10-25_linker-parent-views_001/build/renders-v2/LK_P050_07-APNovo.jpg",</ns1:t>
            </ns1:r>
          </ns1:p>
          <ns1:p>
            <ns1:r>
              <ns1:t>            "parent_or_fusion_id": "LK_P050_07-APNovo",</ns1:t>
            </ns1:r>
          </ns1:p>
          <ns1:p>
            <ns1:r>
              <ns1:t>            "design_id": "LK_P050_07",</ns1:t>
            </ns1:r>
          </ns1:p>
          <ns1:p>
            <ns1:r>
              <ns1:t>            "panel": "APNovo",</ns1:t>
            </ns1:r>
          </ns1:p>
          <ns1:p>
            <ns1:r>
              <ns1:t>            "view": [</ns1:t>
            </ns1:r>
          </ns1:p>
          <ns1:p>
            <ns1:r>
              <ns1:t>              1,</ns1:t>
            </ns1:r>
          </ns1:p>
          <ns1:p>
            <ns1:r>
              <ns1:t>              0,</ns1:t>
            </ns1:r>
          </ns1:p>
          <ns1:p>
            <ns1:r>
              <ns1:t>              0,</ns1:t>
            </ns1:r>
          </ns1:p>
          <ns1:p>
            <ns1:r>
              <ns1:t>              0,</ns1:t>
            </ns1:r>
          </ns1:p>
          <ns1:p>
            <ns1:r>
              <ns1:t>              1,</ns1:t>
            </ns1:r>
          </ns1:p>
          <ns1:p>
            <ns1:r>
              <ns1:t>              0,</ns1:t>
            </ns1:r>
          </ns1:p>
          <ns1:p>
            <ns1:r>
              <ns1:t>              0,</ns1:t>
            </ns1:r>
          </ns1:p>
          <ns1:p>
            <ns1:r>
              <ns1:t>              0,</ns1:t>
            </ns1:r>
          </ns1:p>
          <ns1:p>
            <ns1:r>
              <ns1:t>              1,</ns1:t>
            </ns1:r>
          </ns1:p>
          <ns1:p>
            <ns1:r>
              <ns1:t>              0,</ns1:t>
            </ns1:r>
          </ns1:p>
          <ns1:p>
            <ns1:r>
              <ns1:t>              0,</ns1:t>
            </ns1:r>
          </ns1:p>
          <ns1:p>
            <ns1:r>
              <ns1:t>              -401.09488161205957,</ns1:t>
            </ns1:r>
          </ns1:p>
          <ns1:p>
            <ns1:r>
              <ns1:t>              -8.021741623952924,</ns1:t>
            </ns1:r>
          </ns1:p>
          <ns1:p>
            <ns1:r>
              <ns1:t>              16.219807804331833,</ns1:t>
            </ns1:r>
          </ns1:p>
          <ns1:p>
            <ns1:r>
              <ns1:t>              -17.333378338804657,</ns1:t>
            </ns1:r>
          </ns1:p>
          <ns1:p>
            <ns1:r>
              <ns1:t>              323.14270913479584,</ns1:t>
            </ns1:r>
          </ns1:p>
          <ns1:p>
            <ns1:r>
              <ns1:t>              479.0470540893233,</ns1:t>
            </ns1:r>
          </ns1:p>
          <ns1:p>
            <ns1:r>
              <ns1:t>              -20</ns1:t>
            </ns1:r>
          </ns1:p>
          <ns1:p>
            <ns1:r>
              <ns1:t>            ],</ns1:t>
            </ns1:r>
          </ns1:p>
          <ns1:p>
            <ns1:r>
              <ns1:t>            "world_height_A": 141.44769890454734,</ns1:t>
            </ns1:r>
          </ns1:p>
          <ns1:p>
            <ns1:r>
              <ns1:t>            "row_bounds_all_atoms_A": [</ns1:t>
            </ns1:r>
          </ns1:p>
          <ns1:p>
            <ns1:r>
              <ns1:t>              [</ns1:t>
            </ns1:r>
          </ns1:p>
          <ns1:p>
            <ns1:r>
              <ns1:t>                -50.79037642370106,</ns1:t>
            </ns1:r>
          </ns1:p>
          <ns1:p>
            <ns1:r>
              <ns1:t>                -44.16816263862622,</ns1:t>
            </ns1:r>
          </ns1:p>
          <ns1:p>
            <ns1:r>
              <ns1:t>                -80.2855508160684</ns1:t>
            </ns1:r>
          </ns1:p>
          <ns1:p>
            <ns1:r>
              <ns1:t>              ],</ns1:t>
            </ns1:r>
          </ns1:p>
          <ns1:p>
            <ns1:r>
              <ns1:t>              [</ns1:t>
            </ns1:r>
          </ns1:p>
          <ns1:p>
            <ns1:r>
              <ns1:t>                34.746893175795215,</ns1:t>
            </ns1:r>
          </ns1:p>
          <ns1:p>
            <ns1:r>
              <ns1:t>                76.60777824728989,</ns1:t>
            </ns1:r>
          </ns1:p>
          <ns1:p>
            <ns1:r>
              <ns1:t>                45.61879413845908</ns1:t>
            </ns1:r>
          </ns1:p>
          <ns1:p>
            <ns1:r>
              <ns1:t>              ]</ns1:t>
            </ns1:r>
          </ns1:p>
          <ns1:p>
            <ns1:r>
              <ns1:t>            ]</ns1:t>
            </ns1:r>
          </ns1:p>
          <ns1:p>
            <ns1:r>
              <ns1:t>          },</ns1:t>
            </ns1:r>
          </ns1:p>
          <ns1:p>
            <ns1:r>
              <ns1:t>          "Exact": {</ns1:t>
            </ns1:r>
          </ns1:p>
          <ns1:p>
            <ns1:r>
              <ns1:t>            "key": "LK_P050_07-Exact",</ns1:t>
            </ns1:r>
          </ns1:p>
          <ns1:p>
            <ns1:r>
              <ns1:t>            "source_path": "local/2026-10-25_linker-top100-review_001/models/LK_P050_07/boltz2.cif",</ns1:t>
            </ns1:r>
          </ns1:p>
          <ns1:p>
            <ns1:r>
              <ns1:t>            "source_sha256": "95fbf8fd1df93b530aa3e8891105ce33fa14c8f4927c88bc66508b78429a8cf4",</ns1:t>
            </ns1:r>
          </ns1:p>
          <ns1:p>
            <ns1:r>
              <ns1:t>            "role": "fusion",</ns1:t>
            </ns1:r>
          </ns1:p>
          <ns1:p>
            <ns1:r>
              <ns1:t>            "ranges_zero_based": {</ns1:t>
            </ns1:r>
          </ns1:p>
          <ns1:p>
            <ns1:r>
              <ns1:t>              "ECD": [</ns1:t>
            </ns1:r>
          </ns1:p>
          <ns1:p>
            <ns1:r>
              <ns1:t>                0,</ns1:t>
            </ns1:r>
          </ns1:p>
          <ns1:p>
            <ns1:r>
              <ns1:t>                53</ns1:t>
            </ns1:r>
          </ns1:p>
          <ns1:p>
            <ns1:r>
              <ns1:t>              ],</ns1:t>
            </ns1:r>
          </ns1:p>
          <ns1:p>
            <ns1:r>
              <ns1:t>              "linker": [</ns1:t>
            </ns1:r>
          </ns1:p>
          <ns1:p>
            <ns1:r>
              <ns1:t>                53,</ns1:t>
            </ns1:r>
          </ns1:p>
          <ns1:p>
            <ns1:r>
              <ns1:t>                82</ns1:t>
            </ns1:r>
          </ns1:p>
          <ns1:p>
            <ns1:r>
              <ns1:t>              ],</ns1:t>
            </ns1:r>
          </ns1:p>
          <ns1:p>
            <ns1:r>
              <ns1:t>              "LF": [</ns1:t>
            </ns1:r>
          </ns1:p>
          <ns1:p>
            <ns1:r>
              <ns1:t>                82,</ns1:t>
            </ns1:r>
          </ns1:p>
          <ns1:p>
            <ns1:r>
              <ns1:t>                151</ns1:t>
            </ns1:r>
          </ns1:p>
          <ns1:p>
            <ns1:r>
              <ns1:t>              ]</ns1:t>
            </ns1:r>
          </ns1:p>
          <ns1:p>
            <ns1:r>
              <ns1:t>            },</ns1:t>
            </ns1:r>
          </ns1:p>
          <ns1:p>
            <ns1:r>
              <ns1:t>            "sequence": "MGISALEEFDRLRRASILLSLIRSGSTGSGFDAFLEKSGVKGAPAFLAVPSSNAFSPTSSEVAPDLPFVVLPYPPPPSSSVIEVSGATIDLRVKTCVDFKQTVNFFKLRNTQLPGSCTKDNTVLFLLEGLKLGYASRYFSIGSGSGSQQFS",</ns1:t>
            </ns1:r>
          </ns1:p>
          <ns1:p>
            <ns1:r>
              <ns1:t>            "rotation": [</ns1:t>
            </ns1:r>
          </ns1:p>
          <ns1:p>
            <ns1:r>
              <ns1:t>              [</ns1:t>
            </ns1:r>
          </ns1:p>
          <ns1:p>
            <ns1:r>
              <ns1:t>                0.9999999538983602,</ns1:t>
            </ns1:r>
          </ns1:p>
          <ns1:p>
            <ns1:r>
              <ns1:t>                -1.4677749682334706e-8,</ns1:t>
            </ns1:r>
          </ns1:p>
          <ns1:p>
            <ns1:r>
              <ns1:t>                1.1116654263787495e-8</ns1:t>
            </ns1:r>
          </ns1:p>
          <ns1:p>
            <ns1:r>
              <ns1:t>              ],</ns1:t>
            </ns1:r>
          </ns1:p>
          <ns1:p>
            <ns1:r>
              <ns1:t>              [</ns1:t>
            </ns1:r>
          </ns1:p>
          <ns1:p>
            <ns1:r>
              <ns1:t>                -1.4677749682334706e-8,</ns1:t>
            </ns1:r>
          </ns1:p>
          <ns1:p>
            <ns1:r>
              <ns1:t>                0.9999999994611797,</ns1:t>
            </ns1:r>
          </ns1:p>
          <ns1:p>
            <ns1:r>
              <ns1:t>                2.176987479174386e-10</ns1:t>
            </ns1:r>
          </ns1:p>
          <ns1:p>
            <ns1:r>
              <ns1:t>              ],</ns1:t>
            </ns1:r>
          </ns1:p>
          <ns1:p>
            <ns1:r>
              <ns1:t>              [</ns1:t>
            </ns1:r>
          </ns1:p>
          <ns1:p>
            <ns1:r>
              <ns1:t>                1.1116654263787495e-8,</ns1:t>
            </ns1:r>
          </ns1:p>
          <ns1:p>
            <ns1:r>
              <ns1:t>                2.176987479174386e-10,</ns1:t>
            </ns1:r>
          </ns1:p>
          <ns1:p>
            <ns1:r>
              <ns1:t>                1.0000000016015171</ns1:t>
            </ns1:r>
          </ns1:p>
          <ns1:p>
            <ns1:r>
              <ns1:t>              ]</ns1:t>
            </ns1:r>
          </ns1:p>
          <ns1:p>
            <ns1:r>
              <ns1:t>            ],</ns1:t>
            </ns1:r>
          </ns1:p>
          <ns1:p>
            <ns1:r>
              <ns1:t>            "translation": [</ns1:t>
            </ns1:r>
          </ns1:p>
          <ns1:p>
            <ns1:r>
              <ns1:t>              7.366758048021893e-7,</ns1:t>
            </ns1:r>
          </ns1:p>
          <ns1:p>
            <ns1:r>
              <ns1:t>              1.9043830334908307e-7,</ns1:t>
            </ns1:r>
          </ns1:p>
          <ns1:p>
            <ns1:r>
              <ns1:t>              -1.3943711185682162e-7</ns1:t>
            </ns1:r>
          </ns1:p>
          <ns1:p>
            <ns1:r>
              <ns1:t>            ],</ns1:t>
            </ns1:r>
          </ns1:p>
          <ns1:p>
            <ns1:r>
              <ns1:t>            "core_fit_CA_RMSD_A": 7.965805332947178e-7,</ns1:t>
            </ns1:r>
          </ns1:p>
          <ns1:p>
            <ns1:r>
              <ns1:t>            "output": "local/2026-10-25_linker-parent-views_001/build/renders-v2/LK_P050_07-Exact.jpg",</ns1:t>
            </ns1:r>
          </ns1:p>
          <ns1:p>
            <ns1:r>
              <ns1:t>            "parent_or_fusion_id": "LK_P050_07-Exact",</ns1:t>
            </ns1:r>
          </ns1:p>
          <ns1:p>
            <ns1:r>
              <ns1:t>            "design_id": "LK_P050_07",</ns1:t>
            </ns1:r>
          </ns1:p>
          <ns1:p>
            <ns1:r>
              <ns1:t>            "panel": "Exact",</ns1:t>
            </ns1:r>
          </ns1:p>
          <ns1:p>
            <ns1:r>
              <ns1:t>            "view": [</ns1:t>
            </ns1:r>
          </ns1:p>
          <ns1:p>
            <ns1:r>
              <ns1:t>              1,</ns1:t>
            </ns1:r>
          </ns1:p>
          <ns1:p>
            <ns1:r>
              <ns1:t>              0,</ns1:t>
            </ns1:r>
          </ns1:p>
          <ns1:p>
            <ns1:r>
              <ns1:t>              0,</ns1:t>
            </ns1:r>
          </ns1:p>
          <ns1:p>
            <ns1:r>
              <ns1:t>              0,</ns1:t>
            </ns1:r>
          </ns1:p>
          <ns1:p>
            <ns1:r>
              <ns1:t>              1,</ns1:t>
            </ns1:r>
          </ns1:p>
          <ns1:p>
            <ns1:r>
              <ns1:t>              0,</ns1:t>
            </ns1:r>
          </ns1:p>
          <ns1:p>
            <ns1:r>
              <ns1:t>              0,</ns1:t>
            </ns1:r>
          </ns1:p>
          <ns1:p>
            <ns1:r>
              <ns1:t>              0,</ns1:t>
            </ns1:r>
          </ns1:p>
          <ns1:p>
            <ns1:r>
              <ns1:t>              1,</ns1:t>
            </ns1:r>
          </ns1:p>
          <ns1:p>
            <ns1:r>
              <ns1:t>              0,</ns1:t>
            </ns1:r>
          </ns1:p>
          <ns1:p>
            <ns1:r>
              <ns1:t>              0,</ns1:t>
            </ns1:r>
          </ns1:p>
          <ns1:p>
            <ns1:r>
              <ns1:t>              -401.09488161205957,</ns1:t>
            </ns1:r>
          </ns1:p>
          <ns1:p>
            <ns1:r>
              <ns1:t>              -8.021741623952924,</ns1:t>
            </ns1:r>
          </ns1:p>
          <ns1:p>
            <ns1:r>
              <ns1:t>              16.219807804331833,</ns1:t>
            </ns1:r>
          </ns1:p>
          <ns1:p>
            <ns1:r>
              <ns1:t>              -17.333378338804657,</ns1:t>
            </ns1:r>
          </ns1:p>
          <ns1:p>
            <ns1:r>
              <ns1:t>              323.14270913479584,</ns1:t>
            </ns1:r>
          </ns1:p>
          <ns1:p>
            <ns1:r>
              <ns1:t>              479.0470540893233,</ns1:t>
            </ns1:r>
          </ns1:p>
          <ns1:p>
            <ns1:r>
              <ns1:t>              -20</ns1:t>
            </ns1:r>
          </ns1:p>
          <ns1:p>
            <ns1:r>
              <ns1:t>            ],</ns1:t>
            </ns1:r>
          </ns1:p>
          <ns1:p>
            <ns1:r>
              <ns1:t>            "world_height_A": 141.44769890454734,</ns1:t>
            </ns1:r>
          </ns1:p>
          <ns1:p>
            <ns1:r>
              <ns1:t>            "row_bounds_all_atoms_A": [</ns1:t>
            </ns1:r>
          </ns1:p>
          <ns1:p>
            <ns1:r>
              <ns1:t>              [</ns1:t>
            </ns1:r>
          </ns1:p>
          <ns1:p>
            <ns1:r>
              <ns1:t>                -50.79037642370106,</ns1:t>
            </ns1:r>
          </ns1:p>
          <ns1:p>
            <ns1:r>
              <ns1:t>                -44.16816263862622,</ns1:t>
            </ns1:r>
          </ns1:p>
          <ns1:p>
            <ns1:r>
              <ns1:t>                -80.2855508160684</ns1:t>
            </ns1:r>
          </ns1:p>
          <ns1:p>
            <ns1:r>
              <ns1:t>              ],</ns1:t>
            </ns1:r>
          </ns1:p>
          <ns1:p>
            <ns1:r>
              <ns1:t>              [</ns1:t>
            </ns1:r>
          </ns1:p>
          <ns1:p>
            <ns1:r>
              <ns1:t>                34.746893175795215,</ns1:t>
            </ns1:r>
          </ns1:p>
          <ns1:p>
            <ns1:r>
              <ns1:t>                76.60777824728989,</ns1:t>
            </ns1:r>
          </ns1:p>
          <ns1:p>
            <ns1:r>
              <ns1:t>                45.61879413845908</ns1:t>
            </ns1:r>
          </ns1:p>
          <ns1:p>
            <ns1:r>
              <ns1:t>              ]</ns1:t>
            </ns1:r>
          </ns1:p>
          <ns1:p>
            <ns1:r>
              <ns1:t>            ]</ns1:t>
            </ns1:r>
          </ns1:p>
          <ns1:p>
            <ns1:r>
              <ns1:t>          },</ns1:t>
            </ns1:r>
          </ns1:p>
          <ns1:p>
            <ns1:r>
              <ns1:t>          "LF-parent": {</ns1:t>
            </ns1:r>
          </ns1:p>
          <ns1:p>
            <ns1:r>
              <ns1:t>            "key": "LK_P050_07-LF-parent",</ns1:t>
            </ns1:r>
          </ns1:p>
          <ns1:p>
            <ns1:r>
              <ns1:t>            "source_path": "local/2026-10-25_linker-parent-comparison_001/parents/Design_280/exact.pdb",</ns1:t>
            </ns1:r>
          </ns1:p>
          <ns1:p>
            <ns1:r>
              <ns1:t>            "source_sha256": "cd01c89fbf40d0e577c10f20c2afa96c3deef09880d6c761314a1c5e9898bd4f",</ns1:t>
            </ns1:r>
          </ns1:p>
          <ns1:p>
            <ns1:r>
              <ns1:t>            "role": "LF",</ns1:t>
            </ns1:r>
          </ns1:p>
          <ns1:p>
            <ns1:r>
              <ns1:t>            "ranges_zero_based": {</ns1:t>
            </ns1:r>
          </ns1:p>
          <ns1:p>
            <ns1:r>
              <ns1:t>              "LF": [</ns1:t>
            </ns1:r>
          </ns1:p>
          <ns1:p>
            <ns1:r>
              <ns1:t>                0,</ns1:t>
            </ns1:r>
          </ns1:p>
          <ns1:p>
            <ns1:r>
              <ns1:t>                69</ns1:t>
            </ns1:r>
          </ns1:p>
          <ns1:p>
            <ns1:r>
              <ns1:t>              ]</ns1:t>
            </ns1:r>
          </ns1:p>
          <ns1:p>
            <ns1:r>
              <ns1:t>            },</ns1:t>
            </ns1:r>
          </ns1:p>
          <ns1:p>
            <ns1:r>
              <ns1:t>            "sequence": "EVSGATIDLRVKTCVDFKQTVNFFKLRNTQLPGSCTKDNTVLFLLEGLKLGYASRYFSIGSGSGSQQFS",</ns1:t>
            </ns1:r>
          </ns1:p>
          <ns1:p>
            <ns1:r>
              <ns1:t>            "rotation": [</ns1:t>
            </ns1:r>
          </ns1:p>
          <ns1:p>
            <ns1:r>
              <ns1:t>              [</ns1:t>
            </ns1:r>
          </ns1:p>
          <ns1:p>
            <ns1:r>
              <ns1:t>                0.9716521520149124,</ns1:t>
            </ns1:r>
          </ns1:p>
          <ns1:p>
            <ns1:r>
              <ns1:t>                0.23640963200020604,</ns1:t>
            </ns1:r>
          </ns1:p>
          <ns1:p>
            <ns1:r>
              <ns1:t>                -0.0015985785293137766</ns1:t>
            </ns1:r>
          </ns1:p>
          <ns1:p>
            <ns1:r>
              <ns1:t>              ],</ns1:t>
            </ns1:r>
          </ns1:p>
          <ns1:p>
            <ns1:r>
              <ns1:t>              [</ns1:t>
            </ns1:r>
          </ns1:p>
          <ns1:p>
            <ns1:r>
              <ns1:t>                -0.232382419508661,</ns1:t>
            </ns1:r>
          </ns1:p>
          <ns1:p>
            <ns1:r>
              <ns1:t>                0.9563002615331773,</ns1:t>
            </ns1:r>
          </ns1:p>
          <ns1:p>
            <ns1:r>
              <ns1:t>                0.17744913387297956</ns1:t>
            </ns1:r>
          </ns1:p>
          <ns1:p>
            <ns1:r>
              <ns1:t>              ],</ns1:t>
            </ns1:r>
          </ns1:p>
          <ns1:p>
            <ns1:r>
              <ns1:t>              [</ns1:t>
            </ns1:r>
          </ns1:p>
          <ns1:p>
            <ns1:r>
              <ns1:t>                0.04347938667791329,</ns1:t>
            </ns1:r>
          </ns1:p>
          <ns1:p>
            <ns1:r>
              <ns1:t>                -0.1720473610249762,</ns1:t>
            </ns1:r>
          </ns1:p>
          <ns1:p>
            <ns1:r>
              <ns1:t>                0.9841286681075418</ns1:t>
            </ns1:r>
          </ns1:p>
          <ns1:p>
            <ns1:r>
              <ns1:t>              ]</ns1:t>
            </ns1:r>
          </ns1:p>
          <ns1:p>
            <ns1:r>
              <ns1:t>            ],</ns1:t>
            </ns1:r>
          </ns1:p>
          <ns1:p>
            <ns1:r>
              <ns1:t>            "translation": [</ns1:t>
            </ns1:r>
          </ns1:p>
          <ns1:p>
            <ns1:r>
              <ns1:t>              3.3985903455718525,</ns1:t>
            </ns1:r>
          </ns1:p>
          <ns1:p>
            <ns1:r>
              <ns1:t>              -6.121573941428423,</ns1:t>
            </ns1:r>
          </ns1:p>
          <ns1:p>
            <ns1:r>
              <ns1:t>              6.014485827651381</ns1:t>
            </ns1:r>
          </ns1:p>
          <ns1:p>
            <ns1:r>
              <ns1:t>            ],</ns1:t>
            </ns1:r>
          </ns1:p>
          <ns1:p>
            <ns1:r>
              <ns1:t>            "core_fit_CA_RMSD_A": 1.3060904572635719,</ns1:t>
            </ns1:r>
          </ns1:p>
          <ns1:p>
            <ns1:r>
              <ns1:t>            "output": "local/2026-10-25_linker-parent-views_001/build/renders-v2/LK_P050_07-LF-parent.jpg",</ns1:t>
            </ns1:r>
          </ns1:p>
          <ns1:p>
            <ns1:r>
              <ns1:t>            "parent_or_fusion_id": "Design_280",</ns1:t>
            </ns1:r>
          </ns1:p>
          <ns1:p>
            <ns1:r>
              <ns1:t>            "design_id": "LK_P050_07",</ns1:t>
            </ns1:r>
          </ns1:p>
          <ns1:p>
            <ns1:r>
              <ns1:t>            "panel": "LF-parent",</ns1:t>
            </ns1:r>
          </ns1:p>
          <ns1:p>
            <ns1:r>
              <ns1:t>            "view": [</ns1:t>
            </ns1:r>
          </ns1:p>
          <ns1:p>
            <ns1:r>
              <ns1:t>              1,</ns1:t>
            </ns1:r>
          </ns1:p>
          <ns1:p>
            <ns1:r>
              <ns1:t>              0,</ns1:t>
            </ns1:r>
          </ns1:p>
          <ns1:p>
            <ns1:r>
              <ns1:t>              0,</ns1:t>
            </ns1:r>
          </ns1:p>
          <ns1:p>
            <ns1:r>
              <ns1:t>              0,</ns1:t>
            </ns1:r>
          </ns1:p>
          <ns1:p>
            <ns1:r>
              <ns1:t>              1,</ns1:t>
            </ns1:r>
          </ns1:p>
          <ns1:p>
            <ns1:r>
              <ns1:t>              0,</ns1:t>
            </ns1:r>
          </ns1:p>
          <ns1:p>
            <ns1:r>
              <ns1:t>              0,</ns1:t>
            </ns1:r>
          </ns1:p>
          <ns1:p>
            <ns1:r>
              <ns1:t>              0,</ns1:t>
            </ns1:r>
          </ns1:p>
          <ns1:p>
            <ns1:r>
              <ns1:t>              1,</ns1:t>
            </ns1:r>
          </ns1:p>
          <ns1:p>
            <ns1:r>
              <ns1:t>              0,</ns1:t>
            </ns1:r>
          </ns1:p>
          <ns1:p>
            <ns1:r>
              <ns1:t>              0,</ns1:t>
            </ns1:r>
          </ns1:p>
          <ns1:p>
            <ns1:r>
              <ns1:t>              -401.09488161205957,</ns1:t>
            </ns1:r>
          </ns1:p>
          <ns1:p>
            <ns1:r>
              <ns1:t>              -8.021741623952924,</ns1:t>
            </ns1:r>
          </ns1:p>
          <ns1:p>
            <ns1:r>
              <ns1:t>              16.219807804331833,</ns1:t>
            </ns1:r>
          </ns1:p>
          <ns1:p>
            <ns1:r>
              <ns1:t>              -17.333378338804657,</ns1:t>
            </ns1:r>
          </ns1:p>
          <ns1:p>
            <ns1:r>
              <ns1:t>              323.14270913479584,</ns1:t>
            </ns1:r>
          </ns1:p>
          <ns1:p>
            <ns1:r>
              <ns1:t>              479.0470540893233,</ns1:t>
            </ns1:r>
          </ns1:p>
          <ns1:p>
            <ns1:r>
              <ns1:t>              -20</ns1:t>
            </ns1:r>
          </ns1:p>
          <ns1:p>
            <ns1:r>
              <ns1:t>            ],</ns1:t>
            </ns1:r>
          </ns1:p>
          <ns1:p>
            <ns1:r>
              <ns1:t>            "world_height_A": 141.44769890454734,</ns1:t>
            </ns1:r>
          </ns1:p>
          <ns1:p>
            <ns1:r>
              <ns1:t>            "row_bounds_all_atoms_A": [</ns1:t>
            </ns1:r>
          </ns1:p>
          <ns1:p>
            <ns1:r>
              <ns1:t>              [</ns1:t>
            </ns1:r>
          </ns1:p>
          <ns1:p>
            <ns1:r>
              <ns1:t>                -50.79037642370106,</ns1:t>
            </ns1:r>
          </ns1:p>
          <ns1:p>
            <ns1:r>
              <ns1:t>                -44.16816263862622,</ns1:t>
            </ns1:r>
          </ns1:p>
          <ns1:p>
            <ns1:r>
              <ns1:t>                -80.2855508160684</ns1:t>
            </ns1:r>
          </ns1:p>
          <ns1:p>
            <ns1:r>
              <ns1:t>              ],</ns1:t>
            </ns1:r>
          </ns1:p>
          <ns1:p>
            <ns1:r>
              <ns1:t>              [</ns1:t>
            </ns1:r>
          </ns1:p>
          <ns1:p>
            <ns1:r>
              <ns1:t>                34.746893175795215,</ns1:t>
            </ns1:r>
          </ns1:p>
          <ns1:p>
            <ns1:r>
              <ns1:t>                76.60777824728989,</ns1:t>
            </ns1:r>
          </ns1:p>
          <ns1:p>
            <ns1:r>
              <ns1:t>                45.61879413845908</ns1:t>
            </ns1:r>
          </ns1:p>
          <ns1:p>
            <ns1:r>
              <ns1:t>              ]</ns1:t>
            </ns1:r>
          </ns1:p>
          <ns1:p>
            <ns1:r>
              <ns1:t>            ]</ns1:t>
            </ns1:r>
          </ns1:p>
          <ns1:p>
            <ns1:r>
              <ns1:t>          }</ns1:t>
            </ns1:r>
          </ns1:p>
          <ns1:p>
            <ns1:r>
              <ns1:t>        },</ns1:t>
            </ns1:r>
          </ns1:p>
          <ns1:p>
            <ns1:r>
              <ns1:t>        "shared_camera": [</ns1:t>
            </ns1:r>
          </ns1:p>
          <ns1:p>
            <ns1:r>
              <ns1:t>          1,</ns1:t>
            </ns1:r>
          </ns1:p>
          <ns1:p>
            <ns1:r>
              <ns1:t>          0,</ns1:t>
            </ns1:r>
          </ns1:p>
          <ns1:p>
            <ns1:r>
              <ns1:t>          0,</ns1:t>
            </ns1:r>
          </ns1:p>
          <ns1:p>
            <ns1:r>
              <ns1:t>          0,</ns1:t>
            </ns1:r>
          </ns1:p>
          <ns1:p>
            <ns1:r>
              <ns1:t>          1,</ns1:t>
            </ns1:r>
          </ns1:p>
          <ns1:p>
            <ns1:r>
              <ns1:t>          0,</ns1:t>
            </ns1:r>
          </ns1:p>
          <ns1:p>
            <ns1:r>
              <ns1:t>          0,</ns1:t>
            </ns1:r>
          </ns1:p>
          <ns1:p>
            <ns1:r>
              <ns1:t>          0,</ns1:t>
            </ns1:r>
          </ns1:p>
          <ns1:p>
            <ns1:r>
              <ns1:t>          1,</ns1:t>
            </ns1:r>
          </ns1:p>
          <ns1:p>
            <ns1:r>
              <ns1:t>          0,</ns1:t>
            </ns1:r>
          </ns1:p>
          <ns1:p>
            <ns1:r>
              <ns1:t>          0,</ns1:t>
            </ns1:r>
          </ns1:p>
          <ns1:p>
            <ns1:r>
              <ns1:t>          -401.09488161205957,</ns1:t>
            </ns1:r>
          </ns1:p>
          <ns1:p>
            <ns1:r>
              <ns1:t>          -8.021741623952924,</ns1:t>
            </ns1:r>
          </ns1:p>
          <ns1:p>
            <ns1:r>
              <ns1:t>          16.219807804331833,</ns1:t>
            </ns1:r>
          </ns1:p>
          <ns1:p>
            <ns1:r>
              <ns1:t>          -17.333378338804657,</ns1:t>
            </ns1:r>
          </ns1:p>
          <ns1:p>
            <ns1:r>
              <ns1:t>          323.14270913479584,</ns1:t>
            </ns1:r>
          </ns1:p>
          <ns1:p>
            <ns1:r>
              <ns1:t>          479.0470540893233,</ns1:t>
            </ns1:r>
          </ns1:p>
          <ns1:p>
            <ns1:r>
              <ns1:t>          -20</ns1:t>
            </ns1:r>
          </ns1:p>
          <ns1:p>
            <ns1:r>
              <ns1:t>        ],</ns1:t>
            </ns1:r>
          </ns1:p>
          <ns1:p>
            <ns1:r>
              <ns1:t>        "reference": "Separate saved Exact parent complexes flank the linked Exact refold; AP Novo linked design comparison remains on the following slide. Rigid display alignment preserves native poses; all native receptor residues shown."</ns1:t>
            </ns1:r>
          </ns1:p>
          <ns1:p>
            <ns1:r>
              <ns1:t>      }</ns1:t>
            </ns1:r>
          </ns1:p>
          <ns1:p>
            <ns1:r>
              <ns1:t>    },</ns1:t>
            </ns1:r>
          </ns1:p>
          <ns1:p>
            <ns1:r>
              <ns1:t>    "display": "unchanged embedded JPEGs extracted from hash-verified delivered25-design PPTX; no resampling, cropping or new coordinate transforms",</ns1:t>
            </ns1:r>
          </ns1:p>
          <ns1:p>
            <ns1:r>
              <ns1:t>    "scale": "full complex and interface have different zooms; no matched-scale claim",</ns1:t>
            </ns1:r>
          </ns1:p>
          <ns1:p>
            <ns1:r>
              <ns1:t>    "hotspots": "black sticks; original27pocket positions for original LigandForge, R40/Q37/E34 annotations for DLD",</ns1:t>
            </ns1:r>
          </ns1:p>
          <ns1:p>
            <ns1:r>
              <ns1:t>    "colors": {</ns1:t>
            </ns1:r>
          </ns1:p>
          <ns1:p>
            <ns1:r>
              <ns1:t>      "LigandForge": "#E69F00",</ns1:t>
            </ns1:r>
          </ns1:p>
          <ns1:p>
            <ns1:r>
              <ns1:t>      "linker": "#AA4499",</ns1:t>
            </ns1:r>
          </ns1:p>
          <ns1:p>
            <ns1:r>
              <ns1:t>      "ECD_binder": "#0072B2",</ns1:t>
            </ns1:r>
          </ns1:p>
          <ns1:p>
            <ns1:r>
              <ns1:t>      "receptor_ECD": "#009E73",</ns1:t>
            </ns1:r>
          </ns1:p>
          <ns1:p>
            <ns1:r>
              <ns1:t>      "receptor_remainder": "#9AA5B1",</ns1:t>
            </ns1:r>
          </ns1:p>
          <ns1:p>
            <ns1:r>
              <ns1:t>      "hotspots": "#000000"</ns1:t>
            </ns1:r>
          </ns1:p>
          <ns1:p>
            <ns1:r>
              <ns1:t>    }</ns1:t>
            </ns1:r>
          </ns1:p>
          <ns1:p>
            <ns1:r>
              <ns1:t>  },</ns1:t>
            </ns1:r>
          </ns1:p>
          <ns1:p>
            <ns1:r>
              <ns1:t>  "source_deck": "local/2026-10-25_affinity-confidence-selection-deck_002/output/GLP1R_Selected_ipSAE_gt0p895_Kd_lt10nM_v3.pptx",</ns1:t>
            </ns1:r>
          </ns1:p>
          <ns1:p>
            <ns1:r>
              <ns1:t>  "source_deck_sha256": "ad9333fdf6c0ce7d6982e2980d6aade78af256710dbc7917f7f39e41d35aa173",</ns1:t>
            </ns1:r>
          </ns1:p>
          <ns1:p>
            <ns1:r>
              <ns1:t>  "domain_labels": "ECD A1-53  linker A54-82  LF A83-151",</ns1:t>
            </ns1:r>
          </ns1:p>
          <ns1:p>
            <ns1:r>
              <ns1:t>  "display_scope": "native Exact complex and saved interface view; same identity colors, independent zooms; no new coordinates or inferred agonism"</ns1:t>
            </ns1:r>
          </ns1:p>
          <ns1:p>
            <ns1:r>
              <ns1:t>}</ns1:t>
            </ns1:r>
          </ns1:p>
        </ns0:txBody>
      </ns0:sp>
      <ns0:sp>
        <ns0:nvSpPr>
          <ns0:cNvPr id="4" name="Slide Number Placeholder 3"/>
          <ns0:cNvSpPr>
            <ns1:spLocks noGrp="1"/>
          </ns0:cNvSpPr>
          <ns0:nvPr>
            <ns0:ph type="sldNum" idx="5"/>
          </ns0:nvPr>
        </ns0:nvSpPr>
        <ns0:spPr/>
        <ns0:txBody>
          <ns1:bodyPr/>
          <ns1:lstStyle/>
          <ns1:p/>
        </ns0:txBody>
      </ns0:sp>
    </ns0:spTree>
  </ns0:cSld>
  <ns0:clrMapOvr>
    <ns1:masterClrMapping/>
  </ns0:clrMapOvr>
</ns0:notes>
</file>

<file path=ppt/notesSlides/notesSlide3.xml><?xml version="1.0" encoding="utf-8"?>
<ns0:notes xmlns:ns0="http://schemas.openxmlformats.org/presentationml/2006/main" xmlns:ns1="http://schemas.openxmlformats.org/drawingml/2006/main">
  <ns0:cSld>
    <ns0:spTree>
      <ns0:nvGrpSpPr>
        <ns0:cNvPr id="1" name=""/>
        <ns0:cNvGrpSpPr/>
        <ns0:nvPr/>
      </ns0:nvGrpSpPr>
      <ns0:grpSpPr>
        <ns1:xfrm/>
      </ns0:grpSpPr>
      <ns0:sp>
        <ns0:nvSpPr>
          <ns0:cNvPr id="2" name="Slide Image Placeholder 1"/>
          <ns0:cNvSpPr>
            <ns1:spLocks noGrp="1"/>
          </ns0:cNvSpPr>
          <ns0:nvPr>
            <ns0:ph type="sldImg" idx="0"/>
          </ns0:nvPr>
        </ns0:nvSpPr>
        <ns0:spPr/>
      </ns0:sp>
      <ns0:sp>
        <ns0:nvSpPr>
          <ns0:cNvPr id="3" name="Notes Placeholder 2"/>
          <ns0:cNvSpPr>
            <ns1:spLocks noGrp="1"/>
          </ns0:cNvSpPr>
          <ns0:nvPr>
            <ns0:ph type="body" idx="1"/>
          </ns0:nvPr>
        </ns0:nvSpPr>
        <ns0:spPr/>
        <ns0:txBody>
          <ns1:bodyPr/>
          <ns1:lstStyle/>
          <ns1:p>
            <ns1:r>
              <ns1:t>{</ns1:t>
            </ns1:r>
          </ns1:p>
          <ns1:p>
            <ns1:r>
              <ns1:t>  "candidate": "LK_P063_07",</ns1:t>
            </ns1:r>
          </ns1:p>
          <ns1:p>
            <ns1:r>
              <ns1:t>  "final_rank": 2,</ns1:t>
            </ns1:r>
          </ns1:p>
          <ns1:p>
            <ns1:r>
              <ns1:t>  "selection": "Exact ipSAE&gt;0.895 and DeltaForge predicted Kd&lt;10nM; first20 by Exact ipSAE descending",</ns1:t>
            </ns1:r>
          </ns1:p>
          <ns1:p>
            <ns1:r>
              <ns1:t>  "sequence_sha256": "b140a1ab7270fe482da2b10c10059ed8faeaa1903da534255877c1114414d485",</ns1:t>
            </ns1:r>
          </ns1:p>
          <ns1:p>
            <ns1:r>
              <ns1:t>  "sources": {</ns1:t>
            </ns1:r>
          </ns1:p>
          <ns1:p>
            <ns1:r>
              <ns1:t>    "source_table": {</ns1:t>
            </ns1:r>
          </ns1:p>
          <ns1:p>
            <ns1:r>
              <ns1:t>      "path": "local/2026-10-25_lf50-dld26-50-deltaforge_001/output/GLP1R_DLD_Top50_DeltaForge_Kd_and_Boltz2_Metrics.csv",</ns1:t>
            </ns1:r>
          </ns1:p>
          <ns1:p>
            <ns1:r>
              <ns1:t>      "sha256": "da9569bf0e8b74cce3d6792eb260d6a4b17b35e6f46e0793d49f02c0d3a0e728"</ns1:t>
            </ns1:r>
          </ns1:p>
          <ns1:p>
            <ns1:r>
              <ns1:t>    },</ns1:t>
            </ns1:r>
          </ns1:p>
          <ns1:p>
            <ns1:r>
              <ns1:t>    "native_cif": {</ns1:t>
            </ns1:r>
          </ns1:p>
          <ns1:p>
            <ns1:r>
              <ns1:t>      "path": "local/2026-10-25_linker-top100-review_001/models/LK_P063_07/boltz2.cif",</ns1:t>
            </ns1:r>
          </ns1:p>
          <ns1:p>
            <ns1:r>
              <ns1:t>      "sha256": "bf7d45251c1117f8d3d61acb7256b8a07e9e9f305d30b8546530fea3ee6c1d82"</ns1:t>
            </ns1:r>
          </ns1:p>
          <ns1:p>
            <ns1:r>
              <ns1:t>    },</ns1:t>
            </ns1:r>
          </ns1:p>
          <ns1:p>
            <ns1:r>
              <ns1:t>    "scoring_pdb": {</ns1:t>
            </ns1:r>
          </ns1:p>
          <ns1:p>
            <ns1:r>
              <ns1:t>      "path": "local/2026-10-25_dld-top25-deltaforge_001/payload/structures/LK_P063_07.pdb",</ns1:t>
            </ns1:r>
          </ns1:p>
          <ns1:p>
            <ns1:r>
              <ns1:t>      "sha256": "a469a2fb5f07b3ed5af8e2f935fb82e41afd2e11ab7d233ddd419853c0a5e2e5"</ns1:t>
            </ns1:r>
          </ns1:p>
          <ns1:p>
            <ns1:r>
              <ns1:t>    },</ns1:t>
            </ns1:r>
          </ns1:p>
          <ns1:p>
            <ns1:r>
              <ns1:t>    "DeltaForge_result": {</ns1:t>
            </ns1:r>
          </ns1:p>
          <ns1:p>
            <ns1:r>
              <ns1:t>      "path": "campaigns/glp1r-r40-design/runs/2026-10-25_dld-top25-deltaforge_001/03_filtering/deltaforge_results/LK_P063_07.json",</ns1:t>
            </ns1:r>
          </ns1:p>
          <ns1:p>
            <ns1:r>
              <ns1:t>      "sha256": "ae5f2d0601c9fbade789cec67bc2d3d8dac7d8f3b6e3d786db9d139712b9442b"</ns1:t>
            </ns1:r>
          </ns1:p>
          <ns1:p>
            <ns1:r>
              <ns1:t>    }</ns1:t>
            </ns1:r>
          </ns1:p>
          <ns1:p>
            <ns1:r>
              <ns1:t>  },</ns1:t>
            </ns1:r>
          </ns1:p>
          <ns1:p>
            <ns1:r>
              <ns1:t>  "source_ledger": "campaigns/glp1r-final-writeup/runs/2026-10-25_final20-writeup_001/04_analysis/provenance-ledger.json",</ns1:t>
            </ns1:r>
          </ns1:p>
          <ns1:p>
            <ns1:r>
              <ns1:t>  "scorer": "deltaforge_v10_2_unified_parallel / v10_2_unified_parallel_2026_05_08",</ns1:t>
            </ns1:r>
          </ns1:p>
          <ns1:p>
            <ns1:r>
              <ns1:t>  "calibration": "deltaforge_v10_boltz2_calibrated_gbr / v10_boltz2_gbr_2026_03_29",</ns1:t>
            </ns1:r>
          </ns1:p>
          <ns1:p>
            <ns1:r>
              <ns1:t>  "scope": "one complete candidate A against one receptor B; computational, no experimental Kd or activation"</ns1:t>
            </ns1:r>
          </ns1:p>
          <ns1:p>
            <ns1:r>
              <ns1:t>}</ns1:t>
            </ns1:r>
          </ns1:p>
        </ns0:txBody>
      </ns0:sp>
      <ns0:sp>
        <ns0:nvSpPr>
          <ns0:cNvPr id="4" name="Slide Number Placeholder 3"/>
          <ns0:cNvSpPr>
            <ns1:spLocks noGrp="1"/>
          </ns0:cNvSpPr>
          <ns0:nvPr>
            <ns0:ph type="sldNum" idx="5"/>
          </ns0:nvPr>
        </ns0:nvSpPr>
        <ns0:spPr/>
        <ns0:txBody>
          <ns1:bodyPr/>
          <ns1:lstStyle/>
          <ns1:p/>
        </ns0:txBody>
      </ns0:sp>
    </ns0:spTree>
  </ns0:cSld>
  <ns0:clrMapOvr>
    <ns1:masterClrMapping/>
  </ns0:clrMapOvr>
</ns0:notes>
</file>

<file path=ppt/notesSlides/notesSlide4.xml><?xml version="1.0" encoding="utf-8"?>
<ns0:notes xmlns:ns0="http://schemas.openxmlformats.org/presentationml/2006/main" xmlns:ns1="http://schemas.openxmlformats.org/drawingml/2006/main">
  <ns0:cSld>
    <ns0:spTree>
      <ns0:nvGrpSpPr>
        <ns0:cNvPr id="1" name=""/>
        <ns0:cNvGrpSpPr/>
        <ns0:nvPr/>
      </ns0:nvGrpSpPr>
      <ns0:grpSpPr>
        <ns1:xfrm/>
      </ns0:grpSpPr>
      <ns0:sp>
        <ns0:nvSpPr>
          <ns0:cNvPr id="2" name="Slide Image Placeholder 1"/>
          <ns0:cNvSpPr>
            <ns1:spLocks noGrp="1"/>
          </ns0:cNvSpPr>
          <ns0:nvPr>
            <ns0:ph type="sldImg" idx="0"/>
          </ns0:nvPr>
        </ns0:nvSpPr>
        <ns0:spPr/>
      </ns0:sp>
      <ns0:sp>
        <ns0:nvSpPr>
          <ns0:cNvPr id="3" name="Notes Placeholder 2"/>
          <ns0:cNvSpPr>
            <ns1:spLocks noGrp="1"/>
          </ns0:cNvSpPr>
          <ns0:nvPr>
            <ns0:ph type="body" idx="1"/>
          </ns0:nvPr>
        </ns0:nvSpPr>
        <ns0:spPr/>
        <ns0:txBody>
          <ns1:bodyPr/>
          <ns1:lstStyle/>
          <ns1:p>
            <ns1:r>
              <ns1:t>{</ns1:t>
            </ns1:r>
          </ns1:p>
          <ns1:p>
            <ns1:r>
              <ns1:t>  "candidate": "LK_P063_07",</ns1:t>
            </ns1:r>
          </ns1:p>
          <ns1:p>
            <ns1:r>
              <ns1:t>  "final_rank": 2,</ns1:t>
            </ns1:r>
          </ns1:p>
          <ns1:p>
            <ns1:r>
              <ns1:t>  "native_model_sha256": "bf7d45251c1117f8d3d61acb7256b8a07e9e9f305d30b8546530fea3ee6c1d82",</ns1:t>
            </ns1:r>
          </ns1:p>
          <ns1:p>
            <ns1:r>
              <ns1:t>  "structure_views": {</ns1:t>
            </ns1:r>
          </ns1:p>
          <ns1:p>
            <ns1:r>
              <ns1:t>    "final_rank": 2,</ns1:t>
            </ns1:r>
          </ns1:p>
          <ns1:p>
            <ns1:r>
              <ns1:t>    "design_id": "LK_P063_07",</ns1:t>
            </ns1:r>
          </ns1:p>
          <ns1:p>
            <ns1:r>
              <ns1:t>    "sequence_sha256": "b140a1ab7270fe482da2b10c10059ed8faeaa1903da534255877c1114414d485",</ns1:t>
            </ns1:r>
          </ns1:p>
          <ns1:p>
            <ns1:r>
              <ns1:t>    "native_model_sha256": "bf7d45251c1117f8d3d61acb7256b8a07e9e9f305d30b8546530fea3ee6c1d82",</ns1:t>
            </ns1:r>
          </ns1:p>
          <ns1:p>
            <ns1:r>
              <ns1:t>    "scoring_pdb_sha256": "a469a2fb5f07b3ed5af8e2f935fb82e41afd2e11ab7d233ddd419853c0a5e2e5",</ns1:t>
            </ns1:r>
          </ns1:p>
          <ns1:p>
            <ns1:r>
              <ns1:t>    "overview": {</ns1:t>
            </ns1:r>
          </ns1:p>
          <ns1:p>
            <ns1:r>
              <ns1:t>      "source_slide": 23,</ns1:t>
            </ns1:r>
          </ns1:p>
          <ns1:p>
            <ns1:r>
              <ns1:t>      "source_picture_index": 1,</ns1:t>
            </ns1:r>
          </ns1:p>
          <ns1:p>
            <ns1:r>
              <ns1:t>      "embedded_media": "ppt/media/image21.jpeg",</ns1:t>
            </ns1:r>
          </ns1:p>
          <ns1:p>
            <ns1:r>
              <ns1:t>      "image_sha256": "b3c273eb3d36fd482b4824c658a24a675eb10529e76705fbd205d2264f9bd735",</ns1:t>
            </ns1:r>
          </ns1:p>
          <ns1:p>
            <ns1:r>
              <ns1:t>      "asset": "assets/LK_P063_07-complex.jpg"</ns1:t>
            </ns1:r>
          </ns1:p>
          <ns1:p>
            <ns1:r>
              <ns1:t>    },</ns1:t>
            </ns1:r>
          </ns1:p>
          <ns1:p>
            <ns1:r>
              <ns1:t>    "interface": {</ns1:t>
            </ns1:r>
          </ns1:p>
          <ns1:p>
            <ns1:r>
              <ns1:t>      "source_slide": 24,</ns1:t>
            </ns1:r>
          </ns1:p>
          <ns1:p>
            <ns1:r>
              <ns1:t>      "source_picture_index": 1,</ns1:t>
            </ns1:r>
          </ns1:p>
          <ns1:p>
            <ns1:r>
              <ns1:t>      "embedded_media": "ppt/media/image24.jpeg",</ns1:t>
            </ns1:r>
          </ns1:p>
          <ns1:p>
            <ns1:r>
              <ns1:t>      "image_sha256": "2dc82a8265f627362a11e0b6ca8202a62e608d79083fc1a8e07cbe922c7bd9b3",</ns1:t>
            </ns1:r>
          </ns1:p>
          <ns1:p>
            <ns1:r>
              <ns1:t>      "asset": "assets/LK_P063_07-interface.jpg"</ns1:t>
            </ns1:r>
          </ns1:p>
          <ns1:p>
            <ns1:r>
              <ns1:t>    },</ns1:t>
            </ns1:r>
          </ns1:p>
          <ns1:p>
            <ns1:r>
              <ns1:t>    "rendering_provenance": {</ns1:t>
            </ns1:r>
          </ns1:p>
          <ns1:p>
            <ns1:r>
              <ns1:t>      "DeltaForge_source_PDB_sha256": "a469a2fb5f07b3ed5af8e2f935fb82e41afd2e11ab7d233ddd419853c0a5e2e5",</ns1:t>
            </ns1:r>
          </ns1:p>
          <ns1:p>
            <ns1:r>
              <ns1:t>      "role_ranges_zero_based": {</ns1:t>
            </ns1:r>
          </ns1:p>
          <ns1:p>
            <ns1:r>
              <ns1:t>        "ECD": [</ns1:t>
            </ns1:r>
          </ns1:p>
          <ns1:p>
            <ns1:r>
              <ns1:t>          0,</ns1:t>
            </ns1:r>
          </ns1:p>
          <ns1:p>
            <ns1:r>
              <ns1:t>          40</ns1:t>
            </ns1:r>
          </ns1:p>
          <ns1:p>
            <ns1:r>
              <ns1:t>        ],</ns1:t>
            </ns1:r>
          </ns1:p>
          <ns1:p>
            <ns1:r>
              <ns1:t>        "linker": [</ns1:t>
            </ns1:r>
          </ns1:p>
          <ns1:p>
            <ns1:r>
              <ns1:t>          40,</ns1:t>
            </ns1:r>
          </ns1:p>
          <ns1:p>
            <ns1:r>
              <ns1:t>          71</ns1:t>
            </ns1:r>
          </ns1:p>
          <ns1:p>
            <ns1:r>
              <ns1:t>        ],</ns1:t>
            </ns1:r>
          </ns1:p>
          <ns1:p>
            <ns1:r>
              <ns1:t>        "LF": [</ns1:t>
            </ns1:r>
          </ns1:p>
          <ns1:p>
            <ns1:r>
              <ns1:t>          71,</ns1:t>
            </ns1:r>
          </ns1:p>
          <ns1:p>
            <ns1:r>
              <ns1:t>          140</ns1:t>
            </ns1:r>
          </ns1:p>
          <ns1:p>
            <ns1:r>
              <ns1:t>        ]</ns1:t>
            </ns1:r>
          </ns1:p>
          <ns1:p>
            <ns1:r>
              <ns1:t>      },</ns1:t>
            </ns1:r>
          </ns1:p>
          <ns1:p>
            <ns1:r>
              <ns1:t>      "model_sha256": "bf7d45251c1117f8d3d61acb7256b8a07e9e9f305d30b8546530fea3ee6c1d82",</ns1:t>
            </ns1:r>
          </ns1:p>
          <ns1:p>
            <ns1:r>
              <ns1:t>      "source_run": "2026-10-24_pair183-extracellular-exact_001",</ns1:t>
            </ns1:r>
          </ns1:p>
          <ns1:p>
            <ns1:r>
              <ns1:t>      "source_methods": [</ns1:t>
            </ns1:r>
          </ns1:p>
          <ns1:p>
            <ns1:r>
              <ns1:t>        "https://github.com/DunbrackLab/IPSAE",</ns1:t>
            </ns1:r>
          </ns1:p>
          <ns1:p>
            <ns1:r>
              <ns1:t>        "https://github.com/wallnerlab/DockQ",</ns1:t>
            </ns1:r>
          </ns1:p>
          <ns1:p>
            <ns1:r>
              <ns1:t>        "https://zhanggroup.org/TM-score/"</ns1:t>
            </ns1:r>
          </ns1:p>
          <ns1:p>
            <ns1:r>
              <ns1:t>      ],</ns1:t>
            </ns1:r>
          </ns1:p>
          <ns1:p>
            <ns1:r>
              <ns1:t>      "saved_display_appendix": {</ns1:t>
            </ns1:r>
          </ns1:p>
          <ns1:p>
            <ns1:r>
              <ns1:t>        "parent_sources": {</ns1:t>
            </ns1:r>
          </ns1:p>
          <ns1:p>
            <ns1:r>
              <ns1:t>          "ECD-parent": {</ns1:t>
            </ns1:r>
          </ns1:p>
          <ns1:p>
            <ns1:r>
              <ns1:t>            "key": "LK_P063_07-ECD-parent",</ns1:t>
            </ns1:r>
          </ns1:p>
          <ns1:p>
            <ns1:r>
              <ns1:t>            "source_path": "local/2026-10-25_linker-parent-comparison_001/parents/S08_03_083/exact.pdb",</ns1:t>
            </ns1:r>
          </ns1:p>
          <ns1:p>
            <ns1:r>
              <ns1:t>            "source_sha256": "d20828f265dce8b2961c62530b400dd6dff7cc762eb2f9ea3633d08208b36846",</ns1:t>
            </ns1:r>
          </ns1:p>
          <ns1:p>
            <ns1:r>
              <ns1:t>            "role": "ECD",</ns1:t>
            </ns1:r>
          </ns1:p>
          <ns1:p>
            <ns1:r>
              <ns1:t>            "ranges_zero_based": {</ns1:t>
            </ns1:r>
          </ns1:p>
          <ns1:p>
            <ns1:r>
              <ns1:t>              "ECD": [</ns1:t>
            </ns1:r>
          </ns1:p>
          <ns1:p>
            <ns1:r>
              <ns1:t>                0,</ns1:t>
            </ns1:r>
          </ns1:p>
          <ns1:p>
            <ns1:r>
              <ns1:t>                40</ns1:t>
            </ns1:r>
          </ns1:p>
          <ns1:p>
            <ns1:r>
              <ns1:t>              ]</ns1:t>
            </ns1:r>
          </ns1:p>
          <ns1:p>
            <ns1:r>
              <ns1:t>            },</ns1:t>
            </ns1:r>
          </ns1:p>
          <ns1:p>
            <ns1:r>
              <ns1:t>            "sequence": "MEKKREDFKEVLKFRYSRYPSLDRFVLVNTAEESIRHLLI",</ns1:t>
            </ns1:r>
          </ns1:p>
          <ns1:p>
            <ns1:r>
              <ns1:t>            "rotation": [</ns1:t>
            </ns1:r>
          </ns1:p>
          <ns1:p>
            <ns1:r>
              <ns1:t>              [</ns1:t>
            </ns1:r>
          </ns1:p>
          <ns1:p>
            <ns1:r>
              <ns1:t>                0.2828947574406797,</ns1:t>
            </ns1:r>
          </ns1:p>
          <ns1:p>
            <ns1:r>
              <ns1:t>                0.9494093760703075,</ns1:t>
            </ns1:r>
          </ns1:p>
          <ns1:p>
            <ns1:r>
              <ns1:t>                0.13635402243375871</ns1:t>
            </ns1:r>
          </ns1:p>
          <ns1:p>
            <ns1:r>
              <ns1:t>              ],</ns1:t>
            </ns1:r>
          </ns1:p>
          <ns1:p>
            <ns1:r>
              <ns1:t>              [</ns1:t>
            </ns1:r>
          </ns1:p>
          <ns1:p>
            <ns1:r>
              <ns1:t>                0.007418938177479184,</ns1:t>
            </ns1:r>
          </ns1:p>
          <ns1:p>
            <ns1:r>
              <ns1:t>                0.1399909475757788,</ns1:t>
            </ns1:r>
          </ns1:p>
          <ns1:p>
            <ns1:r>
              <ns1:t>                -0.9901249690752376</ns1:t>
            </ns1:r>
          </ns1:p>
          <ns1:p>
            <ns1:r>
              <ns1:t>              ],</ns1:t>
            </ns1:r>
          </ns1:p>
          <ns1:p>
            <ns1:r>
              <ns1:t>              [</ns1:t>
            </ns1:r>
          </ns1:p>
          <ns1:p>
            <ns1:r>
              <ns1:t>                -0.959122236331444,</ns1:t>
            </ns1:r>
          </ns1:p>
          <ns1:p>
            <ns1:r>
              <ns1:t>                0.28111279540521306,</ns1:t>
            </ns1:r>
          </ns1:p>
          <ns1:p>
            <ns1:r>
              <ns1:t>                0.03255909298531812</ns1:t>
            </ns1:r>
          </ns1:p>
          <ns1:p>
            <ns1:r>
              <ns1:t>              ]</ns1:t>
            </ns1:r>
          </ns1:p>
          <ns1:p>
            <ns1:r>
              <ns1:t>            ],</ns1:t>
            </ns1:r>
          </ns1:p>
          <ns1:p>
            <ns1:r>
              <ns1:t>            "translation": [</ns1:t>
            </ns1:r>
          </ns1:p>
          <ns1:p>
            <ns1:r>
              <ns1:t>              2.9826687458662207,</ns1:t>
            </ns1:r>
          </ns1:p>
          <ns1:p>
            <ns1:r>
              <ns1:t>              2.6578802153426135,</ns1:t>
            </ns1:r>
          </ns1:p>
          <ns1:p>
            <ns1:r>
              <ns1:t>              -3.718156967861327</ns1:t>
            </ns1:r>
          </ns1:p>
          <ns1:p>
            <ns1:r>
              <ns1:t>            ],</ns1:t>
            </ns1:r>
          </ns1:p>
          <ns1:p>
            <ns1:r>
              <ns1:t>            "core_fit_CA_RMSD_A": 1.3686869252421163,</ns1:t>
            </ns1:r>
          </ns1:p>
          <ns1:p>
            <ns1:r>
              <ns1:t>            "output": "local/2026-10-25_linker-parent-views_001/build/renders-v2/LK_P063_07-ECD-parent.jpg",</ns1:t>
            </ns1:r>
          </ns1:p>
          <ns1:p>
            <ns1:r>
              <ns1:t>            "parent_or_fusion_id": "S08_03_083",</ns1:t>
            </ns1:r>
          </ns1:p>
          <ns1:p>
            <ns1:r>
              <ns1:t>            "design_id": "LK_P063_07",</ns1:t>
            </ns1:r>
          </ns1:p>
          <ns1:p>
            <ns1:r>
              <ns1:t>            "panel": "ECD-parent",</ns1:t>
            </ns1:r>
          </ns1:p>
          <ns1:p>
            <ns1:r>
              <ns1:t>            "view": [</ns1:t>
            </ns1:r>
          </ns1:p>
          <ns1:p>
            <ns1:r>
              <ns1:t>              1,</ns1:t>
            </ns1:r>
          </ns1:p>
          <ns1:p>
            <ns1:r>
              <ns1:t>              0,</ns1:t>
            </ns1:r>
          </ns1:p>
          <ns1:p>
            <ns1:r>
              <ns1:t>              0,</ns1:t>
            </ns1:r>
          </ns1:p>
          <ns1:p>
            <ns1:r>
              <ns1:t>              0,</ns1:t>
            </ns1:r>
          </ns1:p>
          <ns1:p>
            <ns1:r>
              <ns1:t>              1,</ns1:t>
            </ns1:r>
          </ns1:p>
          <ns1:p>
            <ns1:r>
              <ns1:t>              0,</ns1:t>
            </ns1:r>
          </ns1:p>
          <ns1:p>
            <ns1:r>
              <ns1:t>              0,</ns1:t>
            </ns1:r>
          </ns1:p>
          <ns1:p>
            <ns1:r>
              <ns1:t>              0,</ns1:t>
            </ns1:r>
          </ns1:p>
          <ns1:p>
            <ns1:r>
              <ns1:t>              1,</ns1:t>
            </ns1:r>
          </ns1:p>
          <ns1:p>
            <ns1:r>
              <ns1:t>              0,</ns1:t>
            </ns1:r>
          </ns1:p>
          <ns1:p>
            <ns1:r>
              <ns1:t>              0,</ns1:t>
            </ns1:r>
          </ns1:p>
          <ns1:p>
            <ns1:r>
              <ns1:t>              -390.45136026717313,</ns1:t>
            </ns1:r>
          </ns1:p>
          <ns1:p>
            <ns1:r>
              <ns1:t>              -9.355201402556244,</ns1:t>
            </ns1:r>
          </ns1:p>
          <ns1:p>
            <ns1:r>
              <ns1:t>              23.910341981222196,</ns1:t>
            </ns1:r>
          </ns1:p>
          <ns1:p>
            <ns1:r>
              <ns1:t>              -13.737335383029249,</ns1:t>
            </ns1:r>
          </ns1:p>
          <ns1:p>
            <ns1:r>
              <ns1:t>              336.1550949418093,</ns1:t>
            </ns1:r>
          </ns1:p>
          <ns1:p>
            <ns1:r>
              <ns1:t>              444.74762559253696,</ns1:t>
            </ns1:r>
          </ns1:p>
          <ns1:p>
            <ns1:r>
              <ns1:t>              -20</ns1:t>
            </ns1:r>
          </ns1:p>
          <ns1:p>
            <ns1:r>
              <ns1:t>            ],</ns1:t>
            </ns1:r>
          </ns1:p>
          <ns1:p>
            <ns1:r>
              <ns1:t>            "world_height_A": 137.69421893884748,</ns1:t>
            </ns1:r>
          </ns1:p>
          <ns1:p>
            <ns1:r>
              <ns1:t>            "row_bounds_all_atoms_A": [</ns1:t>
            </ns1:r>
          </ns1:p>
          <ns1:p>
            <ns1:r>
              <ns1:t>              [</ns1:t>
            </ns1:r>
          </ns1:p>
          <ns1:p>
            <ns1:r>
              <ns1:t>                -50.80316732548407,</ns1:t>
            </ns1:r>
          </ns1:p>
          <ns1:p>
            <ns1:r>
              <ns1:t>                -33.93233172219635,</ns1:t>
            </ns1:r>
          </ns1:p>
          <ns1:p>
            <ns1:r>
              <ns1:t>                -53.03360070839306</ns1:t>
            </ns1:r>
          </ns1:p>
          <ns1:p>
            <ns1:r>
              <ns1:t>              ],</ns1:t>
            </ns1:r>
          </ns1:p>
          <ns1:p>
            <ns1:r>
              <ns1:t>              [</ns1:t>
            </ns1:r>
          </ns1:p>
          <ns1:p>
            <ns1:r>
              <ns1:t>                32.09276452037158,</ns1:t>
            </ns1:r>
          </ns1:p>
          <ns1:p>
            <ns1:r>
              <ns1:t>                81.75301568464074,</ns1:t>
            </ns1:r>
          </ns1:p>
          <ns1:p>
            <ns1:r>
              <ns1:t>                25.55892994233456</ns1:t>
            </ns1:r>
          </ns1:p>
          <ns1:p>
            <ns1:r>
              <ns1:t>              ]</ns1:t>
            </ns1:r>
          </ns1:p>
          <ns1:p>
            <ns1:r>
              <ns1:t>            ]</ns1:t>
            </ns1:r>
          </ns1:p>
          <ns1:p>
            <ns1:r>
              <ns1:t>          },</ns1:t>
            </ns1:r>
          </ns1:p>
          <ns1:p>
            <ns1:r>
              <ns1:t>          "APNovo": {</ns1:t>
            </ns1:r>
          </ns1:p>
          <ns1:p>
            <ns1:r>
              <ns1:t>            "key": "LK_P063_07-APNovo",</ns1:t>
            </ns1:r>
          </ns1:p>
          <ns1:p>
            <ns1:r>
              <ns1:t>            "source_path": "local/2026-10-25_linker-top100-review_001/build/comparisons/LK_P063_07/reference.pdb",</ns1:t>
            </ns1:r>
          </ns1:p>
          <ns1:p>
            <ns1:r>
              <ns1:t>            "source_sha256": "0a1623dccf02cdcbb0819a5c326ea03f0397f2b1d854f4a01ae58ec8075a0fa0",</ns1:t>
            </ns1:r>
          </ns1:p>
          <ns1:p>
            <ns1:r>
              <ns1:t>            "role": "fusion",</ns1:t>
            </ns1:r>
          </ns1:p>
          <ns1:p>
            <ns1:r>
              <ns1:t>            "ranges_zero_based": {</ns1:t>
            </ns1:r>
          </ns1:p>
          <ns1:p>
            <ns1:r>
              <ns1:t>              "ECD": [</ns1:t>
            </ns1:r>
          </ns1:p>
          <ns1:p>
            <ns1:r>
              <ns1:t>                0,</ns1:t>
            </ns1:r>
          </ns1:p>
          <ns1:p>
            <ns1:r>
              <ns1:t>                40</ns1:t>
            </ns1:r>
          </ns1:p>
          <ns1:p>
            <ns1:r>
              <ns1:t>              ],</ns1:t>
            </ns1:r>
          </ns1:p>
          <ns1:p>
            <ns1:r>
              <ns1:t>              "linker": [</ns1:t>
            </ns1:r>
          </ns1:p>
          <ns1:p>
            <ns1:r>
              <ns1:t>                40,</ns1:t>
            </ns1:r>
          </ns1:p>
          <ns1:p>
            <ns1:r>
              <ns1:t>                71</ns1:t>
            </ns1:r>
          </ns1:p>
          <ns1:p>
            <ns1:r>
              <ns1:t>              ],</ns1:t>
            </ns1:r>
          </ns1:p>
          <ns1:p>
            <ns1:r>
              <ns1:t>              "LF": [</ns1:t>
            </ns1:r>
          </ns1:p>
          <ns1:p>
            <ns1:r>
              <ns1:t>                71,</ns1:t>
            </ns1:r>
          </ns1:p>
          <ns1:p>
            <ns1:r>
              <ns1:t>                140</ns1:t>
            </ns1:r>
          </ns1:p>
          <ns1:p>
            <ns1:r>
              <ns1:t>              ]</ns1:t>
            </ns1:r>
          </ns1:p>
          <ns1:p>
            <ns1:r>
              <ns1:t>            },</ns1:t>
            </ns1:r>
          </ns1:p>
          <ns1:p>
            <ns1:r>
              <ns1:t>            "sequence": "MEKKREDFKEVLKFRYSRYPSLDRFVLVNTAEESIRHLLIGMFVDPSEVLDPSPPPPPPLSLPPVPATDVVEVSGATIDLRVKTCVDFKQTVNFFKLRNTQLPGSCTKDNTVLFLLEGLKLGYASRYFSIGSGSGSQQFS",</ns1:t>
            </ns1:r>
          </ns1:p>
          <ns1:p>
            <ns1:r>
              <ns1:t>            "rotation": [</ns1:t>
            </ns1:r>
          </ns1:p>
          <ns1:p>
            <ns1:r>
              <ns1:t>              [</ns1:t>
            </ns1:r>
          </ns1:p>
          <ns1:p>
            <ns1:r>
              <ns1:t>                0.19086517469156483,</ns1:t>
            </ns1:r>
          </ns1:p>
          <ns1:p>
            <ns1:r>
              <ns1:t>                -0.7896264693440829,</ns1:t>
            </ns1:r>
          </ns1:p>
          <ns1:p>
            <ns1:r>
              <ns1:t>                0.5831470418982718</ns1:t>
            </ns1:r>
          </ns1:p>
          <ns1:p>
            <ns1:r>
              <ns1:t>              ],</ns1:t>
            </ns1:r>
          </ns1:p>
          <ns1:p>
            <ns1:r>
              <ns1:t>              [</ns1:t>
            </ns1:r>
          </ns1:p>
          <ns1:p>
            <ns1:r>
              <ns1:t>                -0.9420628626139161,</ns1:t>
            </ns1:r>
          </ns1:p>
          <ns1:p>
            <ns1:r>
              <ns1:t>                -0.31428531173077845,</ns1:t>
            </ns1:r>
          </ns1:p>
          <ns1:p>
            <ns1:r>
              <ns1:t>                -0.11722774439385009</ns1:t>
            </ns1:r>
          </ns1:p>
          <ns1:p>
            <ns1:r>
              <ns1:t>              ],</ns1:t>
            </ns1:r>
          </ns1:p>
          <ns1:p>
            <ns1:r>
              <ns1:t>              [</ns1:t>
            </ns1:r>
          </ns1:p>
          <ns1:p>
            <ns1:r>
              <ns1:t>                0.27584068901630143,</ns1:t>
            </ns1:r>
          </ns1:p>
          <ns1:p>
            <ns1:r>
              <ns1:t>                -0.5269864655618974,</ns1:t>
            </ns1:r>
          </ns1:p>
          <ns1:p>
            <ns1:r>
              <ns1:t>                -0.8038638713013246</ns1:t>
            </ns1:r>
          </ns1:p>
          <ns1:p>
            <ns1:r>
              <ns1:t>              ]</ns1:t>
            </ns1:r>
          </ns1:p>
          <ns1:p>
            <ns1:r>
              <ns1:t>            ],</ns1:t>
            </ns1:r>
          </ns1:p>
          <ns1:p>
            <ns1:r>
              <ns1:t>            "translation": [</ns1:t>
            </ns1:r>
          </ns1:p>
          <ns1:p>
            <ns1:r>
              <ns1:t>              -11.493793466797236,</ns1:t>
            </ns1:r>
          </ns1:p>
          <ns1:p>
            <ns1:r>
              <ns1:t>              -15.670525101298306,</ns1:t>
            </ns1:r>
          </ns1:p>
          <ns1:p>
            <ns1:r>
              <ns1:t>              4.870590462400108</ns1:t>
            </ns1:r>
          </ns1:p>
          <ns1:p>
            <ns1:r>
              <ns1:t>            ],</ns1:t>
            </ns1:r>
          </ns1:p>
          <ns1:p>
            <ns1:r>
              <ns1:t>            "core_fit_CA_RMSD_A": 1.3686857710182805,</ns1:t>
            </ns1:r>
          </ns1:p>
          <ns1:p>
            <ns1:r>
              <ns1:t>            "output": "local/2026-10-25_linker-parent-views_001/build/renders-v2/LK_P063_07-APNovo.jpg",</ns1:t>
            </ns1:r>
          </ns1:p>
          <ns1:p>
            <ns1:r>
              <ns1:t>            "parent_or_fusion_id": "LK_P063_07-APNovo",</ns1:t>
            </ns1:r>
          </ns1:p>
          <ns1:p>
            <ns1:r>
              <ns1:t>            "design_id": "LK_P063_07",</ns1:t>
            </ns1:r>
          </ns1:p>
          <ns1:p>
            <ns1:r>
              <ns1:t>            "panel": "APNovo",</ns1:t>
            </ns1:r>
          </ns1:p>
          <ns1:p>
            <ns1:r>
              <ns1:t>            "view": [</ns1:t>
            </ns1:r>
          </ns1:p>
          <ns1:p>
            <ns1:r>
              <ns1:t>              1,</ns1:t>
            </ns1:r>
          </ns1:p>
          <ns1:p>
            <ns1:r>
              <ns1:t>              0,</ns1:t>
            </ns1:r>
          </ns1:p>
          <ns1:p>
            <ns1:r>
              <ns1:t>              0,</ns1:t>
            </ns1:r>
          </ns1:p>
          <ns1:p>
            <ns1:r>
              <ns1:t>              0,</ns1:t>
            </ns1:r>
          </ns1:p>
          <ns1:p>
            <ns1:r>
              <ns1:t>              1,</ns1:t>
            </ns1:r>
          </ns1:p>
          <ns1:p>
            <ns1:r>
              <ns1:t>              0,</ns1:t>
            </ns1:r>
          </ns1:p>
          <ns1:p>
            <ns1:r>
              <ns1:t>              0,</ns1:t>
            </ns1:r>
          </ns1:p>
          <ns1:p>
            <ns1:r>
              <ns1:t>              0,</ns1:t>
            </ns1:r>
          </ns1:p>
          <ns1:p>
            <ns1:r>
              <ns1:t>              1,</ns1:t>
            </ns1:r>
          </ns1:p>
          <ns1:p>
            <ns1:r>
              <ns1:t>              0,</ns1:t>
            </ns1:r>
          </ns1:p>
          <ns1:p>
            <ns1:r>
              <ns1:t>              0,</ns1:t>
            </ns1:r>
          </ns1:p>
          <ns1:p>
            <ns1:r>
              <ns1:t>              -390.45136026717313,</ns1:t>
            </ns1:r>
          </ns1:p>
          <ns1:p>
            <ns1:r>
              <ns1:t>              -9.355201402556244,</ns1:t>
            </ns1:r>
          </ns1:p>
          <ns1:p>
            <ns1:r>
              <ns1:t>              23.910341981222196,</ns1:t>
            </ns1:r>
          </ns1:p>
          <ns1:p>
            <ns1:r>
              <ns1:t>              -13.737335383029249,</ns1:t>
            </ns1:r>
          </ns1:p>
          <ns1:p>
            <ns1:r>
              <ns1:t>              336.1550949418093,</ns1:t>
            </ns1:r>
          </ns1:p>
          <ns1:p>
            <ns1:r>
              <ns1:t>              444.74762559253696,</ns1:t>
            </ns1:r>
          </ns1:p>
          <ns1:p>
            <ns1:r>
              <ns1:t>              -20</ns1:t>
            </ns1:r>
          </ns1:p>
          <ns1:p>
            <ns1:r>
              <ns1:t>            ],</ns1:t>
            </ns1:r>
          </ns1:p>
          <ns1:p>
            <ns1:r>
              <ns1:t>            "world_height_A": 137.69421893884748,</ns1:t>
            </ns1:r>
          </ns1:p>
          <ns1:p>
            <ns1:r>
              <ns1:t>            "row_bounds_all_atoms_A": [</ns1:t>
            </ns1:r>
          </ns1:p>
          <ns1:p>
            <ns1:r>
              <ns1:t>              [</ns1:t>
            </ns1:r>
          </ns1:p>
          <ns1:p>
            <ns1:r>
              <ns1:t>                -50.80316732548407,</ns1:t>
            </ns1:r>
          </ns1:p>
          <ns1:p>
            <ns1:r>
              <ns1:t>                -33.93233172219635,</ns1:t>
            </ns1:r>
          </ns1:p>
          <ns1:p>
            <ns1:r>
              <ns1:t>                -53.03360070839306</ns1:t>
            </ns1:r>
          </ns1:p>
          <ns1:p>
            <ns1:r>
              <ns1:t>              ],</ns1:t>
            </ns1:r>
          </ns1:p>
          <ns1:p>
            <ns1:r>
              <ns1:t>              [</ns1:t>
            </ns1:r>
          </ns1:p>
          <ns1:p>
            <ns1:r>
              <ns1:t>                32.09276452037158,</ns1:t>
            </ns1:r>
          </ns1:p>
          <ns1:p>
            <ns1:r>
              <ns1:t>                81.75301568464074,</ns1:t>
            </ns1:r>
          </ns1:p>
          <ns1:p>
            <ns1:r>
              <ns1:t>                25.55892994233456</ns1:t>
            </ns1:r>
          </ns1:p>
          <ns1:p>
            <ns1:r>
              <ns1:t>              ]</ns1:t>
            </ns1:r>
          </ns1:p>
          <ns1:p>
            <ns1:r>
              <ns1:t>            ]</ns1:t>
            </ns1:r>
          </ns1:p>
          <ns1:p>
            <ns1:r>
              <ns1:t>          },</ns1:t>
            </ns1:r>
          </ns1:p>
          <ns1:p>
            <ns1:r>
              <ns1:t>          "Exact": {</ns1:t>
            </ns1:r>
          </ns1:p>
          <ns1:p>
            <ns1:r>
              <ns1:t>            "key": "LK_P063_07-Exact",</ns1:t>
            </ns1:r>
          </ns1:p>
          <ns1:p>
            <ns1:r>
              <ns1:t>            "source_path": "local/2026-10-25_linker-top100-review_001/models/LK_P063_07/boltz2.cif",</ns1:t>
            </ns1:r>
          </ns1:p>
          <ns1:p>
            <ns1:r>
              <ns1:t>            "source_sha256": "bf7d45251c1117f8d3d61acb7256b8a07e9e9f305d30b8546530fea3ee6c1d82",</ns1:t>
            </ns1:r>
          </ns1:p>
          <ns1:p>
            <ns1:r>
              <ns1:t>            "role": "fusion",</ns1:t>
            </ns1:r>
          </ns1:p>
          <ns1:p>
            <ns1:r>
              <ns1:t>            "ranges_zero_based": {</ns1:t>
            </ns1:r>
          </ns1:p>
          <ns1:p>
            <ns1:r>
              <ns1:t>              "ECD": [</ns1:t>
            </ns1:r>
          </ns1:p>
          <ns1:p>
            <ns1:r>
              <ns1:t>                0,</ns1:t>
            </ns1:r>
          </ns1:p>
          <ns1:p>
            <ns1:r>
              <ns1:t>                40</ns1:t>
            </ns1:r>
          </ns1:p>
          <ns1:p>
            <ns1:r>
              <ns1:t>              ],</ns1:t>
            </ns1:r>
          </ns1:p>
          <ns1:p>
            <ns1:r>
              <ns1:t>              "linker": [</ns1:t>
            </ns1:r>
          </ns1:p>
          <ns1:p>
            <ns1:r>
              <ns1:t>                40,</ns1:t>
            </ns1:r>
          </ns1:p>
          <ns1:p>
            <ns1:r>
              <ns1:t>                71</ns1:t>
            </ns1:r>
          </ns1:p>
          <ns1:p>
            <ns1:r>
              <ns1:t>              ],</ns1:t>
            </ns1:r>
          </ns1:p>
          <ns1:p>
            <ns1:r>
              <ns1:t>              "LF": [</ns1:t>
            </ns1:r>
          </ns1:p>
          <ns1:p>
            <ns1:r>
              <ns1:t>                71,</ns1:t>
            </ns1:r>
          </ns1:p>
          <ns1:p>
            <ns1:r>
              <ns1:t>                140</ns1:t>
            </ns1:r>
          </ns1:p>
          <ns1:p>
            <ns1:r>
              <ns1:t>              ]</ns1:t>
            </ns1:r>
          </ns1:p>
          <ns1:p>
            <ns1:r>
              <ns1:t>            },</ns1:t>
            </ns1:r>
          </ns1:p>
          <ns1:p>
            <ns1:r>
              <ns1:t>            "sequence": "MEKKREDFKEVLKFRYSRYPSLDRFVLVNTAEESIRHLLIGMFVDPSEVLDPSPPPPPPLSLPPVPATDVVEVSGATIDLRVKTCVDFKQTVNFFKLRNTQLPGSCTKDNTVLFLLEGLKLGYASRYFSIGSGSGSQQFS",</ns1:t>
            </ns1:r>
          </ns1:p>
          <ns1:p>
            <ns1:r>
              <ns1:t>            "rotation": [</ns1:t>
            </ns1:r>
          </ns1:p>
          <ns1:p>
            <ns1:r>
              <ns1:t>              [</ns1:t>
            </ns1:r>
          </ns1:p>
          <ns1:p>
            <ns1:r>
              <ns1:t>                0.4406298765647474,</ns1:t>
            </ns1:r>
          </ns1:p>
          <ns1:p>
            <ns1:r>
              <ns1:t>                -0.21123770748430992,</ns1:t>
            </ns1:r>
          </ns1:p>
          <ns1:p>
            <ns1:r>
              <ns1:t>                -0.872481483895136</ns1:t>
            </ns1:r>
          </ns1:p>
          <ns1:p>
            <ns1:r>
              <ns1:t>              ],</ns1:t>
            </ns1:r>
          </ns1:p>
          <ns1:p>
            <ns1:r>
              <ns1:t>              [</ns1:t>
            </ns1:r>
          </ns1:p>
          <ns1:p>
            <ns1:r>
              <ns1:t>                0.8275978285060432,</ns1:t>
            </ns1:r>
          </ns1:p>
          <ns1:p>
            <ns1:r>
              <ns1:t>                0.4720913199340724,</ns1:t>
            </ns1:r>
          </ns1:p>
          <ns1:p>
            <ns1:r>
              <ns1:t>                0.3036636198818883</ns1:t>
            </ns1:r>
          </ns1:p>
          <ns1:p>
            <ns1:r>
              <ns1:t>              ],</ns1:t>
            </ns1:r>
          </ns1:p>
          <ns1:p>
            <ns1:r>
              <ns1:t>              [</ns1:t>
            </ns1:r>
          </ns1:p>
          <ns1:p>
            <ns1:r>
              <ns1:t>                0.3477457653989884,</ns1:t>
            </ns1:r>
          </ns1:p>
          <ns1:p>
            <ns1:r>
              <ns1:t>                -0.8558670823300418,</ns1:t>
            </ns1:r>
          </ns1:p>
          <ns1:p>
            <ns1:r>
              <ns1:t>                0.3828373915847818</ns1:t>
            </ns1:r>
          </ns1:p>
          <ns1:p>
            <ns1:r>
              <ns1:t>              ]</ns1:t>
            </ns1:r>
          </ns1:p>
          <ns1:p>
            <ns1:r>
              <ns1:t>            ],</ns1:t>
            </ns1:r>
          </ns1:p>
          <ns1:p>
            <ns1:r>
              <ns1:t>            "translation": [</ns1:t>
            </ns1:r>
          </ns1:p>
          <ns1:p>
            <ns1:r>
              <ns1:t>              -2.8214237269515863,</ns1:t>
            </ns1:r>
          </ns1:p>
          <ns1:p>
            <ns1:r>
              <ns1:t>              -3.0296103510338366,</ns1:t>
            </ns1:r>
          </ns1:p>
          <ns1:p>
            <ns1:r>
              <ns1:t>              -4.4303086160739875</ns1:t>
            </ns1:r>
          </ns1:p>
          <ns1:p>
            <ns1:r>
              <ns1:t>            ],</ns1:t>
            </ns1:r>
          </ns1:p>
          <ns1:p>
            <ns1:r>
              <ns1:t>            "core_fit_CA_RMSD_A": 1.2557999921812177,</ns1:t>
            </ns1:r>
          </ns1:p>
          <ns1:p>
            <ns1:r>
              <ns1:t>            "output": "local/2026-10-25_linker-parent-views_001/build/renders-v2/LK_P063_07-Exact.jpg",</ns1:t>
            </ns1:r>
          </ns1:p>
          <ns1:p>
            <ns1:r>
              <ns1:t>            "parent_or_fusion_id": "LK_P063_07-Exact",</ns1:t>
            </ns1:r>
          </ns1:p>
          <ns1:p>
            <ns1:r>
              <ns1:t>            "design_id": "LK_P063_07",</ns1:t>
            </ns1:r>
          </ns1:p>
          <ns1:p>
            <ns1:r>
              <ns1:t>            "panel": "Exact",</ns1:t>
            </ns1:r>
          </ns1:p>
          <ns1:p>
            <ns1:r>
              <ns1:t>            "view": [</ns1:t>
            </ns1:r>
          </ns1:p>
          <ns1:p>
            <ns1:r>
              <ns1:t>              1,</ns1:t>
            </ns1:r>
          </ns1:p>
          <ns1:p>
            <ns1:r>
              <ns1:t>              0,</ns1:t>
            </ns1:r>
          </ns1:p>
          <ns1:p>
            <ns1:r>
              <ns1:t>              0,</ns1:t>
            </ns1:r>
          </ns1:p>
          <ns1:p>
            <ns1:r>
              <ns1:t>              0,</ns1:t>
            </ns1:r>
          </ns1:p>
          <ns1:p>
            <ns1:r>
              <ns1:t>              1,</ns1:t>
            </ns1:r>
          </ns1:p>
          <ns1:p>
            <ns1:r>
              <ns1:t>              0,</ns1:t>
            </ns1:r>
          </ns1:p>
          <ns1:p>
            <ns1:r>
              <ns1:t>              0,</ns1:t>
            </ns1:r>
          </ns1:p>
          <ns1:p>
            <ns1:r>
              <ns1:t>              0,</ns1:t>
            </ns1:r>
          </ns1:p>
          <ns1:p>
            <ns1:r>
              <ns1:t>              1,</ns1:t>
            </ns1:r>
          </ns1:p>
          <ns1:p>
            <ns1:r>
              <ns1:t>              0,</ns1:t>
            </ns1:r>
          </ns1:p>
          <ns1:p>
            <ns1:r>
              <ns1:t>              0,</ns1:t>
            </ns1:r>
          </ns1:p>
          <ns1:p>
            <ns1:r>
              <ns1:t>              -390.45136026717313,</ns1:t>
            </ns1:r>
          </ns1:p>
          <ns1:p>
            <ns1:r>
              <ns1:t>              -9.355201402556244,</ns1:t>
            </ns1:r>
          </ns1:p>
          <ns1:p>
            <ns1:r>
              <ns1:t>              23.910341981222196,</ns1:t>
            </ns1:r>
          </ns1:p>
          <ns1:p>
            <ns1:r>
              <ns1:t>              -13.737335383029249,</ns1:t>
            </ns1:r>
          </ns1:p>
          <ns1:p>
            <ns1:r>
              <ns1:t>              336.1550949418093,</ns1:t>
            </ns1:r>
          </ns1:p>
          <ns1:p>
            <ns1:r>
              <ns1:t>              444.74762559253696,</ns1:t>
            </ns1:r>
          </ns1:p>
          <ns1:p>
            <ns1:r>
              <ns1:t>              -20</ns1:t>
            </ns1:r>
          </ns1:p>
          <ns1:p>
            <ns1:r>
              <ns1:t>            ],</ns1:t>
            </ns1:r>
          </ns1:p>
          <ns1:p>
            <ns1:r>
              <ns1:t>            "world_height_A": 137.69421893884748,</ns1:t>
            </ns1:r>
          </ns1:p>
          <ns1:p>
            <ns1:r>
              <ns1:t>            "row_bounds_all_atoms_A": [</ns1:t>
            </ns1:r>
          </ns1:p>
          <ns1:p>
            <ns1:r>
              <ns1:t>              [</ns1:t>
            </ns1:r>
          </ns1:p>
          <ns1:p>
            <ns1:r>
              <ns1:t>                -50.80316732548407,</ns1:t>
            </ns1:r>
          </ns1:p>
          <ns1:p>
            <ns1:r>
              <ns1:t>                -33.93233172219635,</ns1:t>
            </ns1:r>
          </ns1:p>
          <ns1:p>
            <ns1:r>
              <ns1:t>                -53.03360070839306</ns1:t>
            </ns1:r>
          </ns1:p>
          <ns1:p>
            <ns1:r>
              <ns1:t>              ],</ns1:t>
            </ns1:r>
          </ns1:p>
          <ns1:p>
            <ns1:r>
              <ns1:t>              [</ns1:t>
            </ns1:r>
          </ns1:p>
          <ns1:p>
            <ns1:r>
              <ns1:t>                32.09276452037158,</ns1:t>
            </ns1:r>
          </ns1:p>
          <ns1:p>
            <ns1:r>
              <ns1:t>                81.75301568464074,</ns1:t>
            </ns1:r>
          </ns1:p>
          <ns1:p>
            <ns1:r>
              <ns1:t>                25.55892994233456</ns1:t>
            </ns1:r>
          </ns1:p>
          <ns1:p>
            <ns1:r>
              <ns1:t>              ]</ns1:t>
            </ns1:r>
          </ns1:p>
          <ns1:p>
            <ns1:r>
              <ns1:t>            ]</ns1:t>
            </ns1:r>
          </ns1:p>
          <ns1:p>
            <ns1:r>
              <ns1:t>          },</ns1:t>
            </ns1:r>
          </ns1:p>
          <ns1:p>
            <ns1:r>
              <ns1:t>          "LF-parent": {</ns1:t>
            </ns1:r>
          </ns1:p>
          <ns1:p>
            <ns1:r>
              <ns1:t>            "key": "LK_P063_07-LF-parent",</ns1:t>
            </ns1:r>
          </ns1:p>
          <ns1:p>
            <ns1:r>
              <ns1:t>            "source_path": "local/2026-10-25_linker-parent-comparison_001/parents/Design_280/exact.pdb",</ns1:t>
            </ns1:r>
          </ns1:p>
          <ns1:p>
            <ns1:r>
              <ns1:t>            "source_sha256": "cd01c89fbf40d0e577c10f20c2afa96c3deef09880d6c761314a1c5e9898bd4f",</ns1:t>
            </ns1:r>
          </ns1:p>
          <ns1:p>
            <ns1:r>
              <ns1:t>            "role": "LF",</ns1:t>
            </ns1:r>
          </ns1:p>
          <ns1:p>
            <ns1:r>
              <ns1:t>            "ranges_zero_based": {</ns1:t>
            </ns1:r>
          </ns1:p>
          <ns1:p>
            <ns1:r>
              <ns1:t>              "LF": [</ns1:t>
            </ns1:r>
          </ns1:p>
          <ns1:p>
            <ns1:r>
              <ns1:t>                0,</ns1:t>
            </ns1:r>
          </ns1:p>
          <ns1:p>
            <ns1:r>
              <ns1:t>                69</ns1:t>
            </ns1:r>
          </ns1:p>
          <ns1:p>
            <ns1:r>
              <ns1:t>              ]</ns1:t>
            </ns1:r>
          </ns1:p>
          <ns1:p>
            <ns1:r>
              <ns1:t>            },</ns1:t>
            </ns1:r>
          </ns1:p>
          <ns1:p>
            <ns1:r>
              <ns1:t>            "sequence": "EVSGATIDLRVKTCVDFKQTVNFFKLRNTQLPGSCTKDNTVLFLLEGLKLGYASRYFSIGSGSGSQQFS",</ns1:t>
            </ns1:r>
          </ns1:p>
          <ns1:p>
            <ns1:r>
              <ns1:t>            "rotation": [</ns1:t>
            </ns1:r>
          </ns1:p>
          <ns1:p>
            <ns1:r>
              <ns1:t>              [</ns1:t>
            </ns1:r>
          </ns1:p>
          <ns1:p>
            <ns1:r>
              <ns1:t>                0.9716521520149124,</ns1:t>
            </ns1:r>
          </ns1:p>
          <ns1:p>
            <ns1:r>
              <ns1:t>                0.23640963200020604,</ns1:t>
            </ns1:r>
          </ns1:p>
          <ns1:p>
            <ns1:r>
              <ns1:t>                -0.0015985785293137766</ns1:t>
            </ns1:r>
          </ns1:p>
          <ns1:p>
            <ns1:r>
              <ns1:t>              ],</ns1:t>
            </ns1:r>
          </ns1:p>
          <ns1:p>
            <ns1:r>
              <ns1:t>              [</ns1:t>
            </ns1:r>
          </ns1:p>
          <ns1:p>
            <ns1:r>
              <ns1:t>                -0.232382419508661,</ns1:t>
            </ns1:r>
          </ns1:p>
          <ns1:p>
            <ns1:r>
              <ns1:t>                0.9563002615331773,</ns1:t>
            </ns1:r>
          </ns1:p>
          <ns1:p>
            <ns1:r>
              <ns1:t>                0.17744913387297956</ns1:t>
            </ns1:r>
          </ns1:p>
          <ns1:p>
            <ns1:r>
              <ns1:t>              ],</ns1:t>
            </ns1:r>
          </ns1:p>
          <ns1:p>
            <ns1:r>
              <ns1:t>              [</ns1:t>
            </ns1:r>
          </ns1:p>
          <ns1:p>
            <ns1:r>
              <ns1:t>                0.04347938667791329,</ns1:t>
            </ns1:r>
          </ns1:p>
          <ns1:p>
            <ns1:r>
              <ns1:t>                -0.1720473610249762,</ns1:t>
            </ns1:r>
          </ns1:p>
          <ns1:p>
            <ns1:r>
              <ns1:t>                0.9841286681075418</ns1:t>
            </ns1:r>
          </ns1:p>
          <ns1:p>
            <ns1:r>
              <ns1:t>              ]</ns1:t>
            </ns1:r>
          </ns1:p>
          <ns1:p>
            <ns1:r>
              <ns1:t>            ],</ns1:t>
            </ns1:r>
          </ns1:p>
          <ns1:p>
            <ns1:r>
              <ns1:t>            "translation": [</ns1:t>
            </ns1:r>
          </ns1:p>
          <ns1:p>
            <ns1:r>
              <ns1:t>              3.3985903455718525,</ns1:t>
            </ns1:r>
          </ns1:p>
          <ns1:p>
            <ns1:r>
              <ns1:t>              -6.121573941428423,</ns1:t>
            </ns1:r>
          </ns1:p>
          <ns1:p>
            <ns1:r>
              <ns1:t>              6.014485827651381</ns1:t>
            </ns1:r>
          </ns1:p>
          <ns1:p>
            <ns1:r>
              <ns1:t>            ],</ns1:t>
            </ns1:r>
          </ns1:p>
          <ns1:p>
            <ns1:r>
              <ns1:t>            "core_fit_CA_RMSD_A": 1.3060904572635719,</ns1:t>
            </ns1:r>
          </ns1:p>
          <ns1:p>
            <ns1:r>
              <ns1:t>            "output": "local/2026-10-25_linker-parent-views_001/build/renders-v2/LK_P063_07-LF-parent.jpg",</ns1:t>
            </ns1:r>
          </ns1:p>
          <ns1:p>
            <ns1:r>
              <ns1:t>            "parent_or_fusion_id": "Design_280",</ns1:t>
            </ns1:r>
          </ns1:p>
          <ns1:p>
            <ns1:r>
              <ns1:t>            "design_id": "LK_P063_07",</ns1:t>
            </ns1:r>
          </ns1:p>
          <ns1:p>
            <ns1:r>
              <ns1:t>            "panel": "LF-parent",</ns1:t>
            </ns1:r>
          </ns1:p>
          <ns1:p>
            <ns1:r>
              <ns1:t>            "view": [</ns1:t>
            </ns1:r>
          </ns1:p>
          <ns1:p>
            <ns1:r>
              <ns1:t>              1,</ns1:t>
            </ns1:r>
          </ns1:p>
          <ns1:p>
            <ns1:r>
              <ns1:t>              0,</ns1:t>
            </ns1:r>
          </ns1:p>
          <ns1:p>
            <ns1:r>
              <ns1:t>              0,</ns1:t>
            </ns1:r>
          </ns1:p>
          <ns1:p>
            <ns1:r>
              <ns1:t>              0,</ns1:t>
            </ns1:r>
          </ns1:p>
          <ns1:p>
            <ns1:r>
              <ns1:t>              1,</ns1:t>
            </ns1:r>
          </ns1:p>
          <ns1:p>
            <ns1:r>
              <ns1:t>              0,</ns1:t>
            </ns1:r>
          </ns1:p>
          <ns1:p>
            <ns1:r>
              <ns1:t>              0,</ns1:t>
            </ns1:r>
          </ns1:p>
          <ns1:p>
            <ns1:r>
              <ns1:t>              0,</ns1:t>
            </ns1:r>
          </ns1:p>
          <ns1:p>
            <ns1:r>
              <ns1:t>              1,</ns1:t>
            </ns1:r>
          </ns1:p>
          <ns1:p>
            <ns1:r>
              <ns1:t>              0,</ns1:t>
            </ns1:r>
          </ns1:p>
          <ns1:p>
            <ns1:r>
              <ns1:t>              0,</ns1:t>
            </ns1:r>
          </ns1:p>
          <ns1:p>
            <ns1:r>
              <ns1:t>              -390.45136026717313,</ns1:t>
            </ns1:r>
          </ns1:p>
          <ns1:p>
            <ns1:r>
              <ns1:t>              -9.355201402556244,</ns1:t>
            </ns1:r>
          </ns1:p>
          <ns1:p>
            <ns1:r>
              <ns1:t>              23.910341981222196,</ns1:t>
            </ns1:r>
          </ns1:p>
          <ns1:p>
            <ns1:r>
              <ns1:t>              -13.737335383029249,</ns1:t>
            </ns1:r>
          </ns1:p>
          <ns1:p>
            <ns1:r>
              <ns1:t>              336.1550949418093,</ns1:t>
            </ns1:r>
          </ns1:p>
          <ns1:p>
            <ns1:r>
              <ns1:t>              444.74762559253696,</ns1:t>
            </ns1:r>
          </ns1:p>
          <ns1:p>
            <ns1:r>
              <ns1:t>              -20</ns1:t>
            </ns1:r>
          </ns1:p>
          <ns1:p>
            <ns1:r>
              <ns1:t>            ],</ns1:t>
            </ns1:r>
          </ns1:p>
          <ns1:p>
            <ns1:r>
              <ns1:t>            "world_height_A": 137.69421893884748,</ns1:t>
            </ns1:r>
          </ns1:p>
          <ns1:p>
            <ns1:r>
              <ns1:t>            "row_bounds_all_atoms_A": [</ns1:t>
            </ns1:r>
          </ns1:p>
          <ns1:p>
            <ns1:r>
              <ns1:t>              [</ns1:t>
            </ns1:r>
          </ns1:p>
          <ns1:p>
            <ns1:r>
              <ns1:t>                -50.80316732548407,</ns1:t>
            </ns1:r>
          </ns1:p>
          <ns1:p>
            <ns1:r>
              <ns1:t>                -33.93233172219635,</ns1:t>
            </ns1:r>
          </ns1:p>
          <ns1:p>
            <ns1:r>
              <ns1:t>                -53.03360070839306</ns1:t>
            </ns1:r>
          </ns1:p>
          <ns1:p>
            <ns1:r>
              <ns1:t>              ],</ns1:t>
            </ns1:r>
          </ns1:p>
          <ns1:p>
            <ns1:r>
              <ns1:t>              [</ns1:t>
            </ns1:r>
          </ns1:p>
          <ns1:p>
            <ns1:r>
              <ns1:t>                32.09276452037158,</ns1:t>
            </ns1:r>
          </ns1:p>
          <ns1:p>
            <ns1:r>
              <ns1:t>                81.75301568464074,</ns1:t>
            </ns1:r>
          </ns1:p>
          <ns1:p>
            <ns1:r>
              <ns1:t>                25.55892994233456</ns1:t>
            </ns1:r>
          </ns1:p>
          <ns1:p>
            <ns1:r>
              <ns1:t>              ]</ns1:t>
            </ns1:r>
          </ns1:p>
          <ns1:p>
            <ns1:r>
              <ns1:t>            ]</ns1:t>
            </ns1:r>
          </ns1:p>
          <ns1:p>
            <ns1:r>
              <ns1:t>          }</ns1:t>
            </ns1:r>
          </ns1:p>
          <ns1:p>
            <ns1:r>
              <ns1:t>        },</ns1:t>
            </ns1:r>
          </ns1:p>
          <ns1:p>
            <ns1:r>
              <ns1:t>        "shared_camera": [</ns1:t>
            </ns1:r>
          </ns1:p>
          <ns1:p>
            <ns1:r>
              <ns1:t>          1,</ns1:t>
            </ns1:r>
          </ns1:p>
          <ns1:p>
            <ns1:r>
              <ns1:t>          0,</ns1:t>
            </ns1:r>
          </ns1:p>
          <ns1:p>
            <ns1:r>
              <ns1:t>          0,</ns1:t>
            </ns1:r>
          </ns1:p>
          <ns1:p>
            <ns1:r>
              <ns1:t>          0,</ns1:t>
            </ns1:r>
          </ns1:p>
          <ns1:p>
            <ns1:r>
              <ns1:t>          1,</ns1:t>
            </ns1:r>
          </ns1:p>
          <ns1:p>
            <ns1:r>
              <ns1:t>          0,</ns1:t>
            </ns1:r>
          </ns1:p>
          <ns1:p>
            <ns1:r>
              <ns1:t>          0,</ns1:t>
            </ns1:r>
          </ns1:p>
          <ns1:p>
            <ns1:r>
              <ns1:t>          0,</ns1:t>
            </ns1:r>
          </ns1:p>
          <ns1:p>
            <ns1:r>
              <ns1:t>          1,</ns1:t>
            </ns1:r>
          </ns1:p>
          <ns1:p>
            <ns1:r>
              <ns1:t>          0,</ns1:t>
            </ns1:r>
          </ns1:p>
          <ns1:p>
            <ns1:r>
              <ns1:t>          0,</ns1:t>
            </ns1:r>
          </ns1:p>
          <ns1:p>
            <ns1:r>
              <ns1:t>          -390.45136026717313,</ns1:t>
            </ns1:r>
          </ns1:p>
          <ns1:p>
            <ns1:r>
              <ns1:t>          -9.355201402556244,</ns1:t>
            </ns1:r>
          </ns1:p>
          <ns1:p>
            <ns1:r>
              <ns1:t>          23.910341981222196,</ns1:t>
            </ns1:r>
          </ns1:p>
          <ns1:p>
            <ns1:r>
              <ns1:t>          -13.737335383029249,</ns1:t>
            </ns1:r>
          </ns1:p>
          <ns1:p>
            <ns1:r>
              <ns1:t>          336.1550949418093,</ns1:t>
            </ns1:r>
          </ns1:p>
          <ns1:p>
            <ns1:r>
              <ns1:t>          444.74762559253696,</ns1:t>
            </ns1:r>
          </ns1:p>
          <ns1:p>
            <ns1:r>
              <ns1:t>          -20</ns1:t>
            </ns1:r>
          </ns1:p>
          <ns1:p>
            <ns1:r>
              <ns1:t>        ],</ns1:t>
            </ns1:r>
          </ns1:p>
          <ns1:p>
            <ns1:r>
              <ns1:t>        "reference": "Separate saved Exact parent complexes flank the linked Exact refold; AP Novo linked design comparison remains on the following slide. Rigid display alignment preserves native poses; all native receptor residues shown."</ns1:t>
            </ns1:r>
          </ns1:p>
          <ns1:p>
            <ns1:r>
              <ns1:t>      }</ns1:t>
            </ns1:r>
          </ns1:p>
          <ns1:p>
            <ns1:r>
              <ns1:t>    },</ns1:t>
            </ns1:r>
          </ns1:p>
          <ns1:p>
            <ns1:r>
              <ns1:t>    "display": "unchanged embedded JPEGs extracted from hash-verified delivered25-design PPTX; no resampling, cropping or new coordinate transforms",</ns1:t>
            </ns1:r>
          </ns1:p>
          <ns1:p>
            <ns1:r>
              <ns1:t>    "scale": "full complex and interface have different zooms; no matched-scale claim",</ns1:t>
            </ns1:r>
          </ns1:p>
          <ns1:p>
            <ns1:r>
              <ns1:t>    "hotspots": "black sticks; original27pocket positions for original LigandForge, R40/Q37/E34 annotations for DLD",</ns1:t>
            </ns1:r>
          </ns1:p>
          <ns1:p>
            <ns1:r>
              <ns1:t>    "colors": {</ns1:t>
            </ns1:r>
          </ns1:p>
          <ns1:p>
            <ns1:r>
              <ns1:t>      "LigandForge": "#E69F00",</ns1:t>
            </ns1:r>
          </ns1:p>
          <ns1:p>
            <ns1:r>
              <ns1:t>      "linker": "#AA4499",</ns1:t>
            </ns1:r>
          </ns1:p>
          <ns1:p>
            <ns1:r>
              <ns1:t>      "ECD_binder": "#0072B2",</ns1:t>
            </ns1:r>
          </ns1:p>
          <ns1:p>
            <ns1:r>
              <ns1:t>      "receptor_ECD": "#009E73",</ns1:t>
            </ns1:r>
          </ns1:p>
          <ns1:p>
            <ns1:r>
              <ns1:t>      "receptor_remainder": "#9AA5B1",</ns1:t>
            </ns1:r>
          </ns1:p>
          <ns1:p>
            <ns1:r>
              <ns1:t>      "hotspots": "#000000"</ns1:t>
            </ns1:r>
          </ns1:p>
          <ns1:p>
            <ns1:r>
              <ns1:t>    }</ns1:t>
            </ns1:r>
          </ns1:p>
          <ns1:p>
            <ns1:r>
              <ns1:t>  },</ns1:t>
            </ns1:r>
          </ns1:p>
          <ns1:p>
            <ns1:r>
              <ns1:t>  "source_deck": "local/2026-10-25_affinity-confidence-selection-deck_002/output/GLP1R_Selected_ipSAE_gt0p895_Kd_lt10nM_v3.pptx",</ns1:t>
            </ns1:r>
          </ns1:p>
          <ns1:p>
            <ns1:r>
              <ns1:t>  "source_deck_sha256": "ad9333fdf6c0ce7d6982e2980d6aade78af256710dbc7917f7f39e41d35aa173",</ns1:t>
            </ns1:r>
          </ns1:p>
          <ns1:p>
            <ns1:r>
              <ns1:t>  "domain_labels": "ECD A1-40  linker A41-71  LF A72-140",</ns1:t>
            </ns1:r>
          </ns1:p>
          <ns1:p>
            <ns1:r>
              <ns1:t>  "display_scope": "native Exact complex and saved interface view; same identity colors, independent zooms; no new coordinates or inferred agonism"</ns1:t>
            </ns1:r>
          </ns1:p>
          <ns1:p>
            <ns1:r>
              <ns1:t>}</ns1:t>
            </ns1:r>
          </ns1:p>
        </ns0:txBody>
      </ns0:sp>
      <ns0:sp>
        <ns0:nvSpPr>
          <ns0:cNvPr id="4" name="Slide Number Placeholder 3"/>
          <ns0:cNvSpPr>
            <ns1:spLocks noGrp="1"/>
          </ns0:cNvSpPr>
          <ns0:nvPr>
            <ns0:ph type="sldNum" idx="5"/>
          </ns0:nvPr>
        </ns0:nvSpPr>
        <ns0:spPr/>
        <ns0:txBody>
          <ns1:bodyPr/>
          <ns1:lstStyle/>
          <ns1:p/>
        </ns0:txBody>
      </ns0:sp>
    </ns0:spTree>
  </ns0:cSld>
  <ns0:clrMapOvr>
    <ns1:masterClrMapping/>
  </ns0:clrMapOvr>
</ns0:notes>
</file>

<file path=ppt/notesSlides/notesSlide5.xml><?xml version="1.0" encoding="utf-8"?>
<ns0:notes xmlns:ns0="http://schemas.openxmlformats.org/presentationml/2006/main" xmlns:ns1="http://schemas.openxmlformats.org/drawingml/2006/main">
  <ns0:cSld>
    <ns0:spTree>
      <ns0:nvGrpSpPr>
        <ns0:cNvPr id="1" name=""/>
        <ns0:cNvGrpSpPr/>
        <ns0:nvPr/>
      </ns0:nvGrpSpPr>
      <ns0:grpSpPr>
        <ns1:xfrm/>
      </ns0:grpSpPr>
      <ns0:sp>
        <ns0:nvSpPr>
          <ns0:cNvPr id="2" name="Slide Image Placeholder 1"/>
          <ns0:cNvSpPr>
            <ns1:spLocks noGrp="1"/>
          </ns0:cNvSpPr>
          <ns0:nvPr>
            <ns0:ph type="sldImg" idx="0"/>
          </ns0:nvPr>
        </ns0:nvSpPr>
        <ns0:spPr/>
      </ns0:sp>
      <ns0:sp>
        <ns0:nvSpPr>
          <ns0:cNvPr id="3" name="Notes Placeholder 2"/>
          <ns0:cNvSpPr>
            <ns1:spLocks noGrp="1"/>
          </ns0:cNvSpPr>
          <ns0:nvPr>
            <ns0:ph type="body" idx="1"/>
          </ns0:nvPr>
        </ns0:nvSpPr>
        <ns0:spPr/>
        <ns0:txBody>
          <ns1:bodyPr/>
          <ns1:lstStyle/>
          <ns1:p>
            <ns1:r>
              <ns1:t>{</ns1:t>
            </ns1:r>
          </ns1:p>
          <ns1:p>
            <ns1:r>
              <ns1:t>  "candidate": "LK_P109_06",</ns1:t>
            </ns1:r>
          </ns1:p>
          <ns1:p>
            <ns1:r>
              <ns1:t>  "final_rank": 3,</ns1:t>
            </ns1:r>
          </ns1:p>
          <ns1:p>
            <ns1:r>
              <ns1:t>  "selection": "Exact ipSAE&gt;0.895 and DeltaForge predicted Kd&lt;10nM; first20 by Exact ipSAE descending",</ns1:t>
            </ns1:r>
          </ns1:p>
          <ns1:p>
            <ns1:r>
              <ns1:t>  "sequence_sha256": "afd8b79138f15686cbc7b0c99fcdc0293d6acf4b3dbc5a4ef47146111833281f",</ns1:t>
            </ns1:r>
          </ns1:p>
          <ns1:p>
            <ns1:r>
              <ns1:t>  "sources": {</ns1:t>
            </ns1:r>
          </ns1:p>
          <ns1:p>
            <ns1:r>
              <ns1:t>    "source_table": {</ns1:t>
            </ns1:r>
          </ns1:p>
          <ns1:p>
            <ns1:r>
              <ns1:t>      "path": "local/2026-10-25_lf50-dld26-50-deltaforge_001/output/GLP1R_DLD_Top50_DeltaForge_Kd_and_Boltz2_Metrics.csv",</ns1:t>
            </ns1:r>
          </ns1:p>
          <ns1:p>
            <ns1:r>
              <ns1:t>      "sha256": "da9569bf0e8b74cce3d6792eb260d6a4b17b35e6f46e0793d49f02c0d3a0e728"</ns1:t>
            </ns1:r>
          </ns1:p>
          <ns1:p>
            <ns1:r>
              <ns1:t>    },</ns1:t>
            </ns1:r>
          </ns1:p>
          <ns1:p>
            <ns1:r>
              <ns1:t>    "native_cif": {</ns1:t>
            </ns1:r>
          </ns1:p>
          <ns1:p>
            <ns1:r>
              <ns1:t>      "path": "local/2026-10-25_linker-top100-review_001/models/LK_P109_06/boltz2.cif",</ns1:t>
            </ns1:r>
          </ns1:p>
          <ns1:p>
            <ns1:r>
              <ns1:t>      "sha256": "a0e496c74c9d41a7b0d164721515cdd9ec2ae2290b85ed8940015459349c3bde"</ns1:t>
            </ns1:r>
          </ns1:p>
          <ns1:p>
            <ns1:r>
              <ns1:t>    },</ns1:t>
            </ns1:r>
          </ns1:p>
          <ns1:p>
            <ns1:r>
              <ns1:t>    "scoring_pdb": {</ns1:t>
            </ns1:r>
          </ns1:p>
          <ns1:p>
            <ns1:r>
              <ns1:t>      "path": "local/2026-10-25_dld-top25-deltaforge_001/payload/structures/LK_P109_06.pdb",</ns1:t>
            </ns1:r>
          </ns1:p>
          <ns1:p>
            <ns1:r>
              <ns1:t>      "sha256": "7484b0825ec7aec0de4c7019977550a206e37cdd9575d771296e8352dc1525be"</ns1:t>
            </ns1:r>
          </ns1:p>
          <ns1:p>
            <ns1:r>
              <ns1:t>    },</ns1:t>
            </ns1:r>
          </ns1:p>
          <ns1:p>
            <ns1:r>
              <ns1:t>    "DeltaForge_result": {</ns1:t>
            </ns1:r>
          </ns1:p>
          <ns1:p>
            <ns1:r>
              <ns1:t>      "path": "campaigns/glp1r-r40-design/runs/2026-10-25_dld-top25-deltaforge_001/03_filtering/deltaforge_results/LK_P109_06.json",</ns1:t>
            </ns1:r>
          </ns1:p>
          <ns1:p>
            <ns1:r>
              <ns1:t>      "sha256": "4f1d4b99275a1113a7ba87b1a9c4146755b4948245228af2d1392ac7d6e319dd"</ns1:t>
            </ns1:r>
          </ns1:p>
          <ns1:p>
            <ns1:r>
              <ns1:t>    }</ns1:t>
            </ns1:r>
          </ns1:p>
          <ns1:p>
            <ns1:r>
              <ns1:t>  },</ns1:t>
            </ns1:r>
          </ns1:p>
          <ns1:p>
            <ns1:r>
              <ns1:t>  "source_ledger": "campaigns/glp1r-final-writeup/runs/2026-10-25_final20-writeup_001/04_analysis/provenance-ledger.json",</ns1:t>
            </ns1:r>
          </ns1:p>
          <ns1:p>
            <ns1:r>
              <ns1:t>  "scorer": "deltaforge_v10_2_unified_parallel / v10_2_unified_parallel_2026_05_08",</ns1:t>
            </ns1:r>
          </ns1:p>
          <ns1:p>
            <ns1:r>
              <ns1:t>  "calibration": "deltaforge_v10_boltz2_calibrated_gbr / v10_boltz2_gbr_2026_03_29",</ns1:t>
            </ns1:r>
          </ns1:p>
          <ns1:p>
            <ns1:r>
              <ns1:t>  "scope": "one complete candidate A against one receptor B; computational, no experimental Kd or activation"</ns1:t>
            </ns1:r>
          </ns1:p>
          <ns1:p>
            <ns1:r>
              <ns1:t>}</ns1:t>
            </ns1:r>
          </ns1:p>
        </ns0:txBody>
      </ns0:sp>
      <ns0:sp>
        <ns0:nvSpPr>
          <ns0:cNvPr id="4" name="Slide Number Placeholder 3"/>
          <ns0:cNvSpPr>
            <ns1:spLocks noGrp="1"/>
          </ns0:cNvSpPr>
          <ns0:nvPr>
            <ns0:ph type="sldNum" idx="5"/>
          </ns0:nvPr>
        </ns0:nvSpPr>
        <ns0:spPr/>
        <ns0:txBody>
          <ns1:bodyPr/>
          <ns1:lstStyle/>
          <ns1:p/>
        </ns0:txBody>
      </ns0:sp>
    </ns0:spTree>
  </ns0:cSld>
  <ns0:clrMapOvr>
    <ns1:masterClrMapping/>
  </ns0:clrMapOvr>
</ns0:notes>
</file>

<file path=ppt/notesSlides/notesSlide6.xml><?xml version="1.0" encoding="utf-8"?>
<ns0:notes xmlns:ns0="http://schemas.openxmlformats.org/presentationml/2006/main" xmlns:ns1="http://schemas.openxmlformats.org/drawingml/2006/main">
  <ns0:cSld>
    <ns0:spTree>
      <ns0:nvGrpSpPr>
        <ns0:cNvPr id="1" name=""/>
        <ns0:cNvGrpSpPr/>
        <ns0:nvPr/>
      </ns0:nvGrpSpPr>
      <ns0:grpSpPr>
        <ns1:xfrm/>
      </ns0:grpSpPr>
      <ns0:sp>
        <ns0:nvSpPr>
          <ns0:cNvPr id="2" name="Slide Image Placeholder 1"/>
          <ns0:cNvSpPr>
            <ns1:spLocks noGrp="1"/>
          </ns0:cNvSpPr>
          <ns0:nvPr>
            <ns0:ph type="sldImg" idx="0"/>
          </ns0:nvPr>
        </ns0:nvSpPr>
        <ns0:spPr/>
      </ns0:sp>
      <ns0:sp>
        <ns0:nvSpPr>
          <ns0:cNvPr id="3" name="Notes Placeholder 2"/>
          <ns0:cNvSpPr>
            <ns1:spLocks noGrp="1"/>
          </ns0:cNvSpPr>
          <ns0:nvPr>
            <ns0:ph type="body" idx="1"/>
          </ns0:nvPr>
        </ns0:nvSpPr>
        <ns0:spPr/>
        <ns0:txBody>
          <ns1:bodyPr/>
          <ns1:lstStyle/>
          <ns1:p>
            <ns1:r>
              <ns1:t>{</ns1:t>
            </ns1:r>
          </ns1:p>
          <ns1:p>
            <ns1:r>
              <ns1:t>  "candidate": "LK_P109_06",</ns1:t>
            </ns1:r>
          </ns1:p>
          <ns1:p>
            <ns1:r>
              <ns1:t>  "final_rank": 3,</ns1:t>
            </ns1:r>
          </ns1:p>
          <ns1:p>
            <ns1:r>
              <ns1:t>  "native_model_sha256": "a0e496c74c9d41a7b0d164721515cdd9ec2ae2290b85ed8940015459349c3bde",</ns1:t>
            </ns1:r>
          </ns1:p>
          <ns1:p>
            <ns1:r>
              <ns1:t>  "structure_views": {</ns1:t>
            </ns1:r>
          </ns1:p>
          <ns1:p>
            <ns1:r>
              <ns1:t>    "final_rank": 3,</ns1:t>
            </ns1:r>
          </ns1:p>
          <ns1:p>
            <ns1:r>
              <ns1:t>    "design_id": "LK_P109_06",</ns1:t>
            </ns1:r>
          </ns1:p>
          <ns1:p>
            <ns1:r>
              <ns1:t>    "sequence_sha256": "afd8b79138f15686cbc7b0c99fcdc0293d6acf4b3dbc5a4ef47146111833281f",</ns1:t>
            </ns1:r>
          </ns1:p>
          <ns1:p>
            <ns1:r>
              <ns1:t>    "native_model_sha256": "a0e496c74c9d41a7b0d164721515cdd9ec2ae2290b85ed8940015459349c3bde",</ns1:t>
            </ns1:r>
          </ns1:p>
          <ns1:p>
            <ns1:r>
              <ns1:t>    "scoring_pdb_sha256": "7484b0825ec7aec0de4c7019977550a206e37cdd9575d771296e8352dc1525be",</ns1:t>
            </ns1:r>
          </ns1:p>
          <ns1:p>
            <ns1:r>
              <ns1:t>    "overview": {</ns1:t>
            </ns1:r>
          </ns1:p>
          <ns1:p>
            <ns1:r>
              <ns1:t>      "source_slide": 27,</ns1:t>
            </ns1:r>
          </ns1:p>
          <ns1:p>
            <ns1:r>
              <ns1:t>      "source_picture_index": 1,</ns1:t>
            </ns1:r>
          </ns1:p>
          <ns1:p>
            <ns1:r>
              <ns1:t>      "embedded_media": "ppt/media/image26.jpeg",</ns1:t>
            </ns1:r>
          </ns1:p>
          <ns1:p>
            <ns1:r>
              <ns1:t>      "image_sha256": "bc08c5af60bfc6bcfa3b154fab960fac8bf20c573573f98400c1c30216f49157",</ns1:t>
            </ns1:r>
          </ns1:p>
          <ns1:p>
            <ns1:r>
              <ns1:t>      "asset": "assets/LK_P109_06-complex.jpg"</ns1:t>
            </ns1:r>
          </ns1:p>
          <ns1:p>
            <ns1:r>
              <ns1:t>    },</ns1:t>
            </ns1:r>
          </ns1:p>
          <ns1:p>
            <ns1:r>
              <ns1:t>    "interface": {</ns1:t>
            </ns1:r>
          </ns1:p>
          <ns1:p>
            <ns1:r>
              <ns1:t>      "source_slide": 28,</ns1:t>
            </ns1:r>
          </ns1:p>
          <ns1:p>
            <ns1:r>
              <ns1:t>      "source_picture_index": 1,</ns1:t>
            </ns1:r>
          </ns1:p>
          <ns1:p>
            <ns1:r>
              <ns1:t>      "embedded_media": "ppt/media/image29.jpeg",</ns1:t>
            </ns1:r>
          </ns1:p>
          <ns1:p>
            <ns1:r>
              <ns1:t>      "image_sha256": "f4a1345c8962864e697bbda825464b94cd24f42c47888eef76fe547b4ea8de51",</ns1:t>
            </ns1:r>
          </ns1:p>
          <ns1:p>
            <ns1:r>
              <ns1:t>      "asset": "assets/LK_P109_06-interface.jpg"</ns1:t>
            </ns1:r>
          </ns1:p>
          <ns1:p>
            <ns1:r>
              <ns1:t>    },</ns1:t>
            </ns1:r>
          </ns1:p>
          <ns1:p>
            <ns1:r>
              <ns1:t>    "rendering_provenance": {</ns1:t>
            </ns1:r>
          </ns1:p>
          <ns1:p>
            <ns1:r>
              <ns1:t>      "DeltaForge_source_PDB_sha256": "7484b0825ec7aec0de4c7019977550a206e37cdd9575d771296e8352dc1525be",</ns1:t>
            </ns1:r>
          </ns1:p>
          <ns1:p>
            <ns1:r>
              <ns1:t>      "role_ranges_zero_based": {</ns1:t>
            </ns1:r>
          </ns1:p>
          <ns1:p>
            <ns1:r>
              <ns1:t>        "ECD": [</ns1:t>
            </ns1:r>
          </ns1:p>
          <ns1:p>
            <ns1:r>
              <ns1:t>          0,</ns1:t>
            </ns1:r>
          </ns1:p>
          <ns1:p>
            <ns1:r>
              <ns1:t>          20</ns1:t>
            </ns1:r>
          </ns1:p>
          <ns1:p>
            <ns1:r>
              <ns1:t>        ],</ns1:t>
            </ns1:r>
          </ns1:p>
          <ns1:p>
            <ns1:r>
              <ns1:t>        "linker": [</ns1:t>
            </ns1:r>
          </ns1:p>
          <ns1:p>
            <ns1:r>
              <ns1:t>          20,</ns1:t>
            </ns1:r>
          </ns1:p>
          <ns1:p>
            <ns1:r>
              <ns1:t>          44</ns1:t>
            </ns1:r>
          </ns1:p>
          <ns1:p>
            <ns1:r>
              <ns1:t>        ],</ns1:t>
            </ns1:r>
          </ns1:p>
          <ns1:p>
            <ns1:r>
              <ns1:t>        "LF": [</ns1:t>
            </ns1:r>
          </ns1:p>
          <ns1:p>
            <ns1:r>
              <ns1:t>          44,</ns1:t>
            </ns1:r>
          </ns1:p>
          <ns1:p>
            <ns1:r>
              <ns1:t>          113</ns1:t>
            </ns1:r>
          </ns1:p>
          <ns1:p>
            <ns1:r>
              <ns1:t>        ]</ns1:t>
            </ns1:r>
          </ns1:p>
          <ns1:p>
            <ns1:r>
              <ns1:t>      },</ns1:t>
            </ns1:r>
          </ns1:p>
          <ns1:p>
            <ns1:r>
              <ns1:t>      "model_sha256": "a0e496c74c9d41a7b0d164721515cdd9ec2ae2290b85ed8940015459349c3bde",</ns1:t>
            </ns1:r>
          </ns1:p>
          <ns1:p>
            <ns1:r>
              <ns1:t>      "source_run": "2026-10-24_pair183-extracellular-exact_001",</ns1:t>
            </ns1:r>
          </ns1:p>
          <ns1:p>
            <ns1:r>
              <ns1:t>      "source_methods": [</ns1:t>
            </ns1:r>
          </ns1:p>
          <ns1:p>
            <ns1:r>
              <ns1:t>        "https://github.com/DunbrackLab/IPSAE",</ns1:t>
            </ns1:r>
          </ns1:p>
          <ns1:p>
            <ns1:r>
              <ns1:t>        "https://github.com/wallnerlab/DockQ",</ns1:t>
            </ns1:r>
          </ns1:p>
          <ns1:p>
            <ns1:r>
              <ns1:t>        "https://zhanggroup.org/TM-score/"</ns1:t>
            </ns1:r>
          </ns1:p>
          <ns1:p>
            <ns1:r>
              <ns1:t>      ],</ns1:t>
            </ns1:r>
          </ns1:p>
          <ns1:p>
            <ns1:r>
              <ns1:t>      "saved_display_appendix": {</ns1:t>
            </ns1:r>
          </ns1:p>
          <ns1:p>
            <ns1:r>
              <ns1:t>        "parent_sources": {</ns1:t>
            </ns1:r>
          </ns1:p>
          <ns1:p>
            <ns1:r>
              <ns1:t>          "ECD-parent": {</ns1:t>
            </ns1:r>
          </ns1:p>
          <ns1:p>
            <ns1:r>
              <ns1:t>            "key": "LK_P109_06-ECD-parent",</ns1:t>
            </ns1:r>
          </ns1:p>
          <ns1:p>
            <ns1:r>
              <ns1:t>            "source_path": "local/2026-10-25_linker-parent-comparison_001/parents/S08_00_099/exact.pdb",</ns1:t>
            </ns1:r>
          </ns1:p>
          <ns1:p>
            <ns1:r>
              <ns1:t>            "source_sha256": "a10fffb3b02454090010c8d34d9df5cb042cc964e848dee91c8aeebc0aaf7235",</ns1:t>
            </ns1:r>
          </ns1:p>
          <ns1:p>
            <ns1:r>
              <ns1:t>            "role": "ECD",</ns1:t>
            </ns1:r>
          </ns1:p>
          <ns1:p>
            <ns1:r>
              <ns1:t>            "ranges_zero_based": {</ns1:t>
            </ns1:r>
          </ns1:p>
          <ns1:p>
            <ns1:r>
              <ns1:t>              "ECD": [</ns1:t>
            </ns1:r>
          </ns1:p>
          <ns1:p>
            <ns1:r>
              <ns1:t>                0,</ns1:t>
            </ns1:r>
          </ns1:p>
          <ns1:p>
            <ns1:r>
              <ns1:t>                20</ns1:t>
            </ns1:r>
          </ns1:p>
          <ns1:p>
            <ns1:r>
              <ns1:t>              ]</ns1:t>
            </ns1:r>
          </ns1:p>
          <ns1:p>
            <ns1:r>
              <ns1:t>            },</ns1:t>
            </ns1:r>
          </ns1:p>
          <ns1:p>
            <ns1:r>
              <ns1:t>            "sequence": "MSFFQKYLKQLYLQECLSFL",</ns1:t>
            </ns1:r>
          </ns1:p>
          <ns1:p>
            <ns1:r>
              <ns1:t>            "rotation": [</ns1:t>
            </ns1:r>
          </ns1:p>
          <ns1:p>
            <ns1:r>
              <ns1:t>              [</ns1:t>
            </ns1:r>
          </ns1:p>
          <ns1:p>
            <ns1:r>
              <ns1:t>                0.6542986452645692,</ns1:t>
            </ns1:r>
          </ns1:p>
          <ns1:p>
            <ns1:r>
              <ns1:t>                -0.2999139375992015,</ns1:t>
            </ns1:r>
          </ns1:p>
          <ns1:p>
            <ns1:r>
              <ns1:t>                0.6942225686391867</ns1:t>
            </ns1:r>
          </ns1:p>
          <ns1:p>
            <ns1:r>
              <ns1:t>              ],</ns1:t>
            </ns1:r>
          </ns1:p>
          <ns1:p>
            <ns1:r>
              <ns1:t>              [</ns1:t>
            </ns1:r>
          </ns1:p>
          <ns1:p>
            <ns1:r>
              <ns1:t>                -0.5386423909023357,</ns1:t>
            </ns1:r>
          </ns1:p>
          <ns1:p>
            <ns1:r>
              <ns1:t>                -0.829173538329741,</ns1:t>
            </ns1:r>
          </ns1:p>
          <ns1:p>
            <ns1:r>
              <ns1:t>                0.14945101560254237</ns1:t>
            </ns1:r>
          </ns1:p>
          <ns1:p>
            <ns1:r>
              <ns1:t>              ],</ns1:t>
            </ns1:r>
          </ns1:p>
          <ns1:p>
            <ns1:r>
              <ns1:t>              [</ns1:t>
            </ns1:r>
          </ns1:p>
          <ns1:p>
            <ns1:r>
              <ns1:t>                0.5308085423649214,</ns1:t>
            </ns1:r>
          </ns1:p>
          <ns1:p>
            <ns1:r>
              <ns1:t>                -0.4717233093625355,</ns1:t>
            </ns1:r>
          </ns1:p>
          <ns1:p>
            <ns1:r>
              <ns1:t>                -0.7040734729494122</ns1:t>
            </ns1:r>
          </ns1:p>
          <ns1:p>
            <ns1:r>
              <ns1:t>              ]</ns1:t>
            </ns1:r>
          </ns1:p>
          <ns1:p>
            <ns1:r>
              <ns1:t>            ],</ns1:t>
            </ns1:r>
          </ns1:p>
          <ns1:p>
            <ns1:r>
              <ns1:t>            "translation": [</ns1:t>
            </ns1:r>
          </ns1:p>
          <ns1:p>
            <ns1:r>
              <ns1:t>              6.11155220452036,</ns1:t>
            </ns1:r>
          </ns1:p>
          <ns1:p>
            <ns1:r>
              <ns1:t>              -0.8357822013559613,</ns1:t>
            </ns1:r>
          </ns1:p>
          <ns1:p>
            <ns1:r>
              <ns1:t>              -2.650137073503127</ns1:t>
            </ns1:r>
          </ns1:p>
          <ns1:p>
            <ns1:r>
              <ns1:t>            ],</ns1:t>
            </ns1:r>
          </ns1:p>
          <ns1:p>
            <ns1:r>
              <ns1:t>            "core_fit_CA_RMSD_A": 1.263299691562658,</ns1:t>
            </ns1:r>
          </ns1:p>
          <ns1:p>
            <ns1:r>
              <ns1:t>            "output": "local/2026-10-25_linker-parent-views_001/build/renders-v2/LK_P109_06-ECD-parent.jpg",</ns1:t>
            </ns1:r>
          </ns1:p>
          <ns1:p>
            <ns1:r>
              <ns1:t>            "parent_or_fusion_id": "S08_00_099",</ns1:t>
            </ns1:r>
          </ns1:p>
          <ns1:p>
            <ns1:r>
              <ns1:t>            "design_id": "LK_P109_06",</ns1:t>
            </ns1:r>
          </ns1:p>
          <ns1:p>
            <ns1:r>
              <ns1:t>            "panel": "ECD-parent",</ns1:t>
            </ns1:r>
          </ns1:p>
          <ns1:p>
            <ns1:r>
              <ns1:t>            "view": [</ns1:t>
            </ns1:r>
          </ns1:p>
          <ns1:p>
            <ns1:r>
              <ns1:t>              1,</ns1:t>
            </ns1:r>
          </ns1:p>
          <ns1:p>
            <ns1:r>
              <ns1:t>              0,</ns1:t>
            </ns1:r>
          </ns1:p>
          <ns1:p>
            <ns1:r>
              <ns1:t>              0,</ns1:t>
            </ns1:r>
          </ns1:p>
          <ns1:p>
            <ns1:r>
              <ns1:t>              0,</ns1:t>
            </ns1:r>
          </ns1:p>
          <ns1:p>
            <ns1:r>
              <ns1:t>              1,</ns1:t>
            </ns1:r>
          </ns1:p>
          <ns1:p>
            <ns1:r>
              <ns1:t>              0,</ns1:t>
            </ns1:r>
          </ns1:p>
          <ns1:p>
            <ns1:r>
              <ns1:t>              0,</ns1:t>
            </ns1:r>
          </ns1:p>
          <ns1:p>
            <ns1:r>
              <ns1:t>              0,</ns1:t>
            </ns1:r>
          </ns1:p>
          <ns1:p>
            <ns1:r>
              <ns1:t>              1,</ns1:t>
            </ns1:r>
          </ns1:p>
          <ns1:p>
            <ns1:r>
              <ns1:t>              0,</ns1:t>
            </ns1:r>
          </ns1:p>
          <ns1:p>
            <ns1:r>
              <ns1:t>              0,</ns1:t>
            </ns1:r>
          </ns1:p>
          <ns1:p>
            <ns1:r>
              <ns1:t>              -387.31532217548994,</ns1:t>
            </ns1:r>
          </ns1:p>
          <ns1:p>
            <ns1:r>
              <ns1:t>              -9.73153622054255,</ns1:t>
            </ns1:r>
          </ns1:p>
          <ns1:p>
            <ns1:r>
              <ns1:t>              19.634309299066718,</ns1:t>
            </ns1:r>
          </ns1:p>
          <ns1:p>
            <ns1:r>
              <ns1:t>              -19.50099446323492,</ns1:t>
            </ns1:r>
          </ns1:p>
          <ns1:p>
            <ns1:r>
              <ns1:t>              307.88063977194986,</ns1:t>
            </ns1:r>
          </ns1:p>
          <ns1:p>
            <ns1:r>
              <ns1:t>              466.75000457903,</ns1:t>
            </ns1:r>
          </ns1:p>
          <ns1:p>
            <ns1:r>
              <ns1:t>              -20</ns1:t>
            </ns1:r>
          </ns1:p>
          <ns1:p>
            <ns1:r>
              <ns1:t>            ],</ns1:t>
            </ns1:r>
          </ns1:p>
          <ns1:p>
            <ns1:r>
              <ns1:t>            "world_height_A": 136.58828268266103,</ns1:t>
            </ns1:r>
          </ns1:p>
          <ns1:p>
            <ns1:r>
              <ns1:t>            "row_bounds_all_atoms_A": [</ns1:t>
            </ns1:r>
          </ns1:p>
          <ns1:p>
            <ns1:r>
              <ns1:t>              [</ns1:t>
            </ns1:r>
          </ns1:p>
          <ns1:p>
            <ns1:r>
              <ns1:t>                -50.79037642370106,</ns1:t>
            </ns1:r>
          </ns1:p>
          <ns1:p>
            <ns1:r>
              <ns1:t>                -37.32439103150592,</ns1:t>
            </ns1:r>
          </ns1:p>
          <ns1:p>
            <ns1:r>
              <ns1:t>                -83.93567686677497</ns1:t>
            </ns1:r>
          </ns1:p>
          <ns1:p>
            <ns1:r>
              <ns1:t>              ],</ns1:t>
            </ns1:r>
          </ns1:p>
          <ns1:p>
            <ns1:r>
              <ns1:t>              [</ns1:t>
            </ns1:r>
          </ns1:p>
          <ns1:p>
            <ns1:r>
              <ns1:t>                31.327303982615962,</ns1:t>
            </ns1:r>
          </ns1:p>
          <ns1:p>
            <ns1:r>
              <ns1:t>                76.59300962963935,</ns1:t>
            </ns1:r>
          </ns1:p>
          <ns1:p>
            <ns1:r>
              <ns1:t>                44.93368794030513</ns1:t>
            </ns1:r>
          </ns1:p>
          <ns1:p>
            <ns1:r>
              <ns1:t>              ]</ns1:t>
            </ns1:r>
          </ns1:p>
          <ns1:p>
            <ns1:r>
              <ns1:t>            ]</ns1:t>
            </ns1:r>
          </ns1:p>
          <ns1:p>
            <ns1:r>
              <ns1:t>          },</ns1:t>
            </ns1:r>
          </ns1:p>
          <ns1:p>
            <ns1:r>
              <ns1:t>          "APNovo": {</ns1:t>
            </ns1:r>
          </ns1:p>
          <ns1:p>
            <ns1:r>
              <ns1:t>            "key": "LK_P109_06-APNovo",</ns1:t>
            </ns1:r>
          </ns1:p>
          <ns1:p>
            <ns1:r>
              <ns1:t>            "source_path": "local/2026-10-25_linker-top100-review_001/build/comparisons/LK_P109_06/reference.pdb",</ns1:t>
            </ns1:r>
          </ns1:p>
          <ns1:p>
            <ns1:r>
              <ns1:t>            "source_sha256": "137eb16d5041c2b02486140723d4308db1f9a9c68f30c62567384da2623b7da8",</ns1:t>
            </ns1:r>
          </ns1:p>
          <ns1:p>
            <ns1:r>
              <ns1:t>            "role": "fusion",</ns1:t>
            </ns1:r>
          </ns1:p>
          <ns1:p>
            <ns1:r>
              <ns1:t>            "ranges_zero_based": {</ns1:t>
            </ns1:r>
          </ns1:p>
          <ns1:p>
            <ns1:r>
              <ns1:t>              "ECD": [</ns1:t>
            </ns1:r>
          </ns1:p>
          <ns1:p>
            <ns1:r>
              <ns1:t>                0,</ns1:t>
            </ns1:r>
          </ns1:p>
          <ns1:p>
            <ns1:r>
              <ns1:t>                20</ns1:t>
            </ns1:r>
          </ns1:p>
          <ns1:p>
            <ns1:r>
              <ns1:t>              ],</ns1:t>
            </ns1:r>
          </ns1:p>
          <ns1:p>
            <ns1:r>
              <ns1:t>              "linker": [</ns1:t>
            </ns1:r>
          </ns1:p>
          <ns1:p>
            <ns1:r>
              <ns1:t>                20,</ns1:t>
            </ns1:r>
          </ns1:p>
          <ns1:p>
            <ns1:r>
              <ns1:t>                44</ns1:t>
            </ns1:r>
          </ns1:p>
          <ns1:p>
            <ns1:r>
              <ns1:t>              ],</ns1:t>
            </ns1:r>
          </ns1:p>
          <ns1:p>
            <ns1:r>
              <ns1:t>              "LF": [</ns1:t>
            </ns1:r>
          </ns1:p>
          <ns1:p>
            <ns1:r>
              <ns1:t>                44,</ns1:t>
            </ns1:r>
          </ns1:p>
          <ns1:p>
            <ns1:r>
              <ns1:t>                113</ns1:t>
            </ns1:r>
          </ns1:p>
          <ns1:p>
            <ns1:r>
              <ns1:t>              ]</ns1:t>
            </ns1:r>
          </ns1:p>
          <ns1:p>
            <ns1:r>
              <ns1:t>            },</ns1:t>
            </ns1:r>
          </ns1:p>
          <ns1:p>
            <ns1:r>
              <ns1:t>            "sequence": "MSFFQKYLKQLYLQECLSFLGGRHRVGSGSSPPPPELAPEEVVKEVSGATIDLRVKTCVDFKQTVNFFKLRNTQLPGSCTKDNTVLFLLEGLKLGYASRYFSIGSGSGSQQFS",</ns1:t>
            </ns1:r>
          </ns1:p>
          <ns1:p>
            <ns1:r>
              <ns1:t>            "rotation": [</ns1:t>
            </ns1:r>
          </ns1:p>
          <ns1:p>
            <ns1:r>
              <ns1:t>              [</ns1:t>
            </ns1:r>
          </ns1:p>
          <ns1:p>
            <ns1:r>
              <ns1:t>                -0.427345968288976,</ns1:t>
            </ns1:r>
          </ns1:p>
          <ns1:p>
            <ns1:r>
              <ns1:t>                -0.38814908789595437,</ns1:t>
            </ns1:r>
          </ns1:p>
          <ns1:p>
            <ns1:r>
              <ns1:t>                0.8165266403826763</ns1:t>
            </ns1:r>
          </ns1:p>
          <ns1:p>
            <ns1:r>
              <ns1:t>              ],</ns1:t>
            </ns1:r>
          </ns1:p>
          <ns1:p>
            <ns1:r>
              <ns1:t>              [</ns1:t>
            </ns1:r>
          </ns1:p>
          <ns1:p>
            <ns1:r>
              <ns1:t>                -0.5527881942222308,</ns1:t>
            </ns1:r>
          </ns1:p>
          <ns1:p>
            <ns1:r>
              <ns1:t>                -0.6024795937148912,</ns1:t>
            </ns1:r>
          </ns1:p>
          <ns1:p>
            <ns1:r>
              <ns1:t>                -0.5757113927322237</ns1:t>
            </ns1:r>
          </ns1:p>
          <ns1:p>
            <ns1:r>
              <ns1:t>              ],</ns1:t>
            </ns1:r>
          </ns1:p>
          <ns1:p>
            <ns1:r>
              <ns1:t>              [</ns1:t>
            </ns1:r>
          </ns1:p>
          <ns1:p>
            <ns1:r>
              <ns1:t>                0.7154025045037509,</ns1:t>
            </ns1:r>
          </ns1:p>
          <ns1:p>
            <ns1:r>
              <ns1:t>                -0.6973941572300295,</ns1:t>
            </ns1:r>
          </ns1:p>
          <ns1:p>
            <ns1:r>
              <ns1:t>                0.042903010653072116</ns1:t>
            </ns1:r>
          </ns1:p>
          <ns1:p>
            <ns1:r>
              <ns1:t>              ]</ns1:t>
            </ns1:r>
          </ns1:p>
          <ns1:p>
            <ns1:r>
              <ns1:t>            ],</ns1:t>
            </ns1:r>
          </ns1:p>
          <ns1:p>
            <ns1:r>
              <ns1:t>            "translation": [</ns1:t>
            </ns1:r>
          </ns1:p>
          <ns1:p>
            <ns1:r>
              <ns1:t>              -11.914434493472832,</ns1:t>
            </ns1:r>
          </ns1:p>
          <ns1:p>
            <ns1:r>
              <ns1:t>              -14.548901074543778,</ns1:t>
            </ns1:r>
          </ns1:p>
          <ns1:p>
            <ns1:r>
              <ns1:t>              7.486331781083827</ns1:t>
            </ns1:r>
          </ns1:p>
          <ns1:p>
            <ns1:r>
              <ns1:t>            ],</ns1:t>
            </ns1:r>
          </ns1:p>
          <ns1:p>
            <ns1:r>
              <ns1:t>            "core_fit_CA_RMSD_A": 1.263295516465016,</ns1:t>
            </ns1:r>
          </ns1:p>
          <ns1:p>
            <ns1:r>
              <ns1:t>            "output": "local/2026-10-25_linker-parent-views_001/build/renders-v2/LK_P109_06-APNovo.jpg",</ns1:t>
            </ns1:r>
          </ns1:p>
          <ns1:p>
            <ns1:r>
              <ns1:t>            "parent_or_fusion_id": "LK_P109_06-APNovo",</ns1:t>
            </ns1:r>
          </ns1:p>
          <ns1:p>
            <ns1:r>
              <ns1:t>            "design_id": "LK_P109_06",</ns1:t>
            </ns1:r>
          </ns1:p>
          <ns1:p>
            <ns1:r>
              <ns1:t>            "panel": "APNovo",</ns1:t>
            </ns1:r>
          </ns1:p>
          <ns1:p>
            <ns1:r>
              <ns1:t>            "view": [</ns1:t>
            </ns1:r>
          </ns1:p>
          <ns1:p>
            <ns1:r>
              <ns1:t>              1,</ns1:t>
            </ns1:r>
          </ns1:p>
          <ns1:p>
            <ns1:r>
              <ns1:t>              0,</ns1:t>
            </ns1:r>
          </ns1:p>
          <ns1:p>
            <ns1:r>
              <ns1:t>              0,</ns1:t>
            </ns1:r>
          </ns1:p>
          <ns1:p>
            <ns1:r>
              <ns1:t>              0,</ns1:t>
            </ns1:r>
          </ns1:p>
          <ns1:p>
            <ns1:r>
              <ns1:t>              1,</ns1:t>
            </ns1:r>
          </ns1:p>
          <ns1:p>
            <ns1:r>
              <ns1:t>              0,</ns1:t>
            </ns1:r>
          </ns1:p>
          <ns1:p>
            <ns1:r>
              <ns1:t>              0,</ns1:t>
            </ns1:r>
          </ns1:p>
          <ns1:p>
            <ns1:r>
              <ns1:t>              0,</ns1:t>
            </ns1:r>
          </ns1:p>
          <ns1:p>
            <ns1:r>
              <ns1:t>              1,</ns1:t>
            </ns1:r>
          </ns1:p>
          <ns1:p>
            <ns1:r>
              <ns1:t>              0,</ns1:t>
            </ns1:r>
          </ns1:p>
          <ns1:p>
            <ns1:r>
              <ns1:t>              0,</ns1:t>
            </ns1:r>
          </ns1:p>
          <ns1:p>
            <ns1:r>
              <ns1:t>              -387.31532217548994,</ns1:t>
            </ns1:r>
          </ns1:p>
          <ns1:p>
            <ns1:r>
              <ns1:t>              -9.73153622054255,</ns1:t>
            </ns1:r>
          </ns1:p>
          <ns1:p>
            <ns1:r>
              <ns1:t>              19.634309299066718,</ns1:t>
            </ns1:r>
          </ns1:p>
          <ns1:p>
            <ns1:r>
              <ns1:t>              -19.50099446323492,</ns1:t>
            </ns1:r>
          </ns1:p>
          <ns1:p>
            <ns1:r>
              <ns1:t>              307.88063977194986,</ns1:t>
            </ns1:r>
          </ns1:p>
          <ns1:p>
            <ns1:r>
              <ns1:t>              466.75000457903,</ns1:t>
            </ns1:r>
          </ns1:p>
          <ns1:p>
            <ns1:r>
              <ns1:t>              -20</ns1:t>
            </ns1:r>
          </ns1:p>
          <ns1:p>
            <ns1:r>
              <ns1:t>            ],</ns1:t>
            </ns1:r>
          </ns1:p>
          <ns1:p>
            <ns1:r>
              <ns1:t>            "world_height_A": 136.58828268266103,</ns1:t>
            </ns1:r>
          </ns1:p>
          <ns1:p>
            <ns1:r>
              <ns1:t>            "row_bounds_all_atoms_A": [</ns1:t>
            </ns1:r>
          </ns1:p>
          <ns1:p>
            <ns1:r>
              <ns1:t>              [</ns1:t>
            </ns1:r>
          </ns1:p>
          <ns1:p>
            <ns1:r>
              <ns1:t>                -50.79037642370106,</ns1:t>
            </ns1:r>
          </ns1:p>
          <ns1:p>
            <ns1:r>
              <ns1:t>                -37.32439103150592,</ns1:t>
            </ns1:r>
          </ns1:p>
          <ns1:p>
            <ns1:r>
              <ns1:t>                -83.93567686677497</ns1:t>
            </ns1:r>
          </ns1:p>
          <ns1:p>
            <ns1:r>
              <ns1:t>              ],</ns1:t>
            </ns1:r>
          </ns1:p>
          <ns1:p>
            <ns1:r>
              <ns1:t>              [</ns1:t>
            </ns1:r>
          </ns1:p>
          <ns1:p>
            <ns1:r>
              <ns1:t>                31.327303982615962,</ns1:t>
            </ns1:r>
          </ns1:p>
          <ns1:p>
            <ns1:r>
              <ns1:t>                76.59300962963935,</ns1:t>
            </ns1:r>
          </ns1:p>
          <ns1:p>
            <ns1:r>
              <ns1:t>                44.93368794030513</ns1:t>
            </ns1:r>
          </ns1:p>
          <ns1:p>
            <ns1:r>
              <ns1:t>              ]</ns1:t>
            </ns1:r>
          </ns1:p>
          <ns1:p>
            <ns1:r>
              <ns1:t>            ]</ns1:t>
            </ns1:r>
          </ns1:p>
          <ns1:p>
            <ns1:r>
              <ns1:t>          },</ns1:t>
            </ns1:r>
          </ns1:p>
          <ns1:p>
            <ns1:r>
              <ns1:t>          "Exact": {</ns1:t>
            </ns1:r>
          </ns1:p>
          <ns1:p>
            <ns1:r>
              <ns1:t>            "key": "LK_P109_06-Exact",</ns1:t>
            </ns1:r>
          </ns1:p>
          <ns1:p>
            <ns1:r>
              <ns1:t>            "source_path": "local/2026-10-25_linker-top100-review_001/models/LK_P109_06/boltz2.cif",</ns1:t>
            </ns1:r>
          </ns1:p>
          <ns1:p>
            <ns1:r>
              <ns1:t>            "source_sha256": "a0e496c74c9d41a7b0d164721515cdd9ec2ae2290b85ed8940015459349c3bde",</ns1:t>
            </ns1:r>
          </ns1:p>
          <ns1:p>
            <ns1:r>
              <ns1:t>            "role": "fusion",</ns1:t>
            </ns1:r>
          </ns1:p>
          <ns1:p>
            <ns1:r>
              <ns1:t>            "ranges_zero_based": {</ns1:t>
            </ns1:r>
          </ns1:p>
          <ns1:p>
            <ns1:r>
              <ns1:t>              "ECD": [</ns1:t>
            </ns1:r>
          </ns1:p>
          <ns1:p>
            <ns1:r>
              <ns1:t>                0,</ns1:t>
            </ns1:r>
          </ns1:p>
          <ns1:p>
            <ns1:r>
              <ns1:t>                20</ns1:t>
            </ns1:r>
          </ns1:p>
          <ns1:p>
            <ns1:r>
              <ns1:t>              ],</ns1:t>
            </ns1:r>
          </ns1:p>
          <ns1:p>
            <ns1:r>
              <ns1:t>              "linker": [</ns1:t>
            </ns1:r>
          </ns1:p>
          <ns1:p>
            <ns1:r>
              <ns1:t>                20,</ns1:t>
            </ns1:r>
          </ns1:p>
          <ns1:p>
            <ns1:r>
              <ns1:t>                44</ns1:t>
            </ns1:r>
          </ns1:p>
          <ns1:p>
            <ns1:r>
              <ns1:t>              ],</ns1:t>
            </ns1:r>
          </ns1:p>
          <ns1:p>
            <ns1:r>
              <ns1:t>              "LF": [</ns1:t>
            </ns1:r>
          </ns1:p>
          <ns1:p>
            <ns1:r>
              <ns1:t>                44,</ns1:t>
            </ns1:r>
          </ns1:p>
          <ns1:p>
            <ns1:r>
              <ns1:t>                113</ns1:t>
            </ns1:r>
          </ns1:p>
          <ns1:p>
            <ns1:r>
              <ns1:t>              ]</ns1:t>
            </ns1:r>
          </ns1:p>
          <ns1:p>
            <ns1:r>
              <ns1:t>            },</ns1:t>
            </ns1:r>
          </ns1:p>
          <ns1:p>
            <ns1:r>
              <ns1:t>            "sequence": "MSFFQKYLKQLYLQECLSFLGGRHRVGSGSSPPPPELAPEEVVKEVSGATIDLRVKTCVDFKQTVNFFKLRNTQLPGSCTKDNTVLFLLEGLKLGYASRYFSIGSGSGSQQFS",</ns1:t>
            </ns1:r>
          </ns1:p>
          <ns1:p>
            <ns1:r>
              <ns1:t>            "rotation": [</ns1:t>
            </ns1:r>
          </ns1:p>
          <ns1:p>
            <ns1:r>
              <ns1:t>              [</ns1:t>
            </ns1:r>
          </ns1:p>
          <ns1:p>
            <ns1:r>
              <ns1:t>                -0.3580662748053136,</ns1:t>
            </ns1:r>
          </ns1:p>
          <ns1:p>
            <ns1:r>
              <ns1:t>                0.9277942827354044,</ns1:t>
            </ns1:r>
          </ns1:p>
          <ns1:p>
            <ns1:r>
              <ns1:t>                -0.10481547166696092</ns1:t>
            </ns1:r>
          </ns1:p>
          <ns1:p>
            <ns1:r>
              <ns1:t>              ],</ns1:t>
            </ns1:r>
          </ns1:p>
          <ns1:p>
            <ns1:r>
              <ns1:t>              [</ns1:t>
            </ns1:r>
          </ns1:p>
          <ns1:p>
            <ns1:r>
              <ns1:t>                0.7211125114900967,</ns1:t>
            </ns1:r>
          </ns1:p>
          <ns1:p>
            <ns1:r>
              <ns1:t>                0.20348343855649514,</ns1:t>
            </ns1:r>
          </ns1:p>
          <ns1:p>
            <ns1:r>
              <ns1:t>                -0.6622622159771991</ns1:t>
            </ns1:r>
          </ns1:p>
          <ns1:p>
            <ns1:r>
              <ns1:t>              ],</ns1:t>
            </ns1:r>
          </ns1:p>
          <ns1:p>
            <ns1:r>
              <ns1:t>              [</ns1:t>
            </ns1:r>
          </ns1:p>
          <ns1:p>
            <ns1:r>
              <ns1:t>                -0.5931148920597611,</ns1:t>
            </ns1:r>
          </ns1:p>
          <ns1:p>
            <ns1:r>
              <ns1:t>                -0.31271753971320404,</ns1:t>
            </ns1:r>
          </ns1:p>
          <ns1:p>
            <ns1:r>
              <ns1:t>                -0.741904647793</ns1:t>
            </ns1:r>
          </ns1:p>
          <ns1:p>
            <ns1:r>
              <ns1:t>              ]</ns1:t>
            </ns1:r>
          </ns1:p>
          <ns1:p>
            <ns1:r>
              <ns1:t>            ],</ns1:t>
            </ns1:r>
          </ns1:p>
          <ns1:p>
            <ns1:r>
              <ns1:t>            "translation": [</ns1:t>
            </ns1:r>
          </ns1:p>
          <ns1:p>
            <ns1:r>
              <ns1:t>              2.4702804606728286,</ns1:t>
            </ns1:r>
          </ns1:p>
          <ns1:p>
            <ns1:r>
              <ns1:t>              -0.6040788156052788,</ns1:t>
            </ns1:r>
          </ns1:p>
          <ns1:p>
            <ns1:r>
              <ns1:t>              0.8439426894321413</ns1:t>
            </ns1:r>
          </ns1:p>
          <ns1:p>
            <ns1:r>
              <ns1:t>            ],</ns1:t>
            </ns1:r>
          </ns1:p>
          <ns1:p>
            <ns1:r>
              <ns1:t>            "core_fit_CA_RMSD_A": 0.9373087214772043,</ns1:t>
            </ns1:r>
          </ns1:p>
          <ns1:p>
            <ns1:r>
              <ns1:t>            "output": "local/2026-10-25_linker-parent-views_001/build/renders-v2/LK_P109_06-Exact.jpg",</ns1:t>
            </ns1:r>
          </ns1:p>
          <ns1:p>
            <ns1:r>
              <ns1:t>            "parent_or_fusion_id": "LK_P109_06-Exact",</ns1:t>
            </ns1:r>
          </ns1:p>
          <ns1:p>
            <ns1:r>
              <ns1:t>            "design_id": "LK_P109_06",</ns1:t>
            </ns1:r>
          </ns1:p>
          <ns1:p>
            <ns1:r>
              <ns1:t>            "panel": "Exact",</ns1:t>
            </ns1:r>
          </ns1:p>
          <ns1:p>
            <ns1:r>
              <ns1:t>            "view": [</ns1:t>
            </ns1:r>
          </ns1:p>
          <ns1:p>
            <ns1:r>
              <ns1:t>              1,</ns1:t>
            </ns1:r>
          </ns1:p>
          <ns1:p>
            <ns1:r>
              <ns1:t>              0,</ns1:t>
            </ns1:r>
          </ns1:p>
          <ns1:p>
            <ns1:r>
              <ns1:t>              0,</ns1:t>
            </ns1:r>
          </ns1:p>
          <ns1:p>
            <ns1:r>
              <ns1:t>              0,</ns1:t>
            </ns1:r>
          </ns1:p>
          <ns1:p>
            <ns1:r>
              <ns1:t>              1,</ns1:t>
            </ns1:r>
          </ns1:p>
          <ns1:p>
            <ns1:r>
              <ns1:t>              0,</ns1:t>
            </ns1:r>
          </ns1:p>
          <ns1:p>
            <ns1:r>
              <ns1:t>              0,</ns1:t>
            </ns1:r>
          </ns1:p>
          <ns1:p>
            <ns1:r>
              <ns1:t>              0,</ns1:t>
            </ns1:r>
          </ns1:p>
          <ns1:p>
            <ns1:r>
              <ns1:t>              1,</ns1:t>
            </ns1:r>
          </ns1:p>
          <ns1:p>
            <ns1:r>
              <ns1:t>              0,</ns1:t>
            </ns1:r>
          </ns1:p>
          <ns1:p>
            <ns1:r>
              <ns1:t>              0,</ns1:t>
            </ns1:r>
          </ns1:p>
          <ns1:p>
            <ns1:r>
              <ns1:t>              -387.31532217548994,</ns1:t>
            </ns1:r>
          </ns1:p>
          <ns1:p>
            <ns1:r>
              <ns1:t>              -9.73153622054255,</ns1:t>
            </ns1:r>
          </ns1:p>
          <ns1:p>
            <ns1:r>
              <ns1:t>              19.634309299066718,</ns1:t>
            </ns1:r>
          </ns1:p>
          <ns1:p>
            <ns1:r>
              <ns1:t>              -19.50099446323492,</ns1:t>
            </ns1:r>
          </ns1:p>
          <ns1:p>
            <ns1:r>
              <ns1:t>              307.88063977194986,</ns1:t>
            </ns1:r>
          </ns1:p>
          <ns1:p>
            <ns1:r>
              <ns1:t>              466.75000457903,</ns1:t>
            </ns1:r>
          </ns1:p>
          <ns1:p>
            <ns1:r>
              <ns1:t>              -20</ns1:t>
            </ns1:r>
          </ns1:p>
          <ns1:p>
            <ns1:r>
              <ns1:t>            ],</ns1:t>
            </ns1:r>
          </ns1:p>
          <ns1:p>
            <ns1:r>
              <ns1:t>            "world_height_A": 136.58828268266103,</ns1:t>
            </ns1:r>
          </ns1:p>
          <ns1:p>
            <ns1:r>
              <ns1:t>            "row_bounds_all_atoms_A": [</ns1:t>
            </ns1:r>
          </ns1:p>
          <ns1:p>
            <ns1:r>
              <ns1:t>              [</ns1:t>
            </ns1:r>
          </ns1:p>
          <ns1:p>
            <ns1:r>
              <ns1:t>                -50.79037642370106,</ns1:t>
            </ns1:r>
          </ns1:p>
          <ns1:p>
            <ns1:r>
              <ns1:t>                -37.32439103150592,</ns1:t>
            </ns1:r>
          </ns1:p>
          <ns1:p>
            <ns1:r>
              <ns1:t>                -83.93567686677497</ns1:t>
            </ns1:r>
          </ns1:p>
          <ns1:p>
            <ns1:r>
              <ns1:t>              ],</ns1:t>
            </ns1:r>
          </ns1:p>
          <ns1:p>
            <ns1:r>
              <ns1:t>              [</ns1:t>
            </ns1:r>
          </ns1:p>
          <ns1:p>
            <ns1:r>
              <ns1:t>                31.327303982615962,</ns1:t>
            </ns1:r>
          </ns1:p>
          <ns1:p>
            <ns1:r>
              <ns1:t>                76.59300962963935,</ns1:t>
            </ns1:r>
          </ns1:p>
          <ns1:p>
            <ns1:r>
              <ns1:t>                44.93368794030513</ns1:t>
            </ns1:r>
          </ns1:p>
          <ns1:p>
            <ns1:r>
              <ns1:t>              ]</ns1:t>
            </ns1:r>
          </ns1:p>
          <ns1:p>
            <ns1:r>
              <ns1:t>            ]</ns1:t>
            </ns1:r>
          </ns1:p>
          <ns1:p>
            <ns1:r>
              <ns1:t>          },</ns1:t>
            </ns1:r>
          </ns1:p>
          <ns1:p>
            <ns1:r>
              <ns1:t>          "LF-parent": {</ns1:t>
            </ns1:r>
          </ns1:p>
          <ns1:p>
            <ns1:r>
              <ns1:t>            "key": "LK_P109_06-LF-parent",</ns1:t>
            </ns1:r>
          </ns1:p>
          <ns1:p>
            <ns1:r>
              <ns1:t>            "source_path": "local/2026-10-25_linker-parent-comparison_001/parents/Design_280/exact.pdb",</ns1:t>
            </ns1:r>
          </ns1:p>
          <ns1:p>
            <ns1:r>
              <ns1:t>            "source_sha256": "cd01c89fbf40d0e577c10f20c2afa96c3deef09880d6c761314a1c5e9898bd4f",</ns1:t>
            </ns1:r>
          </ns1:p>
          <ns1:p>
            <ns1:r>
              <ns1:t>            "role": "LF",</ns1:t>
            </ns1:r>
          </ns1:p>
          <ns1:p>
            <ns1:r>
              <ns1:t>            "ranges_zero_based": {</ns1:t>
            </ns1:r>
          </ns1:p>
          <ns1:p>
            <ns1:r>
              <ns1:t>              "LF": [</ns1:t>
            </ns1:r>
          </ns1:p>
          <ns1:p>
            <ns1:r>
              <ns1:t>                0,</ns1:t>
            </ns1:r>
          </ns1:p>
          <ns1:p>
            <ns1:r>
              <ns1:t>                69</ns1:t>
            </ns1:r>
          </ns1:p>
          <ns1:p>
            <ns1:r>
              <ns1:t>              ]</ns1:t>
            </ns1:r>
          </ns1:p>
          <ns1:p>
            <ns1:r>
              <ns1:t>            },</ns1:t>
            </ns1:r>
          </ns1:p>
          <ns1:p>
            <ns1:r>
              <ns1:t>            "sequence": "EVSGATIDLRVKTCVDFKQTVNFFKLRNTQLPGSCTKDNTVLFLLEGLKLGYASRYFSIGSGSGSQQFS",</ns1:t>
            </ns1:r>
          </ns1:p>
          <ns1:p>
            <ns1:r>
              <ns1:t>            "rotation": [</ns1:t>
            </ns1:r>
          </ns1:p>
          <ns1:p>
            <ns1:r>
              <ns1:t>              [</ns1:t>
            </ns1:r>
          </ns1:p>
          <ns1:p>
            <ns1:r>
              <ns1:t>                0.9716521520149124,</ns1:t>
            </ns1:r>
          </ns1:p>
          <ns1:p>
            <ns1:r>
              <ns1:t>                0.23640963200020604,</ns1:t>
            </ns1:r>
          </ns1:p>
          <ns1:p>
            <ns1:r>
              <ns1:t>                -0.0015985785293137766</ns1:t>
            </ns1:r>
          </ns1:p>
          <ns1:p>
            <ns1:r>
              <ns1:t>              ],</ns1:t>
            </ns1:r>
          </ns1:p>
          <ns1:p>
            <ns1:r>
              <ns1:t>              [</ns1:t>
            </ns1:r>
          </ns1:p>
          <ns1:p>
            <ns1:r>
              <ns1:t>                -0.232382419508661,</ns1:t>
            </ns1:r>
          </ns1:p>
          <ns1:p>
            <ns1:r>
              <ns1:t>                0.9563002615331773,</ns1:t>
            </ns1:r>
          </ns1:p>
          <ns1:p>
            <ns1:r>
              <ns1:t>                0.17744913387297956</ns1:t>
            </ns1:r>
          </ns1:p>
          <ns1:p>
            <ns1:r>
              <ns1:t>              ],</ns1:t>
            </ns1:r>
          </ns1:p>
          <ns1:p>
            <ns1:r>
              <ns1:t>              [</ns1:t>
            </ns1:r>
          </ns1:p>
          <ns1:p>
            <ns1:r>
              <ns1:t>                0.04347938667791329,</ns1:t>
            </ns1:r>
          </ns1:p>
          <ns1:p>
            <ns1:r>
              <ns1:t>                -0.1720473610249762,</ns1:t>
            </ns1:r>
          </ns1:p>
          <ns1:p>
            <ns1:r>
              <ns1:t>                0.9841286681075418</ns1:t>
            </ns1:r>
          </ns1:p>
          <ns1:p>
            <ns1:r>
              <ns1:t>              ]</ns1:t>
            </ns1:r>
          </ns1:p>
          <ns1:p>
            <ns1:r>
              <ns1:t>            ],</ns1:t>
            </ns1:r>
          </ns1:p>
          <ns1:p>
            <ns1:r>
              <ns1:t>            "translation": [</ns1:t>
            </ns1:r>
          </ns1:p>
          <ns1:p>
            <ns1:r>
              <ns1:t>              3.3985903455718525,</ns1:t>
            </ns1:r>
          </ns1:p>
          <ns1:p>
            <ns1:r>
              <ns1:t>              -6.121573941428423,</ns1:t>
            </ns1:r>
          </ns1:p>
          <ns1:p>
            <ns1:r>
              <ns1:t>              6.014485827651381</ns1:t>
            </ns1:r>
          </ns1:p>
          <ns1:p>
            <ns1:r>
              <ns1:t>            ],</ns1:t>
            </ns1:r>
          </ns1:p>
          <ns1:p>
            <ns1:r>
              <ns1:t>            "core_fit_CA_RMSD_A": 1.3060904572635719,</ns1:t>
            </ns1:r>
          </ns1:p>
          <ns1:p>
            <ns1:r>
              <ns1:t>            "output": "local/2026-10-25_linker-parent-views_001/build/renders-v2/LK_P109_06-LF-parent.jpg",</ns1:t>
            </ns1:r>
          </ns1:p>
          <ns1:p>
            <ns1:r>
              <ns1:t>            "parent_or_fusion_id": "Design_280",</ns1:t>
            </ns1:r>
          </ns1:p>
          <ns1:p>
            <ns1:r>
              <ns1:t>            "design_id": "LK_P109_06",</ns1:t>
            </ns1:r>
          </ns1:p>
          <ns1:p>
            <ns1:r>
              <ns1:t>            "panel": "LF-parent",</ns1:t>
            </ns1:r>
          </ns1:p>
          <ns1:p>
            <ns1:r>
              <ns1:t>            "view": [</ns1:t>
            </ns1:r>
          </ns1:p>
          <ns1:p>
            <ns1:r>
              <ns1:t>              1,</ns1:t>
            </ns1:r>
          </ns1:p>
          <ns1:p>
            <ns1:r>
              <ns1:t>              0,</ns1:t>
            </ns1:r>
          </ns1:p>
          <ns1:p>
            <ns1:r>
              <ns1:t>              0,</ns1:t>
            </ns1:r>
          </ns1:p>
          <ns1:p>
            <ns1:r>
              <ns1:t>              0,</ns1:t>
            </ns1:r>
          </ns1:p>
          <ns1:p>
            <ns1:r>
              <ns1:t>              1,</ns1:t>
            </ns1:r>
          </ns1:p>
          <ns1:p>
            <ns1:r>
              <ns1:t>              0,</ns1:t>
            </ns1:r>
          </ns1:p>
          <ns1:p>
            <ns1:r>
              <ns1:t>              0,</ns1:t>
            </ns1:r>
          </ns1:p>
          <ns1:p>
            <ns1:r>
              <ns1:t>              0,</ns1:t>
            </ns1:r>
          </ns1:p>
          <ns1:p>
            <ns1:r>
              <ns1:t>              1,</ns1:t>
            </ns1:r>
          </ns1:p>
          <ns1:p>
            <ns1:r>
              <ns1:t>              0,</ns1:t>
            </ns1:r>
          </ns1:p>
          <ns1:p>
            <ns1:r>
              <ns1:t>              0,</ns1:t>
            </ns1:r>
          </ns1:p>
          <ns1:p>
            <ns1:r>
              <ns1:t>              -387.31532217548994,</ns1:t>
            </ns1:r>
          </ns1:p>
          <ns1:p>
            <ns1:r>
              <ns1:t>              -9.73153622054255,</ns1:t>
            </ns1:r>
          </ns1:p>
          <ns1:p>
            <ns1:r>
              <ns1:t>              19.634309299066718,</ns1:t>
            </ns1:r>
          </ns1:p>
          <ns1:p>
            <ns1:r>
              <ns1:t>              -19.50099446323492,</ns1:t>
            </ns1:r>
          </ns1:p>
          <ns1:p>
            <ns1:r>
              <ns1:t>              307.88063977194986,</ns1:t>
            </ns1:r>
          </ns1:p>
          <ns1:p>
            <ns1:r>
              <ns1:t>              466.75000457903,</ns1:t>
            </ns1:r>
          </ns1:p>
          <ns1:p>
            <ns1:r>
              <ns1:t>              -20</ns1:t>
            </ns1:r>
          </ns1:p>
          <ns1:p>
            <ns1:r>
              <ns1:t>            ],</ns1:t>
            </ns1:r>
          </ns1:p>
          <ns1:p>
            <ns1:r>
              <ns1:t>            "world_height_A": 136.58828268266103,</ns1:t>
            </ns1:r>
          </ns1:p>
          <ns1:p>
            <ns1:r>
              <ns1:t>            "row_bounds_all_atoms_A": [</ns1:t>
            </ns1:r>
          </ns1:p>
          <ns1:p>
            <ns1:r>
              <ns1:t>              [</ns1:t>
            </ns1:r>
          </ns1:p>
          <ns1:p>
            <ns1:r>
              <ns1:t>                -50.79037642370106,</ns1:t>
            </ns1:r>
          </ns1:p>
          <ns1:p>
            <ns1:r>
              <ns1:t>                -37.32439103150592,</ns1:t>
            </ns1:r>
          </ns1:p>
          <ns1:p>
            <ns1:r>
              <ns1:t>                -83.93567686677497</ns1:t>
            </ns1:r>
          </ns1:p>
          <ns1:p>
            <ns1:r>
              <ns1:t>              ],</ns1:t>
            </ns1:r>
          </ns1:p>
          <ns1:p>
            <ns1:r>
              <ns1:t>              [</ns1:t>
            </ns1:r>
          </ns1:p>
          <ns1:p>
            <ns1:r>
              <ns1:t>                31.327303982615962,</ns1:t>
            </ns1:r>
          </ns1:p>
          <ns1:p>
            <ns1:r>
              <ns1:t>                76.59300962963935,</ns1:t>
            </ns1:r>
          </ns1:p>
          <ns1:p>
            <ns1:r>
              <ns1:t>                44.93368794030513</ns1:t>
            </ns1:r>
          </ns1:p>
          <ns1:p>
            <ns1:r>
              <ns1:t>              ]</ns1:t>
            </ns1:r>
          </ns1:p>
          <ns1:p>
            <ns1:r>
              <ns1:t>            ]</ns1:t>
            </ns1:r>
          </ns1:p>
          <ns1:p>
            <ns1:r>
              <ns1:t>          }</ns1:t>
            </ns1:r>
          </ns1:p>
          <ns1:p>
            <ns1:r>
              <ns1:t>        },</ns1:t>
            </ns1:r>
          </ns1:p>
          <ns1:p>
            <ns1:r>
              <ns1:t>        "shared_camera": [</ns1:t>
            </ns1:r>
          </ns1:p>
          <ns1:p>
            <ns1:r>
              <ns1:t>          1,</ns1:t>
            </ns1:r>
          </ns1:p>
          <ns1:p>
            <ns1:r>
              <ns1:t>          0,</ns1:t>
            </ns1:r>
          </ns1:p>
          <ns1:p>
            <ns1:r>
              <ns1:t>          0,</ns1:t>
            </ns1:r>
          </ns1:p>
          <ns1:p>
            <ns1:r>
              <ns1:t>          0,</ns1:t>
            </ns1:r>
          </ns1:p>
          <ns1:p>
            <ns1:r>
              <ns1:t>          1,</ns1:t>
            </ns1:r>
          </ns1:p>
          <ns1:p>
            <ns1:r>
              <ns1:t>          0,</ns1:t>
            </ns1:r>
          </ns1:p>
          <ns1:p>
            <ns1:r>
              <ns1:t>          0,</ns1:t>
            </ns1:r>
          </ns1:p>
          <ns1:p>
            <ns1:r>
              <ns1:t>          0,</ns1:t>
            </ns1:r>
          </ns1:p>
          <ns1:p>
            <ns1:r>
              <ns1:t>          1,</ns1:t>
            </ns1:r>
          </ns1:p>
          <ns1:p>
            <ns1:r>
              <ns1:t>          0,</ns1:t>
            </ns1:r>
          </ns1:p>
          <ns1:p>
            <ns1:r>
              <ns1:t>          0,</ns1:t>
            </ns1:r>
          </ns1:p>
          <ns1:p>
            <ns1:r>
              <ns1:t>          -387.31532217548994,</ns1:t>
            </ns1:r>
          </ns1:p>
          <ns1:p>
            <ns1:r>
              <ns1:t>          -9.73153622054255,</ns1:t>
            </ns1:r>
          </ns1:p>
          <ns1:p>
            <ns1:r>
              <ns1:t>          19.634309299066718,</ns1:t>
            </ns1:r>
          </ns1:p>
          <ns1:p>
            <ns1:r>
              <ns1:t>          -19.50099446323492,</ns1:t>
            </ns1:r>
          </ns1:p>
          <ns1:p>
            <ns1:r>
              <ns1:t>          307.88063977194986,</ns1:t>
            </ns1:r>
          </ns1:p>
          <ns1:p>
            <ns1:r>
              <ns1:t>          466.75000457903,</ns1:t>
            </ns1:r>
          </ns1:p>
          <ns1:p>
            <ns1:r>
              <ns1:t>          -20</ns1:t>
            </ns1:r>
          </ns1:p>
          <ns1:p>
            <ns1:r>
              <ns1:t>        ],</ns1:t>
            </ns1:r>
          </ns1:p>
          <ns1:p>
            <ns1:r>
              <ns1:t>        "reference": "Separate saved Exact parent complexes flank the linked Exact refold; AP Novo linked design comparison remains on the following slide. Rigid display alignment preserves native poses; all native receptor residues shown."</ns1:t>
            </ns1:r>
          </ns1:p>
          <ns1:p>
            <ns1:r>
              <ns1:t>      }</ns1:t>
            </ns1:r>
          </ns1:p>
          <ns1:p>
            <ns1:r>
              <ns1:t>    },</ns1:t>
            </ns1:r>
          </ns1:p>
          <ns1:p>
            <ns1:r>
              <ns1:t>    "display": "unchanged embedded JPEGs extracted from hash-verified delivered25-design PPTX; no resampling, cropping or new coordinate transforms",</ns1:t>
            </ns1:r>
          </ns1:p>
          <ns1:p>
            <ns1:r>
              <ns1:t>    "scale": "full complex and interface have different zooms; no matched-scale claim",</ns1:t>
            </ns1:r>
          </ns1:p>
          <ns1:p>
            <ns1:r>
              <ns1:t>    "hotspots": "black sticks; original27pocket positions for original LigandForge, R40/Q37/E34 annotations for DLD",</ns1:t>
            </ns1:r>
          </ns1:p>
          <ns1:p>
            <ns1:r>
              <ns1:t>    "colors": {</ns1:t>
            </ns1:r>
          </ns1:p>
          <ns1:p>
            <ns1:r>
              <ns1:t>      "LigandForge": "#E69F00",</ns1:t>
            </ns1:r>
          </ns1:p>
          <ns1:p>
            <ns1:r>
              <ns1:t>      "linker": "#AA4499",</ns1:t>
            </ns1:r>
          </ns1:p>
          <ns1:p>
            <ns1:r>
              <ns1:t>      "ECD_binder": "#0072B2",</ns1:t>
            </ns1:r>
          </ns1:p>
          <ns1:p>
            <ns1:r>
              <ns1:t>      "receptor_ECD": "#009E73",</ns1:t>
            </ns1:r>
          </ns1:p>
          <ns1:p>
            <ns1:r>
              <ns1:t>      "receptor_remainder": "#9AA5B1",</ns1:t>
            </ns1:r>
          </ns1:p>
          <ns1:p>
            <ns1:r>
              <ns1:t>      "hotspots": "#000000"</ns1:t>
            </ns1:r>
          </ns1:p>
          <ns1:p>
            <ns1:r>
              <ns1:t>    }</ns1:t>
            </ns1:r>
          </ns1:p>
          <ns1:p>
            <ns1:r>
              <ns1:t>  },</ns1:t>
            </ns1:r>
          </ns1:p>
          <ns1:p>
            <ns1:r>
              <ns1:t>  "source_deck": "local/2026-10-25_affinity-confidence-selection-deck_002/output/GLP1R_Selected_ipSAE_gt0p895_Kd_lt10nM_v3.pptx",</ns1:t>
            </ns1:r>
          </ns1:p>
          <ns1:p>
            <ns1:r>
              <ns1:t>  "source_deck_sha256": "ad9333fdf6c0ce7d6982e2980d6aade78af256710dbc7917f7f39e41d35aa173",</ns1:t>
            </ns1:r>
          </ns1:p>
          <ns1:p>
            <ns1:r>
              <ns1:t>  "domain_labels": "ECD A1-20  linker A21-44  LF A45-113",</ns1:t>
            </ns1:r>
          </ns1:p>
          <ns1:p>
            <ns1:r>
              <ns1:t>  "display_scope": "native Exact complex and saved interface view; same identity colors, independent zooms; no new coordinates or inferred agonism"</ns1:t>
            </ns1:r>
          </ns1:p>
          <ns1:p>
            <ns1:r>
              <ns1:t>}</ns1:t>
            </ns1:r>
          </ns1:p>
        </ns0:txBody>
      </ns0:sp>
      <ns0:sp>
        <ns0:nvSpPr>
          <ns0:cNvPr id="4" name="Slide Number Placeholder 3"/>
          <ns0:cNvSpPr>
            <ns1:spLocks noGrp="1"/>
          </ns0:cNvSpPr>
          <ns0:nvPr>
            <ns0:ph type="sldNum" idx="5"/>
          </ns0:nvPr>
        </ns0:nvSpPr>
        <ns0:spPr/>
        <ns0:txBody>
          <ns1:bodyPr/>
          <ns1:lstStyle/>
          <ns1:p/>
        </ns0:txBody>
      </ns0:sp>
    </ns0:spTree>
  </ns0:cSld>
  <ns0:clrMapOvr>
    <ns1:masterClrMapping/>
  </ns0:clrMapOvr>
</ns0:notes>
</file>

<file path=ppt/notesSlides/notesSlide7.xml><?xml version="1.0" encoding="utf-8"?>
<ns0:notes xmlns:ns0="http://schemas.openxmlformats.org/presentationml/2006/main" xmlns:ns1="http://schemas.openxmlformats.org/drawingml/2006/main">
  <ns0:cSld>
    <ns0:spTree>
      <ns0:nvGrpSpPr>
        <ns0:cNvPr id="1" name=""/>
        <ns0:cNvGrpSpPr/>
        <ns0:nvPr/>
      </ns0:nvGrpSpPr>
      <ns0:grpSpPr>
        <ns1:xfrm/>
      </ns0:grpSpPr>
      <ns0:sp>
        <ns0:nvSpPr>
          <ns0:cNvPr id="2" name="Slide Image Placeholder 1"/>
          <ns0:cNvSpPr>
            <ns1:spLocks noGrp="1"/>
          </ns0:cNvSpPr>
          <ns0:nvPr>
            <ns0:ph type="sldImg" idx="0"/>
          </ns0:nvPr>
        </ns0:nvSpPr>
        <ns0:spPr/>
      </ns0:sp>
      <ns0:sp>
        <ns0:nvSpPr>
          <ns0:cNvPr id="3" name="Notes Placeholder 2"/>
          <ns0:cNvSpPr>
            <ns1:spLocks noGrp="1"/>
          </ns0:cNvSpPr>
          <ns0:nvPr>
            <ns0:ph type="body" idx="1"/>
          </ns0:nvPr>
        </ns0:nvSpPr>
        <ns0:spPr/>
        <ns0:txBody>
          <ns1:bodyPr/>
          <ns1:lstStyle/>
          <ns1:p>
            <ns1:r>
              <ns1:t>{</ns1:t>
            </ns1:r>
          </ns1:p>
          <ns1:p>
            <ns1:r>
              <ns1:t>  "candidate": "Design_520",</ns1:t>
            </ns1:r>
          </ns1:p>
          <ns1:p>
            <ns1:r>
              <ns1:t>  "final_rank": 4,</ns1:t>
            </ns1:r>
          </ns1:p>
          <ns1:p>
            <ns1:r>
              <ns1:t>  "selection": "Exact ipSAE&gt;0.895 and DeltaForge predicted Kd&lt;10nM; first20 by Exact ipSAE descending",</ns1:t>
            </ns1:r>
          </ns1:p>
          <ns1:p>
            <ns1:r>
              <ns1:t>  "sequence_sha256": "ae559fd47bdf75d2732e9a5bc4287501465abf222f0ac9fc466db9ad5c4ca41e",</ns1:t>
            </ns1:r>
          </ns1:p>
          <ns1:p>
            <ns1:r>
              <ns1:t>  "sources": {</ns1:t>
            </ns1:r>
          </ns1:p>
          <ns1:p>
            <ns1:r>
              <ns1:t>    "source_table": {</ns1:t>
            </ns1:r>
          </ns1:p>
          <ns1:p>
            <ns1:r>
              <ns1:t>      "path": "local/2026-10-25_lf50-dld26-50-deltaforge_001/output/GLP1R_LigandForge_Original_Top50_DeltaForge_Kd.csv",</ns1:t>
            </ns1:r>
          </ns1:p>
          <ns1:p>
            <ns1:r>
              <ns1:t>      "sha256": "da4de8915b1ca76443882c0651920ddd9551839d0d75a5b18b8b1ff4653b0360"</ns1:t>
            </ns1:r>
          </ns1:p>
          <ns1:p>
            <ns1:r>
              <ns1:t>    },</ns1:t>
            </ns1:r>
          </ns1:p>
          <ns1:p>
            <ns1:r>
              <ns1:t>    "native_cif": {</ns1:t>
            </ns1:r>
          </ns1:p>
          <ns1:p>
            <ns1:r>
              <ns1:t>      "path": "campaigns/glp1r-ligandforge-boltz2-exact/runs/2026-10-15_ligandforge-exact_001/02_design/chunks/batch-020/kit_outputs/by_seed/Design_520/s101/Design_520_model_0.cif",</ns1:t>
            </ns1:r>
          </ns1:p>
          <ns1:p>
            <ns1:r>
              <ns1:t>      "sha256": "7fd320306aed5a85641570722ff84cd462fda1083c04fdfed46a84d7dba53376"</ns1:t>
            </ns1:r>
          </ns1:p>
          <ns1:p>
            <ns1:r>
              <ns1:t>    },</ns1:t>
            </ns1:r>
          </ns1:p>
          <ns1:p>
            <ns1:r>
              <ns1:t>    "scoring_pdb": {</ns1:t>
            </ns1:r>
          </ns1:p>
          <ns1:p>
            <ns1:r>
              <ns1:t>      "path": "local/2026-10-25_lf50-dld26-50-deltaforge_001/LF_Design_520.pdb",</ns1:t>
            </ns1:r>
          </ns1:p>
          <ns1:p>
            <ns1:r>
              <ns1:t>      "sha256": "07fe8c2c25386e5bf495c2ebb636fcbaa6c4072673b2465beed511921dbf4beb"</ns1:t>
            </ns1:r>
          </ns1:p>
          <ns1:p>
            <ns1:r>
              <ns1:t>    },</ns1:t>
            </ns1:r>
          </ns1:p>
          <ns1:p>
            <ns1:r>
              <ns1:t>    "DeltaForge_result": {</ns1:t>
            </ns1:r>
          </ns1:p>
          <ns1:p>
            <ns1:r>
              <ns1:t>      "path": "campaigns/glp1r-ligandforge-affinity/runs/2026-10-16_top5-deltaforge_001/03_filtering/deltaforge_results/Design_520.json",</ns1:t>
            </ns1:r>
          </ns1:p>
          <ns1:p>
            <ns1:r>
              <ns1:t>      "sha256": "aad99b27b0288e9425d12fae48783b51e035db03ab237f48150664ab3007a5c3"</ns1:t>
            </ns1:r>
          </ns1:p>
          <ns1:p>
            <ns1:r>
              <ns1:t>    }</ns1:t>
            </ns1:r>
          </ns1:p>
          <ns1:p>
            <ns1:r>
              <ns1:t>  },</ns1:t>
            </ns1:r>
          </ns1:p>
          <ns1:p>
            <ns1:r>
              <ns1:t>  "source_ledger": "campaigns/glp1r-final-writeup/runs/2026-10-25_final20-writeup_001/04_analysis/provenance-ledger.json",</ns1:t>
            </ns1:r>
          </ns1:p>
          <ns1:p>
            <ns1:r>
              <ns1:t>  "scorer": "deltaforge_v10_2_unified_parallel / v10_2_unified_parallel_2026_05_08",</ns1:t>
            </ns1:r>
          </ns1:p>
          <ns1:p>
            <ns1:r>
              <ns1:t>  "calibration": "deltaforge_v10_boltz2_calibrated_gbr / v10_boltz2_gbr_2026_03_29",</ns1:t>
            </ns1:r>
          </ns1:p>
          <ns1:p>
            <ns1:r>
              <ns1:t>  "scope": "one complete candidate A against one receptor B; computational, no experimental Kd or activation"</ns1:t>
            </ns1:r>
          </ns1:p>
          <ns1:p>
            <ns1:r>
              <ns1:t>}</ns1:t>
            </ns1:r>
          </ns1:p>
        </ns0:txBody>
      </ns0:sp>
      <ns0:sp>
        <ns0:nvSpPr>
          <ns0:cNvPr id="4" name="Slide Number Placeholder 3"/>
          <ns0:cNvSpPr>
            <ns1:spLocks noGrp="1"/>
          </ns0:cNvSpPr>
          <ns0:nvPr>
            <ns0:ph type="sldNum" idx="5"/>
          </ns0:nvPr>
        </ns0:nvSpPr>
        <ns0:spPr/>
        <ns0:txBody>
          <ns1:bodyPr/>
          <ns1:lstStyle/>
          <ns1:p/>
        </ns0:txBody>
      </ns0:sp>
    </ns0:spTree>
  </ns0:cSld>
  <ns0:clrMapOvr>
    <ns1:masterClrMapping/>
  </ns0:clrMapOvr>
</ns0:notes>
</file>

<file path=ppt/notesSlides/notesSlide8.xml><?xml version="1.0" encoding="utf-8"?>
<ns0:notes xmlns:ns0="http://schemas.openxmlformats.org/presentationml/2006/main" xmlns:ns1="http://schemas.openxmlformats.org/drawingml/2006/main">
  <ns0:cSld>
    <ns0:spTree>
      <ns0:nvGrpSpPr>
        <ns0:cNvPr id="1" name=""/>
        <ns0:cNvGrpSpPr/>
        <ns0:nvPr/>
      </ns0:nvGrpSpPr>
      <ns0:grpSpPr>
        <ns1:xfrm/>
      </ns0:grpSpPr>
      <ns0:sp>
        <ns0:nvSpPr>
          <ns0:cNvPr id="2" name="Slide Image Placeholder 1"/>
          <ns0:cNvSpPr>
            <ns1:spLocks noGrp="1"/>
          </ns0:cNvSpPr>
          <ns0:nvPr>
            <ns0:ph type="sldImg" idx="0"/>
          </ns0:nvPr>
        </ns0:nvSpPr>
        <ns0:spPr/>
      </ns0:sp>
      <ns0:sp>
        <ns0:nvSpPr>
          <ns0:cNvPr id="3" name="Notes Placeholder 2"/>
          <ns0:cNvSpPr>
            <ns1:spLocks noGrp="1"/>
          </ns0:cNvSpPr>
          <ns0:nvPr>
            <ns0:ph type="body" idx="1"/>
          </ns0:nvPr>
        </ns0:nvSpPr>
        <ns0:spPr/>
        <ns0:txBody>
          <ns1:bodyPr/>
          <ns1:lstStyle/>
          <ns1:p>
            <ns1:r>
              <ns1:t>{</ns1:t>
            </ns1:r>
          </ns1:p>
          <ns1:p>
            <ns1:r>
              <ns1:t>  "candidate": "Design_520",</ns1:t>
            </ns1:r>
          </ns1:p>
          <ns1:p>
            <ns1:r>
              <ns1:t>  "final_rank": 4,</ns1:t>
            </ns1:r>
          </ns1:p>
          <ns1:p>
            <ns1:r>
              <ns1:t>  "native_model_sha256": "7fd320306aed5a85641570722ff84cd462fda1083c04fdfed46a84d7dba53376",</ns1:t>
            </ns1:r>
          </ns1:p>
          <ns1:p>
            <ns1:r>
              <ns1:t>  "structure_views": {</ns1:t>
            </ns1:r>
          </ns1:p>
          <ns1:p>
            <ns1:r>
              <ns1:t>    "final_rank": 4,</ns1:t>
            </ns1:r>
          </ns1:p>
          <ns1:p>
            <ns1:r>
              <ns1:t>    "design_id": "Design_520",</ns1:t>
            </ns1:r>
          </ns1:p>
          <ns1:p>
            <ns1:r>
              <ns1:t>    "sequence_sha256": "ae559fd47bdf75d2732e9a5bc4287501465abf222f0ac9fc466db9ad5c4ca41e",</ns1:t>
            </ns1:r>
          </ns1:p>
          <ns1:p>
            <ns1:r>
              <ns1:t>    "native_model_sha256": "7fd320306aed5a85641570722ff84cd462fda1083c04fdfed46a84d7dba53376",</ns1:t>
            </ns1:r>
          </ns1:p>
          <ns1:p>
            <ns1:r>
              <ns1:t>    "scoring_pdb_sha256": "07fe8c2c25386e5bf495c2ebb636fcbaa6c4072673b2465beed511921dbf4beb",</ns1:t>
            </ns1:r>
          </ns1:p>
          <ns1:p>
            <ns1:r>
              <ns1:t>    "overview": {</ns1:t>
            </ns1:r>
          </ns1:p>
          <ns1:p>
            <ns1:r>
              <ns1:t>      "source_slide": 5,</ns1:t>
            </ns1:r>
          </ns1:p>
          <ns1:p>
            <ns1:r>
              <ns1:t>      "source_picture_index": 0,</ns1:t>
            </ns1:r>
          </ns1:p>
          <ns1:p>
            <ns1:r>
              <ns1:t>      "embedded_media": "ppt/media/image.jpeg",</ns1:t>
            </ns1:r>
          </ns1:p>
          <ns1:p>
            <ns1:r>
              <ns1:t>      "image_sha256": "0d41f35b8444dc0116696ad1c5c711f6d4a71d6ac6a6cb585d1bd8dbe6be43ff",</ns1:t>
            </ns1:r>
          </ns1:p>
          <ns1:p>
            <ns1:r>
              <ns1:t>      "asset": "assets/Design_520-complex.jpg"</ns1:t>
            </ns1:r>
          </ns1:p>
          <ns1:p>
            <ns1:r>
              <ns1:t>    },</ns1:t>
            </ns1:r>
          </ns1:p>
          <ns1:p>
            <ns1:r>
              <ns1:t>    "interface": {</ns1:t>
            </ns1:r>
          </ns1:p>
          <ns1:p>
            <ns1:r>
              <ns1:t>      "source_slide": 5,</ns1:t>
            </ns1:r>
          </ns1:p>
          <ns1:p>
            <ns1:r>
              <ns1:t>      "source_picture_index": 1,</ns1:t>
            </ns1:r>
          </ns1:p>
          <ns1:p>
            <ns1:r>
              <ns1:t>      "embedded_media": "ppt/media/image2.jpeg",</ns1:t>
            </ns1:r>
          </ns1:p>
          <ns1:p>
            <ns1:r>
              <ns1:t>      "image_sha256": "7b5497f9e371f15fec80f1199583afef8944f775c3a4f9d2fe275df07139cb0a",</ns1:t>
            </ns1:r>
          </ns1:p>
          <ns1:p>
            <ns1:r>
              <ns1:t>      "asset": "assets/Design_520-interface.jpg"</ns1:t>
            </ns1:r>
          </ns1:p>
          <ns1:p>
            <ns1:r>
              <ns1:t>    },</ns1:t>
            </ns1:r>
          </ns1:p>
          <ns1:p>
            <ns1:r>
              <ns1:t>    "rendering_provenance": {</ns1:t>
            </ns1:r>
          </ns1:p>
          <ns1:p>
            <ns1:r>
              <ns1:t>      "source_PDB": "campaigns/glp1r-ligandforge-affinity/runs/2026-10-15_top100-affinity_001/01_staging/payload/pdb_inputs/Design_520.pdb",</ns1:t>
            </ns1:r>
          </ns1:p>
          <ns1:p>
            <ns1:r>
              <ns1:t>      "PDB_SHA256": "07fe8c2c25386e5bf495c2ebb636fcbaa6c4072673b2465beed511921dbf4beb",</ns1:t>
            </ns1:r>
          </ns1:p>
          <ns1:p>
            <ns1:r>
              <ns1:t>      "model_SHA256": "7fd320306aed5a85641570722ff84cd462fda1083c04fdfed46a84d7dba53376",</ns1:t>
            </ns1:r>
          </ns1:p>
          <ns1:p>
            <ns1:r>
              <ns1:t>      "source_render_script": "local/2026-10-25_affinity-confidence-selection-deck_002/render_originals.py",</ns1:t>
            </ns1:r>
          </ns1:p>
          <ns1:p>
            <ns1:r>
              <ns1:t>      "alignment": "rigid core CA B117-400 fitting; original full/interface zooms reused",</ns1:t>
            </ns1:r>
          </ns1:p>
          <ns1:p>
            <ns1:r>
              <ns1:t>      "camera_version": "saved original full and interface frames from final90-slide deck"</ns1:t>
            </ns1:r>
          </ns1:p>
          <ns1:p>
            <ns1:r>
              <ns1:t>    },</ns1:t>
            </ns1:r>
          </ns1:p>
          <ns1:p>
            <ns1:r>
              <ns1:t>    "display": "unchanged embedded JPEGs extracted from hash-verified delivered25-design PPTX; no resampling, cropping or new coordinate transforms",</ns1:t>
            </ns1:r>
          </ns1:p>
          <ns1:p>
            <ns1:r>
              <ns1:t>    "scale": "full complex and interface have different zooms; no matched-scale claim",</ns1:t>
            </ns1:r>
          </ns1:p>
          <ns1:p>
            <ns1:r>
              <ns1:t>    "hotspots": "black sticks; original27pocket positions for original LigandForge, R40/Q37/E34 annotations for DLD",</ns1:t>
            </ns1:r>
          </ns1:p>
          <ns1:p>
            <ns1:r>
              <ns1:t>    "colors": {</ns1:t>
            </ns1:r>
          </ns1:p>
          <ns1:p>
            <ns1:r>
              <ns1:t>      "LigandForge": "#E69F00",</ns1:t>
            </ns1:r>
          </ns1:p>
          <ns1:p>
            <ns1:r>
              <ns1:t>      "linker": "#AA4499",</ns1:t>
            </ns1:r>
          </ns1:p>
          <ns1:p>
            <ns1:r>
              <ns1:t>      "ECD_binder": "#0072B2",</ns1:t>
            </ns1:r>
          </ns1:p>
          <ns1:p>
            <ns1:r>
              <ns1:t>      "receptor_ECD": "#009E73",</ns1:t>
            </ns1:r>
          </ns1:p>
          <ns1:p>
            <ns1:r>
              <ns1:t>      "receptor_remainder": "#9AA5B1",</ns1:t>
            </ns1:r>
          </ns1:p>
          <ns1:p>
            <ns1:r>
              <ns1:t>      "hotspots": "#000000"</ns1:t>
            </ns1:r>
          </ns1:p>
          <ns1:p>
            <ns1:r>
              <ns1:t>    }</ns1:t>
            </ns1:r>
          </ns1:p>
          <ns1:p>
            <ns1:r>
              <ns1:t>  },</ns1:t>
            </ns1:r>
          </ns1:p>
          <ns1:p>
            <ns1:r>
              <ns1:t>  "source_deck": "local/2026-10-25_affinity-confidence-selection-deck_002/output/GLP1R_Selected_ipSAE_gt0p895_Kd_lt10nM_v3.pptx",</ns1:t>
            </ns1:r>
          </ns1:p>
          <ns1:p>
            <ns1:r>
              <ns1:t>  "source_deck_sha256": "ad9333fdf6c0ce7d6982e2980d6aade78af256710dbc7917f7f39e41d35aa173",</ns1:t>
            </ns1:r>
          </ns1:p>
          <ns1:p>
            <ns1:r>
              <ns1:t>  "domain_labels": "LigandForge A1-53",</ns1:t>
            </ns1:r>
          </ns1:p>
          <ns1:p>
            <ns1:r>
              <ns1:t>  "display_scope": "native Exact complex and saved interface view; same identity colors, independent zooms; no new coordinates or inferred agonism"</ns1:t>
            </ns1:r>
          </ns1:p>
          <ns1:p>
            <ns1:r>
              <ns1:t>}</ns1:t>
            </ns1:r>
          </ns1:p>
        </ns0:txBody>
      </ns0:sp>
      <ns0:sp>
        <ns0:nvSpPr>
          <ns0:cNvPr id="4" name="Slide Number Placeholder 3"/>
          <ns0:cNvSpPr>
            <ns1:spLocks noGrp="1"/>
          </ns0:cNvSpPr>
          <ns0:nvPr>
            <ns0:ph type="sldNum" idx="5"/>
          </ns0:nvPr>
        </ns0:nvSpPr>
        <ns0:spPr/>
        <ns0:txBody>
          <ns1:bodyPr/>
          <ns1:lstStyle/>
          <ns1:p/>
        </ns0:txBody>
      </ns0:sp>
    </ns0:spTree>
  </ns0:cSld>
  <ns0:clrMapOvr>
    <ns1:masterClrMapping/>
  </ns0:clrMapOvr>
</ns0:notes>
</file>

<file path=ppt/notesSlides/notesSlide9.xml><?xml version="1.0" encoding="utf-8"?>
<ns0:notes xmlns:ns0="http://schemas.openxmlformats.org/presentationml/2006/main" xmlns:ns1="http://schemas.openxmlformats.org/drawingml/2006/main">
  <ns0:cSld>
    <ns0:spTree>
      <ns0:nvGrpSpPr>
        <ns0:cNvPr id="1" name=""/>
        <ns0:cNvGrpSpPr/>
        <ns0:nvPr/>
      </ns0:nvGrpSpPr>
      <ns0:grpSpPr>
        <ns1:xfrm/>
      </ns0:grpSpPr>
      <ns0:sp>
        <ns0:nvSpPr>
          <ns0:cNvPr id="2" name="Slide Image Placeholder 1"/>
          <ns0:cNvSpPr>
            <ns1:spLocks noGrp="1"/>
          </ns0:cNvSpPr>
          <ns0:nvPr>
            <ns0:ph type="sldImg" idx="0"/>
          </ns0:nvPr>
        </ns0:nvSpPr>
        <ns0:spPr/>
      </ns0:sp>
      <ns0:sp>
        <ns0:nvSpPr>
          <ns0:cNvPr id="3" name="Notes Placeholder 2"/>
          <ns0:cNvSpPr>
            <ns1:spLocks noGrp="1"/>
          </ns0:cNvSpPr>
          <ns0:nvPr>
            <ns0:ph type="body" idx="1"/>
          </ns0:nvPr>
        </ns0:nvSpPr>
        <ns0:spPr/>
        <ns0:txBody>
          <ns1:bodyPr/>
          <ns1:lstStyle/>
          <ns1:p>
            <ns1:r>
              <ns1:t>{</ns1:t>
            </ns1:r>
          </ns1:p>
          <ns1:p>
            <ns1:r>
              <ns1:t>  "candidate": "LK_P088_08",</ns1:t>
            </ns1:r>
          </ns1:p>
          <ns1:p>
            <ns1:r>
              <ns1:t>  "final_rank": 5,</ns1:t>
            </ns1:r>
          </ns1:p>
          <ns1:p>
            <ns1:r>
              <ns1:t>  "selection": "Exact ipSAE&gt;0.895 and DeltaForge predicted Kd&lt;10nM; first20 by Exact ipSAE descending",</ns1:t>
            </ns1:r>
          </ns1:p>
          <ns1:p>
            <ns1:r>
              <ns1:t>  "sequence_sha256": "00df1a9681ade9f2d68bf7e6084ab615f661498a6b613a69c5c8e573bb9fc5b8",</ns1:t>
            </ns1:r>
          </ns1:p>
          <ns1:p>
            <ns1:r>
              <ns1:t>  "sources": {</ns1:t>
            </ns1:r>
          </ns1:p>
          <ns1:p>
            <ns1:r>
              <ns1:t>    "source_table": {</ns1:t>
            </ns1:r>
          </ns1:p>
          <ns1:p>
            <ns1:r>
              <ns1:t>      "path": "local/2026-10-25_lf50-dld26-50-deltaforge_001/output/GLP1R_DLD_Top50_DeltaForge_Kd_and_Boltz2_Metrics.csv",</ns1:t>
            </ns1:r>
          </ns1:p>
          <ns1:p>
            <ns1:r>
              <ns1:t>      "sha256": "da9569bf0e8b74cce3d6792eb260d6a4b17b35e6f46e0793d49f02c0d3a0e728"</ns1:t>
            </ns1:r>
          </ns1:p>
          <ns1:p>
            <ns1:r>
              <ns1:t>    },</ns1:t>
            </ns1:r>
          </ns1:p>
          <ns1:p>
            <ns1:r>
              <ns1:t>    "native_cif": {</ns1:t>
            </ns1:r>
          </ns1:p>
          <ns1:p>
            <ns1:r>
              <ns1:t>      "path": "local/2026-10-25_linker-top100-review_001/models/LK_P088_08/boltz2.cif",</ns1:t>
            </ns1:r>
          </ns1:p>
          <ns1:p>
            <ns1:r>
              <ns1:t>      "sha256": "f96dc2a804c24cfdd89333ea654759c4338d783d7cd824bf3eac52c9b1e596cb"</ns1:t>
            </ns1:r>
          </ns1:p>
          <ns1:p>
            <ns1:r>
              <ns1:t>    },</ns1:t>
            </ns1:r>
          </ns1:p>
          <ns1:p>
            <ns1:r>
              <ns1:t>    "scoring_pdb": {</ns1:t>
            </ns1:r>
          </ns1:p>
          <ns1:p>
            <ns1:r>
              <ns1:t>      "path": "local/2026-10-25_dld-top25-deltaforge_001/payload/structures/LK_P088_08.pdb",</ns1:t>
            </ns1:r>
          </ns1:p>
          <ns1:p>
            <ns1:r>
              <ns1:t>      "sha256": "cd9a4b745d9b42a929bcc916ea5e4a624933d81ddf3c5a07f4b7eb7aca8b6cb0"</ns1:t>
            </ns1:r>
          </ns1:p>
          <ns1:p>
            <ns1:r>
              <ns1:t>    },</ns1:t>
            </ns1:r>
          </ns1:p>
          <ns1:p>
            <ns1:r>
              <ns1:t>    "DeltaForge_result": {</ns1:t>
            </ns1:r>
          </ns1:p>
          <ns1:p>
            <ns1:r>
              <ns1:t>      "path": "campaigns/glp1r-r40-design/runs/2026-10-25_dld-top25-deltaforge_001/03_filtering/deltaforge_results/LK_P088_08.json",</ns1:t>
            </ns1:r>
          </ns1:p>
          <ns1:p>
            <ns1:r>
              <ns1:t>      "sha256": "100facae74ec7dc951739cd0b09f1238ff337e4833607c56369d2e17f3cb7119"</ns1:t>
            </ns1:r>
          </ns1:p>
          <ns1:p>
            <ns1:r>
              <ns1:t>    }</ns1:t>
            </ns1:r>
          </ns1:p>
          <ns1:p>
            <ns1:r>
              <ns1:t>  },</ns1:t>
            </ns1:r>
          </ns1:p>
          <ns1:p>
            <ns1:r>
              <ns1:t>  "source_ledger": "campaigns/glp1r-final-writeup/runs/2026-10-25_final20-writeup_001/04_analysis/provenance-ledger.json",</ns1:t>
            </ns1:r>
          </ns1:p>
          <ns1:p>
            <ns1:r>
              <ns1:t>  "scorer": "deltaforge_v10_2_unified_parallel / v10_2_unified_parallel_2026_05_08",</ns1:t>
            </ns1:r>
          </ns1:p>
          <ns1:p>
            <ns1:r>
              <ns1:t>  "calibration": "deltaforge_v10_boltz2_calibrated_gbr / v10_boltz2_gbr_2026_03_29",</ns1:t>
            </ns1:r>
          </ns1:p>
          <ns1:p>
            <ns1:r>
              <ns1:t>  "scope": "one complete candidate A against one receptor B; computational, no experimental Kd or activation"</ns1:t>
            </ns1:r>
          </ns1:p>
          <ns1:p>
            <ns1:r>
              <ns1:t>}</ns1:t>
            </ns1:r>
          </ns1:p>
        </ns0:txBody>
      </ns0:sp>
      <ns0:sp>
        <ns0:nvSpPr>
          <ns0:cNvPr id="4" name="Slide Number Placeholder 3"/>
          <ns0:cNvSpPr>
            <ns1:spLocks noGrp="1"/>
          </ns0:cNvSpPr>
          <ns0:nvPr>
            <ns0:ph type="sldNum" idx="5"/>
          </ns0:nvPr>
        </ns0:nvSpPr>
        <ns0:spPr/>
        <ns0:txBody>
          <ns1:bodyPr/>
          <ns1:lstStyle/>
          <ns1:p/>
        </ns0:txBody>
      </ns0:sp>
    </ns0:spTree>
  </ns0:cSld>
  <ns0:clrMapOvr>
    <ns1:masterClrMapping/>
  </ns0:clrMapOvr>
</ns0:notes>
</file>

<file path=ppt/notesSlides/notesSlide10.xml><?xml version="1.0" encoding="utf-8"?>
<ns0:notes xmlns:ns0="http://schemas.openxmlformats.org/presentationml/2006/main" xmlns:ns1="http://schemas.openxmlformats.org/drawingml/2006/main">
  <ns0:cSld>
    <ns0:spTree>
      <ns0:nvGrpSpPr>
        <ns0:cNvPr id="1" name=""/>
        <ns0:cNvGrpSpPr/>
        <ns0:nvPr/>
      </ns0:nvGrpSpPr>
      <ns0:grpSpPr>
        <ns1:xfrm/>
      </ns0:grpSpPr>
      <ns0:sp>
        <ns0:nvSpPr>
          <ns0:cNvPr id="2" name="Slide Image Placeholder 1"/>
          <ns0:cNvSpPr>
            <ns1:spLocks noGrp="1"/>
          </ns0:cNvSpPr>
          <ns0:nvPr>
            <ns0:ph type="sldImg" idx="0"/>
          </ns0:nvPr>
        </ns0:nvSpPr>
        <ns0:spPr/>
      </ns0:sp>
      <ns0:sp>
        <ns0:nvSpPr>
          <ns0:cNvPr id="3" name="Notes Placeholder 2"/>
          <ns0:cNvSpPr>
            <ns1:spLocks noGrp="1"/>
          </ns0:cNvSpPr>
          <ns0:nvPr>
            <ns0:ph type="body" idx="1"/>
          </ns0:nvPr>
        </ns0:nvSpPr>
        <ns0:spPr/>
        <ns0:txBody>
          <ns1:bodyPr/>
          <ns1:lstStyle/>
          <ns1:p>
            <ns1:r>
              <ns1:t>{</ns1:t>
            </ns1:r>
          </ns1:p>
          <ns1:p>
            <ns1:r>
              <ns1:t>  "candidate": "LK_P088_08",</ns1:t>
            </ns1:r>
          </ns1:p>
          <ns1:p>
            <ns1:r>
              <ns1:t>  "final_rank": 5,</ns1:t>
            </ns1:r>
          </ns1:p>
          <ns1:p>
            <ns1:r>
              <ns1:t>  "native_model_sha256": "f96dc2a804c24cfdd89333ea654759c4338d783d7cd824bf3eac52c9b1e596cb",</ns1:t>
            </ns1:r>
          </ns1:p>
          <ns1:p>
            <ns1:r>
              <ns1:t>  "structure_views": {</ns1:t>
            </ns1:r>
          </ns1:p>
          <ns1:p>
            <ns1:r>
              <ns1:t>    "final_rank": 5,</ns1:t>
            </ns1:r>
          </ns1:p>
          <ns1:p>
            <ns1:r>
              <ns1:t>    "design_id": "LK_P088_08",</ns1:t>
            </ns1:r>
          </ns1:p>
          <ns1:p>
            <ns1:r>
              <ns1:t>    "sequence_sha256": "00df1a9681ade9f2d68bf7e6084ab615f661498a6b613a69c5c8e573bb9fc5b8",</ns1:t>
            </ns1:r>
          </ns1:p>
          <ns1:p>
            <ns1:r>
              <ns1:t>    "native_model_sha256": "f96dc2a804c24cfdd89333ea654759c4338d783d7cd824bf3eac52c9b1e596cb",</ns1:t>
            </ns1:r>
          </ns1:p>
          <ns1:p>
            <ns1:r>
              <ns1:t>    "scoring_pdb_sha256": "cd9a4b745d9b42a929bcc916ea5e4a624933d81ddf3c5a07f4b7eb7aca8b6cb0",</ns1:t>
            </ns1:r>
          </ns1:p>
          <ns1:p>
            <ns1:r>
              <ns1:t>    "overview": {</ns1:t>
            </ns1:r>
          </ns1:p>
          <ns1:p>
            <ns1:r>
              <ns1:t>      "source_slide": 31,</ns1:t>
            </ns1:r>
          </ns1:p>
          <ns1:p>
            <ns1:r>
              <ns1:t>      "source_picture_index": 1,</ns1:t>
            </ns1:r>
          </ns1:p>
          <ns1:p>
            <ns1:r>
              <ns1:t>      "embedded_media": "ppt/media/image31.jpeg",</ns1:t>
            </ns1:r>
          </ns1:p>
          <ns1:p>
            <ns1:r>
              <ns1:t>      "image_sha256": "c5f68a62714485e6548265199c5ef43bce2f3449a066f13eff4cd6ee589526b3",</ns1:t>
            </ns1:r>
          </ns1:p>
          <ns1:p>
            <ns1:r>
              <ns1:t>      "asset": "assets/LK_P088_08-complex.jpg"</ns1:t>
            </ns1:r>
          </ns1:p>
          <ns1:p>
            <ns1:r>
              <ns1:t>    },</ns1:t>
            </ns1:r>
          </ns1:p>
          <ns1:p>
            <ns1:r>
              <ns1:t>    "interface": {</ns1:t>
            </ns1:r>
          </ns1:p>
          <ns1:p>
            <ns1:r>
              <ns1:t>      "source_slide": 32,</ns1:t>
            </ns1:r>
          </ns1:p>
          <ns1:p>
            <ns1:r>
              <ns1:t>      "source_picture_index": 1,</ns1:t>
            </ns1:r>
          </ns1:p>
          <ns1:p>
            <ns1:r>
              <ns1:t>      "embedded_media": "ppt/media/image34.jpeg",</ns1:t>
            </ns1:r>
          </ns1:p>
          <ns1:p>
            <ns1:r>
              <ns1:t>      "image_sha256": "084db82addb26fab4b3f691a724f5c9af71d0166e429920f2f8a089dfb3da14b",</ns1:t>
            </ns1:r>
          </ns1:p>
          <ns1:p>
            <ns1:r>
              <ns1:t>      "asset": "assets/LK_P088_08-interface.jpg"</ns1:t>
            </ns1:r>
          </ns1:p>
          <ns1:p>
            <ns1:r>
              <ns1:t>    },</ns1:t>
            </ns1:r>
          </ns1:p>
          <ns1:p>
            <ns1:r>
              <ns1:t>    "rendering_provenance": {</ns1:t>
            </ns1:r>
          </ns1:p>
          <ns1:p>
            <ns1:r>
              <ns1:t>      "DeltaForge_source_PDB_sha256": "cd9a4b745d9b42a929bcc916ea5e4a624933d81ddf3c5a07f4b7eb7aca8b6cb0",</ns1:t>
            </ns1:r>
          </ns1:p>
          <ns1:p>
            <ns1:r>
              <ns1:t>      "role_ranges_zero_based": {</ns1:t>
            </ns1:r>
          </ns1:p>
          <ns1:p>
            <ns1:r>
              <ns1:t>        "LF": [</ns1:t>
            </ns1:r>
          </ns1:p>
          <ns1:p>
            <ns1:r>
              <ns1:t>          0,</ns1:t>
            </ns1:r>
          </ns1:p>
          <ns1:p>
            <ns1:r>
              <ns1:t>          69</ns1:t>
            </ns1:r>
          </ns1:p>
          <ns1:p>
            <ns1:r>
              <ns1:t>        ],</ns1:t>
            </ns1:r>
          </ns1:p>
          <ns1:p>
            <ns1:r>
              <ns1:t>        "linker": [</ns1:t>
            </ns1:r>
          </ns1:p>
          <ns1:p>
            <ns1:r>
              <ns1:t>          69,</ns1:t>
            </ns1:r>
          </ns1:p>
          <ns1:p>
            <ns1:r>
              <ns1:t>          101</ns1:t>
            </ns1:r>
          </ns1:p>
          <ns1:p>
            <ns1:r>
              <ns1:t>        ],</ns1:t>
            </ns1:r>
          </ns1:p>
          <ns1:p>
            <ns1:r>
              <ns1:t>        "ECD": [</ns1:t>
            </ns1:r>
          </ns1:p>
          <ns1:p>
            <ns1:r>
              <ns1:t>          101,</ns1:t>
            </ns1:r>
          </ns1:p>
          <ns1:p>
            <ns1:r>
              <ns1:t>          153</ns1:t>
            </ns1:r>
          </ns1:p>
          <ns1:p>
            <ns1:r>
              <ns1:t>        ]</ns1:t>
            </ns1:r>
          </ns1:p>
          <ns1:p>
            <ns1:r>
              <ns1:t>      },</ns1:t>
            </ns1:r>
          </ns1:p>
          <ns1:p>
            <ns1:r>
              <ns1:t>      "model_sha256": "f96dc2a804c24cfdd89333ea654759c4338d783d7cd824bf3eac52c9b1e596cb",</ns1:t>
            </ns1:r>
          </ns1:p>
          <ns1:p>
            <ns1:r>
              <ns1:t>      "source_run": "2026-10-24_pair183-extracellular-exact_001",</ns1:t>
            </ns1:r>
          </ns1:p>
          <ns1:p>
            <ns1:r>
              <ns1:t>      "source_methods": [</ns1:t>
            </ns1:r>
          </ns1:p>
          <ns1:p>
            <ns1:r>
              <ns1:t>        "https://github.com/DunbrackLab/IPSAE",</ns1:t>
            </ns1:r>
          </ns1:p>
          <ns1:p>
            <ns1:r>
              <ns1:t>        "https://github.com/wallnerlab/DockQ",</ns1:t>
            </ns1:r>
          </ns1:p>
          <ns1:p>
            <ns1:r>
              <ns1:t>        "https://zhanggroup.org/TM-score/"</ns1:t>
            </ns1:r>
          </ns1:p>
          <ns1:p>
            <ns1:r>
              <ns1:t>      ],</ns1:t>
            </ns1:r>
          </ns1:p>
          <ns1:p>
            <ns1:r>
              <ns1:t>      "saved_display_appendix": {</ns1:t>
            </ns1:r>
          </ns1:p>
          <ns1:p>
            <ns1:r>
              <ns1:t>        "parent_sources": {</ns1:t>
            </ns1:r>
          </ns1:p>
          <ns1:p>
            <ns1:r>
              <ns1:t>          "ECD-parent": {</ns1:t>
            </ns1:r>
          </ns1:p>
          <ns1:p>
            <ns1:r>
              <ns1:t>            "key": "LK_P088_08-ECD-parent",</ns1:t>
            </ns1:r>
          </ns1:p>
          <ns1:p>
            <ns1:r>
              <ns1:t>            "source_path": "local/2026-10-25_linker-parent-comparison_001/parents/S11_03_093/exact.pdb",</ns1:t>
            </ns1:r>
          </ns1:p>
          <ns1:p>
            <ns1:r>
              <ns1:t>            "source_sha256": "c0071a5b08b94bbbe0964635d3ac84d6493fa532d71c3d8df45a43af5bf9530f",</ns1:t>
            </ns1:r>
          </ns1:p>
          <ns1:p>
            <ns1:r>
              <ns1:t>            "role": "ECD",</ns1:t>
            </ns1:r>
          </ns1:p>
          <ns1:p>
            <ns1:r>
              <ns1:t>            "ranges_zero_based": {</ns1:t>
            </ns1:r>
          </ns1:p>
          <ns1:p>
            <ns1:r>
              <ns1:t>              "ECD": [</ns1:t>
            </ns1:r>
          </ns1:p>
          <ns1:p>
            <ns1:r>
              <ns1:t>                0,</ns1:t>
            </ns1:r>
          </ns1:p>
          <ns1:p>
            <ns1:r>
              <ns1:t>                52</ns1:t>
            </ns1:r>
          </ns1:p>
          <ns1:p>
            <ns1:r>
              <ns1:t>              ]</ns1:t>
            </ns1:r>
          </ns1:p>
          <ns1:p>
            <ns1:r>
              <ns1:t>            },</ns1:t>
            </ns1:r>
          </ns1:p>
          <ns1:p>
            <ns1:r>
              <ns1:t>            "sequence": "MISELQELRRLFESSYPPYFSRLLWSSYLAASVGQSDLSPTIGLGKALSASK",</ns1:t>
            </ns1:r>
          </ns1:p>
          <ns1:p>
            <ns1:r>
              <ns1:t>            "rotation": [</ns1:t>
            </ns1:r>
          </ns1:p>
          <ns1:p>
            <ns1:r>
              <ns1:t>              [</ns1:t>
            </ns1:r>
          </ns1:p>
          <ns1:p>
            <ns1:r>
              <ns1:t>                0.9342944777723321,</ns1:t>
            </ns1:r>
          </ns1:p>
          <ns1:p>
            <ns1:r>
              <ns1:t>                0.14286028709039078,</ns1:t>
            </ns1:r>
          </ns1:p>
          <ns1:p>
            <ns1:r>
              <ns1:t>                0.3266264654724491</ns1:t>
            </ns1:r>
          </ns1:p>
          <ns1:p>
            <ns1:r>
              <ns1:t>              ],</ns1:t>
            </ns1:r>
          </ns1:p>
          <ns1:p>
            <ns1:r>
              <ns1:t>              [</ns1:t>
            </ns1:r>
          </ns1:p>
          <ns1:p>
            <ns1:r>
              <ns1:t>                0.15147565109104444,</ns1:t>
            </ns1:r>
          </ns1:p>
          <ns1:p>
            <ns1:r>
              <ns1:t>                0.6703022835162495,</ns1:t>
            </ns1:r>
          </ns1:p>
          <ns1:p>
            <ns1:r>
              <ns1:t>                -0.7264640567385907</ns1:t>
            </ns1:r>
          </ns1:p>
          <ns1:p>
            <ns1:r>
              <ns1:t>              ],</ns1:t>
            </ns1:r>
          </ns1:p>
          <ns1:p>
            <ns1:r>
              <ns1:t>              [</ns1:t>
            </ns1:r>
          </ns1:p>
          <ns1:p>
            <ns1:r>
              <ns1:t>                -0.3227213212938822,</ns1:t>
            </ns1:r>
          </ns1:p>
          <ns1:p>
            <ns1:r>
              <ns1:t>                0.7282073068624637,</ns1:t>
            </ns1:r>
          </ns1:p>
          <ns1:p>
            <ns1:r>
              <ns1:t>                0.6046198082395369</ns1:t>
            </ns1:r>
          </ns1:p>
          <ns1:p>
            <ns1:r>
              <ns1:t>              ]</ns1:t>
            </ns1:r>
          </ns1:p>
          <ns1:p>
            <ns1:r>
              <ns1:t>            ],</ns1:t>
            </ns1:r>
          </ns1:p>
          <ns1:p>
            <ns1:r>
              <ns1:t>            "translation": [</ns1:t>
            </ns1:r>
          </ns1:p>
          <ns1:p>
            <ns1:r>
              <ns1:t>              3.575589604465687,</ns1:t>
            </ns1:r>
          </ns1:p>
          <ns1:p>
            <ns1:r>
              <ns1:t>              2.3222595348218267,</ns1:t>
            </ns1:r>
          </ns1:p>
          <ns1:p>
            <ns1:r>
              <ns1:t>              -1.0851632777065894</ns1:t>
            </ns1:r>
          </ns1:p>
          <ns1:p>
            <ns1:r>
              <ns1:t>            ],</ns1:t>
            </ns1:r>
          </ns1:p>
          <ns1:p>
            <ns1:r>
              <ns1:t>            "core_fit_CA_RMSD_A": 1.2030914990255273,</ns1:t>
            </ns1:r>
          </ns1:p>
          <ns1:p>
            <ns1:r>
              <ns1:t>            "output": "local/2026-10-25_linker-parent-views_001/build/renders-v2/LK_P088_08-ECD-parent.jpg",</ns1:t>
            </ns1:r>
          </ns1:p>
          <ns1:p>
            <ns1:r>
              <ns1:t>            "parent_or_fusion_id": "S11_03_093",</ns1:t>
            </ns1:r>
          </ns1:p>
          <ns1:p>
            <ns1:r>
              <ns1:t>            "design_id": "LK_P088_08",</ns1:t>
            </ns1:r>
          </ns1:p>
          <ns1:p>
            <ns1:r>
              <ns1:t>            "panel": "ECD-parent",</ns1:t>
            </ns1:r>
          </ns1:p>
          <ns1:p>
            <ns1:r>
              <ns1:t>            "view": [</ns1:t>
            </ns1:r>
          </ns1:p>
          <ns1:p>
            <ns1:r>
              <ns1:t>              1,</ns1:t>
            </ns1:r>
          </ns1:p>
          <ns1:p>
            <ns1:r>
              <ns1:t>              0,</ns1:t>
            </ns1:r>
          </ns1:p>
          <ns1:p>
            <ns1:r>
              <ns1:t>              0,</ns1:t>
            </ns1:r>
          </ns1:p>
          <ns1:p>
            <ns1:r>
              <ns1:t>              0,</ns1:t>
            </ns1:r>
          </ns1:p>
          <ns1:p>
            <ns1:r>
              <ns1:t>              1,</ns1:t>
            </ns1:r>
          </ns1:p>
          <ns1:p>
            <ns1:r>
              <ns1:t>              0,</ns1:t>
            </ns1:r>
          </ns1:p>
          <ns1:p>
            <ns1:r>
              <ns1:t>              0,</ns1:t>
            </ns1:r>
          </ns1:p>
          <ns1:p>
            <ns1:r>
              <ns1:t>              0,</ns1:t>
            </ns1:r>
          </ns1:p>
          <ns1:p>
            <ns1:r>
              <ns1:t>              1,</ns1:t>
            </ns1:r>
          </ns1:p>
          <ns1:p>
            <ns1:r>
              <ns1:t>              0,</ns1:t>
            </ns1:r>
          </ns1:p>
          <ns1:p>
            <ns1:r>
              <ns1:t>              0,</ns1:t>
            </ns1:r>
          </ns1:p>
          <ns1:p>
            <ns1:r>
              <ns1:t>              -389.66313753667623,</ns1:t>
            </ns1:r>
          </ns1:p>
          <ns1:p>
            <ns1:r>
              <ns1:t>              -9.47863813322478,</ns1:t>
            </ns1:r>
          </ns1:p>
          <ns1:p>
            <ns1:r>
              <ns1:t>              19.45151017851778,</ns1:t>
            </ns1:r>
          </ns1:p>
          <ns1:p>
            <ns1:r>
              <ns1:t>              -22.163677636567378,</ns1:t>
            </ns1:r>
          </ns1:p>
          <ns1:p>
            <ns1:r>
              <ns1:t>              327.649394715077,</ns1:t>
            </ns1:r>
          </ns1:p>
          <ns1:p>
            <ns1:r>
              <ns1:t>              451.67688035827547,</ns1:t>
            </ns1:r>
          </ns1:p>
          <ns1:p>
            <ns1:r>
              <ns1:t>              -20</ns1:t>
            </ns1:r>
          </ns1:p>
          <ns1:p>
            <ns1:r>
              <ns1:t>            ],</ns1:t>
            </ns1:r>
          </ns1:p>
          <ns1:p>
            <ns1:r>
              <ns1:t>            "world_height_A": 137.4162490704589,</ns1:t>
            </ns1:r>
          </ns1:p>
          <ns1:p>
            <ns1:r>
              <ns1:t>            "row_bounds_all_atoms_A": [</ns1:t>
            </ns1:r>
          </ns1:p>
          <ns1:p>
            <ns1:r>
              <ns1:t>              [</ns1:t>
            </ns1:r>
          </ns1:p>
          <ns1:p>
            <ns1:r>
              <ns1:t>                -50.828799843201054,</ns1:t>
            </ns1:r>
          </ns1:p>
          <ns1:p>
            <ns1:r>
              <ns1:t>                -37.68350453096272,</ns1:t>
            </ns1:r>
          </ns1:p>
          <ns1:p>
            <ns1:r>
              <ns1:t>                -69.17742045816664</ns1:t>
            </ns1:r>
          </ns1:p>
          <ns1:p>
            <ns1:r>
              <ns1:t>              ],</ns1:t>
            </ns1:r>
          </ns1:p>
          <ns1:p>
            <ns1:r>
              <ns1:t>              [</ns1:t>
            </ns1:r>
          </ns1:p>
          <ns1:p>
            <ns1:r>
              <ns1:t>                31.871523576751493,</ns1:t>
            </ns1:r>
          </ns1:p>
          <ns1:p>
            <ns1:r>
              <ns1:t>                76.58652488799828,</ns1:t>
            </ns1:r>
          </ns1:p>
          <ns1:p>
            <ns1:r>
              <ns1:t>                24.850065185031884</ns1:t>
            </ns1:r>
          </ns1:p>
          <ns1:p>
            <ns1:r>
              <ns1:t>              ]</ns1:t>
            </ns1:r>
          </ns1:p>
          <ns1:p>
            <ns1:r>
              <ns1:t>            ]</ns1:t>
            </ns1:r>
          </ns1:p>
          <ns1:p>
            <ns1:r>
              <ns1:t>          },</ns1:t>
            </ns1:r>
          </ns1:p>
          <ns1:p>
            <ns1:r>
              <ns1:t>          "APNovo": {</ns1:t>
            </ns1:r>
          </ns1:p>
          <ns1:p>
            <ns1:r>
              <ns1:t>            "key": "LK_P088_08-APNovo",</ns1:t>
            </ns1:r>
          </ns1:p>
          <ns1:p>
            <ns1:r>
              <ns1:t>            "source_path": "local/2026-10-25_linker-top100-review_001/build/comparisons/LK_P088_08/reference.pdb",</ns1:t>
            </ns1:r>
          </ns1:p>
          <ns1:p>
            <ns1:r>
              <ns1:t>            "source_sha256": "aa543895e50ca59f41aae8f151cf5a2acfbc244e219aab42c9b59c06772a90c0",</ns1:t>
            </ns1:r>
          </ns1:p>
          <ns1:p>
            <ns1:r>
              <ns1:t>            "role": "fusion",</ns1:t>
            </ns1:r>
          </ns1:p>
          <ns1:p>
            <ns1:r>
              <ns1:t>            "ranges_zero_based": {</ns1:t>
            </ns1:r>
          </ns1:p>
          <ns1:p>
            <ns1:r>
              <ns1:t>              "LF": [</ns1:t>
            </ns1:r>
          </ns1:p>
          <ns1:p>
            <ns1:r>
              <ns1:t>                0,</ns1:t>
            </ns1:r>
          </ns1:p>
          <ns1:p>
            <ns1:r>
              <ns1:t>                69</ns1:t>
            </ns1:r>
          </ns1:p>
          <ns1:p>
            <ns1:r>
              <ns1:t>              ],</ns1:t>
            </ns1:r>
          </ns1:p>
          <ns1:p>
            <ns1:r>
              <ns1:t>              "linker": [</ns1:t>
            </ns1:r>
          </ns1:p>
          <ns1:p>
            <ns1:r>
              <ns1:t>                69,</ns1:t>
            </ns1:r>
          </ns1:p>
          <ns1:p>
            <ns1:r>
              <ns1:t>                101</ns1:t>
            </ns1:r>
          </ns1:p>
          <ns1:p>
            <ns1:r>
              <ns1:t>              ],</ns1:t>
            </ns1:r>
          </ns1:p>
          <ns1:p>
            <ns1:r>
              <ns1:t>              "ECD": [</ns1:t>
            </ns1:r>
          </ns1:p>
          <ns1:p>
            <ns1:r>
              <ns1:t>                101,</ns1:t>
            </ns1:r>
          </ns1:p>
          <ns1:p>
            <ns1:r>
              <ns1:t>                153</ns1:t>
            </ns1:r>
          </ns1:p>
          <ns1:p>
            <ns1:r>
              <ns1:t>              ]</ns1:t>
            </ns1:r>
          </ns1:p>
          <ns1:p>
            <ns1:r>
              <ns1:t>            },</ns1:t>
            </ns1:r>
          </ns1:p>
          <ns1:p>
            <ns1:r>
              <ns1:t>            "sequence": "EVSGATIDLRVKTCVDFKQTVNFFKLRNTQLPGSCTKDNTVLFLLEGLKLGYASRYFSIGSGSGSQQFSSSSSTVTRRVPPPVNLLPWGPPSGQPFPRGLGMISELQELRRLFESSYPPYFSRLLWSSYLAASVGQSDLSPTIGLGKALSASK",</ns1:t>
            </ns1:r>
          </ns1:p>
          <ns1:p>
            <ns1:r>
              <ns1:t>            "rotation": [</ns1:t>
            </ns1:r>
          </ns1:p>
          <ns1:p>
            <ns1:r>
              <ns1:t>              [</ns1:t>
            </ns1:r>
          </ns1:p>
          <ns1:p>
            <ns1:r>
              <ns1:t>                -0.04825957313482121,</ns1:t>
            </ns1:r>
          </ns1:p>
          <ns1:p>
            <ns1:r>
              <ns1:t>                -0.8071815236543092,</ns1:t>
            </ns1:r>
          </ns1:p>
          <ns1:p>
            <ns1:r>
              <ns1:t>                0.5883273022862383</ns1:t>
            </ns1:r>
          </ns1:p>
          <ns1:p>
            <ns1:r>
              <ns1:t>              ],</ns1:t>
            </ns1:r>
          </ns1:p>
          <ns1:p>
            <ns1:r>
              <ns1:t>              [</ns1:t>
            </ns1:r>
          </ns1:p>
          <ns1:p>
            <ns1:r>
              <ns1:t>                -0.1503756419666642,</ns1:t>
            </ns1:r>
          </ns1:p>
          <ns1:p>
            <ns1:r>
              <ns1:t>                -0.5764287254141207,</ns1:t>
            </ns1:r>
          </ns1:p>
          <ns1:p>
            <ns1:r>
              <ns1:t>                -0.8031918198200318</ns1:t>
            </ns1:r>
          </ns1:p>
          <ns1:p>
            <ns1:r>
              <ns1:t>              ],</ns1:t>
            </ns1:r>
          </ns1:p>
          <ns1:p>
            <ns1:r>
              <ns1:t>              [</ns1:t>
            </ns1:r>
          </ns1:p>
          <ns1:p>
            <ns1:r>
              <ns1:t>                0.9874503132584387,</ns1:t>
            </ns1:r>
          </ns1:p>
          <ns1:p>
            <ns1:r>
              <ns1:t>                -0.12723179065451173,</ns1:t>
            </ns1:r>
          </ns1:p>
          <ns1:p>
            <ns1:r>
              <ns1:t>                -0.09356225602142842</ns1:t>
            </ns1:r>
          </ns1:p>
          <ns1:p>
            <ns1:r>
              <ns1:t>              ]</ns1:t>
            </ns1:r>
          </ns1:p>
          <ns1:p>
            <ns1:r>
              <ns1:t>            ],</ns1:t>
            </ns1:r>
          </ns1:p>
          <ns1:p>
            <ns1:r>
              <ns1:t>            "translation": [</ns1:t>
            </ns1:r>
          </ns1:p>
          <ns1:p>
            <ns1:r>
              <ns1:t>              -12.84581927372312,</ns1:t>
            </ns1:r>
          </ns1:p>
          <ns1:p>
            <ns1:r>
              <ns1:t>              -16.32511285233152,</ns1:t>
            </ns1:r>
          </ns1:p>
          <ns1:p>
            <ns1:r>
              <ns1:t>              6.538445092283405</ns1:t>
            </ns1:r>
          </ns1:p>
          <ns1:p>
            <ns1:r>
              <ns1:t>            ],</ns1:t>
            </ns1:r>
          </ns1:p>
          <ns1:p>
            <ns1:r>
              <ns1:t>            "core_fit_CA_RMSD_A": 1.203088366617288,</ns1:t>
            </ns1:r>
          </ns1:p>
          <ns1:p>
            <ns1:r>
              <ns1:t>            "output": "local/2026-10-25_linker-parent-views_001/build/renders-v2/LK_P088_08-APNovo.jpg",</ns1:t>
            </ns1:r>
          </ns1:p>
          <ns1:p>
            <ns1:r>
              <ns1:t>            "parent_or_fusion_id": "LK_P088_08-APNovo",</ns1:t>
            </ns1:r>
          </ns1:p>
          <ns1:p>
            <ns1:r>
              <ns1:t>            "design_id": "LK_P088_08",</ns1:t>
            </ns1:r>
          </ns1:p>
          <ns1:p>
            <ns1:r>
              <ns1:t>            "panel": "APNovo",</ns1:t>
            </ns1:r>
          </ns1:p>
          <ns1:p>
            <ns1:r>
              <ns1:t>            "view": [</ns1:t>
            </ns1:r>
          </ns1:p>
          <ns1:p>
            <ns1:r>
              <ns1:t>              1,</ns1:t>
            </ns1:r>
          </ns1:p>
          <ns1:p>
            <ns1:r>
              <ns1:t>              0,</ns1:t>
            </ns1:r>
          </ns1:p>
          <ns1:p>
            <ns1:r>
              <ns1:t>              0,</ns1:t>
            </ns1:r>
          </ns1:p>
          <ns1:p>
            <ns1:r>
              <ns1:t>              0,</ns1:t>
            </ns1:r>
          </ns1:p>
          <ns1:p>
            <ns1:r>
              <ns1:t>              1,</ns1:t>
            </ns1:r>
          </ns1:p>
          <ns1:p>
            <ns1:r>
              <ns1:t>              0,</ns1:t>
            </ns1:r>
          </ns1:p>
          <ns1:p>
            <ns1:r>
              <ns1:t>              0,</ns1:t>
            </ns1:r>
          </ns1:p>
          <ns1:p>
            <ns1:r>
              <ns1:t>              0,</ns1:t>
            </ns1:r>
          </ns1:p>
          <ns1:p>
            <ns1:r>
              <ns1:t>              1,</ns1:t>
            </ns1:r>
          </ns1:p>
          <ns1:p>
            <ns1:r>
              <ns1:t>              0,</ns1:t>
            </ns1:r>
          </ns1:p>
          <ns1:p>
            <ns1:r>
              <ns1:t>              0,</ns1:t>
            </ns1:r>
          </ns1:p>
          <ns1:p>
            <ns1:r>
              <ns1:t>              -389.66313753667623,</ns1:t>
            </ns1:r>
          </ns1:p>
          <ns1:p>
            <ns1:r>
              <ns1:t>              -9.47863813322478,</ns1:t>
            </ns1:r>
          </ns1:p>
          <ns1:p>
            <ns1:r>
              <ns1:t>              19.45151017851778,</ns1:t>
            </ns1:r>
          </ns1:p>
          <ns1:p>
            <ns1:r>
              <ns1:t>              -22.163677636567378,</ns1:t>
            </ns1:r>
          </ns1:p>
          <ns1:p>
            <ns1:r>
              <ns1:t>              327.649394715077,</ns1:t>
            </ns1:r>
          </ns1:p>
          <ns1:p>
            <ns1:r>
              <ns1:t>              451.67688035827547,</ns1:t>
            </ns1:r>
          </ns1:p>
          <ns1:p>
            <ns1:r>
              <ns1:t>              -20</ns1:t>
            </ns1:r>
          </ns1:p>
          <ns1:p>
            <ns1:r>
              <ns1:t>            ],</ns1:t>
            </ns1:r>
          </ns1:p>
          <ns1:p>
            <ns1:r>
              <ns1:t>            "world_height_A": 137.4162490704589,</ns1:t>
            </ns1:r>
          </ns1:p>
          <ns1:p>
            <ns1:r>
              <ns1:t>            "row_bounds_all_atoms_A": [</ns1:t>
            </ns1:r>
          </ns1:p>
          <ns1:p>
            <ns1:r>
              <ns1:t>              [</ns1:t>
            </ns1:r>
          </ns1:p>
          <ns1:p>
            <ns1:r>
              <ns1:t>                -50.828799843201054,</ns1:t>
            </ns1:r>
          </ns1:p>
          <ns1:p>
            <ns1:r>
              <ns1:t>                -37.68350453096272,</ns1:t>
            </ns1:r>
          </ns1:p>
          <ns1:p>
            <ns1:r>
              <ns1:t>                -69.17742045816664</ns1:t>
            </ns1:r>
          </ns1:p>
          <ns1:p>
            <ns1:r>
              <ns1:t>              ],</ns1:t>
            </ns1:r>
          </ns1:p>
          <ns1:p>
            <ns1:r>
              <ns1:t>              [</ns1:t>
            </ns1:r>
          </ns1:p>
          <ns1:p>
            <ns1:r>
              <ns1:t>                31.871523576751493,</ns1:t>
            </ns1:r>
          </ns1:p>
          <ns1:p>
            <ns1:r>
              <ns1:t>                76.58652488799828,</ns1:t>
            </ns1:r>
          </ns1:p>
          <ns1:p>
            <ns1:r>
              <ns1:t>                24.850065185031884</ns1:t>
            </ns1:r>
          </ns1:p>
          <ns1:p>
            <ns1:r>
              <ns1:t>              ]</ns1:t>
            </ns1:r>
          </ns1:p>
          <ns1:p>
            <ns1:r>
              <ns1:t>            ]</ns1:t>
            </ns1:r>
          </ns1:p>
          <ns1:p>
            <ns1:r>
              <ns1:t>          },</ns1:t>
            </ns1:r>
          </ns1:p>
          <ns1:p>
            <ns1:r>
              <ns1:t>          "Exact": {</ns1:t>
            </ns1:r>
          </ns1:p>
          <ns1:p>
            <ns1:r>
              <ns1:t>            "key": "LK_P088_08-Exact",</ns1:t>
            </ns1:r>
          </ns1:p>
          <ns1:p>
            <ns1:r>
              <ns1:t>            "source_path": "local/2026-10-25_linker-top100-review_001/models/LK_P088_08/boltz2.cif",</ns1:t>
            </ns1:r>
          </ns1:p>
          <ns1:p>
            <ns1:r>
              <ns1:t>            "source_sha256": "f96dc2a804c24cfdd89333ea654759c4338d783d7cd824bf3eac52c9b1e596cb",</ns1:t>
            </ns1:r>
          </ns1:p>
          <ns1:p>
            <ns1:r>
              <ns1:t>            "role": "fusion",</ns1:t>
            </ns1:r>
          </ns1:p>
          <ns1:p>
            <ns1:r>
              <ns1:t>            "ranges_zero_based": {</ns1:t>
            </ns1:r>
          </ns1:p>
          <ns1:p>
            <ns1:r>
              <ns1:t>              "LF": [</ns1:t>
            </ns1:r>
          </ns1:p>
          <ns1:p>
            <ns1:r>
              <ns1:t>                0,</ns1:t>
            </ns1:r>
          </ns1:p>
          <ns1:p>
            <ns1:r>
              <ns1:t>                69</ns1:t>
            </ns1:r>
          </ns1:p>
          <ns1:p>
            <ns1:r>
              <ns1:t>              ],</ns1:t>
            </ns1:r>
          </ns1:p>
          <ns1:p>
            <ns1:r>
              <ns1:t>              "linker": [</ns1:t>
            </ns1:r>
          </ns1:p>
          <ns1:p>
            <ns1:r>
              <ns1:t>                69,</ns1:t>
            </ns1:r>
          </ns1:p>
          <ns1:p>
            <ns1:r>
              <ns1:t>                101</ns1:t>
            </ns1:r>
          </ns1:p>
          <ns1:p>
            <ns1:r>
              <ns1:t>              ],</ns1:t>
            </ns1:r>
          </ns1:p>
          <ns1:p>
            <ns1:r>
              <ns1:t>              "ECD": [</ns1:t>
            </ns1:r>
          </ns1:p>
          <ns1:p>
            <ns1:r>
              <ns1:t>                101,</ns1:t>
            </ns1:r>
          </ns1:p>
          <ns1:p>
            <ns1:r>
              <ns1:t>                153</ns1:t>
            </ns1:r>
          </ns1:p>
          <ns1:p>
            <ns1:r>
              <ns1:t>              ]</ns1:t>
            </ns1:r>
          </ns1:p>
          <ns1:p>
            <ns1:r>
              <ns1:t>            },</ns1:t>
            </ns1:r>
          </ns1:p>
          <ns1:p>
            <ns1:r>
              <ns1:t>            "sequence": "EVSGATIDLRVKTCVDFKQTVNFFKLRNTQLPGSCTKDNTVLFLLEGLKLGYASRYFSIGSGSGSQQFSSSSSTVTRRVPPPVNLLPWGPPSGQPFPRGLGMISELQELRRLFESSYPPYFSRLLWSSYLAASVGQSDLSPTIGLGKALSASK",</ns1:t>
            </ns1:r>
          </ns1:p>
          <ns1:p>
            <ns1:r>
              <ns1:t>            "rotation": [</ns1:t>
            </ns1:r>
          </ns1:p>
          <ns1:p>
            <ns1:r>
              <ns1:t>              [</ns1:t>
            </ns1:r>
          </ns1:p>
          <ns1:p>
            <ns1:r>
              <ns1:t>                0.7787306125455387,</ns1:t>
            </ns1:r>
          </ns1:p>
          <ns1:p>
            <ns1:r>
              <ns1:t>                -0.5684698373973176,</ns1:t>
            </ns1:r>
          </ns1:p>
          <ns1:p>
            <ns1:r>
              <ns1:t>                0.265369035158207</ns1:t>
            </ns1:r>
          </ns1:p>
          <ns1:p>
            <ns1:r>
              <ns1:t>              ],</ns1:t>
            </ns1:r>
          </ns1:p>
          <ns1:p>
            <ns1:r>
              <ns1:t>              [</ns1:t>
            </ns1:r>
          </ns1:p>
          <ns1:p>
            <ns1:r>
              <ns1:t>                0.6265611476432604,</ns1:t>
            </ns1:r>
          </ns1:p>
          <ns1:p>
            <ns1:r>
              <ns1:t>                0.726055362517795,</ns1:t>
            </ns1:r>
          </ns1:p>
          <ns1:p>
            <ns1:r>
              <ns1:t>                -0.2833102415303346</ns1:t>
            </ns1:r>
          </ns1:p>
          <ns1:p>
            <ns1:r>
              <ns1:t>              ],</ns1:t>
            </ns1:r>
          </ns1:p>
          <ns1:p>
            <ns1:r>
              <ns1:t>              [</ns1:t>
            </ns1:r>
          </ns1:p>
          <ns1:p>
            <ns1:r>
              <ns1:t>                -0.03161930708963023,</ns1:t>
            </ns1:r>
          </ns1:p>
          <ns1:p>
            <ns1:r>
              <ns1:t>                0.3868922874617704,</ns1:t>
            </ns1:r>
          </ns1:p>
          <ns1:p>
            <ns1:r>
              <ns1:t>                0.9215826184622142</ns1:t>
            </ns1:r>
          </ns1:p>
          <ns1:p>
            <ns1:r>
              <ns1:t>              ]</ns1:t>
            </ns1:r>
          </ns1:p>
          <ns1:p>
            <ns1:r>
              <ns1:t>            ],</ns1:t>
            </ns1:r>
          </ns1:p>
          <ns1:p>
            <ns1:r>
              <ns1:t>            "translation": [</ns1:t>
            </ns1:r>
          </ns1:p>
          <ns1:p>
            <ns1:r>
              <ns1:t>              -0.46889058533144734,</ns1:t>
            </ns1:r>
          </ns1:p>
          <ns1:p>
            <ns1:r>
              <ns1:t>              -4.159379850060773,</ns1:t>
            </ns1:r>
          </ns1:p>
          <ns1:p>
            <ns1:r>
              <ns1:t>              -4.030035256592501</ns1:t>
            </ns1:r>
          </ns1:p>
          <ns1:p>
            <ns1:r>
              <ns1:t>            ],</ns1:t>
            </ns1:r>
          </ns1:p>
          <ns1:p>
            <ns1:r>
              <ns1:t>            "core_fit_CA_RMSD_A": 0.9470129928171446,</ns1:t>
            </ns1:r>
          </ns1:p>
          <ns1:p>
            <ns1:r>
              <ns1:t>            "output": "local/2026-10-25_linker-parent-views_001/build/renders-v2/LK_P088_08-Exact.jpg",</ns1:t>
            </ns1:r>
          </ns1:p>
          <ns1:p>
            <ns1:r>
              <ns1:t>            "parent_or_fusion_id": "LK_P088_08-Exact",</ns1:t>
            </ns1:r>
          </ns1:p>
          <ns1:p>
            <ns1:r>
              <ns1:t>            "design_id": "LK_P088_08",</ns1:t>
            </ns1:r>
          </ns1:p>
          <ns1:p>
            <ns1:r>
              <ns1:t>            "panel": "Exact",</ns1:t>
            </ns1:r>
          </ns1:p>
          <ns1:p>
            <ns1:r>
              <ns1:t>            "view": [</ns1:t>
            </ns1:r>
          </ns1:p>
          <ns1:p>
            <ns1:r>
              <ns1:t>              1,</ns1:t>
            </ns1:r>
          </ns1:p>
          <ns1:p>
            <ns1:r>
              <ns1:t>              0,</ns1:t>
            </ns1:r>
          </ns1:p>
          <ns1:p>
            <ns1:r>
              <ns1:t>              0,</ns1:t>
            </ns1:r>
          </ns1:p>
          <ns1:p>
            <ns1:r>
              <ns1:t>              0,</ns1:t>
            </ns1:r>
          </ns1:p>
          <ns1:p>
            <ns1:r>
              <ns1:t>              1,</ns1:t>
            </ns1:r>
          </ns1:p>
          <ns1:p>
            <ns1:r>
              <ns1:t>              0,</ns1:t>
            </ns1:r>
          </ns1:p>
          <ns1:p>
            <ns1:r>
              <ns1:t>              0,</ns1:t>
            </ns1:r>
          </ns1:p>
          <ns1:p>
            <ns1:r>
              <ns1:t>              0,</ns1:t>
            </ns1:r>
          </ns1:p>
          <ns1:p>
            <ns1:r>
              <ns1:t>              1,</ns1:t>
            </ns1:r>
          </ns1:p>
          <ns1:p>
            <ns1:r>
              <ns1:t>              0,</ns1:t>
            </ns1:r>
          </ns1:p>
          <ns1:p>
            <ns1:r>
              <ns1:t>              0,</ns1:t>
            </ns1:r>
          </ns1:p>
          <ns1:p>
            <ns1:r>
              <ns1:t>              -389.66313753667623,</ns1:t>
            </ns1:r>
          </ns1:p>
          <ns1:p>
            <ns1:r>
              <ns1:t>              -9.47863813322478,</ns1:t>
            </ns1:r>
          </ns1:p>
          <ns1:p>
            <ns1:r>
              <ns1:t>              19.45151017851778,</ns1:t>
            </ns1:r>
          </ns1:p>
          <ns1:p>
            <ns1:r>
              <ns1:t>              -22.163677636567378,</ns1:t>
            </ns1:r>
          </ns1:p>
          <ns1:p>
            <ns1:r>
              <ns1:t>              327.649394715077,</ns1:t>
            </ns1:r>
          </ns1:p>
          <ns1:p>
            <ns1:r>
              <ns1:t>              451.67688035827547,</ns1:t>
            </ns1:r>
          </ns1:p>
          <ns1:p>
            <ns1:r>
              <ns1:t>              -20</ns1:t>
            </ns1:r>
          </ns1:p>
          <ns1:p>
            <ns1:r>
              <ns1:t>            ],</ns1:t>
            </ns1:r>
          </ns1:p>
          <ns1:p>
            <ns1:r>
              <ns1:t>            "world_height_A": 137.4162490704589,</ns1:t>
            </ns1:r>
          </ns1:p>
          <ns1:p>
            <ns1:r>
              <ns1:t>            "row_bounds_all_atoms_A": [</ns1:t>
            </ns1:r>
          </ns1:p>
          <ns1:p>
            <ns1:r>
              <ns1:t>              [</ns1:t>
            </ns1:r>
          </ns1:p>
          <ns1:p>
            <ns1:r>
              <ns1:t>                -50.828799843201054,</ns1:t>
            </ns1:r>
          </ns1:p>
          <ns1:p>
            <ns1:r>
              <ns1:t>                -37.68350453096272,</ns1:t>
            </ns1:r>
          </ns1:p>
          <ns1:p>
            <ns1:r>
              <ns1:t>                -69.17742045816664</ns1:t>
            </ns1:r>
          </ns1:p>
          <ns1:p>
            <ns1:r>
              <ns1:t>              ],</ns1:t>
            </ns1:r>
          </ns1:p>
          <ns1:p>
            <ns1:r>
              <ns1:t>              [</ns1:t>
            </ns1:r>
          </ns1:p>
          <ns1:p>
            <ns1:r>
              <ns1:t>                31.871523576751493,</ns1:t>
            </ns1:r>
          </ns1:p>
          <ns1:p>
            <ns1:r>
              <ns1:t>                76.58652488799828,</ns1:t>
            </ns1:r>
          </ns1:p>
          <ns1:p>
            <ns1:r>
              <ns1:t>                24.850065185031884</ns1:t>
            </ns1:r>
          </ns1:p>
          <ns1:p>
            <ns1:r>
              <ns1:t>              ]</ns1:t>
            </ns1:r>
          </ns1:p>
          <ns1:p>
            <ns1:r>
              <ns1:t>            ]</ns1:t>
            </ns1:r>
          </ns1:p>
          <ns1:p>
            <ns1:r>
              <ns1:t>          },</ns1:t>
            </ns1:r>
          </ns1:p>
          <ns1:p>
            <ns1:r>
              <ns1:t>          "LF-parent": {</ns1:t>
            </ns1:r>
          </ns1:p>
          <ns1:p>
            <ns1:r>
              <ns1:t>            "key": "LK_P088_08-LF-parent",</ns1:t>
            </ns1:r>
          </ns1:p>
          <ns1:p>
            <ns1:r>
              <ns1:t>            "source_path": "local/2026-10-25_linker-parent-comparison_001/parents/Design_280/exact.pdb",</ns1:t>
            </ns1:r>
          </ns1:p>
          <ns1:p>
            <ns1:r>
              <ns1:t>            "source_sha256": "cd01c89fbf40d0e577c10f20c2afa96c3deef09880d6c761314a1c5e9898bd4f",</ns1:t>
            </ns1:r>
          </ns1:p>
          <ns1:p>
            <ns1:r>
              <ns1:t>            "role": "LF",</ns1:t>
            </ns1:r>
          </ns1:p>
          <ns1:p>
            <ns1:r>
              <ns1:t>            "ranges_zero_based": {</ns1:t>
            </ns1:r>
          </ns1:p>
          <ns1:p>
            <ns1:r>
              <ns1:t>              "LF": [</ns1:t>
            </ns1:r>
          </ns1:p>
          <ns1:p>
            <ns1:r>
              <ns1:t>                0,</ns1:t>
            </ns1:r>
          </ns1:p>
          <ns1:p>
            <ns1:r>
              <ns1:t>                69</ns1:t>
            </ns1:r>
          </ns1:p>
          <ns1:p>
            <ns1:r>
              <ns1:t>              ]</ns1:t>
            </ns1:r>
          </ns1:p>
          <ns1:p>
            <ns1:r>
              <ns1:t>            },</ns1:t>
            </ns1:r>
          </ns1:p>
          <ns1:p>
            <ns1:r>
              <ns1:t>            "sequence": "EVSGATIDLRVKTCVDFKQTVNFFKLRNTQLPGSCTKDNTVLFLLEGLKLGYASRYFSIGSGSGSQQFS",</ns1:t>
            </ns1:r>
          </ns1:p>
          <ns1:p>
            <ns1:r>
              <ns1:t>            "rotation": [</ns1:t>
            </ns1:r>
          </ns1:p>
          <ns1:p>
            <ns1:r>
              <ns1:t>              [</ns1:t>
            </ns1:r>
          </ns1:p>
          <ns1:p>
            <ns1:r>
              <ns1:t>                0.9716521520149124,</ns1:t>
            </ns1:r>
          </ns1:p>
          <ns1:p>
            <ns1:r>
              <ns1:t>                0.23640963200020604,</ns1:t>
            </ns1:r>
          </ns1:p>
          <ns1:p>
            <ns1:r>
              <ns1:t>                -0.0015985785293137766</ns1:t>
            </ns1:r>
          </ns1:p>
          <ns1:p>
            <ns1:r>
              <ns1:t>              ],</ns1:t>
            </ns1:r>
          </ns1:p>
          <ns1:p>
            <ns1:r>
              <ns1:t>              [</ns1:t>
            </ns1:r>
          </ns1:p>
          <ns1:p>
            <ns1:r>
              <ns1:t>                -0.232382419508661,</ns1:t>
            </ns1:r>
          </ns1:p>
          <ns1:p>
            <ns1:r>
              <ns1:t>                0.9563002615331773,</ns1:t>
            </ns1:r>
          </ns1:p>
          <ns1:p>
            <ns1:r>
              <ns1:t>                0.17744913387297956</ns1:t>
            </ns1:r>
          </ns1:p>
          <ns1:p>
            <ns1:r>
              <ns1:t>              ],</ns1:t>
            </ns1:r>
          </ns1:p>
          <ns1:p>
            <ns1:r>
              <ns1:t>              [</ns1:t>
            </ns1:r>
          </ns1:p>
          <ns1:p>
            <ns1:r>
              <ns1:t>                0.04347938667791329,</ns1:t>
            </ns1:r>
          </ns1:p>
          <ns1:p>
            <ns1:r>
              <ns1:t>                -0.1720473610249762,</ns1:t>
            </ns1:r>
          </ns1:p>
          <ns1:p>
            <ns1:r>
              <ns1:t>                0.9841286681075418</ns1:t>
            </ns1:r>
          </ns1:p>
          <ns1:p>
            <ns1:r>
              <ns1:t>              ]</ns1:t>
            </ns1:r>
          </ns1:p>
          <ns1:p>
            <ns1:r>
              <ns1:t>            ],</ns1:t>
            </ns1:r>
          </ns1:p>
          <ns1:p>
            <ns1:r>
              <ns1:t>            "translation": [</ns1:t>
            </ns1:r>
          </ns1:p>
          <ns1:p>
            <ns1:r>
              <ns1:t>              3.3985903455718525,</ns1:t>
            </ns1:r>
          </ns1:p>
          <ns1:p>
            <ns1:r>
              <ns1:t>              -6.121573941428423,</ns1:t>
            </ns1:r>
          </ns1:p>
          <ns1:p>
            <ns1:r>
              <ns1:t>              6.014485827651381</ns1:t>
            </ns1:r>
          </ns1:p>
          <ns1:p>
            <ns1:r>
              <ns1:t>            ],</ns1:t>
            </ns1:r>
          </ns1:p>
          <ns1:p>
            <ns1:r>
              <ns1:t>            "core_fit_CA_RMSD_A": 1.3060904572635719,</ns1:t>
            </ns1:r>
          </ns1:p>
          <ns1:p>
            <ns1:r>
              <ns1:t>            "output": "local/2026-10-25_linker-parent-views_001/build/renders-v2/LK_P088_08-LF-parent.jpg",</ns1:t>
            </ns1:r>
          </ns1:p>
          <ns1:p>
            <ns1:r>
              <ns1:t>            "parent_or_fusion_id": "Design_280",</ns1:t>
            </ns1:r>
          </ns1:p>
          <ns1:p>
            <ns1:r>
              <ns1:t>            "design_id": "LK_P088_08",</ns1:t>
            </ns1:r>
          </ns1:p>
          <ns1:p>
            <ns1:r>
              <ns1:t>            "panel": "LF-parent",</ns1:t>
            </ns1:r>
          </ns1:p>
          <ns1:p>
            <ns1:r>
              <ns1:t>            "view": [</ns1:t>
            </ns1:r>
          </ns1:p>
          <ns1:p>
            <ns1:r>
              <ns1:t>              1,</ns1:t>
            </ns1:r>
          </ns1:p>
          <ns1:p>
            <ns1:r>
              <ns1:t>              0,</ns1:t>
            </ns1:r>
          </ns1:p>
          <ns1:p>
            <ns1:r>
              <ns1:t>              0,</ns1:t>
            </ns1:r>
          </ns1:p>
          <ns1:p>
            <ns1:r>
              <ns1:t>              0,</ns1:t>
            </ns1:r>
          </ns1:p>
          <ns1:p>
            <ns1:r>
              <ns1:t>              1,</ns1:t>
            </ns1:r>
          </ns1:p>
          <ns1:p>
            <ns1:r>
              <ns1:t>              0,</ns1:t>
            </ns1:r>
          </ns1:p>
          <ns1:p>
            <ns1:r>
              <ns1:t>              0,</ns1:t>
            </ns1:r>
          </ns1:p>
          <ns1:p>
            <ns1:r>
              <ns1:t>              0,</ns1:t>
            </ns1:r>
          </ns1:p>
          <ns1:p>
            <ns1:r>
              <ns1:t>              1,</ns1:t>
            </ns1:r>
          </ns1:p>
          <ns1:p>
            <ns1:r>
              <ns1:t>              0,</ns1:t>
            </ns1:r>
          </ns1:p>
          <ns1:p>
            <ns1:r>
              <ns1:t>              0,</ns1:t>
            </ns1:r>
          </ns1:p>
          <ns1:p>
            <ns1:r>
              <ns1:t>              -389.66313753667623,</ns1:t>
            </ns1:r>
          </ns1:p>
          <ns1:p>
            <ns1:r>
              <ns1:t>              -9.47863813322478,</ns1:t>
            </ns1:r>
          </ns1:p>
          <ns1:p>
            <ns1:r>
              <ns1:t>              19.45151017851778,</ns1:t>
            </ns1:r>
          </ns1:p>
          <ns1:p>
            <ns1:r>
              <ns1:t>              -22.163677636567378,</ns1:t>
            </ns1:r>
          </ns1:p>
          <ns1:p>
            <ns1:r>
              <ns1:t>              327.649394715077,</ns1:t>
            </ns1:r>
          </ns1:p>
          <ns1:p>
            <ns1:r>
              <ns1:t>              451.67688035827547,</ns1:t>
            </ns1:r>
          </ns1:p>
          <ns1:p>
            <ns1:r>
              <ns1:t>              -20</ns1:t>
            </ns1:r>
          </ns1:p>
          <ns1:p>
            <ns1:r>
              <ns1:t>            ],</ns1:t>
            </ns1:r>
          </ns1:p>
          <ns1:p>
            <ns1:r>
              <ns1:t>            "world_height_A": 137.4162490704589,</ns1:t>
            </ns1:r>
          </ns1:p>
          <ns1:p>
            <ns1:r>
              <ns1:t>            "row_bounds_all_atoms_A": [</ns1:t>
            </ns1:r>
          </ns1:p>
          <ns1:p>
            <ns1:r>
              <ns1:t>              [</ns1:t>
            </ns1:r>
          </ns1:p>
          <ns1:p>
            <ns1:r>
              <ns1:t>                -50.828799843201054,</ns1:t>
            </ns1:r>
          </ns1:p>
          <ns1:p>
            <ns1:r>
              <ns1:t>                -37.68350453096272,</ns1:t>
            </ns1:r>
          </ns1:p>
          <ns1:p>
            <ns1:r>
              <ns1:t>                -69.17742045816664</ns1:t>
            </ns1:r>
          </ns1:p>
          <ns1:p>
            <ns1:r>
              <ns1:t>              ],</ns1:t>
            </ns1:r>
          </ns1:p>
          <ns1:p>
            <ns1:r>
              <ns1:t>              [</ns1:t>
            </ns1:r>
          </ns1:p>
          <ns1:p>
            <ns1:r>
              <ns1:t>                31.871523576751493,</ns1:t>
            </ns1:r>
          </ns1:p>
          <ns1:p>
            <ns1:r>
              <ns1:t>                76.58652488799828,</ns1:t>
            </ns1:r>
          </ns1:p>
          <ns1:p>
            <ns1:r>
              <ns1:t>                24.850065185031884</ns1:t>
            </ns1:r>
          </ns1:p>
          <ns1:p>
            <ns1:r>
              <ns1:t>              ]</ns1:t>
            </ns1:r>
          </ns1:p>
          <ns1:p>
            <ns1:r>
              <ns1:t>            ]</ns1:t>
            </ns1:r>
          </ns1:p>
          <ns1:p>
            <ns1:r>
              <ns1:t>          }</ns1:t>
            </ns1:r>
          </ns1:p>
          <ns1:p>
            <ns1:r>
              <ns1:t>        },</ns1:t>
            </ns1:r>
          </ns1:p>
          <ns1:p>
            <ns1:r>
              <ns1:t>        "shared_camera": [</ns1:t>
            </ns1:r>
          </ns1:p>
          <ns1:p>
            <ns1:r>
              <ns1:t>          1,</ns1:t>
            </ns1:r>
          </ns1:p>
          <ns1:p>
            <ns1:r>
              <ns1:t>          0,</ns1:t>
            </ns1:r>
          </ns1:p>
          <ns1:p>
            <ns1:r>
              <ns1:t>          0,</ns1:t>
            </ns1:r>
          </ns1:p>
          <ns1:p>
            <ns1:r>
              <ns1:t>          0,</ns1:t>
            </ns1:r>
          </ns1:p>
          <ns1:p>
            <ns1:r>
              <ns1:t>          1,</ns1:t>
            </ns1:r>
          </ns1:p>
          <ns1:p>
            <ns1:r>
              <ns1:t>          0,</ns1:t>
            </ns1:r>
          </ns1:p>
          <ns1:p>
            <ns1:r>
              <ns1:t>          0,</ns1:t>
            </ns1:r>
          </ns1:p>
          <ns1:p>
            <ns1:r>
              <ns1:t>          0,</ns1:t>
            </ns1:r>
          </ns1:p>
          <ns1:p>
            <ns1:r>
              <ns1:t>          1,</ns1:t>
            </ns1:r>
          </ns1:p>
          <ns1:p>
            <ns1:r>
              <ns1:t>          0,</ns1:t>
            </ns1:r>
          </ns1:p>
          <ns1:p>
            <ns1:r>
              <ns1:t>          0,</ns1:t>
            </ns1:r>
          </ns1:p>
          <ns1:p>
            <ns1:r>
              <ns1:t>          -389.66313753667623,</ns1:t>
            </ns1:r>
          </ns1:p>
          <ns1:p>
            <ns1:r>
              <ns1:t>          -9.47863813322478,</ns1:t>
            </ns1:r>
          </ns1:p>
          <ns1:p>
            <ns1:r>
              <ns1:t>          19.45151017851778,</ns1:t>
            </ns1:r>
          </ns1:p>
          <ns1:p>
            <ns1:r>
              <ns1:t>          -22.163677636567378,</ns1:t>
            </ns1:r>
          </ns1:p>
          <ns1:p>
            <ns1:r>
              <ns1:t>          327.649394715077,</ns1:t>
            </ns1:r>
          </ns1:p>
          <ns1:p>
            <ns1:r>
              <ns1:t>          451.67688035827547,</ns1:t>
            </ns1:r>
          </ns1:p>
          <ns1:p>
            <ns1:r>
              <ns1:t>          -20</ns1:t>
            </ns1:r>
          </ns1:p>
          <ns1:p>
            <ns1:r>
              <ns1:t>        ],</ns1:t>
            </ns1:r>
          </ns1:p>
          <ns1:p>
            <ns1:r>
              <ns1:t>        "reference": "Separate saved Exact parent complexes flank the linked Exact refold; AP Novo linked design comparison remains on the following slide. Rigid display alignment preserves native poses; all native receptor residues shown."</ns1:t>
            </ns1:r>
          </ns1:p>
          <ns1:p>
            <ns1:r>
              <ns1:t>      }</ns1:t>
            </ns1:r>
          </ns1:p>
          <ns1:p>
            <ns1:r>
              <ns1:t>    },</ns1:t>
            </ns1:r>
          </ns1:p>
          <ns1:p>
            <ns1:r>
              <ns1:t>    "display": "unchanged embedded JPEGs extracted from hash-verified delivered25-design PPTX; no resampling, cropping or new coordinate transforms",</ns1:t>
            </ns1:r>
          </ns1:p>
          <ns1:p>
            <ns1:r>
              <ns1:t>    "scale": "full complex and interface have different zooms; no matched-scale claim",</ns1:t>
            </ns1:r>
          </ns1:p>
          <ns1:p>
            <ns1:r>
              <ns1:t>    "hotspots": "black sticks; original27pocket positions for original LigandForge, R40/Q37/E34 annotations for DLD",</ns1:t>
            </ns1:r>
          </ns1:p>
          <ns1:p>
            <ns1:r>
              <ns1:t>    "colors": {</ns1:t>
            </ns1:r>
          </ns1:p>
          <ns1:p>
            <ns1:r>
              <ns1:t>      "LigandForge": "#E69F00",</ns1:t>
            </ns1:r>
          </ns1:p>
          <ns1:p>
            <ns1:r>
              <ns1:t>      "linker": "#AA4499",</ns1:t>
            </ns1:r>
          </ns1:p>
          <ns1:p>
            <ns1:r>
              <ns1:t>      "ECD_binder": "#0072B2",</ns1:t>
            </ns1:r>
          </ns1:p>
          <ns1:p>
            <ns1:r>
              <ns1:t>      "receptor_ECD": "#009E73",</ns1:t>
            </ns1:r>
          </ns1:p>
          <ns1:p>
            <ns1:r>
              <ns1:t>      "receptor_remainder": "#9AA5B1",</ns1:t>
            </ns1:r>
          </ns1:p>
          <ns1:p>
            <ns1:r>
              <ns1:t>      "hotspots": "#000000"</ns1:t>
            </ns1:r>
          </ns1:p>
          <ns1:p>
            <ns1:r>
              <ns1:t>    }</ns1:t>
            </ns1:r>
          </ns1:p>
          <ns1:p>
            <ns1:r>
              <ns1:t>  },</ns1:t>
            </ns1:r>
          </ns1:p>
          <ns1:p>
            <ns1:r>
              <ns1:t>  "source_deck": "local/2026-10-25_affinity-confidence-selection-deck_002/output/GLP1R_Selected_ipSAE_gt0p895_Kd_lt10nM_v3.pptx",</ns1:t>
            </ns1:r>
          </ns1:p>
          <ns1:p>
            <ns1:r>
              <ns1:t>  "source_deck_sha256": "ad9333fdf6c0ce7d6982e2980d6aade78af256710dbc7917f7f39e41d35aa173",</ns1:t>
            </ns1:r>
          </ns1:p>
          <ns1:p>
            <ns1:r>
              <ns1:t>  "domain_labels": "LF A1-69  linker A70-101  ECD A102-153",</ns1:t>
            </ns1:r>
          </ns1:p>
          <ns1:p>
            <ns1:r>
              <ns1:t>  "display_scope": "native Exact complex and saved interface view; same identity colors, independent zooms; no new coordinates or inferred agonism"</ns1:t>
            </ns1:r>
          </ns1:p>
          <ns1:p>
            <ns1:r>
              <ns1:t>}</ns1:t>
            </ns1:r>
          </ns1:p>
        </ns0:txBody>
      </ns0:sp>
      <ns0:sp>
        <ns0:nvSpPr>
          <ns0:cNvPr id="4" name="Slide Number Placeholder 3"/>
          <ns0:cNvSpPr>
            <ns1:spLocks noGrp="1"/>
          </ns0:cNvSpPr>
          <ns0:nvPr>
            <ns0:ph type="sldNum" idx="5"/>
          </ns0:nvPr>
        </ns0:nvSpPr>
        <ns0:spPr/>
        <ns0:txBody>
          <ns1:bodyPr/>
          <ns1:lstStyle/>
          <ns1:p/>
        </ns0:txBody>
      </ns0:sp>
    </ns0:spTree>
  </ns0:cSld>
  <ns0:clrMapOvr>
    <ns1:masterClrMapping/>
  </ns0:clrMapOvr>
</ns0:notes>
</file>

<file path=ppt/notesSlides/notesSlide11.xml><?xml version="1.0" encoding="utf-8"?>
<ns0:notes xmlns:ns0="http://schemas.openxmlformats.org/presentationml/2006/main" xmlns:ns1="http://schemas.openxmlformats.org/drawingml/2006/main">
  <ns0:cSld>
    <ns0:spTree>
      <ns0:nvGrpSpPr>
        <ns0:cNvPr id="1" name=""/>
        <ns0:cNvGrpSpPr/>
        <ns0:nvPr/>
      </ns0:nvGrpSpPr>
      <ns0:grpSpPr>
        <ns1:xfrm/>
      </ns0:grpSpPr>
      <ns0:sp>
        <ns0:nvSpPr>
          <ns0:cNvPr id="2" name="Slide Image Placeholder 1"/>
          <ns0:cNvSpPr>
            <ns1:spLocks noGrp="1"/>
          </ns0:cNvSpPr>
          <ns0:nvPr>
            <ns0:ph type="sldImg" idx="0"/>
          </ns0:nvPr>
        </ns0:nvSpPr>
        <ns0:spPr/>
      </ns0:sp>
      <ns0:sp>
        <ns0:nvSpPr>
          <ns0:cNvPr id="3" name="Notes Placeholder 2"/>
          <ns0:cNvSpPr>
            <ns1:spLocks noGrp="1"/>
          </ns0:cNvSpPr>
          <ns0:nvPr>
            <ns0:ph type="body" idx="1"/>
          </ns0:nvPr>
        </ns0:nvSpPr>
        <ns0:spPr/>
        <ns0:txBody>
          <ns1:bodyPr/>
          <ns1:lstStyle/>
          <ns1:p>
            <ns1:r>
              <ns1:t>{</ns1:t>
            </ns1:r>
          </ns1:p>
          <ns1:p>
            <ns1:r>
              <ns1:t>  "candidate": "LK_P050_03",</ns1:t>
            </ns1:r>
          </ns1:p>
          <ns1:p>
            <ns1:r>
              <ns1:t>  "final_rank": 6,</ns1:t>
            </ns1:r>
          </ns1:p>
          <ns1:p>
            <ns1:r>
              <ns1:t>  "selection": "Exact ipSAE&gt;0.895 and DeltaForge predicted Kd&lt;10nM; first20 by Exact ipSAE descending",</ns1:t>
            </ns1:r>
          </ns1:p>
          <ns1:p>
            <ns1:r>
              <ns1:t>  "sequence_sha256": "3f52e9ffe4a9aa4e25918074b0463245934a22fc87c9def620a853f340dd3ba9",</ns1:t>
            </ns1:r>
          </ns1:p>
          <ns1:p>
            <ns1:r>
              <ns1:t>  "sources": {</ns1:t>
            </ns1:r>
          </ns1:p>
          <ns1:p>
            <ns1:r>
              <ns1:t>    "source_table": {</ns1:t>
            </ns1:r>
          </ns1:p>
          <ns1:p>
            <ns1:r>
              <ns1:t>      "path": "local/2026-10-25_lf50-dld26-50-deltaforge_001/output/GLP1R_DLD_Top50_DeltaForge_Kd_and_Boltz2_Metrics.csv",</ns1:t>
            </ns1:r>
          </ns1:p>
          <ns1:p>
            <ns1:r>
              <ns1:t>      "sha256": "da9569bf0e8b74cce3d6792eb260d6a4b17b35e6f46e0793d49f02c0d3a0e728"</ns1:t>
            </ns1:r>
          </ns1:p>
          <ns1:p>
            <ns1:r>
              <ns1:t>    },</ns1:t>
            </ns1:r>
          </ns1:p>
          <ns1:p>
            <ns1:r>
              <ns1:t>    "native_cif": {</ns1:t>
            </ns1:r>
          </ns1:p>
          <ns1:p>
            <ns1:r>
              <ns1:t>      "path": "local/2026-10-25_linker-top100-review_001/models/LK_P050_03/boltz2.cif",</ns1:t>
            </ns1:r>
          </ns1:p>
          <ns1:p>
            <ns1:r>
              <ns1:t>      "sha256": "3501ffce18d848606153666f7594ee3d1d85e2ee6a1013f2d0ba58f4c5eadd01"</ns1:t>
            </ns1:r>
          </ns1:p>
          <ns1:p>
            <ns1:r>
              <ns1:t>    },</ns1:t>
            </ns1:r>
          </ns1:p>
          <ns1:p>
            <ns1:r>
              <ns1:t>    "scoring_pdb": {</ns1:t>
            </ns1:r>
          </ns1:p>
          <ns1:p>
            <ns1:r>
              <ns1:t>      "path": "local/2026-10-25_dld-top25-deltaforge_001/payload/structures/LK_P050_03.pdb",</ns1:t>
            </ns1:r>
          </ns1:p>
          <ns1:p>
            <ns1:r>
              <ns1:t>      "sha256": "d93360b3c50b852e9269bba6b1707f687b0257ac127e970d1704a0ce605dddcc"</ns1:t>
            </ns1:r>
          </ns1:p>
          <ns1:p>
            <ns1:r>
              <ns1:t>    },</ns1:t>
            </ns1:r>
          </ns1:p>
          <ns1:p>
            <ns1:r>
              <ns1:t>    "DeltaForge_result": {</ns1:t>
            </ns1:r>
          </ns1:p>
          <ns1:p>
            <ns1:r>
              <ns1:t>      "path": "campaigns/glp1r-r40-design/runs/2026-10-25_dld-top25-deltaforge_001/03_filtering/deltaforge_results/LK_P050_03.json",</ns1:t>
            </ns1:r>
          </ns1:p>
          <ns1:p>
            <ns1:r>
              <ns1:t>      "sha256": "f98ec71067dc4d34d23d94b3e0bebe182ee6b945e26c0ca94b4222daec7651c8"</ns1:t>
            </ns1:r>
          </ns1:p>
          <ns1:p>
            <ns1:r>
              <ns1:t>    }</ns1:t>
            </ns1:r>
          </ns1:p>
          <ns1:p>
            <ns1:r>
              <ns1:t>  },</ns1:t>
            </ns1:r>
          </ns1:p>
          <ns1:p>
            <ns1:r>
              <ns1:t>  "source_ledger": "campaigns/glp1r-final-writeup/runs/2026-10-25_final20-writeup_001/04_analysis/provenance-ledger.json",</ns1:t>
            </ns1:r>
          </ns1:p>
          <ns1:p>
            <ns1:r>
              <ns1:t>  "scorer": "deltaforge_v10_2_unified_parallel / v10_2_unified_parallel_2026_05_08",</ns1:t>
            </ns1:r>
          </ns1:p>
          <ns1:p>
            <ns1:r>
              <ns1:t>  "calibration": "deltaforge_v10_boltz2_calibrated_gbr / v10_boltz2_gbr_2026_03_29",</ns1:t>
            </ns1:r>
          </ns1:p>
          <ns1:p>
            <ns1:r>
              <ns1:t>  "scope": "one complete candidate A against one receptor B; computational, no experimental Kd or activation"</ns1:t>
            </ns1:r>
          </ns1:p>
          <ns1:p>
            <ns1:r>
              <ns1:t>}</ns1:t>
            </ns1:r>
          </ns1:p>
        </ns0:txBody>
      </ns0:sp>
      <ns0:sp>
        <ns0:nvSpPr>
          <ns0:cNvPr id="4" name="Slide Number Placeholder 3"/>
          <ns0:cNvSpPr>
            <ns1:spLocks noGrp="1"/>
          </ns0:cNvSpPr>
          <ns0:nvPr>
            <ns0:ph type="sldNum" idx="5"/>
          </ns0:nvPr>
        </ns0:nvSpPr>
        <ns0:spPr/>
        <ns0:txBody>
          <ns1:bodyPr/>
          <ns1:lstStyle/>
          <ns1:p/>
        </ns0:txBody>
      </ns0:sp>
    </ns0:spTree>
  </ns0:cSld>
  <ns0:clrMapOvr>
    <ns1:masterClrMapping/>
  </ns0:clrMapOvr>
</ns0:notes>
</file>

<file path=ppt/notesSlides/notesSlide12.xml><?xml version="1.0" encoding="utf-8"?>
<ns0:notes xmlns:ns0="http://schemas.openxmlformats.org/presentationml/2006/main" xmlns:ns1="http://schemas.openxmlformats.org/drawingml/2006/main">
  <ns0:cSld>
    <ns0:spTree>
      <ns0:nvGrpSpPr>
        <ns0:cNvPr id="1" name=""/>
        <ns0:cNvGrpSpPr/>
        <ns0:nvPr/>
      </ns0:nvGrpSpPr>
      <ns0:grpSpPr>
        <ns1:xfrm/>
      </ns0:grpSpPr>
      <ns0:sp>
        <ns0:nvSpPr>
          <ns0:cNvPr id="2" name="Slide Image Placeholder 1"/>
          <ns0:cNvSpPr>
            <ns1:spLocks noGrp="1"/>
          </ns0:cNvSpPr>
          <ns0:nvPr>
            <ns0:ph type="sldImg" idx="0"/>
          </ns0:nvPr>
        </ns0:nvSpPr>
        <ns0:spPr/>
      </ns0:sp>
      <ns0:sp>
        <ns0:nvSpPr>
          <ns0:cNvPr id="3" name="Notes Placeholder 2"/>
          <ns0:cNvSpPr>
            <ns1:spLocks noGrp="1"/>
          </ns0:cNvSpPr>
          <ns0:nvPr>
            <ns0:ph type="body" idx="1"/>
          </ns0:nvPr>
        </ns0:nvSpPr>
        <ns0:spPr/>
        <ns0:txBody>
          <ns1:bodyPr/>
          <ns1:lstStyle/>
          <ns1:p>
            <ns1:r>
              <ns1:t>{</ns1:t>
            </ns1:r>
          </ns1:p>
          <ns1:p>
            <ns1:r>
              <ns1:t>  "candidate": "LK_P050_03",</ns1:t>
            </ns1:r>
          </ns1:p>
          <ns1:p>
            <ns1:r>
              <ns1:t>  "final_rank": 6,</ns1:t>
            </ns1:r>
          </ns1:p>
          <ns1:p>
            <ns1:r>
              <ns1:t>  "native_model_sha256": "3501ffce18d848606153666f7594ee3d1d85e2ee6a1013f2d0ba58f4c5eadd01",</ns1:t>
            </ns1:r>
          </ns1:p>
          <ns1:p>
            <ns1:r>
              <ns1:t>  "structure_views": {</ns1:t>
            </ns1:r>
          </ns1:p>
          <ns1:p>
            <ns1:r>
              <ns1:t>    "final_rank": 6,</ns1:t>
            </ns1:r>
          </ns1:p>
          <ns1:p>
            <ns1:r>
              <ns1:t>    "design_id": "LK_P050_03",</ns1:t>
            </ns1:r>
          </ns1:p>
          <ns1:p>
            <ns1:r>
              <ns1:t>    "sequence_sha256": "3f52e9ffe4a9aa4e25918074b0463245934a22fc87c9def620a853f340dd3ba9",</ns1:t>
            </ns1:r>
          </ns1:p>
          <ns1:p>
            <ns1:r>
              <ns1:t>    "native_model_sha256": "3501ffce18d848606153666f7594ee3d1d85e2ee6a1013f2d0ba58f4c5eadd01",</ns1:t>
            </ns1:r>
          </ns1:p>
          <ns1:p>
            <ns1:r>
              <ns1:t>    "scoring_pdb_sha256": "d93360b3c50b852e9269bba6b1707f687b0257ac127e970d1704a0ce605dddcc",</ns1:t>
            </ns1:r>
          </ns1:p>
          <ns1:p>
            <ns1:r>
              <ns1:t>    "overview": {</ns1:t>
            </ns1:r>
          </ns1:p>
          <ns1:p>
            <ns1:r>
              <ns1:t>      "source_slide": 35,</ns1:t>
            </ns1:r>
          </ns1:p>
          <ns1:p>
            <ns1:r>
              <ns1:t>      "source_picture_index": 1,</ns1:t>
            </ns1:r>
          </ns1:p>
          <ns1:p>
            <ns1:r>
              <ns1:t>      "embedded_media": "ppt/media/image36.jpeg",</ns1:t>
            </ns1:r>
          </ns1:p>
          <ns1:p>
            <ns1:r>
              <ns1:t>      "image_sha256": "2ee98d4cdb3de366c85de422cad0ae63f3813d754efd902f8ff89297cf876610",</ns1:t>
            </ns1:r>
          </ns1:p>
          <ns1:p>
            <ns1:r>
              <ns1:t>      "asset": "assets/LK_P050_03-complex.jpg"</ns1:t>
            </ns1:r>
          </ns1:p>
          <ns1:p>
            <ns1:r>
              <ns1:t>    },</ns1:t>
            </ns1:r>
          </ns1:p>
          <ns1:p>
            <ns1:r>
              <ns1:t>    "interface": {</ns1:t>
            </ns1:r>
          </ns1:p>
          <ns1:p>
            <ns1:r>
              <ns1:t>      "source_slide": 36,</ns1:t>
            </ns1:r>
          </ns1:p>
          <ns1:p>
            <ns1:r>
              <ns1:t>      "source_picture_index": 1,</ns1:t>
            </ns1:r>
          </ns1:p>
          <ns1:p>
            <ns1:r>
              <ns1:t>      "embedded_media": "ppt/media/image39.jpeg",</ns1:t>
            </ns1:r>
          </ns1:p>
          <ns1:p>
            <ns1:r>
              <ns1:t>      "image_sha256": "541197164aacfc7af9ba3ba456b4b1642e727122ccb6d0057d30fba456ab570b",</ns1:t>
            </ns1:r>
          </ns1:p>
          <ns1:p>
            <ns1:r>
              <ns1:t>      "asset": "assets/LK_P050_03-interface.jpg"</ns1:t>
            </ns1:r>
          </ns1:p>
          <ns1:p>
            <ns1:r>
              <ns1:t>    },</ns1:t>
            </ns1:r>
          </ns1:p>
          <ns1:p>
            <ns1:r>
              <ns1:t>    "rendering_provenance": {</ns1:t>
            </ns1:r>
          </ns1:p>
          <ns1:p>
            <ns1:r>
              <ns1:t>      "DeltaForge_source_PDB_sha256": "d93360b3c50b852e9269bba6b1707f687b0257ac127e970d1704a0ce605dddcc",</ns1:t>
            </ns1:r>
          </ns1:p>
          <ns1:p>
            <ns1:r>
              <ns1:t>      "role_ranges_zero_based": {</ns1:t>
            </ns1:r>
          </ns1:p>
          <ns1:p>
            <ns1:r>
              <ns1:t>        "ECD": [</ns1:t>
            </ns1:r>
          </ns1:p>
          <ns1:p>
            <ns1:r>
              <ns1:t>          0,</ns1:t>
            </ns1:r>
          </ns1:p>
          <ns1:p>
            <ns1:r>
              <ns1:t>          53</ns1:t>
            </ns1:r>
          </ns1:p>
          <ns1:p>
            <ns1:r>
              <ns1:t>        ],</ns1:t>
            </ns1:r>
          </ns1:p>
          <ns1:p>
            <ns1:r>
              <ns1:t>        "linker": [</ns1:t>
            </ns1:r>
          </ns1:p>
          <ns1:p>
            <ns1:r>
              <ns1:t>          53,</ns1:t>
            </ns1:r>
          </ns1:p>
          <ns1:p>
            <ns1:r>
              <ns1:t>          80</ns1:t>
            </ns1:r>
          </ns1:p>
          <ns1:p>
            <ns1:r>
              <ns1:t>        ],</ns1:t>
            </ns1:r>
          </ns1:p>
          <ns1:p>
            <ns1:r>
              <ns1:t>        "LF": [</ns1:t>
            </ns1:r>
          </ns1:p>
          <ns1:p>
            <ns1:r>
              <ns1:t>          80,</ns1:t>
            </ns1:r>
          </ns1:p>
          <ns1:p>
            <ns1:r>
              <ns1:t>          149</ns1:t>
            </ns1:r>
          </ns1:p>
          <ns1:p>
            <ns1:r>
              <ns1:t>        ]</ns1:t>
            </ns1:r>
          </ns1:p>
          <ns1:p>
            <ns1:r>
              <ns1:t>      },</ns1:t>
            </ns1:r>
          </ns1:p>
          <ns1:p>
            <ns1:r>
              <ns1:t>      "model_sha256": "3501ffce18d848606153666f7594ee3d1d85e2ee6a1013f2d0ba58f4c5eadd01",</ns1:t>
            </ns1:r>
          </ns1:p>
          <ns1:p>
            <ns1:r>
              <ns1:t>      "source_run": "2026-10-24_pair183-extracellular-exact_001",</ns1:t>
            </ns1:r>
          </ns1:p>
          <ns1:p>
            <ns1:r>
              <ns1:t>      "source_methods": [</ns1:t>
            </ns1:r>
          </ns1:p>
          <ns1:p>
            <ns1:r>
              <ns1:t>        "https://github.com/DunbrackLab/IPSAE",</ns1:t>
            </ns1:r>
          </ns1:p>
          <ns1:p>
            <ns1:r>
              <ns1:t>        "https://github.com/wallnerlab/DockQ",</ns1:t>
            </ns1:r>
          </ns1:p>
          <ns1:p>
            <ns1:r>
              <ns1:t>        "https://zhanggroup.org/TM-score/"</ns1:t>
            </ns1:r>
          </ns1:p>
          <ns1:p>
            <ns1:r>
              <ns1:t>      ],</ns1:t>
            </ns1:r>
          </ns1:p>
          <ns1:p>
            <ns1:r>
              <ns1:t>      "saved_display_appendix": {</ns1:t>
            </ns1:r>
          </ns1:p>
          <ns1:p>
            <ns1:r>
              <ns1:t>        "parent_sources": {</ns1:t>
            </ns1:r>
          </ns1:p>
          <ns1:p>
            <ns1:r>
              <ns1:t>          "ECD-parent": {</ns1:t>
            </ns1:r>
          </ns1:p>
          <ns1:p>
            <ns1:r>
              <ns1:t>            "key": "LK_P050_03-ECD-parent",</ns1:t>
            </ns1:r>
          </ns1:p>
          <ns1:p>
            <ns1:r>
              <ns1:t>            "source_path": "local/2026-10-25_linker-parent-comparison_001/parents/S11_02_089/exact.pdb",</ns1:t>
            </ns1:r>
          </ns1:p>
          <ns1:p>
            <ns1:r>
              <ns1:t>            "source_sha256": "33a626296d1404a15d5b43fc0af2d090024dd0f999abdc0c455da40d2747c0cc",</ns1:t>
            </ns1:r>
          </ns1:p>
          <ns1:p>
            <ns1:r>
              <ns1:t>            "role": "ECD",</ns1:t>
            </ns1:r>
          </ns1:p>
          <ns1:p>
            <ns1:r>
              <ns1:t>            "ranges_zero_based": {</ns1:t>
            </ns1:r>
          </ns1:p>
          <ns1:p>
            <ns1:r>
              <ns1:t>              "ECD": [</ns1:t>
            </ns1:r>
          </ns1:p>
          <ns1:p>
            <ns1:r>
              <ns1:t>                0,</ns1:t>
            </ns1:r>
          </ns1:p>
          <ns1:p>
            <ns1:r>
              <ns1:t>                53</ns1:t>
            </ns1:r>
          </ns1:p>
          <ns1:p>
            <ns1:r>
              <ns1:t>              ]</ns1:t>
            </ns1:r>
          </ns1:p>
          <ns1:p>
            <ns1:r>
              <ns1:t>            },</ns1:t>
            </ns1:r>
          </ns1:p>
          <ns1:p>
            <ns1:r>
              <ns1:t>            "sequence": "MGISALEEFDRLRRASILLSLIRSGSTGSGFDAFLEKSGVKGAPAFLAVPSSN",</ns1:t>
            </ns1:r>
          </ns1:p>
          <ns1:p>
            <ns1:r>
              <ns1:t>            "rotation": [</ns1:t>
            </ns1:r>
          </ns1:p>
          <ns1:p>
            <ns1:r>
              <ns1:t>              [</ns1:t>
            </ns1:r>
          </ns1:p>
          <ns1:p>
            <ns1:r>
              <ns1:t>                0.4601914785026544,</ns1:t>
            </ns1:r>
          </ns1:p>
          <ns1:p>
            <ns1:r>
              <ns1:t>                0.8740030154194312,</ns1:t>
            </ns1:r>
          </ns1:p>
          <ns1:p>
            <ns1:r>
              <ns1:t>                0.15602098281507715</ns1:t>
            </ns1:r>
          </ns1:p>
          <ns1:p>
            <ns1:r>
              <ns1:t>              ],</ns1:t>
            </ns1:r>
          </ns1:p>
          <ns1:p>
            <ns1:r>
              <ns1:t>              [</ns1:t>
            </ns1:r>
          </ns1:p>
          <ns1:p>
            <ns1:r>
              <ns1:t>                -0.3553315001691105,</ns1:t>
            </ns1:r>
          </ns1:p>
          <ns1:p>
            <ns1:r>
              <ns1:t>                0.3423619380873384,</ns1:t>
            </ns1:r>
          </ns1:p>
          <ns1:p>
            <ns1:r>
              <ns1:t>                -0.8697860883530819</ns1:t>
            </ns1:r>
          </ns1:p>
          <ns1:p>
            <ns1:r>
              <ns1:t>              ],</ns1:t>
            </ns1:r>
          </ns1:p>
          <ns1:p>
            <ns1:r>
              <ns1:t>              [</ns1:t>
            </ns1:r>
          </ns1:p>
          <ns1:p>
            <ns1:r>
              <ns1:t>                -0.8136113209777376,</ns1:t>
            </ns1:r>
          </ns1:p>
          <ns1:p>
            <ns1:r>
              <ns1:t>                0.344828970313086,</ns1:t>
            </ns1:r>
          </ns1:p>
          <ns1:p>
            <ns1:r>
              <ns1:t>                0.4681128541492088</ns1:t>
            </ns1:r>
          </ns1:p>
          <ns1:p>
            <ns1:r>
              <ns1:t>              ]</ns1:t>
            </ns1:r>
          </ns1:p>
          <ns1:p>
            <ns1:r>
              <ns1:t>            ],</ns1:t>
            </ns1:r>
          </ns1:p>
          <ns1:p>
            <ns1:r>
              <ns1:t>            "translation": [</ns1:t>
            </ns1:r>
          </ns1:p>
          <ns1:p>
            <ns1:r>
              <ns1:t>              2.061273489264341,</ns1:t>
            </ns1:r>
          </ns1:p>
          <ns1:p>
            <ns1:r>
              <ns1:t>              3.6943565127962046,</ns1:t>
            </ns1:r>
          </ns1:p>
          <ns1:p>
            <ns1:r>
              <ns1:t>              -2.618342795969485</ns1:t>
            </ns1:r>
          </ns1:p>
          <ns1:p>
            <ns1:r>
              <ns1:t>            ],</ns1:t>
            </ns1:r>
          </ns1:p>
          <ns1:p>
            <ns1:r>
              <ns1:t>            "core_fit_CA_RMSD_A": 0.7641443086142279,</ns1:t>
            </ns1:r>
          </ns1:p>
          <ns1:p>
            <ns1:r>
              <ns1:t>            "output": "local/2026-10-25_linker-parent-views_001/build/renders-v2/LK_P050_03-ECD-parent.jpg",</ns1:t>
            </ns1:r>
          </ns1:p>
          <ns1:p>
            <ns1:r>
              <ns1:t>            "parent_or_fusion_id": "S11_02_089",</ns1:t>
            </ns1:r>
          </ns1:p>
          <ns1:p>
            <ns1:r>
              <ns1:t>            "design_id": "LK_P050_03",</ns1:t>
            </ns1:r>
          </ns1:p>
          <ns1:p>
            <ns1:r>
              <ns1:t>            "panel": "ECD-parent",</ns1:t>
            </ns1:r>
          </ns1:p>
          <ns1:p>
            <ns1:r>
              <ns1:t>            "view": [</ns1:t>
            </ns1:r>
          </ns1:p>
          <ns1:p>
            <ns1:r>
              <ns1:t>              1,</ns1:t>
            </ns1:r>
          </ns1:p>
          <ns1:p>
            <ns1:r>
              <ns1:t>              0,</ns1:t>
            </ns1:r>
          </ns1:p>
          <ns1:p>
            <ns1:r>
              <ns1:t>              0,</ns1:t>
            </ns1:r>
          </ns1:p>
          <ns1:p>
            <ns1:r>
              <ns1:t>              0,</ns1:t>
            </ns1:r>
          </ns1:p>
          <ns1:p>
            <ns1:r>
              <ns1:t>              1,</ns1:t>
            </ns1:r>
          </ns1:p>
          <ns1:p>
            <ns1:r>
              <ns1:t>              0,</ns1:t>
            </ns1:r>
          </ns1:p>
          <ns1:p>
            <ns1:r>
              <ns1:t>              0,</ns1:t>
            </ns1:r>
          </ns1:p>
          <ns1:p>
            <ns1:r>
              <ns1:t>              0,</ns1:t>
            </ns1:r>
          </ns1:p>
          <ns1:p>
            <ns1:r>
              <ns1:t>              1,</ns1:t>
            </ns1:r>
          </ns1:p>
          <ns1:p>
            <ns1:r>
              <ns1:t>              0,</ns1:t>
            </ns1:r>
          </ns1:p>
          <ns1:p>
            <ns1:r>
              <ns1:t>              0,</ns1:t>
            </ns1:r>
          </ns1:p>
          <ns1:p>
            <ns1:r>
              <ns1:t>              -401.09371690895415,</ns1:t>
            </ns1:r>
          </ns1:p>
          <ns1:p>
            <ns1:r>
              <ns1:t>              -8.021886142584709,</ns1:t>
            </ns1:r>
          </ns1:p>
          <ns1:p>
            <ns1:r>
              <ns1:t>              16.391122804162897,</ns1:t>
            </ns1:r>
          </ns1:p>
          <ns1:p>
            <ns1:r>
              <ns1:t>              -17.88703277562545,</ns1:t>
            </ns1:r>
          </ns1:p>
          <ns1:p>
            <ns1:r>
              <ns1:t>              329.61411770915964,</ns1:t>
            </ns1:r>
          </ns1:p>
          <ns1:p>
            <ns1:r>
              <ns1:t>              472.57331610874866,</ns1:t>
            </ns1:r>
          </ns1:p>
          <ns1:p>
            <ns1:r>
              <ns1:t>              -20</ns1:t>
            </ns1:r>
          </ns1:p>
          <ns1:p>
            <ns1:r>
              <ns1:t>            ],</ns1:t>
            </ns1:r>
          </ns1:p>
          <ns1:p>
            <ns1:r>
              <ns1:t>            "world_height_A": 141.44728816738333,</ns1:t>
            </ns1:r>
          </ns1:p>
          <ns1:p>
            <ns1:r>
              <ns1:t>            "row_bounds_all_atoms_A": [</ns1:t>
            </ns1:r>
          </ns1:p>
          <ns1:p>
            <ns1:r>
              <ns1:t>              [</ns1:t>
            </ns1:r>
          </ns1:p>
          <ns1:p>
            <ns1:r>
              <ns1:t>                -50.79037642370106,</ns1:t>
            </ns1:r>
          </ns1:p>
          <ns1:p>
            <ns1:r>
              <ns1:t>                -43.82516413507821,</ns1:t>
            </ns1:r>
          </ns1:p>
          <ns1:p>
            <ns1:r>
              <ns1:t>                -74.36663197541993</ns1:t>
            </ns1:r>
          </ns1:p>
          <ns1:p>
            <ns1:r>
              <ns1:t>              ],</ns1:t>
            </ns1:r>
          </ns1:p>
          <ns1:p>
            <ns1:r>
              <ns1:t>              [</ns1:t>
            </ns1:r>
          </ns1:p>
          <ns1:p>
            <ns1:r>
              <ns1:t>                34.746604138531644,</ns1:t>
            </ns1:r>
          </ns1:p>
          <ns1:p>
            <ns1:r>
              <ns1:t>                76.607409743404,</ns1:t>
            </ns1:r>
          </ns1:p>
          <ns1:p>
            <ns1:r>
              <ns1:t>                38.592566424169036</ns1:t>
            </ns1:r>
          </ns1:p>
          <ns1:p>
            <ns1:r>
              <ns1:t>              ]</ns1:t>
            </ns1:r>
          </ns1:p>
          <ns1:p>
            <ns1:r>
              <ns1:t>            ]</ns1:t>
            </ns1:r>
          </ns1:p>
          <ns1:p>
            <ns1:r>
              <ns1:t>          },</ns1:t>
            </ns1:r>
          </ns1:p>
          <ns1:p>
            <ns1:r>
              <ns1:t>          "APNovo": {</ns1:t>
            </ns1:r>
          </ns1:p>
          <ns1:p>
            <ns1:r>
              <ns1:t>            "key": "LK_P050_03-APNovo",</ns1:t>
            </ns1:r>
          </ns1:p>
          <ns1:p>
            <ns1:r>
              <ns1:t>            "source_path": "local/2026-10-25_linker-top100-review_001/build/comparisons/LK_P050_03/reference.pdb",</ns1:t>
            </ns1:r>
          </ns1:p>
          <ns1:p>
            <ns1:r>
              <ns1:t>            "source_sha256": "8dee8ef02946bbe964a88a56cd54fba23f5de38095f7ab903d0abea27614f4fe",</ns1:t>
            </ns1:r>
          </ns1:p>
          <ns1:p>
            <ns1:r>
              <ns1:t>            "role": "fusion",</ns1:t>
            </ns1:r>
          </ns1:p>
          <ns1:p>
            <ns1:r>
              <ns1:t>            "ranges_zero_based": {</ns1:t>
            </ns1:r>
          </ns1:p>
          <ns1:p>
            <ns1:r>
              <ns1:t>              "ECD": [</ns1:t>
            </ns1:r>
          </ns1:p>
          <ns1:p>
            <ns1:r>
              <ns1:t>                0,</ns1:t>
            </ns1:r>
          </ns1:p>
          <ns1:p>
            <ns1:r>
              <ns1:t>                53</ns1:t>
            </ns1:r>
          </ns1:p>
          <ns1:p>
            <ns1:r>
              <ns1:t>              ],</ns1:t>
            </ns1:r>
          </ns1:p>
          <ns1:p>
            <ns1:r>
              <ns1:t>              "linker": [</ns1:t>
            </ns1:r>
          </ns1:p>
          <ns1:p>
            <ns1:r>
              <ns1:t>                53,</ns1:t>
            </ns1:r>
          </ns1:p>
          <ns1:p>
            <ns1:r>
              <ns1:t>                80</ns1:t>
            </ns1:r>
          </ns1:p>
          <ns1:p>
            <ns1:r>
              <ns1:t>              ],</ns1:t>
            </ns1:r>
          </ns1:p>
          <ns1:p>
            <ns1:r>
              <ns1:t>              "LF": [</ns1:t>
            </ns1:r>
          </ns1:p>
          <ns1:p>
            <ns1:r>
              <ns1:t>                80,</ns1:t>
            </ns1:r>
          </ns1:p>
          <ns1:p>
            <ns1:r>
              <ns1:t>                149</ns1:t>
            </ns1:r>
          </ns1:p>
          <ns1:p>
            <ns1:r>
              <ns1:t>              ]</ns1:t>
            </ns1:r>
          </ns1:p>
          <ns1:p>
            <ns1:r>
              <ns1:t>            },</ns1:t>
            </ns1:r>
          </ns1:p>
          <ns1:p>
            <ns1:r>
              <ns1:t>            "sequence": "MGISALEEFDRLRRASILLSLIRSGSTGSGFDAFLEKSGVKGAPAFLAVPSSNGFDFVPSPTSSAPPLLCQGTEPAENTREVSGATIDLRVKTCVDFKQTVNFFKLRNTQLPGSCTKDNTVLFLLEGLKLGYASRYFSIGSGSGSQQFS",</ns1:t>
            </ns1:r>
          </ns1:p>
          <ns1:p>
            <ns1:r>
              <ns1:t>            "rotation": [</ns1:t>
            </ns1:r>
          </ns1:p>
          <ns1:p>
            <ns1:r>
              <ns1:t>              [</ns1:t>
            </ns1:r>
          </ns1:p>
          <ns1:p>
            <ns1:r>
              <ns1:t>                -0.02008677705699924,</ns1:t>
            </ns1:r>
          </ns1:p>
          <ns1:p>
            <ns1:r>
              <ns1:t>                -0.9683384035430427,</ns1:t>
            </ns1:r>
          </ns1:p>
          <ns1:p>
            <ns1:r>
              <ns1:t>                0.24883197709851146</ns1:t>
            </ns1:r>
          </ns1:p>
          <ns1:p>
            <ns1:r>
              <ns1:t>              ],</ns1:t>
            </ns1:r>
          </ns1:p>
          <ns1:p>
            <ns1:r>
              <ns1:t>              [</ns1:t>
            </ns1:r>
          </ns1:p>
          <ns1:p>
            <ns1:r>
              <ns1:t>                0.9284672501262587,</ns1:t>
            </ns1:r>
          </ns1:p>
          <ns1:p>
            <ns1:r>
              <ns1:t>                -0.11038843410126642,</ns1:t>
            </ns1:r>
          </ns1:p>
          <ns1:p>
            <ns1:r>
              <ns1:t>                -0.35463061674728635</ns1:t>
            </ns1:r>
          </ns1:p>
          <ns1:p>
            <ns1:r>
              <ns1:t>              ],</ns1:t>
            </ns1:r>
          </ns1:p>
          <ns1:p>
            <ns1:r>
              <ns1:t>              [</ns1:t>
            </ns1:r>
          </ns1:p>
          <ns1:p>
            <ns1:r>
              <ns1:t>                0.37087064519087964,</ns1:t>
            </ns1:r>
          </ns1:p>
          <ns1:p>
            <ns1:r>
              <ns1:t>                0.22390898462981168,</ns1:t>
            </ns1:r>
          </ns1:p>
          <ns1:p>
            <ns1:r>
              <ns1:t>                0.9012878100755778</ns1:t>
            </ns1:r>
          </ns1:p>
          <ns1:p>
            <ns1:r>
              <ns1:t>              ]</ns1:t>
            </ns1:r>
          </ns1:p>
          <ns1:p>
            <ns1:r>
              <ns1:t>            ],</ns1:t>
            </ns1:r>
          </ns1:p>
          <ns1:p>
            <ns1:r>
              <ns1:t>            "translation": [</ns1:t>
            </ns1:r>
          </ns1:p>
          <ns1:p>
            <ns1:r>
              <ns1:t>              -11.297315927706691,</ns1:t>
            </ns1:r>
          </ns1:p>
          <ns1:p>
            <ns1:r>
              <ns1:t>              -12.610895978742942,</ns1:t>
            </ns1:r>
          </ns1:p>
          <ns1:p>
            <ns1:r>
              <ns1:t>              5.484243640285899</ns1:t>
            </ns1:r>
          </ns1:p>
          <ns1:p>
            <ns1:r>
              <ns1:t>            ],</ns1:t>
            </ns1:r>
          </ns1:p>
          <ns1:p>
            <ns1:r>
              <ns1:t>            "core_fit_CA_RMSD_A": 0.76418359980095,</ns1:t>
            </ns1:r>
          </ns1:p>
          <ns1:p>
            <ns1:r>
              <ns1:t>            "output": "local/2026-10-25_linker-parent-views_001/build/renders-v2/LK_P050_03-APNovo.jpg",</ns1:t>
            </ns1:r>
          </ns1:p>
          <ns1:p>
            <ns1:r>
              <ns1:t>            "parent_or_fusion_id": "LK_P050_03-APNovo",</ns1:t>
            </ns1:r>
          </ns1:p>
          <ns1:p>
            <ns1:r>
              <ns1:t>            "design_id": "LK_P050_03",</ns1:t>
            </ns1:r>
          </ns1:p>
          <ns1:p>
            <ns1:r>
              <ns1:t>            "panel": "APNovo",</ns1:t>
            </ns1:r>
          </ns1:p>
          <ns1:p>
            <ns1:r>
              <ns1:t>            "view": [</ns1:t>
            </ns1:r>
          </ns1:p>
          <ns1:p>
            <ns1:r>
              <ns1:t>              1,</ns1:t>
            </ns1:r>
          </ns1:p>
          <ns1:p>
            <ns1:r>
              <ns1:t>              0,</ns1:t>
            </ns1:r>
          </ns1:p>
          <ns1:p>
            <ns1:r>
              <ns1:t>              0,</ns1:t>
            </ns1:r>
          </ns1:p>
          <ns1:p>
            <ns1:r>
              <ns1:t>              0,</ns1:t>
            </ns1:r>
          </ns1:p>
          <ns1:p>
            <ns1:r>
              <ns1:t>              1,</ns1:t>
            </ns1:r>
          </ns1:p>
          <ns1:p>
            <ns1:r>
              <ns1:t>              0,</ns1:t>
            </ns1:r>
          </ns1:p>
          <ns1:p>
            <ns1:r>
              <ns1:t>              0,</ns1:t>
            </ns1:r>
          </ns1:p>
          <ns1:p>
            <ns1:r>
              <ns1:t>              0,</ns1:t>
            </ns1:r>
          </ns1:p>
          <ns1:p>
            <ns1:r>
              <ns1:t>              1,</ns1:t>
            </ns1:r>
          </ns1:p>
          <ns1:p>
            <ns1:r>
              <ns1:t>              0,</ns1:t>
            </ns1:r>
          </ns1:p>
          <ns1:p>
            <ns1:r>
              <ns1:t>              0,</ns1:t>
            </ns1:r>
          </ns1:p>
          <ns1:p>
            <ns1:r>
              <ns1:t>              -401.09371690895415,</ns1:t>
            </ns1:r>
          </ns1:p>
          <ns1:p>
            <ns1:r>
              <ns1:t>              -8.021886142584709,</ns1:t>
            </ns1:r>
          </ns1:p>
          <ns1:p>
            <ns1:r>
              <ns1:t>              16.391122804162897,</ns1:t>
            </ns1:r>
          </ns1:p>
          <ns1:p>
            <ns1:r>
              <ns1:t>              -17.88703277562545,</ns1:t>
            </ns1:r>
          </ns1:p>
          <ns1:p>
            <ns1:r>
              <ns1:t>              329.61411770915964,</ns1:t>
            </ns1:r>
          </ns1:p>
          <ns1:p>
            <ns1:r>
              <ns1:t>              472.57331610874866,</ns1:t>
            </ns1:r>
          </ns1:p>
          <ns1:p>
            <ns1:r>
              <ns1:t>              -20</ns1:t>
            </ns1:r>
          </ns1:p>
          <ns1:p>
            <ns1:r>
              <ns1:t>            ],</ns1:t>
            </ns1:r>
          </ns1:p>
          <ns1:p>
            <ns1:r>
              <ns1:t>            "world_height_A": 141.44728816738333,</ns1:t>
            </ns1:r>
          </ns1:p>
          <ns1:p>
            <ns1:r>
              <ns1:t>            "row_bounds_all_atoms_A": [</ns1:t>
            </ns1:r>
          </ns1:p>
          <ns1:p>
            <ns1:r>
              <ns1:t>              [</ns1:t>
            </ns1:r>
          </ns1:p>
          <ns1:p>
            <ns1:r>
              <ns1:t>                -50.79037642370106,</ns1:t>
            </ns1:r>
          </ns1:p>
          <ns1:p>
            <ns1:r>
              <ns1:t>                -43.82516413507821,</ns1:t>
            </ns1:r>
          </ns1:p>
          <ns1:p>
            <ns1:r>
              <ns1:t>                -74.36663197541993</ns1:t>
            </ns1:r>
          </ns1:p>
          <ns1:p>
            <ns1:r>
              <ns1:t>              ],</ns1:t>
            </ns1:r>
          </ns1:p>
          <ns1:p>
            <ns1:r>
              <ns1:t>              [</ns1:t>
            </ns1:r>
          </ns1:p>
          <ns1:p>
            <ns1:r>
              <ns1:t>                34.746604138531644,</ns1:t>
            </ns1:r>
          </ns1:p>
          <ns1:p>
            <ns1:r>
              <ns1:t>                76.607409743404,</ns1:t>
            </ns1:r>
          </ns1:p>
          <ns1:p>
            <ns1:r>
              <ns1:t>                38.592566424169036</ns1:t>
            </ns1:r>
          </ns1:p>
          <ns1:p>
            <ns1:r>
              <ns1:t>              ]</ns1:t>
            </ns1:r>
          </ns1:p>
          <ns1:p>
            <ns1:r>
              <ns1:t>            ]</ns1:t>
            </ns1:r>
          </ns1:p>
          <ns1:p>
            <ns1:r>
              <ns1:t>          },</ns1:t>
            </ns1:r>
          </ns1:p>
          <ns1:p>
            <ns1:r>
              <ns1:t>          "Exact": {</ns1:t>
            </ns1:r>
          </ns1:p>
          <ns1:p>
            <ns1:r>
              <ns1:t>            "key": "LK_P050_03-Exact",</ns1:t>
            </ns1:r>
          </ns1:p>
          <ns1:p>
            <ns1:r>
              <ns1:t>            "source_path": "local/2026-10-25_linker-top100-review_001/models/LK_P050_03/boltz2.cif",</ns1:t>
            </ns1:r>
          </ns1:p>
          <ns1:p>
            <ns1:r>
              <ns1:t>            "source_sha256": "3501ffce18d848606153666f7594ee3d1d85e2ee6a1013f2d0ba58f4c5eadd01",</ns1:t>
            </ns1:r>
          </ns1:p>
          <ns1:p>
            <ns1:r>
              <ns1:t>            "role": "fusion",</ns1:t>
            </ns1:r>
          </ns1:p>
          <ns1:p>
            <ns1:r>
              <ns1:t>            "ranges_zero_based": {</ns1:t>
            </ns1:r>
          </ns1:p>
          <ns1:p>
            <ns1:r>
              <ns1:t>              "ECD": [</ns1:t>
            </ns1:r>
          </ns1:p>
          <ns1:p>
            <ns1:r>
              <ns1:t>                0,</ns1:t>
            </ns1:r>
          </ns1:p>
          <ns1:p>
            <ns1:r>
              <ns1:t>                53</ns1:t>
            </ns1:r>
          </ns1:p>
          <ns1:p>
            <ns1:r>
              <ns1:t>              ],</ns1:t>
            </ns1:r>
          </ns1:p>
          <ns1:p>
            <ns1:r>
              <ns1:t>              "linker": [</ns1:t>
            </ns1:r>
          </ns1:p>
          <ns1:p>
            <ns1:r>
              <ns1:t>                53,</ns1:t>
            </ns1:r>
          </ns1:p>
          <ns1:p>
            <ns1:r>
              <ns1:t>                80</ns1:t>
            </ns1:r>
          </ns1:p>
          <ns1:p>
            <ns1:r>
              <ns1:t>              ],</ns1:t>
            </ns1:r>
          </ns1:p>
          <ns1:p>
            <ns1:r>
              <ns1:t>              "LF": [</ns1:t>
            </ns1:r>
          </ns1:p>
          <ns1:p>
            <ns1:r>
              <ns1:t>                80,</ns1:t>
            </ns1:r>
          </ns1:p>
          <ns1:p>
            <ns1:r>
              <ns1:t>                149</ns1:t>
            </ns1:r>
          </ns1:p>
          <ns1:p>
            <ns1:r>
              <ns1:t>              ]</ns1:t>
            </ns1:r>
          </ns1:p>
          <ns1:p>
            <ns1:r>
              <ns1:t>            },</ns1:t>
            </ns1:r>
          </ns1:p>
          <ns1:p>
            <ns1:r>
              <ns1:t>            "sequence": "MGISALEEFDRLRRASILLSLIRSGSTGSGFDAFLEKSGVKGAPAFLAVPSSNGFDFVPSPTSSAPPLLCQGTEPAENTREVSGATIDLRVKTCVDFKQTVNFFKLRNTQLPGSCTKDNTVLFLLEGLKLGYASRYFSIGSGSGSQQFS",</ns1:t>
            </ns1:r>
          </ns1:p>
          <ns1:p>
            <ns1:r>
              <ns1:t>            "rotation": [</ns1:t>
            </ns1:r>
          </ns1:p>
          <ns1:p>
            <ns1:r>
              <ns1:t>              [</ns1:t>
            </ns1:r>
          </ns1:p>
          <ns1:p>
            <ns1:r>
              <ns1:t>                0.9674924007878847,</ns1:t>
            </ns1:r>
          </ns1:p>
          <ns1:p>
            <ns1:r>
              <ns1:t>                -0.04103856114900317,</ns1:t>
            </ns1:r>
          </ns1:p>
          <ns1:p>
            <ns1:r>
              <ns1:t>                0.2495482184879858</ns1:t>
            </ns1:r>
          </ns1:p>
          <ns1:p>
            <ns1:r>
              <ns1:t>              ],</ns1:t>
            </ns1:r>
          </ns1:p>
          <ns1:p>
            <ns1:r>
              <ns1:t>              [</ns1:t>
            </ns1:r>
          </ns1:p>
          <ns1:p>
            <ns1:r>
              <ns1:t>                0.09483079127015781,</ns1:t>
            </ns1:r>
          </ns1:p>
          <ns1:p>
            <ns1:r>
              <ns1:t>                0.9736183925505794,</ns1:t>
            </ns1:r>
          </ns1:p>
          <ns1:p>
            <ns1:r>
              <ns1:t>                -0.20754376865752988</ns1:t>
            </ns1:r>
          </ns1:p>
          <ns1:p>
            <ns1:r>
              <ns1:t>              ],</ns1:t>
            </ns1:r>
          </ns1:p>
          <ns1:p>
            <ns1:r>
              <ns1:t>              [</ns1:t>
            </ns1:r>
          </ns1:p>
          <ns1:p>
            <ns1:r>
              <ns1:t>                -0.2344474354510826,</ns1:t>
            </ns1:r>
          </ns1:p>
          <ns1:p>
            <ns1:r>
              <ns1:t>                0.22446190468606808,</ns1:t>
            </ns1:r>
          </ns1:p>
          <ns1:p>
            <ns1:r>
              <ns1:t>                0.9458600738495875</ns1:t>
            </ns1:r>
          </ns1:p>
          <ns1:p>
            <ns1:r>
              <ns1:t>              ]</ns1:t>
            </ns1:r>
          </ns1:p>
          <ns1:p>
            <ns1:r>
              <ns1:t>            ],</ns1:t>
            </ns1:r>
          </ns1:p>
          <ns1:p>
            <ns1:r>
              <ns1:t>            "translation": [</ns1:t>
            </ns1:r>
          </ns1:p>
          <ns1:p>
            <ns1:r>
              <ns1:t>              -0.6699929089959085,</ns1:t>
            </ns1:r>
          </ns1:p>
          <ns1:p>
            <ns1:r>
              <ns1:t>              0.06164257389051819,</ns1:t>
            </ns1:r>
          </ns1:p>
          <ns1:p>
            <ns1:r>
              <ns1:t>              -0.5104734701198772</ns1:t>
            </ns1:r>
          </ns1:p>
          <ns1:p>
            <ns1:r>
              <ns1:t>            ],</ns1:t>
            </ns1:r>
          </ns1:p>
          <ns1:p>
            <ns1:r>
              <ns1:t>            "core_fit_CA_RMSD_A": 0.6544718565429345,</ns1:t>
            </ns1:r>
          </ns1:p>
          <ns1:p>
            <ns1:r>
              <ns1:t>            "output": "local/2026-10-25_linker-parent-views_001/build/renders-v2/LK_P050_03-Exact.jpg",</ns1:t>
            </ns1:r>
          </ns1:p>
          <ns1:p>
            <ns1:r>
              <ns1:t>            "parent_or_fusion_id": "LK_P050_03-Exact",</ns1:t>
            </ns1:r>
          </ns1:p>
          <ns1:p>
            <ns1:r>
              <ns1:t>            "design_id": "LK_P050_03",</ns1:t>
            </ns1:r>
          </ns1:p>
          <ns1:p>
            <ns1:r>
              <ns1:t>            "panel": "Exact",</ns1:t>
            </ns1:r>
          </ns1:p>
          <ns1:p>
            <ns1:r>
              <ns1:t>            "view": [</ns1:t>
            </ns1:r>
          </ns1:p>
          <ns1:p>
            <ns1:r>
              <ns1:t>              1,</ns1:t>
            </ns1:r>
          </ns1:p>
          <ns1:p>
            <ns1:r>
              <ns1:t>              0,</ns1:t>
            </ns1:r>
          </ns1:p>
          <ns1:p>
            <ns1:r>
              <ns1:t>              0,</ns1:t>
            </ns1:r>
          </ns1:p>
          <ns1:p>
            <ns1:r>
              <ns1:t>              0,</ns1:t>
            </ns1:r>
          </ns1:p>
          <ns1:p>
            <ns1:r>
              <ns1:t>              1,</ns1:t>
            </ns1:r>
          </ns1:p>
          <ns1:p>
            <ns1:r>
              <ns1:t>              0,</ns1:t>
            </ns1:r>
          </ns1:p>
          <ns1:p>
            <ns1:r>
              <ns1:t>              0,</ns1:t>
            </ns1:r>
          </ns1:p>
          <ns1:p>
            <ns1:r>
              <ns1:t>              0,</ns1:t>
            </ns1:r>
          </ns1:p>
          <ns1:p>
            <ns1:r>
              <ns1:t>              1,</ns1:t>
            </ns1:r>
          </ns1:p>
          <ns1:p>
            <ns1:r>
              <ns1:t>              0,</ns1:t>
            </ns1:r>
          </ns1:p>
          <ns1:p>
            <ns1:r>
              <ns1:t>              0,</ns1:t>
            </ns1:r>
          </ns1:p>
          <ns1:p>
            <ns1:r>
              <ns1:t>              -401.09371690895415,</ns1:t>
            </ns1:r>
          </ns1:p>
          <ns1:p>
            <ns1:r>
              <ns1:t>              -8.021886142584709,</ns1:t>
            </ns1:r>
          </ns1:p>
          <ns1:p>
            <ns1:r>
              <ns1:t>              16.391122804162897,</ns1:t>
            </ns1:r>
          </ns1:p>
          <ns1:p>
            <ns1:r>
              <ns1:t>              -17.88703277562545,</ns1:t>
            </ns1:r>
          </ns1:p>
          <ns1:p>
            <ns1:r>
              <ns1:t>              329.61411770915964,</ns1:t>
            </ns1:r>
          </ns1:p>
          <ns1:p>
            <ns1:r>
              <ns1:t>              472.57331610874866,</ns1:t>
            </ns1:r>
          </ns1:p>
          <ns1:p>
            <ns1:r>
              <ns1:t>              -20</ns1:t>
            </ns1:r>
          </ns1:p>
          <ns1:p>
            <ns1:r>
              <ns1:t>            ],</ns1:t>
            </ns1:r>
          </ns1:p>
          <ns1:p>
            <ns1:r>
              <ns1:t>            "world_height_A": 141.44728816738333,</ns1:t>
            </ns1:r>
          </ns1:p>
          <ns1:p>
            <ns1:r>
              <ns1:t>            "row_bounds_all_atoms_A": [</ns1:t>
            </ns1:r>
          </ns1:p>
          <ns1:p>
            <ns1:r>
              <ns1:t>              [</ns1:t>
            </ns1:r>
          </ns1:p>
          <ns1:p>
            <ns1:r>
              <ns1:t>                -50.79037642370106,</ns1:t>
            </ns1:r>
          </ns1:p>
          <ns1:p>
            <ns1:r>
              <ns1:t>                -43.82516413507821,</ns1:t>
            </ns1:r>
          </ns1:p>
          <ns1:p>
            <ns1:r>
              <ns1:t>                -74.36663197541993</ns1:t>
            </ns1:r>
          </ns1:p>
          <ns1:p>
            <ns1:r>
              <ns1:t>              ],</ns1:t>
            </ns1:r>
          </ns1:p>
          <ns1:p>
            <ns1:r>
              <ns1:t>              [</ns1:t>
            </ns1:r>
          </ns1:p>
          <ns1:p>
            <ns1:r>
              <ns1:t>                34.746604138531644,</ns1:t>
            </ns1:r>
          </ns1:p>
          <ns1:p>
            <ns1:r>
              <ns1:t>                76.607409743404,</ns1:t>
            </ns1:r>
          </ns1:p>
          <ns1:p>
            <ns1:r>
              <ns1:t>                38.592566424169036</ns1:t>
            </ns1:r>
          </ns1:p>
          <ns1:p>
            <ns1:r>
              <ns1:t>              ]</ns1:t>
            </ns1:r>
          </ns1:p>
          <ns1:p>
            <ns1:r>
              <ns1:t>            ]</ns1:t>
            </ns1:r>
          </ns1:p>
          <ns1:p>
            <ns1:r>
              <ns1:t>          },</ns1:t>
            </ns1:r>
          </ns1:p>
          <ns1:p>
            <ns1:r>
              <ns1:t>          "LF-parent": {</ns1:t>
            </ns1:r>
          </ns1:p>
          <ns1:p>
            <ns1:r>
              <ns1:t>            "key": "LK_P050_03-LF-parent",</ns1:t>
            </ns1:r>
          </ns1:p>
          <ns1:p>
            <ns1:r>
              <ns1:t>            "source_path": "local/2026-10-25_linker-parent-comparison_001/parents/Design_280/exact.pdb",</ns1:t>
            </ns1:r>
          </ns1:p>
          <ns1:p>
            <ns1:r>
              <ns1:t>            "source_sha256": "cd01c89fbf40d0e577c10f20c2afa96c3deef09880d6c761314a1c5e9898bd4f",</ns1:t>
            </ns1:r>
          </ns1:p>
          <ns1:p>
            <ns1:r>
              <ns1:t>            "role": "LF",</ns1:t>
            </ns1:r>
          </ns1:p>
          <ns1:p>
            <ns1:r>
              <ns1:t>            "ranges_zero_based": {</ns1:t>
            </ns1:r>
          </ns1:p>
          <ns1:p>
            <ns1:r>
              <ns1:t>              "LF": [</ns1:t>
            </ns1:r>
          </ns1:p>
          <ns1:p>
            <ns1:r>
              <ns1:t>                0,</ns1:t>
            </ns1:r>
          </ns1:p>
          <ns1:p>
            <ns1:r>
              <ns1:t>                69</ns1:t>
            </ns1:r>
          </ns1:p>
          <ns1:p>
            <ns1:r>
              <ns1:t>              ]</ns1:t>
            </ns1:r>
          </ns1:p>
          <ns1:p>
            <ns1:r>
              <ns1:t>            },</ns1:t>
            </ns1:r>
          </ns1:p>
          <ns1:p>
            <ns1:r>
              <ns1:t>            "sequence": "EVSGATIDLRVKTCVDFKQTVNFFKLRNTQLPGSCTKDNTVLFLLEGLKLGYASRYFSIGSGSGSQQFS",</ns1:t>
            </ns1:r>
          </ns1:p>
          <ns1:p>
            <ns1:r>
              <ns1:t>            "rotation": [</ns1:t>
            </ns1:r>
          </ns1:p>
          <ns1:p>
            <ns1:r>
              <ns1:t>              [</ns1:t>
            </ns1:r>
          </ns1:p>
          <ns1:p>
            <ns1:r>
              <ns1:t>                0.9716521520149124,</ns1:t>
            </ns1:r>
          </ns1:p>
          <ns1:p>
            <ns1:r>
              <ns1:t>                0.23640963200020604,</ns1:t>
            </ns1:r>
          </ns1:p>
          <ns1:p>
            <ns1:r>
              <ns1:t>                -0.0015985785293137766</ns1:t>
            </ns1:r>
          </ns1:p>
          <ns1:p>
            <ns1:r>
              <ns1:t>              ],</ns1:t>
            </ns1:r>
          </ns1:p>
          <ns1:p>
            <ns1:r>
              <ns1:t>              [</ns1:t>
            </ns1:r>
          </ns1:p>
          <ns1:p>
            <ns1:r>
              <ns1:t>                -0.232382419508661,</ns1:t>
            </ns1:r>
          </ns1:p>
          <ns1:p>
            <ns1:r>
              <ns1:t>                0.9563002615331773,</ns1:t>
            </ns1:r>
          </ns1:p>
          <ns1:p>
            <ns1:r>
              <ns1:t>                0.17744913387297956</ns1:t>
            </ns1:r>
          </ns1:p>
          <ns1:p>
            <ns1:r>
              <ns1:t>              ],</ns1:t>
            </ns1:r>
          </ns1:p>
          <ns1:p>
            <ns1:r>
              <ns1:t>              [</ns1:t>
            </ns1:r>
          </ns1:p>
          <ns1:p>
            <ns1:r>
              <ns1:t>                0.04347938667791329,</ns1:t>
            </ns1:r>
          </ns1:p>
          <ns1:p>
            <ns1:r>
              <ns1:t>                -0.1720473610249762,</ns1:t>
            </ns1:r>
          </ns1:p>
          <ns1:p>
            <ns1:r>
              <ns1:t>                0.9841286681075418</ns1:t>
            </ns1:r>
          </ns1:p>
          <ns1:p>
            <ns1:r>
              <ns1:t>              ]</ns1:t>
            </ns1:r>
          </ns1:p>
          <ns1:p>
            <ns1:r>
              <ns1:t>            ],</ns1:t>
            </ns1:r>
          </ns1:p>
          <ns1:p>
            <ns1:r>
              <ns1:t>            "translation": [</ns1:t>
            </ns1:r>
          </ns1:p>
          <ns1:p>
            <ns1:r>
              <ns1:t>              3.3985903455718525,</ns1:t>
            </ns1:r>
          </ns1:p>
          <ns1:p>
            <ns1:r>
              <ns1:t>              -6.121573941428423,</ns1:t>
            </ns1:r>
          </ns1:p>
          <ns1:p>
            <ns1:r>
              <ns1:t>              6.014485827651381</ns1:t>
            </ns1:r>
          </ns1:p>
          <ns1:p>
            <ns1:r>
              <ns1:t>            ],</ns1:t>
            </ns1:r>
          </ns1:p>
          <ns1:p>
            <ns1:r>
              <ns1:t>            "core_fit_CA_RMSD_A": 1.3060904572635719,</ns1:t>
            </ns1:r>
          </ns1:p>
          <ns1:p>
            <ns1:r>
              <ns1:t>            "output": "local/2026-10-25_linker-parent-views_001/build/renders-v2/LK_P050_03-LF-parent.jpg",</ns1:t>
            </ns1:r>
          </ns1:p>
          <ns1:p>
            <ns1:r>
              <ns1:t>            "parent_or_fusion_id": "Design_280",</ns1:t>
            </ns1:r>
          </ns1:p>
          <ns1:p>
            <ns1:r>
              <ns1:t>            "design_id": "LK_P050_03",</ns1:t>
            </ns1:r>
          </ns1:p>
          <ns1:p>
            <ns1:r>
              <ns1:t>            "panel": "LF-parent",</ns1:t>
            </ns1:r>
          </ns1:p>
          <ns1:p>
            <ns1:r>
              <ns1:t>            "view": [</ns1:t>
            </ns1:r>
          </ns1:p>
          <ns1:p>
            <ns1:r>
              <ns1:t>              1,</ns1:t>
            </ns1:r>
          </ns1:p>
          <ns1:p>
            <ns1:r>
              <ns1:t>              0,</ns1:t>
            </ns1:r>
          </ns1:p>
          <ns1:p>
            <ns1:r>
              <ns1:t>              0,</ns1:t>
            </ns1:r>
          </ns1:p>
          <ns1:p>
            <ns1:r>
              <ns1:t>              0,</ns1:t>
            </ns1:r>
          </ns1:p>
          <ns1:p>
            <ns1:r>
              <ns1:t>              1,</ns1:t>
            </ns1:r>
          </ns1:p>
          <ns1:p>
            <ns1:r>
              <ns1:t>              0,</ns1:t>
            </ns1:r>
          </ns1:p>
          <ns1:p>
            <ns1:r>
              <ns1:t>              0,</ns1:t>
            </ns1:r>
          </ns1:p>
          <ns1:p>
            <ns1:r>
              <ns1:t>              0,</ns1:t>
            </ns1:r>
          </ns1:p>
          <ns1:p>
            <ns1:r>
              <ns1:t>              1,</ns1:t>
            </ns1:r>
          </ns1:p>
          <ns1:p>
            <ns1:r>
              <ns1:t>              0,</ns1:t>
            </ns1:r>
          </ns1:p>
          <ns1:p>
            <ns1:r>
              <ns1:t>              0,</ns1:t>
            </ns1:r>
          </ns1:p>
          <ns1:p>
            <ns1:r>
              <ns1:t>              -401.09371690895415,</ns1:t>
            </ns1:r>
          </ns1:p>
          <ns1:p>
            <ns1:r>
              <ns1:t>              -8.021886142584709,</ns1:t>
            </ns1:r>
          </ns1:p>
          <ns1:p>
            <ns1:r>
              <ns1:t>              16.391122804162897,</ns1:t>
            </ns1:r>
          </ns1:p>
          <ns1:p>
            <ns1:r>
              <ns1:t>              -17.88703277562545,</ns1:t>
            </ns1:r>
          </ns1:p>
          <ns1:p>
            <ns1:r>
              <ns1:t>              329.61411770915964,</ns1:t>
            </ns1:r>
          </ns1:p>
          <ns1:p>
            <ns1:r>
              <ns1:t>              472.57331610874866,</ns1:t>
            </ns1:r>
          </ns1:p>
          <ns1:p>
            <ns1:r>
              <ns1:t>              -20</ns1:t>
            </ns1:r>
          </ns1:p>
          <ns1:p>
            <ns1:r>
              <ns1:t>            ],</ns1:t>
            </ns1:r>
          </ns1:p>
          <ns1:p>
            <ns1:r>
              <ns1:t>            "world_height_A": 141.44728816738333,</ns1:t>
            </ns1:r>
          </ns1:p>
          <ns1:p>
            <ns1:r>
              <ns1:t>            "row_bounds_all_atoms_A": [</ns1:t>
            </ns1:r>
          </ns1:p>
          <ns1:p>
            <ns1:r>
              <ns1:t>              [</ns1:t>
            </ns1:r>
          </ns1:p>
          <ns1:p>
            <ns1:r>
              <ns1:t>                -50.79037642370106,</ns1:t>
            </ns1:r>
          </ns1:p>
          <ns1:p>
            <ns1:r>
              <ns1:t>                -43.82516413507821,</ns1:t>
            </ns1:r>
          </ns1:p>
          <ns1:p>
            <ns1:r>
              <ns1:t>                -74.36663197541993</ns1:t>
            </ns1:r>
          </ns1:p>
          <ns1:p>
            <ns1:r>
              <ns1:t>              ],</ns1:t>
            </ns1:r>
          </ns1:p>
          <ns1:p>
            <ns1:r>
              <ns1:t>              [</ns1:t>
            </ns1:r>
          </ns1:p>
          <ns1:p>
            <ns1:r>
              <ns1:t>                34.746604138531644,</ns1:t>
            </ns1:r>
          </ns1:p>
          <ns1:p>
            <ns1:r>
              <ns1:t>                76.607409743404,</ns1:t>
            </ns1:r>
          </ns1:p>
          <ns1:p>
            <ns1:r>
              <ns1:t>                38.592566424169036</ns1:t>
            </ns1:r>
          </ns1:p>
          <ns1:p>
            <ns1:r>
              <ns1:t>              ]</ns1:t>
            </ns1:r>
          </ns1:p>
          <ns1:p>
            <ns1:r>
              <ns1:t>            ]</ns1:t>
            </ns1:r>
          </ns1:p>
          <ns1:p>
            <ns1:r>
              <ns1:t>          }</ns1:t>
            </ns1:r>
          </ns1:p>
          <ns1:p>
            <ns1:r>
              <ns1:t>        },</ns1:t>
            </ns1:r>
          </ns1:p>
          <ns1:p>
            <ns1:r>
              <ns1:t>        "shared_camera": [</ns1:t>
            </ns1:r>
          </ns1:p>
          <ns1:p>
            <ns1:r>
              <ns1:t>          1,</ns1:t>
            </ns1:r>
          </ns1:p>
          <ns1:p>
            <ns1:r>
              <ns1:t>          0,</ns1:t>
            </ns1:r>
          </ns1:p>
          <ns1:p>
            <ns1:r>
              <ns1:t>          0,</ns1:t>
            </ns1:r>
          </ns1:p>
          <ns1:p>
            <ns1:r>
              <ns1:t>          0,</ns1:t>
            </ns1:r>
          </ns1:p>
          <ns1:p>
            <ns1:r>
              <ns1:t>          1,</ns1:t>
            </ns1:r>
          </ns1:p>
          <ns1:p>
            <ns1:r>
              <ns1:t>          0,</ns1:t>
            </ns1:r>
          </ns1:p>
          <ns1:p>
            <ns1:r>
              <ns1:t>          0,</ns1:t>
            </ns1:r>
          </ns1:p>
          <ns1:p>
            <ns1:r>
              <ns1:t>          0,</ns1:t>
            </ns1:r>
          </ns1:p>
          <ns1:p>
            <ns1:r>
              <ns1:t>          1,</ns1:t>
            </ns1:r>
          </ns1:p>
          <ns1:p>
            <ns1:r>
              <ns1:t>          0,</ns1:t>
            </ns1:r>
          </ns1:p>
          <ns1:p>
            <ns1:r>
              <ns1:t>          0,</ns1:t>
            </ns1:r>
          </ns1:p>
          <ns1:p>
            <ns1:r>
              <ns1:t>          -401.09371690895415,</ns1:t>
            </ns1:r>
          </ns1:p>
          <ns1:p>
            <ns1:r>
              <ns1:t>          -8.021886142584709,</ns1:t>
            </ns1:r>
          </ns1:p>
          <ns1:p>
            <ns1:r>
              <ns1:t>          16.391122804162897,</ns1:t>
            </ns1:r>
          </ns1:p>
          <ns1:p>
            <ns1:r>
              <ns1:t>          -17.88703277562545,</ns1:t>
            </ns1:r>
          </ns1:p>
          <ns1:p>
            <ns1:r>
              <ns1:t>          329.61411770915964,</ns1:t>
            </ns1:r>
          </ns1:p>
          <ns1:p>
            <ns1:r>
              <ns1:t>          472.57331610874866,</ns1:t>
            </ns1:r>
          </ns1:p>
          <ns1:p>
            <ns1:r>
              <ns1:t>          -20</ns1:t>
            </ns1:r>
          </ns1:p>
          <ns1:p>
            <ns1:r>
              <ns1:t>        ],</ns1:t>
            </ns1:r>
          </ns1:p>
          <ns1:p>
            <ns1:r>
              <ns1:t>        "reference": "Separate saved Exact parent complexes flank the linked Exact refold; AP Novo linked design comparison remains on the following slide. Rigid display alignment preserves native poses; all native receptor residues shown."</ns1:t>
            </ns1:r>
          </ns1:p>
          <ns1:p>
            <ns1:r>
              <ns1:t>      }</ns1:t>
            </ns1:r>
          </ns1:p>
          <ns1:p>
            <ns1:r>
              <ns1:t>    },</ns1:t>
            </ns1:r>
          </ns1:p>
          <ns1:p>
            <ns1:r>
              <ns1:t>    "display": "unchanged embedded JPEGs extracted from hash-verified delivered25-design PPTX; no resampling, cropping or new coordinate transforms",</ns1:t>
            </ns1:r>
          </ns1:p>
          <ns1:p>
            <ns1:r>
              <ns1:t>    "scale": "full complex and interface have different zooms; no matched-scale claim",</ns1:t>
            </ns1:r>
          </ns1:p>
          <ns1:p>
            <ns1:r>
              <ns1:t>    "hotspots": "black sticks; original27pocket positions for original LigandForge, R40/Q37/E34 annotations for DLD",</ns1:t>
            </ns1:r>
          </ns1:p>
          <ns1:p>
            <ns1:r>
              <ns1:t>    "colors": {</ns1:t>
            </ns1:r>
          </ns1:p>
          <ns1:p>
            <ns1:r>
              <ns1:t>      "LigandForge": "#E69F00",</ns1:t>
            </ns1:r>
          </ns1:p>
          <ns1:p>
            <ns1:r>
              <ns1:t>      "linker": "#AA4499",</ns1:t>
            </ns1:r>
          </ns1:p>
          <ns1:p>
            <ns1:r>
              <ns1:t>      "ECD_binder": "#0072B2",</ns1:t>
            </ns1:r>
          </ns1:p>
          <ns1:p>
            <ns1:r>
              <ns1:t>      "receptor_ECD": "#009E73",</ns1:t>
            </ns1:r>
          </ns1:p>
          <ns1:p>
            <ns1:r>
              <ns1:t>      "receptor_remainder": "#9AA5B1",</ns1:t>
            </ns1:r>
          </ns1:p>
          <ns1:p>
            <ns1:r>
              <ns1:t>      "hotspots": "#000000"</ns1:t>
            </ns1:r>
          </ns1:p>
          <ns1:p>
            <ns1:r>
              <ns1:t>    }</ns1:t>
            </ns1:r>
          </ns1:p>
          <ns1:p>
            <ns1:r>
              <ns1:t>  },</ns1:t>
            </ns1:r>
          </ns1:p>
          <ns1:p>
            <ns1:r>
              <ns1:t>  "source_deck": "local/2026-10-25_affinity-confidence-selection-deck_002/output/GLP1R_Selected_ipSAE_gt0p895_Kd_lt10nM_v3.pptx",</ns1:t>
            </ns1:r>
          </ns1:p>
          <ns1:p>
            <ns1:r>
              <ns1:t>  "source_deck_sha256": "ad9333fdf6c0ce7d6982e2980d6aade78af256710dbc7917f7f39e41d35aa173",</ns1:t>
            </ns1:r>
          </ns1:p>
          <ns1:p>
            <ns1:r>
              <ns1:t>  "domain_labels": "ECD A1-53  linker A54-80  LF A81-149",</ns1:t>
            </ns1:r>
          </ns1:p>
          <ns1:p>
            <ns1:r>
              <ns1:t>  "display_scope": "native Exact complex and saved interface view; same identity colors, independent zooms; no new coordinates or inferred agonism"</ns1:t>
            </ns1:r>
          </ns1:p>
          <ns1:p>
            <ns1:r>
              <ns1:t>}</ns1:t>
            </ns1:r>
          </ns1:p>
        </ns0:txBody>
      </ns0:sp>
      <ns0:sp>
        <ns0:nvSpPr>
          <ns0:cNvPr id="4" name="Slide Number Placeholder 3"/>
          <ns0:cNvSpPr>
            <ns1:spLocks noGrp="1"/>
          </ns0:cNvSpPr>
          <ns0:nvPr>
            <ns0:ph type="sldNum" idx="5"/>
          </ns0:nvPr>
        </ns0:nvSpPr>
        <ns0:spPr/>
        <ns0:txBody>
          <ns1:bodyPr/>
          <ns1:lstStyle/>
          <ns1:p/>
        </ns0:txBody>
      </ns0:sp>
    </ns0:spTree>
  </ns0:cSld>
  <ns0:clrMapOvr>
    <ns1:masterClrMapping/>
  </ns0:clrMapOvr>
</ns0:notes>
</file>

<file path=ppt/notesSlides/notesSlide13.xml><?xml version="1.0" encoding="utf-8"?>
<ns0:notes xmlns:ns0="http://schemas.openxmlformats.org/presentationml/2006/main" xmlns:ns1="http://schemas.openxmlformats.org/drawingml/2006/main">
  <ns0:cSld>
    <ns0:spTree>
      <ns0:nvGrpSpPr>
        <ns0:cNvPr id="1" name=""/>
        <ns0:cNvGrpSpPr/>
        <ns0:nvPr/>
      </ns0:nvGrpSpPr>
      <ns0:grpSpPr>
        <ns1:xfrm/>
      </ns0:grpSpPr>
      <ns0:sp>
        <ns0:nvSpPr>
          <ns0:cNvPr id="2" name="Slide Image Placeholder 1"/>
          <ns0:cNvSpPr>
            <ns1:spLocks noGrp="1"/>
          </ns0:cNvSpPr>
          <ns0:nvPr>
            <ns0:ph type="sldImg" idx="0"/>
          </ns0:nvPr>
        </ns0:nvSpPr>
        <ns0:spPr/>
      </ns0:sp>
      <ns0:sp>
        <ns0:nvSpPr>
          <ns0:cNvPr id="3" name="Notes Placeholder 2"/>
          <ns0:cNvSpPr>
            <ns1:spLocks noGrp="1"/>
          </ns0:cNvSpPr>
          <ns0:nvPr>
            <ns0:ph type="body" idx="1"/>
          </ns0:nvPr>
        </ns0:nvSpPr>
        <ns0:spPr/>
        <ns0:txBody>
          <ns1:bodyPr/>
          <ns1:lstStyle/>
          <ns1:p>
            <ns1:r>
              <ns1:t>{</ns1:t>
            </ns1:r>
          </ns1:p>
          <ns1:p>
            <ns1:r>
              <ns1:t>  "candidate": "Design_973",</ns1:t>
            </ns1:r>
          </ns1:p>
          <ns1:p>
            <ns1:r>
              <ns1:t>  "final_rank": 7,</ns1:t>
            </ns1:r>
          </ns1:p>
          <ns1:p>
            <ns1:r>
              <ns1:t>  "selection": "Exact ipSAE&gt;0.895 and DeltaForge predicted Kd&lt;10nM; first20 by Exact ipSAE descending",</ns1:t>
            </ns1:r>
          </ns1:p>
          <ns1:p>
            <ns1:r>
              <ns1:t>  "sequence_sha256": "d58d873a366590fcf1713fc2585c8eb724259d7d5e878f81b37a650dda2e3149",</ns1:t>
            </ns1:r>
          </ns1:p>
          <ns1:p>
            <ns1:r>
              <ns1:t>  "sources": {</ns1:t>
            </ns1:r>
          </ns1:p>
          <ns1:p>
            <ns1:r>
              <ns1:t>    "source_table": {</ns1:t>
            </ns1:r>
          </ns1:p>
          <ns1:p>
            <ns1:r>
              <ns1:t>      "path": "local/2026-10-25_lf50-dld26-50-deltaforge_001/output/GLP1R_LigandForge_Original_Top50_DeltaForge_Kd.csv",</ns1:t>
            </ns1:r>
          </ns1:p>
          <ns1:p>
            <ns1:r>
              <ns1:t>      "sha256": "da4de8915b1ca76443882c0651920ddd9551839d0d75a5b18b8b1ff4653b0360"</ns1:t>
            </ns1:r>
          </ns1:p>
          <ns1:p>
            <ns1:r>
              <ns1:t>    },</ns1:t>
            </ns1:r>
          </ns1:p>
          <ns1:p>
            <ns1:r>
              <ns1:t>    "native_cif": {</ns1:t>
            </ns1:r>
          </ns1:p>
          <ns1:p>
            <ns1:r>
              <ns1:t>      "path": "campaigns/glp1r-ligandforge-boltz2-exact/runs/2026-10-15_ligandforge-exact_001/02_design/chunks/batch-038/kit_outputs/by_seed/Design_973/s101/Design_973_model_0.cif",</ns1:t>
            </ns1:r>
          </ns1:p>
          <ns1:p>
            <ns1:r>
              <ns1:t>      "sha256": "2f7a42d2398a58ae72f865082414e8bdeb86aaf5ff428f9d3caa8abf2f0ba554"</ns1:t>
            </ns1:r>
          </ns1:p>
          <ns1:p>
            <ns1:r>
              <ns1:t>    },</ns1:t>
            </ns1:r>
          </ns1:p>
          <ns1:p>
            <ns1:r>
              <ns1:t>    "scoring_pdb": {</ns1:t>
            </ns1:r>
          </ns1:p>
          <ns1:p>
            <ns1:r>
              <ns1:t>      "path": "local/2026-10-25_lf50-dld26-50-deltaforge_001/LF_Design_973.pdb",</ns1:t>
            </ns1:r>
          </ns1:p>
          <ns1:p>
            <ns1:r>
              <ns1:t>      "sha256": "1ac777d39b5ba7521aaaf2b08830ab6b3907f5dde3336ba94396301931d3cfbe"</ns1:t>
            </ns1:r>
          </ns1:p>
          <ns1:p>
            <ns1:r>
              <ns1:t>    },</ns1:t>
            </ns1:r>
          </ns1:p>
          <ns1:p>
            <ns1:r>
              <ns1:t>    "DeltaForge_result": {</ns1:t>
            </ns1:r>
          </ns1:p>
          <ns1:p>
            <ns1:r>
              <ns1:t>      "path": "campaigns/glp1r-r40-design/runs/2026-10-25_lf50-dld26-50-deltaforge_001/03_filtering/deltaforge_results/LF_Design_973.json",</ns1:t>
            </ns1:r>
          </ns1:p>
          <ns1:p>
            <ns1:r>
              <ns1:t>      "sha256": "430bd3acb36a1cc0941a4cf34e01b1b7c6e2a32d3fe3d2397eb24cea94b6a87c"</ns1:t>
            </ns1:r>
          </ns1:p>
          <ns1:p>
            <ns1:r>
              <ns1:t>    }</ns1:t>
            </ns1:r>
          </ns1:p>
          <ns1:p>
            <ns1:r>
              <ns1:t>  },</ns1:t>
            </ns1:r>
          </ns1:p>
          <ns1:p>
            <ns1:r>
              <ns1:t>  "source_ledger": "campaigns/glp1r-final-writeup/runs/2026-10-25_final20-writeup_001/04_analysis/provenance-ledger.json",</ns1:t>
            </ns1:r>
          </ns1:p>
          <ns1:p>
            <ns1:r>
              <ns1:t>  "scorer": "deltaforge_v10_2_unified_parallel / v10_2_unified_parallel_2026_05_08",</ns1:t>
            </ns1:r>
          </ns1:p>
          <ns1:p>
            <ns1:r>
              <ns1:t>  "calibration": "deltaforge_v10_boltz2_calibrated_gbr / v10_boltz2_gbr_2026_03_29",</ns1:t>
            </ns1:r>
          </ns1:p>
          <ns1:p>
            <ns1:r>
              <ns1:t>  "scope": "one complete candidate A against one receptor B; computational, no experimental Kd or activation"</ns1:t>
            </ns1:r>
          </ns1:p>
          <ns1:p>
            <ns1:r>
              <ns1:t>}</ns1:t>
            </ns1:r>
          </ns1:p>
        </ns0:txBody>
      </ns0:sp>
      <ns0:sp>
        <ns0:nvSpPr>
          <ns0:cNvPr id="4" name="Slide Number Placeholder 3"/>
          <ns0:cNvSpPr>
            <ns1:spLocks noGrp="1"/>
          </ns0:cNvSpPr>
          <ns0:nvPr>
            <ns0:ph type="sldNum" idx="5"/>
          </ns0:nvPr>
        </ns0:nvSpPr>
        <ns0:spPr/>
        <ns0:txBody>
          <ns1:bodyPr/>
          <ns1:lstStyle/>
          <ns1:p/>
        </ns0:txBody>
      </ns0:sp>
    </ns0:spTree>
  </ns0:cSld>
  <ns0:clrMapOvr>
    <ns1:masterClrMapping/>
  </ns0:clrMapOvr>
</ns0:notes>
</file>

<file path=ppt/notesSlides/notesSlide14.xml><?xml version="1.0" encoding="utf-8"?>
<ns0:notes xmlns:ns0="http://schemas.openxmlformats.org/presentationml/2006/main" xmlns:ns1="http://schemas.openxmlformats.org/drawingml/2006/main">
  <ns0:cSld>
    <ns0:spTree>
      <ns0:nvGrpSpPr>
        <ns0:cNvPr id="1" name=""/>
        <ns0:cNvGrpSpPr/>
        <ns0:nvPr/>
      </ns0:nvGrpSpPr>
      <ns0:grpSpPr>
        <ns1:xfrm/>
      </ns0:grpSpPr>
      <ns0:sp>
        <ns0:nvSpPr>
          <ns0:cNvPr id="2" name="Slide Image Placeholder 1"/>
          <ns0:cNvSpPr>
            <ns1:spLocks noGrp="1"/>
          </ns0:cNvSpPr>
          <ns0:nvPr>
            <ns0:ph type="sldImg" idx="0"/>
          </ns0:nvPr>
        </ns0:nvSpPr>
        <ns0:spPr/>
      </ns0:sp>
      <ns0:sp>
        <ns0:nvSpPr>
          <ns0:cNvPr id="3" name="Notes Placeholder 2"/>
          <ns0:cNvSpPr>
            <ns1:spLocks noGrp="1"/>
          </ns0:cNvSpPr>
          <ns0:nvPr>
            <ns0:ph type="body" idx="1"/>
          </ns0:nvPr>
        </ns0:nvSpPr>
        <ns0:spPr/>
        <ns0:txBody>
          <ns1:bodyPr/>
          <ns1:lstStyle/>
          <ns1:p>
            <ns1:r>
              <ns1:t>{</ns1:t>
            </ns1:r>
          </ns1:p>
          <ns1:p>
            <ns1:r>
              <ns1:t>  "candidate": "Design_973",</ns1:t>
            </ns1:r>
          </ns1:p>
          <ns1:p>
            <ns1:r>
              <ns1:t>  "final_rank": 7,</ns1:t>
            </ns1:r>
          </ns1:p>
          <ns1:p>
            <ns1:r>
              <ns1:t>  "native_model_sha256": "2f7a42d2398a58ae72f865082414e8bdeb86aaf5ff428f9d3caa8abf2f0ba554",</ns1:t>
            </ns1:r>
          </ns1:p>
          <ns1:p>
            <ns1:r>
              <ns1:t>  "structure_views": {</ns1:t>
            </ns1:r>
          </ns1:p>
          <ns1:p>
            <ns1:r>
              <ns1:t>    "final_rank": 7,</ns1:t>
            </ns1:r>
          </ns1:p>
          <ns1:p>
            <ns1:r>
              <ns1:t>    "design_id": "Design_973",</ns1:t>
            </ns1:r>
          </ns1:p>
          <ns1:p>
            <ns1:r>
              <ns1:t>    "sequence_sha256": "d58d873a366590fcf1713fc2585c8eb724259d7d5e878f81b37a650dda2e3149",</ns1:t>
            </ns1:r>
          </ns1:p>
          <ns1:p>
            <ns1:r>
              <ns1:t>    "native_model_sha256": "2f7a42d2398a58ae72f865082414e8bdeb86aaf5ff428f9d3caa8abf2f0ba554",</ns1:t>
            </ns1:r>
          </ns1:p>
          <ns1:p>
            <ns1:r>
              <ns1:t>    "scoring_pdb_sha256": "1ac777d39b5ba7521aaaf2b08830ab6b3907f5dde3336ba94396301931d3cfbe",</ns1:t>
            </ns1:r>
          </ns1:p>
          <ns1:p>
            <ns1:r>
              <ns1:t>    "overview": {</ns1:t>
            </ns1:r>
          </ns1:p>
          <ns1:p>
            <ns1:r>
              <ns1:t>      "source_slide": 7,</ns1:t>
            </ns1:r>
          </ns1:p>
          <ns1:p>
            <ns1:r>
              <ns1:t>      "source_picture_index": 0,</ns1:t>
            </ns1:r>
          </ns1:p>
          <ns1:p>
            <ns1:r>
              <ns1:t>      "embedded_media": "ppt/media/image3.jpeg",</ns1:t>
            </ns1:r>
          </ns1:p>
          <ns1:p>
            <ns1:r>
              <ns1:t>      "image_sha256": "9677a5abd446b645c3179422a5a88f48843ab30c42858cea56a0c16149a3db7d",</ns1:t>
            </ns1:r>
          </ns1:p>
          <ns1:p>
            <ns1:r>
              <ns1:t>      "asset": "assets/Design_973-complex.jpg"</ns1:t>
            </ns1:r>
          </ns1:p>
          <ns1:p>
            <ns1:r>
              <ns1:t>    },</ns1:t>
            </ns1:r>
          </ns1:p>
          <ns1:p>
            <ns1:r>
              <ns1:t>    "interface": {</ns1:t>
            </ns1:r>
          </ns1:p>
          <ns1:p>
            <ns1:r>
              <ns1:t>      "source_slide": 7,</ns1:t>
            </ns1:r>
          </ns1:p>
          <ns1:p>
            <ns1:r>
              <ns1:t>      "source_picture_index": 1,</ns1:t>
            </ns1:r>
          </ns1:p>
          <ns1:p>
            <ns1:r>
              <ns1:t>      "embedded_media": "ppt/media/image4.jpeg",</ns1:t>
            </ns1:r>
          </ns1:p>
          <ns1:p>
            <ns1:r>
              <ns1:t>      "image_sha256": "39fb8600c74015cb611ed6230cd42f6a8237807bf0cb8286d23911b4a5a36617",</ns1:t>
            </ns1:r>
          </ns1:p>
          <ns1:p>
            <ns1:r>
              <ns1:t>      "asset": "assets/Design_973-interface.jpg"</ns1:t>
            </ns1:r>
          </ns1:p>
          <ns1:p>
            <ns1:r>
              <ns1:t>    },</ns1:t>
            </ns1:r>
          </ns1:p>
          <ns1:p>
            <ns1:r>
              <ns1:t>    "rendering_provenance": {</ns1:t>
            </ns1:r>
          </ns1:p>
          <ns1:p>
            <ns1:r>
              <ns1:t>      "source_PDB": "campaigns/glp1r-ligandforge-affinity/runs/2026-10-15_top100-affinity_001/01_staging/payload/pdb_inputs/Design_973.pdb",</ns1:t>
            </ns1:r>
          </ns1:p>
          <ns1:p>
            <ns1:r>
              <ns1:t>      "PDB_SHA256": "1ac777d39b5ba7521aaaf2b08830ab6b3907f5dde3336ba94396301931d3cfbe",</ns1:t>
            </ns1:r>
          </ns1:p>
          <ns1:p>
            <ns1:r>
              <ns1:t>      "model_SHA256": "2f7a42d2398a58ae72f865082414e8bdeb86aaf5ff428f9d3caa8abf2f0ba554",</ns1:t>
            </ns1:r>
          </ns1:p>
          <ns1:p>
            <ns1:r>
              <ns1:t>      "source_render_script": "local/2026-10-25_affinity-confidence-selection-deck_002/render_originals.py",</ns1:t>
            </ns1:r>
          </ns1:p>
          <ns1:p>
            <ns1:r>
              <ns1:t>      "alignment": "rigid core CA B117-400 fitting; original full/interface zooms reused",</ns1:t>
            </ns1:r>
          </ns1:p>
          <ns1:p>
            <ns1:r>
              <ns1:t>      "camera_version": "saved original full and interface frames from final90-slide deck"</ns1:t>
            </ns1:r>
          </ns1:p>
          <ns1:p>
            <ns1:r>
              <ns1:t>    },</ns1:t>
            </ns1:r>
          </ns1:p>
          <ns1:p>
            <ns1:r>
              <ns1:t>    "display": "unchanged embedded JPEGs extracted from hash-verified delivered25-design PPTX; no resampling, cropping or new coordinate transforms",</ns1:t>
            </ns1:r>
          </ns1:p>
          <ns1:p>
            <ns1:r>
              <ns1:t>    "scale": "full complex and interface have different zooms; no matched-scale claim",</ns1:t>
            </ns1:r>
          </ns1:p>
          <ns1:p>
            <ns1:r>
              <ns1:t>    "hotspots": "black sticks; original27pocket positions for original LigandForge, R40/Q37/E34 annotations for DLD",</ns1:t>
            </ns1:r>
          </ns1:p>
          <ns1:p>
            <ns1:r>
              <ns1:t>    "colors": {</ns1:t>
            </ns1:r>
          </ns1:p>
          <ns1:p>
            <ns1:r>
              <ns1:t>      "LigandForge": "#E69F00",</ns1:t>
            </ns1:r>
          </ns1:p>
          <ns1:p>
            <ns1:r>
              <ns1:t>      "linker": "#AA4499",</ns1:t>
            </ns1:r>
          </ns1:p>
          <ns1:p>
            <ns1:r>
              <ns1:t>      "ECD_binder": "#0072B2",</ns1:t>
            </ns1:r>
          </ns1:p>
          <ns1:p>
            <ns1:r>
              <ns1:t>      "receptor_ECD": "#009E73",</ns1:t>
            </ns1:r>
          </ns1:p>
          <ns1:p>
            <ns1:r>
              <ns1:t>      "receptor_remainder": "#9AA5B1",</ns1:t>
            </ns1:r>
          </ns1:p>
          <ns1:p>
            <ns1:r>
              <ns1:t>      "hotspots": "#000000"</ns1:t>
            </ns1:r>
          </ns1:p>
          <ns1:p>
            <ns1:r>
              <ns1:t>    }</ns1:t>
            </ns1:r>
          </ns1:p>
          <ns1:p>
            <ns1:r>
              <ns1:t>  },</ns1:t>
            </ns1:r>
          </ns1:p>
          <ns1:p>
            <ns1:r>
              <ns1:t>  "source_deck": "local/2026-10-25_affinity-confidence-selection-deck_002/output/GLP1R_Selected_ipSAE_gt0p895_Kd_lt10nM_v3.pptx",</ns1:t>
            </ns1:r>
          </ns1:p>
          <ns1:p>
            <ns1:r>
              <ns1:t>  "source_deck_sha256": "ad9333fdf6c0ce7d6982e2980d6aade78af256710dbc7917f7f39e41d35aa173",</ns1:t>
            </ns1:r>
          </ns1:p>
          <ns1:p>
            <ns1:r>
              <ns1:t>  "domain_labels": "LigandForge A1-65",</ns1:t>
            </ns1:r>
          </ns1:p>
          <ns1:p>
            <ns1:r>
              <ns1:t>  "display_scope": "native Exact complex and saved interface view; same identity colors, independent zooms; no new coordinates or inferred agonism"</ns1:t>
            </ns1:r>
          </ns1:p>
          <ns1:p>
            <ns1:r>
              <ns1:t>}</ns1:t>
            </ns1:r>
          </ns1:p>
        </ns0:txBody>
      </ns0:sp>
      <ns0:sp>
        <ns0:nvSpPr>
          <ns0:cNvPr id="4" name="Slide Number Placeholder 3"/>
          <ns0:cNvSpPr>
            <ns1:spLocks noGrp="1"/>
          </ns0:cNvSpPr>
          <ns0:nvPr>
            <ns0:ph type="sldNum" idx="5"/>
          </ns0:nvPr>
        </ns0:nvSpPr>
        <ns0:spPr/>
        <ns0:txBody>
          <ns1:bodyPr/>
          <ns1:lstStyle/>
          <ns1:p/>
        </ns0:txBody>
      </ns0:sp>
    </ns0:spTree>
  </ns0:cSld>
  <ns0:clrMapOvr>
    <ns1:masterClrMapping/>
  </ns0:clrMapOvr>
</ns0:notes>
</file>

<file path=ppt/notesSlides/notesSlide15.xml><?xml version="1.0" encoding="utf-8"?>
<ns0:notes xmlns:ns0="http://schemas.openxmlformats.org/presentationml/2006/main" xmlns:ns1="http://schemas.openxmlformats.org/drawingml/2006/main">
  <ns0:cSld>
    <ns0:spTree>
      <ns0:nvGrpSpPr>
        <ns0:cNvPr id="1" name=""/>
        <ns0:cNvGrpSpPr/>
        <ns0:nvPr/>
      </ns0:nvGrpSpPr>
      <ns0:grpSpPr>
        <ns1:xfrm/>
      </ns0:grpSpPr>
      <ns0:sp>
        <ns0:nvSpPr>
          <ns0:cNvPr id="2" name="Slide Image Placeholder 1"/>
          <ns0:cNvSpPr>
            <ns1:spLocks noGrp="1"/>
          </ns0:cNvSpPr>
          <ns0:nvPr>
            <ns0:ph type="sldImg" idx="0"/>
          </ns0:nvPr>
        </ns0:nvSpPr>
        <ns0:spPr/>
      </ns0:sp>
      <ns0:sp>
        <ns0:nvSpPr>
          <ns0:cNvPr id="3" name="Notes Placeholder 2"/>
          <ns0:cNvSpPr>
            <ns1:spLocks noGrp="1"/>
          </ns0:cNvSpPr>
          <ns0:nvPr>
            <ns0:ph type="body" idx="1"/>
          </ns0:nvPr>
        </ns0:nvSpPr>
        <ns0:spPr/>
        <ns0:txBody>
          <ns1:bodyPr/>
          <ns1:lstStyle/>
          <ns1:p>
            <ns1:r>
              <ns1:t>{</ns1:t>
            </ns1:r>
          </ns1:p>
          <ns1:p>
            <ns1:r>
              <ns1:t>  "candidate": "LK_P157_08",</ns1:t>
            </ns1:r>
          </ns1:p>
          <ns1:p>
            <ns1:r>
              <ns1:t>  "final_rank": 8,</ns1:t>
            </ns1:r>
          </ns1:p>
          <ns1:p>
            <ns1:r>
              <ns1:t>  "selection": "Exact ipSAE&gt;0.895 and DeltaForge predicted Kd&lt;10nM; first20 by Exact ipSAE descending",</ns1:t>
            </ns1:r>
          </ns1:p>
          <ns1:p>
            <ns1:r>
              <ns1:t>  "sequence_sha256": "a6b21c268973d6aca8428dc32538891704af6a07a7a357b3de8a1856d194cc78",</ns1:t>
            </ns1:r>
          </ns1:p>
          <ns1:p>
            <ns1:r>
              <ns1:t>  "sources": {</ns1:t>
            </ns1:r>
          </ns1:p>
          <ns1:p>
            <ns1:r>
              <ns1:t>    "source_table": {</ns1:t>
            </ns1:r>
          </ns1:p>
          <ns1:p>
            <ns1:r>
              <ns1:t>      "path": "local/2026-10-25_lf50-dld26-50-deltaforge_001/output/GLP1R_DLD_Top50_DeltaForge_Kd_and_Boltz2_Metrics.csv",</ns1:t>
            </ns1:r>
          </ns1:p>
          <ns1:p>
            <ns1:r>
              <ns1:t>      "sha256": "da9569bf0e8b74cce3d6792eb260d6a4b17b35e6f46e0793d49f02c0d3a0e728"</ns1:t>
            </ns1:r>
          </ns1:p>
          <ns1:p>
            <ns1:r>
              <ns1:t>    },</ns1:t>
            </ns1:r>
          </ns1:p>
          <ns1:p>
            <ns1:r>
              <ns1:t>    "native_cif": {</ns1:t>
            </ns1:r>
          </ns1:p>
          <ns1:p>
            <ns1:r>
              <ns1:t>      "path": "local/2026-10-25_linker-top100-review_001/models/LK_P157_08/boltz2.cif",</ns1:t>
            </ns1:r>
          </ns1:p>
          <ns1:p>
            <ns1:r>
              <ns1:t>      "sha256": "f9efc503df7abaf13c7f3bbea2af38254a6c142412d6ad515e3f59ce28a7bf7b"</ns1:t>
            </ns1:r>
          </ns1:p>
          <ns1:p>
            <ns1:r>
              <ns1:t>    },</ns1:t>
            </ns1:r>
          </ns1:p>
          <ns1:p>
            <ns1:r>
              <ns1:t>    "scoring_pdb": {</ns1:t>
            </ns1:r>
          </ns1:p>
          <ns1:p>
            <ns1:r>
              <ns1:t>      "path": "local/2026-10-25_dld-top25-deltaforge_001/payload/structures/LK_P157_08.pdb",</ns1:t>
            </ns1:r>
          </ns1:p>
          <ns1:p>
            <ns1:r>
              <ns1:t>      "sha256": "80c7ec071ec58a7464df6de072e9017cfbebd6871775205cf042ad116cb3169b"</ns1:t>
            </ns1:r>
          </ns1:p>
          <ns1:p>
            <ns1:r>
              <ns1:t>    },</ns1:t>
            </ns1:r>
          </ns1:p>
          <ns1:p>
            <ns1:r>
              <ns1:t>    "DeltaForge_result": {</ns1:t>
            </ns1:r>
          </ns1:p>
          <ns1:p>
            <ns1:r>
              <ns1:t>      "path": "campaigns/glp1r-r40-design/runs/2026-10-25_dld-top25-deltaforge_001/03_filtering/deltaforge_results/LK_P157_08.json",</ns1:t>
            </ns1:r>
          </ns1:p>
          <ns1:p>
            <ns1:r>
              <ns1:t>      "sha256": "6dfcf6988909ebafe8c3f60fdc4bba56f3a390d47877cf5cb96e5ce0bf9eab1c"</ns1:t>
            </ns1:r>
          </ns1:p>
          <ns1:p>
            <ns1:r>
              <ns1:t>    }</ns1:t>
            </ns1:r>
          </ns1:p>
          <ns1:p>
            <ns1:r>
              <ns1:t>  },</ns1:t>
            </ns1:r>
          </ns1:p>
          <ns1:p>
            <ns1:r>
              <ns1:t>  "source_ledger": "campaigns/glp1r-final-writeup/runs/2026-10-25_final20-writeup_001/04_analysis/provenance-ledger.json",</ns1:t>
            </ns1:r>
          </ns1:p>
          <ns1:p>
            <ns1:r>
              <ns1:t>  "scorer": "deltaforge_v10_2_unified_parallel / v10_2_unified_parallel_2026_05_08",</ns1:t>
            </ns1:r>
          </ns1:p>
          <ns1:p>
            <ns1:r>
              <ns1:t>  "calibration": "deltaforge_v10_boltz2_calibrated_gbr / v10_boltz2_gbr_2026_03_29",</ns1:t>
            </ns1:r>
          </ns1:p>
          <ns1:p>
            <ns1:r>
              <ns1:t>  "scope": "one complete candidate A against one receptor B; computational, no experimental Kd or activation"</ns1:t>
            </ns1:r>
          </ns1:p>
          <ns1:p>
            <ns1:r>
              <ns1:t>}</ns1:t>
            </ns1:r>
          </ns1:p>
        </ns0:txBody>
      </ns0:sp>
      <ns0:sp>
        <ns0:nvSpPr>
          <ns0:cNvPr id="4" name="Slide Number Placeholder 3"/>
          <ns0:cNvSpPr>
            <ns1:spLocks noGrp="1"/>
          </ns0:cNvSpPr>
          <ns0:nvPr>
            <ns0:ph type="sldNum" idx="5"/>
          </ns0:nvPr>
        </ns0:nvSpPr>
        <ns0:spPr/>
        <ns0:txBody>
          <ns1:bodyPr/>
          <ns1:lstStyle/>
          <ns1:p/>
        </ns0:txBody>
      </ns0:sp>
    </ns0:spTree>
  </ns0:cSld>
  <ns0:clrMapOvr>
    <ns1:masterClrMapping/>
  </ns0:clrMapOvr>
</ns0:notes>
</file>

<file path=ppt/notesSlides/notesSlide16.xml><?xml version="1.0" encoding="utf-8"?>
<ns0:notes xmlns:ns0="http://schemas.openxmlformats.org/presentationml/2006/main" xmlns:ns1="http://schemas.openxmlformats.org/drawingml/2006/main">
  <ns0:cSld>
    <ns0:spTree>
      <ns0:nvGrpSpPr>
        <ns0:cNvPr id="1" name=""/>
        <ns0:cNvGrpSpPr/>
        <ns0:nvPr/>
      </ns0:nvGrpSpPr>
      <ns0:grpSpPr>
        <ns1:xfrm/>
      </ns0:grpSpPr>
      <ns0:sp>
        <ns0:nvSpPr>
          <ns0:cNvPr id="2" name="Slide Image Placeholder 1"/>
          <ns0:cNvSpPr>
            <ns1:spLocks noGrp="1"/>
          </ns0:cNvSpPr>
          <ns0:nvPr>
            <ns0:ph type="sldImg" idx="0"/>
          </ns0:nvPr>
        </ns0:nvSpPr>
        <ns0:spPr/>
      </ns0:sp>
      <ns0:sp>
        <ns0:nvSpPr>
          <ns0:cNvPr id="3" name="Notes Placeholder 2"/>
          <ns0:cNvSpPr>
            <ns1:spLocks noGrp="1"/>
          </ns0:cNvSpPr>
          <ns0:nvPr>
            <ns0:ph type="body" idx="1"/>
          </ns0:nvPr>
        </ns0:nvSpPr>
        <ns0:spPr/>
        <ns0:txBody>
          <ns1:bodyPr/>
          <ns1:lstStyle/>
          <ns1:p>
            <ns1:r>
              <ns1:t>{</ns1:t>
            </ns1:r>
          </ns1:p>
          <ns1:p>
            <ns1:r>
              <ns1:t>  "candidate": "LK_P157_08",</ns1:t>
            </ns1:r>
          </ns1:p>
          <ns1:p>
            <ns1:r>
              <ns1:t>  "final_rank": 8,</ns1:t>
            </ns1:r>
          </ns1:p>
          <ns1:p>
            <ns1:r>
              <ns1:t>  "native_model_sha256": "f9efc503df7abaf13c7f3bbea2af38254a6c142412d6ad515e3f59ce28a7bf7b",</ns1:t>
            </ns1:r>
          </ns1:p>
          <ns1:p>
            <ns1:r>
              <ns1:t>  "structure_views": {</ns1:t>
            </ns1:r>
          </ns1:p>
          <ns1:p>
            <ns1:r>
              <ns1:t>    "final_rank": 8,</ns1:t>
            </ns1:r>
          </ns1:p>
          <ns1:p>
            <ns1:r>
              <ns1:t>    "design_id": "LK_P157_08",</ns1:t>
            </ns1:r>
          </ns1:p>
          <ns1:p>
            <ns1:r>
              <ns1:t>    "sequence_sha256": "a6b21c268973d6aca8428dc32538891704af6a07a7a357b3de8a1856d194cc78",</ns1:t>
            </ns1:r>
          </ns1:p>
          <ns1:p>
            <ns1:r>
              <ns1:t>    "native_model_sha256": "f9efc503df7abaf13c7f3bbea2af38254a6c142412d6ad515e3f59ce28a7bf7b",</ns1:t>
            </ns1:r>
          </ns1:p>
          <ns1:p>
            <ns1:r>
              <ns1:t>    "scoring_pdb_sha256": "80c7ec071ec58a7464df6de072e9017cfbebd6871775205cf042ad116cb3169b",</ns1:t>
            </ns1:r>
          </ns1:p>
          <ns1:p>
            <ns1:r>
              <ns1:t>    "overview": {</ns1:t>
            </ns1:r>
          </ns1:p>
          <ns1:p>
            <ns1:r>
              <ns1:t>      "source_slide": 39,</ns1:t>
            </ns1:r>
          </ns1:p>
          <ns1:p>
            <ns1:r>
              <ns1:t>      "source_picture_index": 1,</ns1:t>
            </ns1:r>
          </ns1:p>
          <ns1:p>
            <ns1:r>
              <ns1:t>      "embedded_media": "ppt/media/image41.jpeg",</ns1:t>
            </ns1:r>
          </ns1:p>
          <ns1:p>
            <ns1:r>
              <ns1:t>      "image_sha256": "d9b43a1c987e009cb35b54e8838a26195faad0c12fdac416189f7410dcfdf8d4",</ns1:t>
            </ns1:r>
          </ns1:p>
          <ns1:p>
            <ns1:r>
              <ns1:t>      "asset": "assets/LK_P157_08-complex.jpg"</ns1:t>
            </ns1:r>
          </ns1:p>
          <ns1:p>
            <ns1:r>
              <ns1:t>    },</ns1:t>
            </ns1:r>
          </ns1:p>
          <ns1:p>
            <ns1:r>
              <ns1:t>    "interface": {</ns1:t>
            </ns1:r>
          </ns1:p>
          <ns1:p>
            <ns1:r>
              <ns1:t>      "source_slide": 40,</ns1:t>
            </ns1:r>
          </ns1:p>
          <ns1:p>
            <ns1:r>
              <ns1:t>      "source_picture_index": 1,</ns1:t>
            </ns1:r>
          </ns1:p>
          <ns1:p>
            <ns1:r>
              <ns1:t>      "embedded_media": "ppt/media/image44.jpeg",</ns1:t>
            </ns1:r>
          </ns1:p>
          <ns1:p>
            <ns1:r>
              <ns1:t>      "image_sha256": "7f4802b3bae5ac977e1090964fac0f280945f83405ea0205a06b9cda48f8589a",</ns1:t>
            </ns1:r>
          </ns1:p>
          <ns1:p>
            <ns1:r>
              <ns1:t>      "asset": "assets/LK_P157_08-interface.jpg"</ns1:t>
            </ns1:r>
          </ns1:p>
          <ns1:p>
            <ns1:r>
              <ns1:t>    },</ns1:t>
            </ns1:r>
          </ns1:p>
          <ns1:p>
            <ns1:r>
              <ns1:t>    "rendering_provenance": {</ns1:t>
            </ns1:r>
          </ns1:p>
          <ns1:p>
            <ns1:r>
              <ns1:t>      "DeltaForge_source_PDB_sha256": "80c7ec071ec58a7464df6de072e9017cfbebd6871775205cf042ad116cb3169b",</ns1:t>
            </ns1:r>
          </ns1:p>
          <ns1:p>
            <ns1:r>
              <ns1:t>      "role_ranges_zero_based": {</ns1:t>
            </ns1:r>
          </ns1:p>
          <ns1:p>
            <ns1:r>
              <ns1:t>        "ECD": [</ns1:t>
            </ns1:r>
          </ns1:p>
          <ns1:p>
            <ns1:r>
              <ns1:t>          0,</ns1:t>
            </ns1:r>
          </ns1:p>
          <ns1:p>
            <ns1:r>
              <ns1:t>          50</ns1:t>
            </ns1:r>
          </ns1:p>
          <ns1:p>
            <ns1:r>
              <ns1:t>        ],</ns1:t>
            </ns1:r>
          </ns1:p>
          <ns1:p>
            <ns1:r>
              <ns1:t>        "linker": [</ns1:t>
            </ns1:r>
          </ns1:p>
          <ns1:p>
            <ns1:r>
              <ns1:t>          50,</ns1:t>
            </ns1:r>
          </ns1:p>
          <ns1:p>
            <ns1:r>
              <ns1:t>          85</ns1:t>
            </ns1:r>
          </ns1:p>
          <ns1:p>
            <ns1:r>
              <ns1:t>        ],</ns1:t>
            </ns1:r>
          </ns1:p>
          <ns1:p>
            <ns1:r>
              <ns1:t>        "LF": [</ns1:t>
            </ns1:r>
          </ns1:p>
          <ns1:p>
            <ns1:r>
              <ns1:t>          85,</ns1:t>
            </ns1:r>
          </ns1:p>
          <ns1:p>
            <ns1:r>
              <ns1:t>          139</ns1:t>
            </ns1:r>
          </ns1:p>
          <ns1:p>
            <ns1:r>
              <ns1:t>        ]</ns1:t>
            </ns1:r>
          </ns1:p>
          <ns1:p>
            <ns1:r>
              <ns1:t>      },</ns1:t>
            </ns1:r>
          </ns1:p>
          <ns1:p>
            <ns1:r>
              <ns1:t>      "model_sha256": "f9efc503df7abaf13c7f3bbea2af38254a6c142412d6ad515e3f59ce28a7bf7b",</ns1:t>
            </ns1:r>
          </ns1:p>
          <ns1:p>
            <ns1:r>
              <ns1:t>      "source_run": "2026-10-24_pair183-extracellular-exact_001",</ns1:t>
            </ns1:r>
          </ns1:p>
          <ns1:p>
            <ns1:r>
              <ns1:t>      "source_methods": [</ns1:t>
            </ns1:r>
          </ns1:p>
          <ns1:p>
            <ns1:r>
              <ns1:t>        "https://github.com/DunbrackLab/IPSAE",</ns1:t>
            </ns1:r>
          </ns1:p>
          <ns1:p>
            <ns1:r>
              <ns1:t>        "https://github.com/wallnerlab/DockQ",</ns1:t>
            </ns1:r>
          </ns1:p>
          <ns1:p>
            <ns1:r>
              <ns1:t>        "https://zhanggroup.org/TM-score/"</ns1:t>
            </ns1:r>
          </ns1:p>
          <ns1:p>
            <ns1:r>
              <ns1:t>      ],</ns1:t>
            </ns1:r>
          </ns1:p>
          <ns1:p>
            <ns1:r>
              <ns1:t>      "saved_display_appendix": {</ns1:t>
            </ns1:r>
          </ns1:p>
          <ns1:p>
            <ns1:r>
              <ns1:t>        "parent_sources": {</ns1:t>
            </ns1:r>
          </ns1:p>
          <ns1:p>
            <ns1:r>
              <ns1:t>          "ECD-parent": {</ns1:t>
            </ns1:r>
          </ns1:p>
          <ns1:p>
            <ns1:r>
              <ns1:t>            "key": "LK_P157_08-ECD-parent",</ns1:t>
            </ns1:r>
          </ns1:p>
          <ns1:p>
            <ns1:r>
              <ns1:t>            "source_path": "local/2026-10-25_linker-parent-comparison_001/parents/S10_02_023/exact.pdb",</ns1:t>
            </ns1:r>
          </ns1:p>
          <ns1:p>
            <ns1:r>
              <ns1:t>            "source_sha256": "2508cebf214f1a9c1e086a92a31c37e01c012a2322b14ef76c39c626097ba4e1",</ns1:t>
            </ns1:r>
          </ns1:p>
          <ns1:p>
            <ns1:r>
              <ns1:t>            "role": "ECD",</ns1:t>
            </ns1:r>
          </ns1:p>
          <ns1:p>
            <ns1:r>
              <ns1:t>            "ranges_zero_based": {</ns1:t>
            </ns1:r>
          </ns1:p>
          <ns1:p>
            <ns1:r>
              <ns1:t>              "ECD": [</ns1:t>
            </ns1:r>
          </ns1:p>
          <ns1:p>
            <ns1:r>
              <ns1:t>                0,</ns1:t>
            </ns1:r>
          </ns1:p>
          <ns1:p>
            <ns1:r>
              <ns1:t>                50</ns1:t>
            </ns1:r>
          </ns1:p>
          <ns1:p>
            <ns1:r>
              <ns1:t>              ]</ns1:t>
            </ns1:r>
          </ns1:p>
          <ns1:p>
            <ns1:r>
              <ns1:t>            },</ns1:t>
            </ns1:r>
          </ns1:p>
          <ns1:p>
            <ns1:r>
              <ns1:t>            "sequence": "MSIDYSSLVTHSPTGVAEATEFLYRYYQLREIPLETFIAVASALYHSSLL",</ns1:t>
            </ns1:r>
          </ns1:p>
          <ns1:p>
            <ns1:r>
              <ns1:t>            "rotation": [</ns1:t>
            </ns1:r>
          </ns1:p>
          <ns1:p>
            <ns1:r>
              <ns1:t>              [</ns1:t>
            </ns1:r>
          </ns1:p>
          <ns1:p>
            <ns1:r>
              <ns1:t>                0.8335087407643238,</ns1:t>
            </ns1:r>
          </ns1:p>
          <ns1:p>
            <ns1:r>
              <ns1:t>                -0.39265340690040285,</ns1:t>
            </ns1:r>
          </ns1:p>
          <ns1:p>
            <ns1:r>
              <ns1:t>                0.3886984054353062</ns1:t>
            </ns1:r>
          </ns1:p>
          <ns1:p>
            <ns1:r>
              <ns1:t>              ],</ns1:t>
            </ns1:r>
          </ns1:p>
          <ns1:p>
            <ns1:r>
              <ns1:t>              [</ns1:t>
            </ns1:r>
          </ns1:p>
          <ns1:p>
            <ns1:r>
              <ns1:t>                0.5008578600742943,</ns1:t>
            </ns1:r>
          </ns1:p>
          <ns1:p>
            <ns1:r>
              <ns1:t>                0.8339815894650616,</ns1:t>
            </ns1:r>
          </ns1:p>
          <ns1:p>
            <ns1:r>
              <ns1:t>                -0.23155145976513491</ns1:t>
            </ns1:r>
          </ns1:p>
          <ns1:p>
            <ns1:r>
              <ns1:t>              ],</ns1:t>
            </ns1:r>
          </ns1:p>
          <ns1:p>
            <ns1:r>
              <ns1:t>              [</ns1:t>
            </ns1:r>
          </ns1:p>
          <ns1:p>
            <ns1:r>
              <ns1:t>                -0.23324782609576644,</ns1:t>
            </ns1:r>
          </ns1:p>
          <ns1:p>
            <ns1:r>
              <ns1:t>                0.3876828299115498,</ns1:t>
            </ns1:r>
          </ns1:p>
          <ns1:p>
            <ns1:r>
              <ns1:t>                0.8917945021593576</ns1:t>
            </ns1:r>
          </ns1:p>
          <ns1:p>
            <ns1:r>
              <ns1:t>              ]</ns1:t>
            </ns1:r>
          </ns1:p>
          <ns1:p>
            <ns1:r>
              <ns1:t>            ],</ns1:t>
            </ns1:r>
          </ns1:p>
          <ns1:p>
            <ns1:r>
              <ns1:t>            "translation": [</ns1:t>
            </ns1:r>
          </ns1:p>
          <ns1:p>
            <ns1:r>
              <ns1:t>              8.385546657308538,</ns1:t>
            </ns1:r>
          </ns1:p>
          <ns1:p>
            <ns1:r>
              <ns1:t>              2.4163998526141652,</ns1:t>
            </ns1:r>
          </ns1:p>
          <ns1:p>
            <ns1:r>
              <ns1:t>              0.004941400857824796</ns1:t>
            </ns1:r>
          </ns1:p>
          <ns1:p>
            <ns1:r>
              <ns1:t>            ],</ns1:t>
            </ns1:r>
          </ns1:p>
          <ns1:p>
            <ns1:r>
              <ns1:t>            "core_fit_CA_RMSD_A": 1.217786115571315,</ns1:t>
            </ns1:r>
          </ns1:p>
          <ns1:p>
            <ns1:r>
              <ns1:t>            "output": "local/2026-10-25_linker-parent-views_001/build/renders-v2/LK_P157_08-ECD-parent.jpg",</ns1:t>
            </ns1:r>
          </ns1:p>
          <ns1:p>
            <ns1:r>
              <ns1:t>            "parent_or_fusion_id": "S10_02_023",</ns1:t>
            </ns1:r>
          </ns1:p>
          <ns1:p>
            <ns1:r>
              <ns1:t>            "design_id": "LK_P157_08",</ns1:t>
            </ns1:r>
          </ns1:p>
          <ns1:p>
            <ns1:r>
              <ns1:t>            "panel": "ECD-parent",</ns1:t>
            </ns1:r>
          </ns1:p>
          <ns1:p>
            <ns1:r>
              <ns1:t>            "view": [</ns1:t>
            </ns1:r>
          </ns1:p>
          <ns1:p>
            <ns1:r>
              <ns1:t>              1,</ns1:t>
            </ns1:r>
          </ns1:p>
          <ns1:p>
            <ns1:r>
              <ns1:t>              0,</ns1:t>
            </ns1:r>
          </ns1:p>
          <ns1:p>
            <ns1:r>
              <ns1:t>              0,</ns1:t>
            </ns1:r>
          </ns1:p>
          <ns1:p>
            <ns1:r>
              <ns1:t>              0,</ns1:t>
            </ns1:r>
          </ns1:p>
          <ns1:p>
            <ns1:r>
              <ns1:t>              1,</ns1:t>
            </ns1:r>
          </ns1:p>
          <ns1:p>
            <ns1:r>
              <ns1:t>              0,</ns1:t>
            </ns1:r>
          </ns1:p>
          <ns1:p>
            <ns1:r>
              <ns1:t>              0,</ns1:t>
            </ns1:r>
          </ns1:p>
          <ns1:p>
            <ns1:r>
              <ns1:t>              0,</ns1:t>
            </ns1:r>
          </ns1:p>
          <ns1:p>
            <ns1:r>
              <ns1:t>              1,</ns1:t>
            </ns1:r>
          </ns1:p>
          <ns1:p>
            <ns1:r>
              <ns1:t>              0,</ns1:t>
            </ns1:r>
          </ns1:p>
          <ns1:p>
            <ns1:r>
              <ns1:t>              0,</ns1:t>
            </ns1:r>
          </ns1:p>
          <ns1:p>
            <ns1:r>
              <ns1:t>              -507.3095352567785,</ns1:t>
            </ns1:r>
          </ns1:p>
          <ns1:p>
            <ns1:r>
              <ns1:t>              -6.376931567667942,</ns1:t>
            </ns1:r>
          </ns1:p>
          <ns1:p>
            <ns1:r>
              <ns1:t>              -2.0601005723102688,</ns1:t>
            </ns1:r>
          </ns1:p>
          <ns1:p>
            <ns1:r>
              <ns1:t>              -28.59967148261473,</ns1:t>
            </ns1:r>
          </ns1:p>
          <ns1:p>
            <ns1:r>
              <ns1:t>              432.7783445215128,</ns1:t>
            </ns1:r>
          </ns1:p>
          <ns1:p>
            <ns1:r>
              <ns1:t>              581.8407259920441,</ns1:t>
            </ns1:r>
          </ns1:p>
          <ns1:p>
            <ns1:r>
              <ns1:t>              -20</ns1:t>
            </ns1:r>
          </ns1:p>
          <ns1:p>
            <ns1:r>
              <ns1:t>            ],</ns1:t>
            </ns1:r>
          </ns1:p>
          <ns1:p>
            <ns1:r>
              <ns1:t>            "world_height_A": 178.90471727288462,</ns1:t>
            </ns1:r>
          </ns1:p>
          <ns1:p>
            <ns1:r>
              <ns1:t>            "row_bounds_all_atoms_A": [</ns1:t>
            </ns1:r>
          </ns1:p>
          <ns1:p>
            <ns1:r>
              <ns1:t>              [</ns1:t>
            </ns1:r>
          </ns1:p>
          <ns1:p>
            <ns1:r>
              <ns1:t>                -48.11688215885607,</ns1:t>
            </ns1:r>
          </ns1:p>
          <ns1:p>
            <ns1:r>
              <ns1:t>                -84.51245920875259,</ns1:t>
            </ns1:r>
          </ns1:p>
          <ns1:p>
            <ns1:r>
              <ns1:t>                -88.1308622178804</ns1:t>
            </ns1:r>
          </ns1:p>
          <ns1:p>
            <ns1:r>
              <ns1:t>              ],</ns1:t>
            </ns1:r>
          </ns1:p>
          <ns1:p>
            <ns1:r>
              <ns1:t>              [</ns1:t>
            </ns1:r>
          </ns1:p>
          <ns1:p>
            <ns1:r>
              <ns1:t>                35.36301902352019,</ns1:t>
            </ns1:r>
          </ns1:p>
          <ns1:p>
            <ns1:r>
              <ns1:t>                80.39225806413205,</ns1:t>
            </ns1:r>
          </ns1:p>
          <ns1:p>
            <ns1:r>
              <ns1:t>                30.93151925265094</ns1:t>
            </ns1:r>
          </ns1:p>
          <ns1:p>
            <ns1:r>
              <ns1:t>              ]</ns1:t>
            </ns1:r>
          </ns1:p>
          <ns1:p>
            <ns1:r>
              <ns1:t>            ]</ns1:t>
            </ns1:r>
          </ns1:p>
          <ns1:p>
            <ns1:r>
              <ns1:t>          },</ns1:t>
            </ns1:r>
          </ns1:p>
          <ns1:p>
            <ns1:r>
              <ns1:t>          "APNovo": {</ns1:t>
            </ns1:r>
          </ns1:p>
          <ns1:p>
            <ns1:r>
              <ns1:t>            "key": "LK_P157_08-APNovo",</ns1:t>
            </ns1:r>
          </ns1:p>
          <ns1:p>
            <ns1:r>
              <ns1:t>            "source_path": "local/2026-10-25_linker-top100-review_001/build/comparisons/LK_P157_08/reference.pdb",</ns1:t>
            </ns1:r>
          </ns1:p>
          <ns1:p>
            <ns1:r>
              <ns1:t>            "source_sha256": "1c5f7448c4ab0e480b667edf4290c591f8f6c8deb1ae2abfd20226f9155901d2",</ns1:t>
            </ns1:r>
          </ns1:p>
          <ns1:p>
            <ns1:r>
              <ns1:t>            "role": "fusion",</ns1:t>
            </ns1:r>
          </ns1:p>
          <ns1:p>
            <ns1:r>
              <ns1:t>            "ranges_zero_based": {</ns1:t>
            </ns1:r>
          </ns1:p>
          <ns1:p>
            <ns1:r>
              <ns1:t>              "ECD": [</ns1:t>
            </ns1:r>
          </ns1:p>
          <ns1:p>
            <ns1:r>
              <ns1:t>                0,</ns1:t>
            </ns1:r>
          </ns1:p>
          <ns1:p>
            <ns1:r>
              <ns1:t>                50</ns1:t>
            </ns1:r>
          </ns1:p>
          <ns1:p>
            <ns1:r>
              <ns1:t>              ],</ns1:t>
            </ns1:r>
          </ns1:p>
          <ns1:p>
            <ns1:r>
              <ns1:t>              "linker": [</ns1:t>
            </ns1:r>
          </ns1:p>
          <ns1:p>
            <ns1:r>
              <ns1:t>                50,</ns1:t>
            </ns1:r>
          </ns1:p>
          <ns1:p>
            <ns1:r>
              <ns1:t>                85</ns1:t>
            </ns1:r>
          </ns1:p>
          <ns1:p>
            <ns1:r>
              <ns1:t>              ],</ns1:t>
            </ns1:r>
          </ns1:p>
          <ns1:p>
            <ns1:r>
              <ns1:t>              "LF": [</ns1:t>
            </ns1:r>
          </ns1:p>
          <ns1:p>
            <ns1:r>
              <ns1:t>                85,</ns1:t>
            </ns1:r>
          </ns1:p>
          <ns1:p>
            <ns1:r>
              <ns1:t>                139</ns1:t>
            </ns1:r>
          </ns1:p>
          <ns1:p>
            <ns1:r>
              <ns1:t>              ]</ns1:t>
            </ns1:r>
          </ns1:p>
          <ns1:p>
            <ns1:r>
              <ns1:t>            },</ns1:t>
            </ns1:r>
          </ns1:p>
          <ns1:p>
            <ns1:r>
              <ns1:t>            "sequence": "MSIDYSSLVTHSPTGVAEATEFLYRYYQLREIPLETFIAVASALYHSSLLGGTDSLGKGSYDDKLNALPFSPEAEAAAQKDVEAGKTKEGSSCVRGGSRTELFSKEPDKGVSFVSGSGVEYVCFAFFVVGSGSGSTYVS",</ns1:t>
            </ns1:r>
          </ns1:p>
          <ns1:p>
            <ns1:r>
              <ns1:t>            "rotation": [</ns1:t>
            </ns1:r>
          </ns1:p>
          <ns1:p>
            <ns1:r>
              <ns1:t>              [</ns1:t>
            </ns1:r>
          </ns1:p>
          <ns1:p>
            <ns1:r>
              <ns1:t>                -0.7590215848581261,</ns1:t>
            </ns1:r>
          </ns1:p>
          <ns1:p>
            <ns1:r>
              <ns1:t>                -0.5573000516979638,</ns1:t>
            </ns1:r>
          </ns1:p>
          <ns1:p>
            <ns1:r>
              <ns1:t>                -0.3366049340766919</ns1:t>
            </ns1:r>
          </ns1:p>
          <ns1:p>
            <ns1:r>
              <ns1:t>              ],</ns1:t>
            </ns1:r>
          </ns1:p>
          <ns1:p>
            <ns1:r>
              <ns1:t>              [</ns1:t>
            </ns1:r>
          </ns1:p>
          <ns1:p>
            <ns1:r>
              <ns1:t>                -0.2982839234592314,</ns1:t>
            </ns1:r>
          </ns1:p>
          <ns1:p>
            <ns1:r>
              <ns1:t>                0.7572167747989567,</ns1:t>
            </ns1:r>
          </ns1:p>
          <ns1:p>
            <ns1:r>
              <ns1:t>                -0.5810760771694303</ns1:t>
            </ns1:r>
          </ns1:p>
          <ns1:p>
            <ns1:r>
              <ns1:t>              ],</ns1:t>
            </ns1:r>
          </ns1:p>
          <ns1:p>
            <ns1:r>
              <ns1:t>              [</ns1:t>
            </ns1:r>
          </ns1:p>
          <ns1:p>
            <ns1:r>
              <ns1:t>                0.5787166311051646,</ns1:t>
            </ns1:r>
          </ns1:p>
          <ns1:p>
            <ns1:r>
              <ns1:t>                -0.3406454807596051,</ns1:t>
            </ns1:r>
          </ns1:p>
          <ns1:p>
            <ns1:r>
              <ns1:t>                -0.7409775101855072</ns1:t>
            </ns1:r>
          </ns1:p>
          <ns1:p>
            <ns1:r>
              <ns1:t>              ]</ns1:t>
            </ns1:r>
          </ns1:p>
          <ns1:p>
            <ns1:r>
              <ns1:t>            ],</ns1:t>
            </ns1:r>
          </ns1:p>
          <ns1:p>
            <ns1:r>
              <ns1:t>            "translation": [</ns1:t>
            </ns1:r>
          </ns1:p>
          <ns1:p>
            <ns1:r>
              <ns1:t>              -8.600133253058988,</ns1:t>
            </ns1:r>
          </ns1:p>
          <ns1:p>
            <ns1:r>
              <ns1:t>              -9.094514631402003,</ns1:t>
            </ns1:r>
          </ns1:p>
          <ns1:p>
            <ns1:r>
              <ns1:t>              7.976175800326624</ns1:t>
            </ns1:r>
          </ns1:p>
          <ns1:p>
            <ns1:r>
              <ns1:t>            ],</ns1:t>
            </ns1:r>
          </ns1:p>
          <ns1:p>
            <ns1:r>
              <ns1:t>            "core_fit_CA_RMSD_A": 1.2177906682619632,</ns1:t>
            </ns1:r>
          </ns1:p>
          <ns1:p>
            <ns1:r>
              <ns1:t>            "output": "local/2026-10-25_linker-parent-views_001/build/renders-v2/LK_P157_08-APNovo.jpg",</ns1:t>
            </ns1:r>
          </ns1:p>
          <ns1:p>
            <ns1:r>
              <ns1:t>            "parent_or_fusion_id": "LK_P157_08-APNovo",</ns1:t>
            </ns1:r>
          </ns1:p>
          <ns1:p>
            <ns1:r>
              <ns1:t>            "design_id": "LK_P157_08",</ns1:t>
            </ns1:r>
          </ns1:p>
          <ns1:p>
            <ns1:r>
              <ns1:t>            "panel": "APNovo",</ns1:t>
            </ns1:r>
          </ns1:p>
          <ns1:p>
            <ns1:r>
              <ns1:t>            "view": [</ns1:t>
            </ns1:r>
          </ns1:p>
          <ns1:p>
            <ns1:r>
              <ns1:t>              1,</ns1:t>
            </ns1:r>
          </ns1:p>
          <ns1:p>
            <ns1:r>
              <ns1:t>              0,</ns1:t>
            </ns1:r>
          </ns1:p>
          <ns1:p>
            <ns1:r>
              <ns1:t>              0,</ns1:t>
            </ns1:r>
          </ns1:p>
          <ns1:p>
            <ns1:r>
              <ns1:t>              0,</ns1:t>
            </ns1:r>
          </ns1:p>
          <ns1:p>
            <ns1:r>
              <ns1:t>              1,</ns1:t>
            </ns1:r>
          </ns1:p>
          <ns1:p>
            <ns1:r>
              <ns1:t>              0,</ns1:t>
            </ns1:r>
          </ns1:p>
          <ns1:p>
            <ns1:r>
              <ns1:t>              0,</ns1:t>
            </ns1:r>
          </ns1:p>
          <ns1:p>
            <ns1:r>
              <ns1:t>              0,</ns1:t>
            </ns1:r>
          </ns1:p>
          <ns1:p>
            <ns1:r>
              <ns1:t>              1,</ns1:t>
            </ns1:r>
          </ns1:p>
          <ns1:p>
            <ns1:r>
              <ns1:t>              0,</ns1:t>
            </ns1:r>
          </ns1:p>
          <ns1:p>
            <ns1:r>
              <ns1:t>              0,</ns1:t>
            </ns1:r>
          </ns1:p>
          <ns1:p>
            <ns1:r>
              <ns1:t>              -507.3095352567785,</ns1:t>
            </ns1:r>
          </ns1:p>
          <ns1:p>
            <ns1:r>
              <ns1:t>              -6.376931567667942,</ns1:t>
            </ns1:r>
          </ns1:p>
          <ns1:p>
            <ns1:r>
              <ns1:t>              -2.0601005723102688,</ns1:t>
            </ns1:r>
          </ns1:p>
          <ns1:p>
            <ns1:r>
              <ns1:t>              -28.59967148261473,</ns1:t>
            </ns1:r>
          </ns1:p>
          <ns1:p>
            <ns1:r>
              <ns1:t>              432.7783445215128,</ns1:t>
            </ns1:r>
          </ns1:p>
          <ns1:p>
            <ns1:r>
              <ns1:t>              581.8407259920441,</ns1:t>
            </ns1:r>
          </ns1:p>
          <ns1:p>
            <ns1:r>
              <ns1:t>              -20</ns1:t>
            </ns1:r>
          </ns1:p>
          <ns1:p>
            <ns1:r>
              <ns1:t>            ],</ns1:t>
            </ns1:r>
          </ns1:p>
          <ns1:p>
            <ns1:r>
              <ns1:t>            "world_height_A": 178.90471727288462,</ns1:t>
            </ns1:r>
          </ns1:p>
          <ns1:p>
            <ns1:r>
              <ns1:t>            "row_bounds_all_atoms_A": [</ns1:t>
            </ns1:r>
          </ns1:p>
          <ns1:p>
            <ns1:r>
              <ns1:t>              [</ns1:t>
            </ns1:r>
          </ns1:p>
          <ns1:p>
            <ns1:r>
              <ns1:t>                -48.11688215885607,</ns1:t>
            </ns1:r>
          </ns1:p>
          <ns1:p>
            <ns1:r>
              <ns1:t>                -84.51245920875259,</ns1:t>
            </ns1:r>
          </ns1:p>
          <ns1:p>
            <ns1:r>
              <ns1:t>                -88.1308622178804</ns1:t>
            </ns1:r>
          </ns1:p>
          <ns1:p>
            <ns1:r>
              <ns1:t>              ],</ns1:t>
            </ns1:r>
          </ns1:p>
          <ns1:p>
            <ns1:r>
              <ns1:t>              [</ns1:t>
            </ns1:r>
          </ns1:p>
          <ns1:p>
            <ns1:r>
              <ns1:t>                35.36301902352019,</ns1:t>
            </ns1:r>
          </ns1:p>
          <ns1:p>
            <ns1:r>
              <ns1:t>                80.39225806413205,</ns1:t>
            </ns1:r>
          </ns1:p>
          <ns1:p>
            <ns1:r>
              <ns1:t>                30.93151925265094</ns1:t>
            </ns1:r>
          </ns1:p>
          <ns1:p>
            <ns1:r>
              <ns1:t>              ]</ns1:t>
            </ns1:r>
          </ns1:p>
          <ns1:p>
            <ns1:r>
              <ns1:t>            ]</ns1:t>
            </ns1:r>
          </ns1:p>
          <ns1:p>
            <ns1:r>
              <ns1:t>          },</ns1:t>
            </ns1:r>
          </ns1:p>
          <ns1:p>
            <ns1:r>
              <ns1:t>          "Exact": {</ns1:t>
            </ns1:r>
          </ns1:p>
          <ns1:p>
            <ns1:r>
              <ns1:t>            "key": "LK_P157_08-Exact",</ns1:t>
            </ns1:r>
          </ns1:p>
          <ns1:p>
            <ns1:r>
              <ns1:t>            "source_path": "local/2026-10-25_linker-top100-review_001/models/LK_P157_08/boltz2.cif",</ns1:t>
            </ns1:r>
          </ns1:p>
          <ns1:p>
            <ns1:r>
              <ns1:t>            "source_sha256": "f9efc503df7abaf13c7f3bbea2af38254a6c142412d6ad515e3f59ce28a7bf7b",</ns1:t>
            </ns1:r>
          </ns1:p>
          <ns1:p>
            <ns1:r>
              <ns1:t>            "role": "fusion",</ns1:t>
            </ns1:r>
          </ns1:p>
          <ns1:p>
            <ns1:r>
              <ns1:t>            "ranges_zero_based": {</ns1:t>
            </ns1:r>
          </ns1:p>
          <ns1:p>
            <ns1:r>
              <ns1:t>              "ECD": [</ns1:t>
            </ns1:r>
          </ns1:p>
          <ns1:p>
            <ns1:r>
              <ns1:t>                0,</ns1:t>
            </ns1:r>
          </ns1:p>
          <ns1:p>
            <ns1:r>
              <ns1:t>                50</ns1:t>
            </ns1:r>
          </ns1:p>
          <ns1:p>
            <ns1:r>
              <ns1:t>              ],</ns1:t>
            </ns1:r>
          </ns1:p>
          <ns1:p>
            <ns1:r>
              <ns1:t>              "linker": [</ns1:t>
            </ns1:r>
          </ns1:p>
          <ns1:p>
            <ns1:r>
              <ns1:t>                50,</ns1:t>
            </ns1:r>
          </ns1:p>
          <ns1:p>
            <ns1:r>
              <ns1:t>                85</ns1:t>
            </ns1:r>
          </ns1:p>
          <ns1:p>
            <ns1:r>
              <ns1:t>              ],</ns1:t>
            </ns1:r>
          </ns1:p>
          <ns1:p>
            <ns1:r>
              <ns1:t>              "LF": [</ns1:t>
            </ns1:r>
          </ns1:p>
          <ns1:p>
            <ns1:r>
              <ns1:t>                85,</ns1:t>
            </ns1:r>
          </ns1:p>
          <ns1:p>
            <ns1:r>
              <ns1:t>                139</ns1:t>
            </ns1:r>
          </ns1:p>
          <ns1:p>
            <ns1:r>
              <ns1:t>              ]</ns1:t>
            </ns1:r>
          </ns1:p>
          <ns1:p>
            <ns1:r>
              <ns1:t>            },</ns1:t>
            </ns1:r>
          </ns1:p>
          <ns1:p>
            <ns1:r>
              <ns1:t>            "sequence": "MSIDYSSLVTHSPTGVAEATEFLYRYYQLREIPLETFIAVASALYHSSLLGGTDSLGKGSYDDKLNALPFSPEAEAAAQKDVEAGKTKEGSSCVRGGSRTELFSKEPDKGVSFVSGSGVEYVCFAFFVVGSGSGSTYVS",</ns1:t>
            </ns1:r>
          </ns1:p>
          <ns1:p>
            <ns1:r>
              <ns1:t>            "rotation": [</ns1:t>
            </ns1:r>
          </ns1:p>
          <ns1:p>
            <ns1:r>
              <ns1:t>              [</ns1:t>
            </ns1:r>
          </ns1:p>
          <ns1:p>
            <ns1:r>
              <ns1:t>                0.658490631195463,</ns1:t>
            </ns1:r>
          </ns1:p>
          <ns1:p>
            <ns1:r>
              <ns1:t>                -0.7422531204738463,</ns1:t>
            </ns1:r>
          </ns1:p>
          <ns1:p>
            <ns1:r>
              <ns1:t>                0.12429951767260916</ns1:t>
            </ns1:r>
          </ns1:p>
          <ns1:p>
            <ns1:r>
              <ns1:t>              ],</ns1:t>
            </ns1:r>
          </ns1:p>
          <ns1:p>
            <ns1:r>
              <ns1:t>              [</ns1:t>
            </ns1:r>
          </ns1:p>
          <ns1:p>
            <ns1:r>
              <ns1:t>                0.726318044734305,</ns1:t>
            </ns1:r>
          </ns1:p>
          <ns1:p>
            <ns1:r>
              <ns1:t>                0.5835192287583562,</ns1:t>
            </ns1:r>
          </ns1:p>
          <ns1:p>
            <ns1:r>
              <ns1:t>                -0.3632731816233436</ns1:t>
            </ns1:r>
          </ns1:p>
          <ns1:p>
            <ns1:r>
              <ns1:t>              ],</ns1:t>
            </ns1:r>
          </ns1:p>
          <ns1:p>
            <ns1:r>
              <ns1:t>              [</ns1:t>
            </ns1:r>
          </ns1:p>
          <ns1:p>
            <ns1:r>
              <ns1:t>                0.19710952038179252,</ns1:t>
            </ns1:r>
          </ns1:p>
          <ns1:p>
            <ns1:r>
              <ns1:t>                0.32949297037094594,</ns1:t>
            </ns1:r>
          </ns1:p>
          <ns1:p>
            <ns1:r>
              <ns1:t>                0.9233537862902714</ns1:t>
            </ns1:r>
          </ns1:p>
          <ns1:p>
            <ns1:r>
              <ns1:t>              ]</ns1:t>
            </ns1:r>
          </ns1:p>
          <ns1:p>
            <ns1:r>
              <ns1:t>            ],</ns1:t>
            </ns1:r>
          </ns1:p>
          <ns1:p>
            <ns1:r>
              <ns1:t>            "translation": [</ns1:t>
            </ns1:r>
          </ns1:p>
          <ns1:p>
            <ns1:r>
              <ns1:t>              -2.2098559492908,</ns1:t>
            </ns1:r>
          </ns1:p>
          <ns1:p>
            <ns1:r>
              <ns1:t>              -0.32983189599570295,</ns1:t>
            </ns1:r>
          </ns1:p>
          <ns1:p>
            <ns1:r>
              <ns1:t>              -0.44176885100609775</ns1:t>
            </ns1:r>
          </ns1:p>
          <ns1:p>
            <ns1:r>
              <ns1:t>            ],</ns1:t>
            </ns1:r>
          </ns1:p>
          <ns1:p>
            <ns1:r>
              <ns1:t>            "core_fit_CA_RMSD_A": 1.2700312102494828,</ns1:t>
            </ns1:r>
          </ns1:p>
          <ns1:p>
            <ns1:r>
              <ns1:t>            "output": "local/2026-10-25_linker-parent-views_001/build/renders-v2/LK_P157_08-Exact.jpg",</ns1:t>
            </ns1:r>
          </ns1:p>
          <ns1:p>
            <ns1:r>
              <ns1:t>            "parent_or_fusion_id": "LK_P157_08-Exact",</ns1:t>
            </ns1:r>
          </ns1:p>
          <ns1:p>
            <ns1:r>
              <ns1:t>            "design_id": "LK_P157_08",</ns1:t>
            </ns1:r>
          </ns1:p>
          <ns1:p>
            <ns1:r>
              <ns1:t>            "panel": "Exact",</ns1:t>
            </ns1:r>
          </ns1:p>
          <ns1:p>
            <ns1:r>
              <ns1:t>            "view": [</ns1:t>
            </ns1:r>
          </ns1:p>
          <ns1:p>
            <ns1:r>
              <ns1:t>              1,</ns1:t>
            </ns1:r>
          </ns1:p>
          <ns1:p>
            <ns1:r>
              <ns1:t>              0,</ns1:t>
            </ns1:r>
          </ns1:p>
          <ns1:p>
            <ns1:r>
              <ns1:t>              0,</ns1:t>
            </ns1:r>
          </ns1:p>
          <ns1:p>
            <ns1:r>
              <ns1:t>              0,</ns1:t>
            </ns1:r>
          </ns1:p>
          <ns1:p>
            <ns1:r>
              <ns1:t>              1,</ns1:t>
            </ns1:r>
          </ns1:p>
          <ns1:p>
            <ns1:r>
              <ns1:t>              0,</ns1:t>
            </ns1:r>
          </ns1:p>
          <ns1:p>
            <ns1:r>
              <ns1:t>              0,</ns1:t>
            </ns1:r>
          </ns1:p>
          <ns1:p>
            <ns1:r>
              <ns1:t>              0,</ns1:t>
            </ns1:r>
          </ns1:p>
          <ns1:p>
            <ns1:r>
              <ns1:t>              1,</ns1:t>
            </ns1:r>
          </ns1:p>
          <ns1:p>
            <ns1:r>
              <ns1:t>              0,</ns1:t>
            </ns1:r>
          </ns1:p>
          <ns1:p>
            <ns1:r>
              <ns1:t>              0,</ns1:t>
            </ns1:r>
          </ns1:p>
          <ns1:p>
            <ns1:r>
              <ns1:t>              -507.3095352567785,</ns1:t>
            </ns1:r>
          </ns1:p>
          <ns1:p>
            <ns1:r>
              <ns1:t>              -6.376931567667942,</ns1:t>
            </ns1:r>
          </ns1:p>
          <ns1:p>
            <ns1:r>
              <ns1:t>              -2.0601005723102688,</ns1:t>
            </ns1:r>
          </ns1:p>
          <ns1:p>
            <ns1:r>
              <ns1:t>              -28.59967148261473,</ns1:t>
            </ns1:r>
          </ns1:p>
          <ns1:p>
            <ns1:r>
              <ns1:t>              432.7783445215128,</ns1:t>
            </ns1:r>
          </ns1:p>
          <ns1:p>
            <ns1:r>
              <ns1:t>              581.8407259920441,</ns1:t>
            </ns1:r>
          </ns1:p>
          <ns1:p>
            <ns1:r>
              <ns1:t>              -20</ns1:t>
            </ns1:r>
          </ns1:p>
          <ns1:p>
            <ns1:r>
              <ns1:t>            ],</ns1:t>
            </ns1:r>
          </ns1:p>
          <ns1:p>
            <ns1:r>
              <ns1:t>            "world_height_A": 178.90471727288462,</ns1:t>
            </ns1:r>
          </ns1:p>
          <ns1:p>
            <ns1:r>
              <ns1:t>            "row_bounds_all_atoms_A": [</ns1:t>
            </ns1:r>
          </ns1:p>
          <ns1:p>
            <ns1:r>
              <ns1:t>              [</ns1:t>
            </ns1:r>
          </ns1:p>
          <ns1:p>
            <ns1:r>
              <ns1:t>                -48.11688215885607,</ns1:t>
            </ns1:r>
          </ns1:p>
          <ns1:p>
            <ns1:r>
              <ns1:t>                -84.51245920875259,</ns1:t>
            </ns1:r>
          </ns1:p>
          <ns1:p>
            <ns1:r>
              <ns1:t>                -88.1308622178804</ns1:t>
            </ns1:r>
          </ns1:p>
          <ns1:p>
            <ns1:r>
              <ns1:t>              ],</ns1:t>
            </ns1:r>
          </ns1:p>
          <ns1:p>
            <ns1:r>
              <ns1:t>              [</ns1:t>
            </ns1:r>
          </ns1:p>
          <ns1:p>
            <ns1:r>
              <ns1:t>                35.36301902352019,</ns1:t>
            </ns1:r>
          </ns1:p>
          <ns1:p>
            <ns1:r>
              <ns1:t>                80.39225806413205,</ns1:t>
            </ns1:r>
          </ns1:p>
          <ns1:p>
            <ns1:r>
              <ns1:t>                30.93151925265094</ns1:t>
            </ns1:r>
          </ns1:p>
          <ns1:p>
            <ns1:r>
              <ns1:t>              ]</ns1:t>
            </ns1:r>
          </ns1:p>
          <ns1:p>
            <ns1:r>
              <ns1:t>            ]</ns1:t>
            </ns1:r>
          </ns1:p>
          <ns1:p>
            <ns1:r>
              <ns1:t>          },</ns1:t>
            </ns1:r>
          </ns1:p>
          <ns1:p>
            <ns1:r>
              <ns1:t>          "LF-parent": {</ns1:t>
            </ns1:r>
          </ns1:p>
          <ns1:p>
            <ns1:r>
              <ns1:t>            "key": "LK_P157_08-LF-parent",</ns1:t>
            </ns1:r>
          </ns1:p>
          <ns1:p>
            <ns1:r>
              <ns1:t>            "source_path": "local/2026-10-25_linker-parent-comparison_001/parents/Design_414/exact.pdb",</ns1:t>
            </ns1:r>
          </ns1:p>
          <ns1:p>
            <ns1:r>
              <ns1:t>            "source_sha256": "4efa049c1b3f058a2871c338e555e4ad79d0df44606310a1dfcb9828fe2a0074",</ns1:t>
            </ns1:r>
          </ns1:p>
          <ns1:p>
            <ns1:r>
              <ns1:t>            "role": "LF",</ns1:t>
            </ns1:r>
          </ns1:p>
          <ns1:p>
            <ns1:r>
              <ns1:t>            "ranges_zero_based": {</ns1:t>
            </ns1:r>
          </ns1:p>
          <ns1:p>
            <ns1:r>
              <ns1:t>              "LF": [</ns1:t>
            </ns1:r>
          </ns1:p>
          <ns1:p>
            <ns1:r>
              <ns1:t>                0,</ns1:t>
            </ns1:r>
          </ns1:p>
          <ns1:p>
            <ns1:r>
              <ns1:t>                54</ns1:t>
            </ns1:r>
          </ns1:p>
          <ns1:p>
            <ns1:r>
              <ns1:t>              ]</ns1:t>
            </ns1:r>
          </ns1:p>
          <ns1:p>
            <ns1:r>
              <ns1:t>            },</ns1:t>
            </ns1:r>
          </ns1:p>
          <ns1:p>
            <ns1:r>
              <ns1:t>            "sequence": "KTKEGSSCVRGGSRTELFSKEPDKGVSFVSGSGVEYVCFAFFVVGSGSGSTYVS",</ns1:t>
            </ns1:r>
          </ns1:p>
          <ns1:p>
            <ns1:r>
              <ns1:t>            "rotation": [</ns1:t>
            </ns1:r>
          </ns1:p>
          <ns1:p>
            <ns1:r>
              <ns1:t>              [</ns1:t>
            </ns1:r>
          </ns1:p>
          <ns1:p>
            <ns1:r>
              <ns1:t>                0.12626881177197014,</ns1:t>
            </ns1:r>
          </ns1:p>
          <ns1:p>
            <ns1:r>
              <ns1:t>                0.9609470968470932,</ns1:t>
            </ns1:r>
          </ns1:p>
          <ns1:p>
            <ns1:r>
              <ns1:t>                0.24624547694553023</ns1:t>
            </ns1:r>
          </ns1:p>
          <ns1:p>
            <ns1:r>
              <ns1:t>              ],</ns1:t>
            </ns1:r>
          </ns1:p>
          <ns1:p>
            <ns1:r>
              <ns1:t>              [</ns1:t>
            </ns1:r>
          </ns1:p>
          <ns1:p>
            <ns1:r>
              <ns1:t>                0.41286839251037577,</ns1:t>
            </ns1:r>
          </ns1:p>
          <ns1:p>
            <ns1:r>
              <ns1:t>                0.17480287230721459,</ns1:t>
            </ns1:r>
          </ns1:p>
          <ns1:p>
            <ns1:r>
              <ns1:t>                -0.8938588306656392</ns1:t>
            </ns1:r>
          </ns1:p>
          <ns1:p>
            <ns1:r>
              <ns1:t>              ],</ns1:t>
            </ns1:r>
          </ns1:p>
          <ns1:p>
            <ns1:r>
              <ns1:t>              [</ns1:t>
            </ns1:r>
          </ns1:p>
          <ns1:p>
            <ns1:r>
              <ns1:t>                -0.9019955139723059,</ns1:t>
            </ns1:r>
          </ns1:p>
          <ns1:p>
            <ns1:r>
              <ns1:t>                0.2145334625184785,</ns1:t>
            </ns1:r>
          </ns1:p>
          <ns1:p>
            <ns1:r>
              <ns1:t>                -0.37467255736932614</ns1:t>
            </ns1:r>
          </ns1:p>
          <ns1:p>
            <ns1:r>
              <ns1:t>              ]</ns1:t>
            </ns1:r>
          </ns1:p>
          <ns1:p>
            <ns1:r>
              <ns1:t>            ],</ns1:t>
            </ns1:r>
          </ns1:p>
          <ns1:p>
            <ns1:r>
              <ns1:t>            "translation": [</ns1:t>
            </ns1:r>
          </ns1:p>
          <ns1:p>
            <ns1:r>
              <ns1:t>              2.419797397266432,</ns1:t>
            </ns1:r>
          </ns1:p>
          <ns1:p>
            <ns1:r>
              <ns1:t>              -3.0196765864797523,</ns1:t>
            </ns1:r>
          </ns1:p>
          <ns1:p>
            <ns1:r>
              <ns1:t>              3.40792817263803</ns1:t>
            </ns1:r>
          </ns1:p>
          <ns1:p>
            <ns1:r>
              <ns1:t>            ],</ns1:t>
            </ns1:r>
          </ns1:p>
          <ns1:p>
            <ns1:r>
              <ns1:t>            "core_fit_CA_RMSD_A": 1.0971377619951301,</ns1:t>
            </ns1:r>
          </ns1:p>
          <ns1:p>
            <ns1:r>
              <ns1:t>            "output": "local/2026-10-25_linker-parent-views_001/build/renders-v2/LK_P157_08-LF-parent.jpg",</ns1:t>
            </ns1:r>
          </ns1:p>
          <ns1:p>
            <ns1:r>
              <ns1:t>            "parent_or_fusion_id": "Design_414",</ns1:t>
            </ns1:r>
          </ns1:p>
          <ns1:p>
            <ns1:r>
              <ns1:t>            "design_id": "LK_P157_08",</ns1:t>
            </ns1:r>
          </ns1:p>
          <ns1:p>
            <ns1:r>
              <ns1:t>            "panel": "LF-parent",</ns1:t>
            </ns1:r>
          </ns1:p>
          <ns1:p>
            <ns1:r>
              <ns1:t>            "view": [</ns1:t>
            </ns1:r>
          </ns1:p>
          <ns1:p>
            <ns1:r>
              <ns1:t>              1,</ns1:t>
            </ns1:r>
          </ns1:p>
          <ns1:p>
            <ns1:r>
              <ns1:t>              0,</ns1:t>
            </ns1:r>
          </ns1:p>
          <ns1:p>
            <ns1:r>
              <ns1:t>              0,</ns1:t>
            </ns1:r>
          </ns1:p>
          <ns1:p>
            <ns1:r>
              <ns1:t>              0,</ns1:t>
            </ns1:r>
          </ns1:p>
          <ns1:p>
            <ns1:r>
              <ns1:t>              1,</ns1:t>
            </ns1:r>
          </ns1:p>
          <ns1:p>
            <ns1:r>
              <ns1:t>              0,</ns1:t>
            </ns1:r>
          </ns1:p>
          <ns1:p>
            <ns1:r>
              <ns1:t>              0,</ns1:t>
            </ns1:r>
          </ns1:p>
          <ns1:p>
            <ns1:r>
              <ns1:t>              0,</ns1:t>
            </ns1:r>
          </ns1:p>
          <ns1:p>
            <ns1:r>
              <ns1:t>              1,</ns1:t>
            </ns1:r>
          </ns1:p>
          <ns1:p>
            <ns1:r>
              <ns1:t>              0,</ns1:t>
            </ns1:r>
          </ns1:p>
          <ns1:p>
            <ns1:r>
              <ns1:t>              0,</ns1:t>
            </ns1:r>
          </ns1:p>
          <ns1:p>
            <ns1:r>
              <ns1:t>              -507.3095352567785,</ns1:t>
            </ns1:r>
          </ns1:p>
          <ns1:p>
            <ns1:r>
              <ns1:t>              -6.376931567667942,</ns1:t>
            </ns1:r>
          </ns1:p>
          <ns1:p>
            <ns1:r>
              <ns1:t>              -2.0601005723102688,</ns1:t>
            </ns1:r>
          </ns1:p>
          <ns1:p>
            <ns1:r>
              <ns1:t>              -28.59967148261473,</ns1:t>
            </ns1:r>
          </ns1:p>
          <ns1:p>
            <ns1:r>
              <ns1:t>              432.7783445215128,</ns1:t>
            </ns1:r>
          </ns1:p>
          <ns1:p>
            <ns1:r>
              <ns1:t>              581.8407259920441,</ns1:t>
            </ns1:r>
          </ns1:p>
          <ns1:p>
            <ns1:r>
              <ns1:t>              -20</ns1:t>
            </ns1:r>
          </ns1:p>
          <ns1:p>
            <ns1:r>
              <ns1:t>            ],</ns1:t>
            </ns1:r>
          </ns1:p>
          <ns1:p>
            <ns1:r>
              <ns1:t>            "world_height_A": 178.90471727288462,</ns1:t>
            </ns1:r>
          </ns1:p>
          <ns1:p>
            <ns1:r>
              <ns1:t>            "row_bounds_all_atoms_A": [</ns1:t>
            </ns1:r>
          </ns1:p>
          <ns1:p>
            <ns1:r>
              <ns1:t>              [</ns1:t>
            </ns1:r>
          </ns1:p>
          <ns1:p>
            <ns1:r>
              <ns1:t>                -48.11688215885607,</ns1:t>
            </ns1:r>
          </ns1:p>
          <ns1:p>
            <ns1:r>
              <ns1:t>                -84.51245920875259,</ns1:t>
            </ns1:r>
          </ns1:p>
          <ns1:p>
            <ns1:r>
              <ns1:t>                -88.1308622178804</ns1:t>
            </ns1:r>
          </ns1:p>
          <ns1:p>
            <ns1:r>
              <ns1:t>              ],</ns1:t>
            </ns1:r>
          </ns1:p>
          <ns1:p>
            <ns1:r>
              <ns1:t>              [</ns1:t>
            </ns1:r>
          </ns1:p>
          <ns1:p>
            <ns1:r>
              <ns1:t>                35.36301902352019,</ns1:t>
            </ns1:r>
          </ns1:p>
          <ns1:p>
            <ns1:r>
              <ns1:t>                80.39225806413205,</ns1:t>
            </ns1:r>
          </ns1:p>
          <ns1:p>
            <ns1:r>
              <ns1:t>                30.93151925265094</ns1:t>
            </ns1:r>
          </ns1:p>
          <ns1:p>
            <ns1:r>
              <ns1:t>              ]</ns1:t>
            </ns1:r>
          </ns1:p>
          <ns1:p>
            <ns1:r>
              <ns1:t>            ]</ns1:t>
            </ns1:r>
          </ns1:p>
          <ns1:p>
            <ns1:r>
              <ns1:t>          }</ns1:t>
            </ns1:r>
          </ns1:p>
          <ns1:p>
            <ns1:r>
              <ns1:t>        },</ns1:t>
            </ns1:r>
          </ns1:p>
          <ns1:p>
            <ns1:r>
              <ns1:t>        "shared_camera": [</ns1:t>
            </ns1:r>
          </ns1:p>
          <ns1:p>
            <ns1:r>
              <ns1:t>          1,</ns1:t>
            </ns1:r>
          </ns1:p>
          <ns1:p>
            <ns1:r>
              <ns1:t>          0,</ns1:t>
            </ns1:r>
          </ns1:p>
          <ns1:p>
            <ns1:r>
              <ns1:t>          0,</ns1:t>
            </ns1:r>
          </ns1:p>
          <ns1:p>
            <ns1:r>
              <ns1:t>          0,</ns1:t>
            </ns1:r>
          </ns1:p>
          <ns1:p>
            <ns1:r>
              <ns1:t>          1,</ns1:t>
            </ns1:r>
          </ns1:p>
          <ns1:p>
            <ns1:r>
              <ns1:t>          0,</ns1:t>
            </ns1:r>
          </ns1:p>
          <ns1:p>
            <ns1:r>
              <ns1:t>          0,</ns1:t>
            </ns1:r>
          </ns1:p>
          <ns1:p>
            <ns1:r>
              <ns1:t>          0,</ns1:t>
            </ns1:r>
          </ns1:p>
          <ns1:p>
            <ns1:r>
              <ns1:t>          1,</ns1:t>
            </ns1:r>
          </ns1:p>
          <ns1:p>
            <ns1:r>
              <ns1:t>          0,</ns1:t>
            </ns1:r>
          </ns1:p>
          <ns1:p>
            <ns1:r>
              <ns1:t>          0,</ns1:t>
            </ns1:r>
          </ns1:p>
          <ns1:p>
            <ns1:r>
              <ns1:t>          -507.3095352567785,</ns1:t>
            </ns1:r>
          </ns1:p>
          <ns1:p>
            <ns1:r>
              <ns1:t>          -6.376931567667942,</ns1:t>
            </ns1:r>
          </ns1:p>
          <ns1:p>
            <ns1:r>
              <ns1:t>          -2.0601005723102688,</ns1:t>
            </ns1:r>
          </ns1:p>
          <ns1:p>
            <ns1:r>
              <ns1:t>          -28.59967148261473,</ns1:t>
            </ns1:r>
          </ns1:p>
          <ns1:p>
            <ns1:r>
              <ns1:t>          432.7783445215128,</ns1:t>
            </ns1:r>
          </ns1:p>
          <ns1:p>
            <ns1:r>
              <ns1:t>          581.8407259920441,</ns1:t>
            </ns1:r>
          </ns1:p>
          <ns1:p>
            <ns1:r>
              <ns1:t>          -20</ns1:t>
            </ns1:r>
          </ns1:p>
          <ns1:p>
            <ns1:r>
              <ns1:t>        ],</ns1:t>
            </ns1:r>
          </ns1:p>
          <ns1:p>
            <ns1:r>
              <ns1:t>        "reference": "Separate saved Exact parent complexes flank the linked Exact refold; AP Novo linked design comparison remains on the following slide. Rigid display alignment preserves native poses; all native receptor residues shown."</ns1:t>
            </ns1:r>
          </ns1:p>
          <ns1:p>
            <ns1:r>
              <ns1:t>      }</ns1:t>
            </ns1:r>
          </ns1:p>
          <ns1:p>
            <ns1:r>
              <ns1:t>    },</ns1:t>
            </ns1:r>
          </ns1:p>
          <ns1:p>
            <ns1:r>
              <ns1:t>    "display": "unchanged embedded JPEGs extracted from hash-verified delivered25-design PPTX; no resampling, cropping or new coordinate transforms",</ns1:t>
            </ns1:r>
          </ns1:p>
          <ns1:p>
            <ns1:r>
              <ns1:t>    "scale": "full complex and interface have different zooms; no matched-scale claim",</ns1:t>
            </ns1:r>
          </ns1:p>
          <ns1:p>
            <ns1:r>
              <ns1:t>    "hotspots": "black sticks; original27pocket positions for original LigandForge, R40/Q37/E34 annotations for DLD",</ns1:t>
            </ns1:r>
          </ns1:p>
          <ns1:p>
            <ns1:r>
              <ns1:t>    "colors": {</ns1:t>
            </ns1:r>
          </ns1:p>
          <ns1:p>
            <ns1:r>
              <ns1:t>      "LigandForge": "#E69F00",</ns1:t>
            </ns1:r>
          </ns1:p>
          <ns1:p>
            <ns1:r>
              <ns1:t>      "linker": "#AA4499",</ns1:t>
            </ns1:r>
          </ns1:p>
          <ns1:p>
            <ns1:r>
              <ns1:t>      "ECD_binder": "#0072B2",</ns1:t>
            </ns1:r>
          </ns1:p>
          <ns1:p>
            <ns1:r>
              <ns1:t>      "receptor_ECD": "#009E73",</ns1:t>
            </ns1:r>
          </ns1:p>
          <ns1:p>
            <ns1:r>
              <ns1:t>      "receptor_remainder": "#9AA5B1",</ns1:t>
            </ns1:r>
          </ns1:p>
          <ns1:p>
            <ns1:r>
              <ns1:t>      "hotspots": "#000000"</ns1:t>
            </ns1:r>
          </ns1:p>
          <ns1:p>
            <ns1:r>
              <ns1:t>    }</ns1:t>
            </ns1:r>
          </ns1:p>
          <ns1:p>
            <ns1:r>
              <ns1:t>  },</ns1:t>
            </ns1:r>
          </ns1:p>
          <ns1:p>
            <ns1:r>
              <ns1:t>  "source_deck": "local/2026-10-25_affinity-confidence-selection-deck_002/output/GLP1R_Selected_ipSAE_gt0p895_Kd_lt10nM_v3.pptx",</ns1:t>
            </ns1:r>
          </ns1:p>
          <ns1:p>
            <ns1:r>
              <ns1:t>  "source_deck_sha256": "ad9333fdf6c0ce7d6982e2980d6aade78af256710dbc7917f7f39e41d35aa173",</ns1:t>
            </ns1:r>
          </ns1:p>
          <ns1:p>
            <ns1:r>
              <ns1:t>  "domain_labels": "ECD A1-50  linker A51-85  LF A86-139",</ns1:t>
            </ns1:r>
          </ns1:p>
          <ns1:p>
            <ns1:r>
              <ns1:t>  "display_scope": "native Exact complex and saved interface view; same identity colors, independent zooms; no new coordinates or inferred agonism"</ns1:t>
            </ns1:r>
          </ns1:p>
          <ns1:p>
            <ns1:r>
              <ns1:t>}</ns1:t>
            </ns1:r>
          </ns1:p>
        </ns0:txBody>
      </ns0:sp>
      <ns0:sp>
        <ns0:nvSpPr>
          <ns0:cNvPr id="4" name="Slide Number Placeholder 3"/>
          <ns0:cNvSpPr>
            <ns1:spLocks noGrp="1"/>
          </ns0:cNvSpPr>
          <ns0:nvPr>
            <ns0:ph type="sldNum" idx="5"/>
          </ns0:nvPr>
        </ns0:nvSpPr>
        <ns0:spPr/>
        <ns0:txBody>
          <ns1:bodyPr/>
          <ns1:lstStyle/>
          <ns1:p/>
        </ns0:txBody>
      </ns0:sp>
    </ns0:spTree>
  </ns0:cSld>
  <ns0:clrMapOvr>
    <ns1:masterClrMapping/>
  </ns0:clrMapOvr>
</ns0:notes>
</file>

<file path=ppt/notesSlides/notesSlide17.xml><?xml version="1.0" encoding="utf-8"?>
<ns0:notes xmlns:ns0="http://schemas.openxmlformats.org/presentationml/2006/main" xmlns:ns1="http://schemas.openxmlformats.org/drawingml/2006/main">
  <ns0:cSld>
    <ns0:spTree>
      <ns0:nvGrpSpPr>
        <ns0:cNvPr id="1" name=""/>
        <ns0:cNvGrpSpPr/>
        <ns0:nvPr/>
      </ns0:nvGrpSpPr>
      <ns0:grpSpPr>
        <ns1:xfrm/>
      </ns0:grpSpPr>
      <ns0:sp>
        <ns0:nvSpPr>
          <ns0:cNvPr id="2" name="Slide Image Placeholder 1"/>
          <ns0:cNvSpPr>
            <ns1:spLocks noGrp="1"/>
          </ns0:cNvSpPr>
          <ns0:nvPr>
            <ns0:ph type="sldImg" idx="0"/>
          </ns0:nvPr>
        </ns0:nvSpPr>
        <ns0:spPr/>
      </ns0:sp>
      <ns0:sp>
        <ns0:nvSpPr>
          <ns0:cNvPr id="3" name="Notes Placeholder 2"/>
          <ns0:cNvSpPr>
            <ns1:spLocks noGrp="1"/>
          </ns0:cNvSpPr>
          <ns0:nvPr>
            <ns0:ph type="body" idx="1"/>
          </ns0:nvPr>
        </ns0:nvSpPr>
        <ns0:spPr/>
        <ns0:txBody>
          <ns1:bodyPr/>
          <ns1:lstStyle/>
          <ns1:p>
            <ns1:r>
              <ns1:t>{</ns1:t>
            </ns1:r>
          </ns1:p>
          <ns1:p>
            <ns1:r>
              <ns1:t>  "candidate": "LK_P069_04",</ns1:t>
            </ns1:r>
          </ns1:p>
          <ns1:p>
            <ns1:r>
              <ns1:t>  "final_rank": 9,</ns1:t>
            </ns1:r>
          </ns1:p>
          <ns1:p>
            <ns1:r>
              <ns1:t>  "selection": "Exact ipSAE&gt;0.895 and DeltaForge predicted Kd&lt;10nM; first20 by Exact ipSAE descending",</ns1:t>
            </ns1:r>
          </ns1:p>
          <ns1:p>
            <ns1:r>
              <ns1:t>  "sequence_sha256": "eac1abc7772075c04cdccc8ea3450645db2201bbcb5c4688152dd71deecf0693",</ns1:t>
            </ns1:r>
          </ns1:p>
          <ns1:p>
            <ns1:r>
              <ns1:t>  "sources": {</ns1:t>
            </ns1:r>
          </ns1:p>
          <ns1:p>
            <ns1:r>
              <ns1:t>    "source_table": {</ns1:t>
            </ns1:r>
          </ns1:p>
          <ns1:p>
            <ns1:r>
              <ns1:t>      "path": "local/2026-10-25_lf50-dld26-50-deltaforge_001/output/GLP1R_DLD_Top50_DeltaForge_Kd_and_Boltz2_Metrics.csv",</ns1:t>
            </ns1:r>
          </ns1:p>
          <ns1:p>
            <ns1:r>
              <ns1:t>      "sha256": "da9569bf0e8b74cce3d6792eb260d6a4b17b35e6f46e0793d49f02c0d3a0e728"</ns1:t>
            </ns1:r>
          </ns1:p>
          <ns1:p>
            <ns1:r>
              <ns1:t>    },</ns1:t>
            </ns1:r>
          </ns1:p>
          <ns1:p>
            <ns1:r>
              <ns1:t>    "native_cif": {</ns1:t>
            </ns1:r>
          </ns1:p>
          <ns1:p>
            <ns1:r>
              <ns1:t>      "path": "local/2026-10-25_linker-top100-review_001/models/LK_P069_04/boltz2.cif",</ns1:t>
            </ns1:r>
          </ns1:p>
          <ns1:p>
            <ns1:r>
              <ns1:t>      "sha256": "54a9810d3ee59227525a958e2f805ebc56a7d62119dee48fb1d16c141ec808c6"</ns1:t>
            </ns1:r>
          </ns1:p>
          <ns1:p>
            <ns1:r>
              <ns1:t>    },</ns1:t>
            </ns1:r>
          </ns1:p>
          <ns1:p>
            <ns1:r>
              <ns1:t>    "scoring_pdb": {</ns1:t>
            </ns1:r>
          </ns1:p>
          <ns1:p>
            <ns1:r>
              <ns1:t>      "path": "local/2026-10-25_dld-top25-deltaforge_001/payload/structures/LK_P069_04.pdb",</ns1:t>
            </ns1:r>
          </ns1:p>
          <ns1:p>
            <ns1:r>
              <ns1:t>      "sha256": "4c929315bb090f2d7c37c8f337b315073e2b18e7ece616adb0af0077567d3124"</ns1:t>
            </ns1:r>
          </ns1:p>
          <ns1:p>
            <ns1:r>
              <ns1:t>    },</ns1:t>
            </ns1:r>
          </ns1:p>
          <ns1:p>
            <ns1:r>
              <ns1:t>    "DeltaForge_result": {</ns1:t>
            </ns1:r>
          </ns1:p>
          <ns1:p>
            <ns1:r>
              <ns1:t>      "path": "campaigns/glp1r-r40-design/runs/2026-10-25_dld-top25-deltaforge_001/03_filtering/deltaforge_results/LK_P069_04.json",</ns1:t>
            </ns1:r>
          </ns1:p>
          <ns1:p>
            <ns1:r>
              <ns1:t>      "sha256": "8df5d311d7886994c66d0bd81427a9da5972211062fb04b534edbadaafef5fdc"</ns1:t>
            </ns1:r>
          </ns1:p>
          <ns1:p>
            <ns1:r>
              <ns1:t>    }</ns1:t>
            </ns1:r>
          </ns1:p>
          <ns1:p>
            <ns1:r>
              <ns1:t>  },</ns1:t>
            </ns1:r>
          </ns1:p>
          <ns1:p>
            <ns1:r>
              <ns1:t>  "source_ledger": "campaigns/glp1r-final-writeup/runs/2026-10-25_final20-writeup_001/04_analysis/provenance-ledger.json",</ns1:t>
            </ns1:r>
          </ns1:p>
          <ns1:p>
            <ns1:r>
              <ns1:t>  "scorer": "deltaforge_v10_2_unified_parallel / v10_2_unified_parallel_2026_05_08",</ns1:t>
            </ns1:r>
          </ns1:p>
          <ns1:p>
            <ns1:r>
              <ns1:t>  "calibration": "deltaforge_v10_boltz2_calibrated_gbr / v10_boltz2_gbr_2026_03_29",</ns1:t>
            </ns1:r>
          </ns1:p>
          <ns1:p>
            <ns1:r>
              <ns1:t>  "scope": "one complete candidate A against one receptor B; computational, no experimental Kd or activation"</ns1:t>
            </ns1:r>
          </ns1:p>
          <ns1:p>
            <ns1:r>
              <ns1:t>}</ns1:t>
            </ns1:r>
          </ns1:p>
        </ns0:txBody>
      </ns0:sp>
      <ns0:sp>
        <ns0:nvSpPr>
          <ns0:cNvPr id="4" name="Slide Number Placeholder 3"/>
          <ns0:cNvSpPr>
            <ns1:spLocks noGrp="1"/>
          </ns0:cNvSpPr>
          <ns0:nvPr>
            <ns0:ph type="sldNum" idx="5"/>
          </ns0:nvPr>
        </ns0:nvSpPr>
        <ns0:spPr/>
        <ns0:txBody>
          <ns1:bodyPr/>
          <ns1:lstStyle/>
          <ns1:p/>
        </ns0:txBody>
      </ns0:sp>
    </ns0:spTree>
  </ns0:cSld>
  <ns0:clrMapOvr>
    <ns1:masterClrMapping/>
  </ns0:clrMapOvr>
</ns0:notes>
</file>

<file path=ppt/notesSlides/notesSlide18.xml><?xml version="1.0" encoding="utf-8"?>
<ns0:notes xmlns:ns0="http://schemas.openxmlformats.org/presentationml/2006/main" xmlns:ns1="http://schemas.openxmlformats.org/drawingml/2006/main">
  <ns0:cSld>
    <ns0:spTree>
      <ns0:nvGrpSpPr>
        <ns0:cNvPr id="1" name=""/>
        <ns0:cNvGrpSpPr/>
        <ns0:nvPr/>
      </ns0:nvGrpSpPr>
      <ns0:grpSpPr>
        <ns1:xfrm/>
      </ns0:grpSpPr>
      <ns0:sp>
        <ns0:nvSpPr>
          <ns0:cNvPr id="2" name="Slide Image Placeholder 1"/>
          <ns0:cNvSpPr>
            <ns1:spLocks noGrp="1"/>
          </ns0:cNvSpPr>
          <ns0:nvPr>
            <ns0:ph type="sldImg" idx="0"/>
          </ns0:nvPr>
        </ns0:nvSpPr>
        <ns0:spPr/>
      </ns0:sp>
      <ns0:sp>
        <ns0:nvSpPr>
          <ns0:cNvPr id="3" name="Notes Placeholder 2"/>
          <ns0:cNvSpPr>
            <ns1:spLocks noGrp="1"/>
          </ns0:cNvSpPr>
          <ns0:nvPr>
            <ns0:ph type="body" idx="1"/>
          </ns0:nvPr>
        </ns0:nvSpPr>
        <ns0:spPr/>
        <ns0:txBody>
          <ns1:bodyPr/>
          <ns1:lstStyle/>
          <ns1:p>
            <ns1:r>
              <ns1:t>{</ns1:t>
            </ns1:r>
          </ns1:p>
          <ns1:p>
            <ns1:r>
              <ns1:t>  "candidate": "LK_P069_04",</ns1:t>
            </ns1:r>
          </ns1:p>
          <ns1:p>
            <ns1:r>
              <ns1:t>  "final_rank": 9,</ns1:t>
            </ns1:r>
          </ns1:p>
          <ns1:p>
            <ns1:r>
              <ns1:t>  "native_model_sha256": "54a9810d3ee59227525a958e2f805ebc56a7d62119dee48fb1d16c141ec808c6",</ns1:t>
            </ns1:r>
          </ns1:p>
          <ns1:p>
            <ns1:r>
              <ns1:t>  "structure_views": {</ns1:t>
            </ns1:r>
          </ns1:p>
          <ns1:p>
            <ns1:r>
              <ns1:t>    "final_rank": 9,</ns1:t>
            </ns1:r>
          </ns1:p>
          <ns1:p>
            <ns1:r>
              <ns1:t>    "design_id": "LK_P069_04",</ns1:t>
            </ns1:r>
          </ns1:p>
          <ns1:p>
            <ns1:r>
              <ns1:t>    "sequence_sha256": "eac1abc7772075c04cdccc8ea3450645db2201bbcb5c4688152dd71deecf0693",</ns1:t>
            </ns1:r>
          </ns1:p>
          <ns1:p>
            <ns1:r>
              <ns1:t>    "native_model_sha256": "54a9810d3ee59227525a958e2f805ebc56a7d62119dee48fb1d16c141ec808c6",</ns1:t>
            </ns1:r>
          </ns1:p>
          <ns1:p>
            <ns1:r>
              <ns1:t>    "scoring_pdb_sha256": "4c929315bb090f2d7c37c8f337b315073e2b18e7ece616adb0af0077567d3124",</ns1:t>
            </ns1:r>
          </ns1:p>
          <ns1:p>
            <ns1:r>
              <ns1:t>    "overview": {</ns1:t>
            </ns1:r>
          </ns1:p>
          <ns1:p>
            <ns1:r>
              <ns1:t>      "source_slide": 43,</ns1:t>
            </ns1:r>
          </ns1:p>
          <ns1:p>
            <ns1:r>
              <ns1:t>      "source_picture_index": 1,</ns1:t>
            </ns1:r>
          </ns1:p>
          <ns1:p>
            <ns1:r>
              <ns1:t>      "embedded_media": "ppt/media/image46.jpeg",</ns1:t>
            </ns1:r>
          </ns1:p>
          <ns1:p>
            <ns1:r>
              <ns1:t>      "image_sha256": "5a0186410678df8393141c70bb4df9a1c1a4541dc60d8deec502ae94df16ad56",</ns1:t>
            </ns1:r>
          </ns1:p>
          <ns1:p>
            <ns1:r>
              <ns1:t>      "asset": "assets/LK_P069_04-complex.jpg"</ns1:t>
            </ns1:r>
          </ns1:p>
          <ns1:p>
            <ns1:r>
              <ns1:t>    },</ns1:t>
            </ns1:r>
          </ns1:p>
          <ns1:p>
            <ns1:r>
              <ns1:t>    "interface": {</ns1:t>
            </ns1:r>
          </ns1:p>
          <ns1:p>
            <ns1:r>
              <ns1:t>      "source_slide": 44,</ns1:t>
            </ns1:r>
          </ns1:p>
          <ns1:p>
            <ns1:r>
              <ns1:t>      "source_picture_index": 1,</ns1:t>
            </ns1:r>
          </ns1:p>
          <ns1:p>
            <ns1:r>
              <ns1:t>      "embedded_media": "ppt/media/image49.jpeg",</ns1:t>
            </ns1:r>
          </ns1:p>
          <ns1:p>
            <ns1:r>
              <ns1:t>      "image_sha256": "618520b2f5b4301dff2f79223cbfe42eaa60434a67624ccc42fd458583958a45",</ns1:t>
            </ns1:r>
          </ns1:p>
          <ns1:p>
            <ns1:r>
              <ns1:t>      "asset": "assets/LK_P069_04-interface.jpg"</ns1:t>
            </ns1:r>
          </ns1:p>
          <ns1:p>
            <ns1:r>
              <ns1:t>    },</ns1:t>
            </ns1:r>
          </ns1:p>
          <ns1:p>
            <ns1:r>
              <ns1:t>    "rendering_provenance": {</ns1:t>
            </ns1:r>
          </ns1:p>
          <ns1:p>
            <ns1:r>
              <ns1:t>      "DeltaForge_source_PDB_sha256": "4c929315bb090f2d7c37c8f337b315073e2b18e7ece616adb0af0077567d3124",</ns1:t>
            </ns1:r>
          </ns1:p>
          <ns1:p>
            <ns1:r>
              <ns1:t>      "role_ranges_zero_based": {</ns1:t>
            </ns1:r>
          </ns1:p>
          <ns1:p>
            <ns1:r>
              <ns1:t>        "ECD": [</ns1:t>
            </ns1:r>
          </ns1:p>
          <ns1:p>
            <ns1:r>
              <ns1:t>          0,</ns1:t>
            </ns1:r>
          </ns1:p>
          <ns1:p>
            <ns1:r>
              <ns1:t>          50</ns1:t>
            </ns1:r>
          </ns1:p>
          <ns1:p>
            <ns1:r>
              <ns1:t>        ],</ns1:t>
            </ns1:r>
          </ns1:p>
          <ns1:p>
            <ns1:r>
              <ns1:t>        "linker": [</ns1:t>
            </ns1:r>
          </ns1:p>
          <ns1:p>
            <ns1:r>
              <ns1:t>          50,</ns1:t>
            </ns1:r>
          </ns1:p>
          <ns1:p>
            <ns1:r>
              <ns1:t>          85</ns1:t>
            </ns1:r>
          </ns1:p>
          <ns1:p>
            <ns1:r>
              <ns1:t>        ],</ns1:t>
            </ns1:r>
          </ns1:p>
          <ns1:p>
            <ns1:r>
              <ns1:t>        "LF": [</ns1:t>
            </ns1:r>
          </ns1:p>
          <ns1:p>
            <ns1:r>
              <ns1:t>          85,</ns1:t>
            </ns1:r>
          </ns1:p>
          <ns1:p>
            <ns1:r>
              <ns1:t>          154</ns1:t>
            </ns1:r>
          </ns1:p>
          <ns1:p>
            <ns1:r>
              <ns1:t>        ]</ns1:t>
            </ns1:r>
          </ns1:p>
          <ns1:p>
            <ns1:r>
              <ns1:t>      },</ns1:t>
            </ns1:r>
          </ns1:p>
          <ns1:p>
            <ns1:r>
              <ns1:t>      "model_sha256": "54a9810d3ee59227525a958e2f805ebc56a7d62119dee48fb1d16c141ec808c6",</ns1:t>
            </ns1:r>
          </ns1:p>
          <ns1:p>
            <ns1:r>
              <ns1:t>      "source_run": "2026-10-24_pair183-extracellular-exact_001",</ns1:t>
            </ns1:r>
          </ns1:p>
          <ns1:p>
            <ns1:r>
              <ns1:t>      "source_methods": [</ns1:t>
            </ns1:r>
          </ns1:p>
          <ns1:p>
            <ns1:r>
              <ns1:t>        "https://github.com/DunbrackLab/IPSAE",</ns1:t>
            </ns1:r>
          </ns1:p>
          <ns1:p>
            <ns1:r>
              <ns1:t>        "https://github.com/wallnerlab/DockQ",</ns1:t>
            </ns1:r>
          </ns1:p>
          <ns1:p>
            <ns1:r>
              <ns1:t>        "https://zhanggroup.org/TM-score/"</ns1:t>
            </ns1:r>
          </ns1:p>
          <ns1:p>
            <ns1:r>
              <ns1:t>      ],</ns1:t>
            </ns1:r>
          </ns1:p>
          <ns1:p>
            <ns1:r>
              <ns1:t>      "saved_display_appendix": {</ns1:t>
            </ns1:r>
          </ns1:p>
          <ns1:p>
            <ns1:r>
              <ns1:t>        "parent_sources": {</ns1:t>
            </ns1:r>
          </ns1:p>
          <ns1:p>
            <ns1:r>
              <ns1:t>          "ECD-parent": {</ns1:t>
            </ns1:r>
          </ns1:p>
          <ns1:p>
            <ns1:r>
              <ns1:t>            "key": "LK_P069_04-ECD-parent",</ns1:t>
            </ns1:r>
          </ns1:p>
          <ns1:p>
            <ns1:r>
              <ns1:t>            "source_path": "local/2026-10-25_linker-parent-comparison_001/parents/S10_02_023/exact.pdb",</ns1:t>
            </ns1:r>
          </ns1:p>
          <ns1:p>
            <ns1:r>
              <ns1:t>            "source_sha256": "2508cebf214f1a9c1e086a92a31c37e01c012a2322b14ef76c39c626097ba4e1",</ns1:t>
            </ns1:r>
          </ns1:p>
          <ns1:p>
            <ns1:r>
              <ns1:t>            "role": "ECD",</ns1:t>
            </ns1:r>
          </ns1:p>
          <ns1:p>
            <ns1:r>
              <ns1:t>            "ranges_zero_based": {</ns1:t>
            </ns1:r>
          </ns1:p>
          <ns1:p>
            <ns1:r>
              <ns1:t>              "ECD": [</ns1:t>
            </ns1:r>
          </ns1:p>
          <ns1:p>
            <ns1:r>
              <ns1:t>                0,</ns1:t>
            </ns1:r>
          </ns1:p>
          <ns1:p>
            <ns1:r>
              <ns1:t>                50</ns1:t>
            </ns1:r>
          </ns1:p>
          <ns1:p>
            <ns1:r>
              <ns1:t>              ]</ns1:t>
            </ns1:r>
          </ns1:p>
          <ns1:p>
            <ns1:r>
              <ns1:t>            },</ns1:t>
            </ns1:r>
          </ns1:p>
          <ns1:p>
            <ns1:r>
              <ns1:t>            "sequence": "MSIDYSSLVTHSPTGVAEATEFLYRYYQLREIPLETFIAVASALYHSSLL",</ns1:t>
            </ns1:r>
          </ns1:p>
          <ns1:p>
            <ns1:r>
              <ns1:t>            "rotation": [</ns1:t>
            </ns1:r>
          </ns1:p>
          <ns1:p>
            <ns1:r>
              <ns1:t>              [</ns1:t>
            </ns1:r>
          </ns1:p>
          <ns1:p>
            <ns1:r>
              <ns1:t>                0.8335087407643238,</ns1:t>
            </ns1:r>
          </ns1:p>
          <ns1:p>
            <ns1:r>
              <ns1:t>                -0.39265340690040285,</ns1:t>
            </ns1:r>
          </ns1:p>
          <ns1:p>
            <ns1:r>
              <ns1:t>                0.3886984054353062</ns1:t>
            </ns1:r>
          </ns1:p>
          <ns1:p>
            <ns1:r>
              <ns1:t>              ],</ns1:t>
            </ns1:r>
          </ns1:p>
          <ns1:p>
            <ns1:r>
              <ns1:t>              [</ns1:t>
            </ns1:r>
          </ns1:p>
          <ns1:p>
            <ns1:r>
              <ns1:t>                0.5008578600742943,</ns1:t>
            </ns1:r>
          </ns1:p>
          <ns1:p>
            <ns1:r>
              <ns1:t>                0.8339815894650616,</ns1:t>
            </ns1:r>
          </ns1:p>
          <ns1:p>
            <ns1:r>
              <ns1:t>                -0.23155145976513491</ns1:t>
            </ns1:r>
          </ns1:p>
          <ns1:p>
            <ns1:r>
              <ns1:t>              ],</ns1:t>
            </ns1:r>
          </ns1:p>
          <ns1:p>
            <ns1:r>
              <ns1:t>              [</ns1:t>
            </ns1:r>
          </ns1:p>
          <ns1:p>
            <ns1:r>
              <ns1:t>                -0.23324782609576644,</ns1:t>
            </ns1:r>
          </ns1:p>
          <ns1:p>
            <ns1:r>
              <ns1:t>                0.3876828299115498,</ns1:t>
            </ns1:r>
          </ns1:p>
          <ns1:p>
            <ns1:r>
              <ns1:t>                0.8917945021593576</ns1:t>
            </ns1:r>
          </ns1:p>
          <ns1:p>
            <ns1:r>
              <ns1:t>              ]</ns1:t>
            </ns1:r>
          </ns1:p>
          <ns1:p>
            <ns1:r>
              <ns1:t>            ],</ns1:t>
            </ns1:r>
          </ns1:p>
          <ns1:p>
            <ns1:r>
              <ns1:t>            "translation": [</ns1:t>
            </ns1:r>
          </ns1:p>
          <ns1:p>
            <ns1:r>
              <ns1:t>              8.385546657308538,</ns1:t>
            </ns1:r>
          </ns1:p>
          <ns1:p>
            <ns1:r>
              <ns1:t>              2.4163998526141652,</ns1:t>
            </ns1:r>
          </ns1:p>
          <ns1:p>
            <ns1:r>
              <ns1:t>              0.004941400857824796</ns1:t>
            </ns1:r>
          </ns1:p>
          <ns1:p>
            <ns1:r>
              <ns1:t>            ],</ns1:t>
            </ns1:r>
          </ns1:p>
          <ns1:p>
            <ns1:r>
              <ns1:t>            "core_fit_CA_RMSD_A": 1.217786115571315,</ns1:t>
            </ns1:r>
          </ns1:p>
          <ns1:p>
            <ns1:r>
              <ns1:t>            "output": "local/2026-10-25_linker-parent-views_001/build/renders-v2/LK_P069_04-ECD-parent.jpg",</ns1:t>
            </ns1:r>
          </ns1:p>
          <ns1:p>
            <ns1:r>
              <ns1:t>            "parent_or_fusion_id": "S10_02_023",</ns1:t>
            </ns1:r>
          </ns1:p>
          <ns1:p>
            <ns1:r>
              <ns1:t>            "design_id": "LK_P069_04",</ns1:t>
            </ns1:r>
          </ns1:p>
          <ns1:p>
            <ns1:r>
              <ns1:t>            "panel": "ECD-parent",</ns1:t>
            </ns1:r>
          </ns1:p>
          <ns1:p>
            <ns1:r>
              <ns1:t>            "view": [</ns1:t>
            </ns1:r>
          </ns1:p>
          <ns1:p>
            <ns1:r>
              <ns1:t>              1,</ns1:t>
            </ns1:r>
          </ns1:p>
          <ns1:p>
            <ns1:r>
              <ns1:t>              0,</ns1:t>
            </ns1:r>
          </ns1:p>
          <ns1:p>
            <ns1:r>
              <ns1:t>              0,</ns1:t>
            </ns1:r>
          </ns1:p>
          <ns1:p>
            <ns1:r>
              <ns1:t>              0,</ns1:t>
            </ns1:r>
          </ns1:p>
          <ns1:p>
            <ns1:r>
              <ns1:t>              1,</ns1:t>
            </ns1:r>
          </ns1:p>
          <ns1:p>
            <ns1:r>
              <ns1:t>              0,</ns1:t>
            </ns1:r>
          </ns1:p>
          <ns1:p>
            <ns1:r>
              <ns1:t>              0,</ns1:t>
            </ns1:r>
          </ns1:p>
          <ns1:p>
            <ns1:r>
              <ns1:t>              0,</ns1:t>
            </ns1:r>
          </ns1:p>
          <ns1:p>
            <ns1:r>
              <ns1:t>              1,</ns1:t>
            </ns1:r>
          </ns1:p>
          <ns1:p>
            <ns1:r>
              <ns1:t>              0,</ns1:t>
            </ns1:r>
          </ns1:p>
          <ns1:p>
            <ns1:r>
              <ns1:t>              0,</ns1:t>
            </ns1:r>
          </ns1:p>
          <ns1:p>
            <ns1:r>
              <ns1:t>              -496.5170109924999,</ns1:t>
            </ns1:r>
          </ns1:p>
          <ns1:p>
            <ns1:r>
              <ns1:t>              -9.737458183446575,</ns1:t>
            </ns1:r>
          </ns1:p>
          <ns1:p>
            <ns1:r>
              <ns1:t>              -3.962820530700938,</ns1:t>
            </ns1:r>
          </ns1:p>
          <ns1:p>
            <ns1:r>
              <ns1:t>              -23.665971687061514,</ns1:t>
            </ns1:r>
          </ns1:p>
          <ns1:p>
            <ns1:r>
              <ns1:t>              417.052120461681,</ns1:t>
            </ns1:r>
          </ns1:p>
          <ns1:p>
            <ns1:r>
              <ns1:t>              575.9819015233188,</ns1:t>
            </ns1:r>
          </ns1:p>
          <ns1:p>
            <ns1:r>
              <ns1:t>              -20</ns1:t>
            </ns1:r>
          </ns1:p>
          <ns1:p>
            <ns1:r>
              <ns1:t>            ],</ns1:t>
            </ns1:r>
          </ns1:p>
          <ns1:p>
            <ns1:r>
              <ns1:t>            "world_height_A": 175.09869083739844,</ns1:t>
            </ns1:r>
          </ns1:p>
          <ns1:p>
            <ns1:r>
              <ns1:t>            "row_bounds_all_atoms_A": [</ns1:t>
            </ns1:r>
          </ns1:p>
          <ns1:p>
            <ns1:r>
              <ns1:t>              [</ns1:t>
            </ns1:r>
          </ns1:p>
          <ns1:p>
            <ns1:r>
              <ns1:t>                -50.80222034950911,</ns1:t>
            </ns1:r>
          </ns1:p>
          <ns1:p>
            <ns1:r>
              <ns1:t>                -84.51216594940016,</ns1:t>
            </ns1:r>
          </ns1:p>
          <ns1:p>
            <ns1:r>
              <ns1:t>                -88.1308622178804</ns1:t>
            </ns1:r>
          </ns1:p>
          <ns1:p>
            <ns1:r>
              <ns1:t>              ],</ns1:t>
            </ns1:r>
          </ns1:p>
          <ns1:p>
            <ns1:r>
              <ns1:t>              [</ns1:t>
            </ns1:r>
          </ns1:p>
          <ns1:p>
            <ns1:r>
              <ns1:t>                31.327303982615962,</ns1:t>
            </ns1:r>
          </ns1:p>
          <ns1:p>
            <ns1:r>
              <ns1:t>                76.58652488799828,</ns1:t>
            </ns1:r>
          </ns1:p>
          <ns1:p>
            <ns1:r>
              <ns1:t>                40.79891884375738</ns1:t>
            </ns1:r>
          </ns1:p>
          <ns1:p>
            <ns1:r>
              <ns1:t>              ]</ns1:t>
            </ns1:r>
          </ns1:p>
          <ns1:p>
            <ns1:r>
              <ns1:t>            ]</ns1:t>
            </ns1:r>
          </ns1:p>
          <ns1:p>
            <ns1:r>
              <ns1:t>          },</ns1:t>
            </ns1:r>
          </ns1:p>
          <ns1:p>
            <ns1:r>
              <ns1:t>          "APNovo": {</ns1:t>
            </ns1:r>
          </ns1:p>
          <ns1:p>
            <ns1:r>
              <ns1:t>            "key": "LK_P069_04-APNovo",</ns1:t>
            </ns1:r>
          </ns1:p>
          <ns1:p>
            <ns1:r>
              <ns1:t>            "source_path": "local/2026-10-25_linker-top100-review_001/build/comparisons/LK_P069_04/reference.pdb",</ns1:t>
            </ns1:r>
          </ns1:p>
          <ns1:p>
            <ns1:r>
              <ns1:t>            "source_sha256": "dc72d205ca3ea9f352b7fc720fb39d856626915765a6a66c5d4306600a9ff29b",</ns1:t>
            </ns1:r>
          </ns1:p>
          <ns1:p>
            <ns1:r>
              <ns1:t>            "role": "fusion",</ns1:t>
            </ns1:r>
          </ns1:p>
          <ns1:p>
            <ns1:r>
              <ns1:t>            "ranges_zero_based": {</ns1:t>
            </ns1:r>
          </ns1:p>
          <ns1:p>
            <ns1:r>
              <ns1:t>              "ECD": [</ns1:t>
            </ns1:r>
          </ns1:p>
          <ns1:p>
            <ns1:r>
              <ns1:t>                0,</ns1:t>
            </ns1:r>
          </ns1:p>
          <ns1:p>
            <ns1:r>
              <ns1:t>                50</ns1:t>
            </ns1:r>
          </ns1:p>
          <ns1:p>
            <ns1:r>
              <ns1:t>              ],</ns1:t>
            </ns1:r>
          </ns1:p>
          <ns1:p>
            <ns1:r>
              <ns1:t>              "linker": [</ns1:t>
            </ns1:r>
          </ns1:p>
          <ns1:p>
            <ns1:r>
              <ns1:t>                50,</ns1:t>
            </ns1:r>
          </ns1:p>
          <ns1:p>
            <ns1:r>
              <ns1:t>                85</ns1:t>
            </ns1:r>
          </ns1:p>
          <ns1:p>
            <ns1:r>
              <ns1:t>              ],</ns1:t>
            </ns1:r>
          </ns1:p>
          <ns1:p>
            <ns1:r>
              <ns1:t>              "LF": [</ns1:t>
            </ns1:r>
          </ns1:p>
          <ns1:p>
            <ns1:r>
              <ns1:t>                85,</ns1:t>
            </ns1:r>
          </ns1:p>
          <ns1:p>
            <ns1:r>
              <ns1:t>                154</ns1:t>
            </ns1:r>
          </ns1:p>
          <ns1:p>
            <ns1:r>
              <ns1:t>              ]</ns1:t>
            </ns1:r>
          </ns1:p>
          <ns1:p>
            <ns1:r>
              <ns1:t>            },</ns1:t>
            </ns1:r>
          </ns1:p>
          <ns1:p>
            <ns1:r>
              <ns1:t>            "sequence": "MSIDYSSLVTHSPTGVAEATEFLYRYYQLREIPLETFIAVASALYHSSLLGGLGEFSDNGLPPVAPLPPGLPVPDLPQDEESDIKEVSGATIDLRVKTCVDFKQTVNFFKLRNTQLPGSCTKDNTVLFLLEGLKLGYASRYFSIGSGSGSQQFS",</ns1:t>
            </ns1:r>
          </ns1:p>
          <ns1:p>
            <ns1:r>
              <ns1:t>            "rotation": [</ns1:t>
            </ns1:r>
          </ns1:p>
          <ns1:p>
            <ns1:r>
              <ns1:t>              [</ns1:t>
            </ns1:r>
          </ns1:p>
          <ns1:p>
            <ns1:r>
              <ns1:t>                -0.8228670841493066,</ns1:t>
            </ns1:r>
          </ns1:p>
          <ns1:p>
            <ns1:r>
              <ns1:t>                0.5008125701617328,</ns1:t>
            </ns1:r>
          </ns1:p>
          <ns1:p>
            <ns1:r>
              <ns1:t>                -0.26847082184812265</ns1:t>
            </ns1:r>
          </ns1:p>
          <ns1:p>
            <ns1:r>
              <ns1:t>              ],</ns1:t>
            </ns1:r>
          </ns1:p>
          <ns1:p>
            <ns1:r>
              <ns1:t>              [</ns1:t>
            </ns1:r>
          </ns1:p>
          <ns1:p>
            <ns1:r>
              <ns1:t>                -0.565585172948194,</ns1:t>
            </ns1:r>
          </ns1:p>
          <ns1:p>
            <ns1:r>
              <ns1:t>                -0.7674181483605701,</ns1:t>
            </ns1:r>
          </ns1:p>
          <ns1:p>
            <ns1:r>
              <ns1:t>                0.3019649682248582</ns1:t>
            </ns1:r>
          </ns1:p>
          <ns1:p>
            <ns1:r>
              <ns1:t>              ],</ns1:t>
            </ns1:r>
          </ns1:p>
          <ns1:p>
            <ns1:r>
              <ns1:t>              [</ns1:t>
            </ns1:r>
          </ns1:p>
          <ns1:p>
            <ns1:r>
              <ns1:t>                -0.05480153263622789,</ns1:t>
            </ns1:r>
          </ns1:p>
          <ns1:p>
            <ns1:r>
              <ns1:t>                0.40032016982010177,</ns1:t>
            </ns1:r>
          </ns1:p>
          <ns1:p>
            <ns1:r>
              <ns1:t>                0.9147352466809231</ns1:t>
            </ns1:r>
          </ns1:p>
          <ns1:p>
            <ns1:r>
              <ns1:t>              ]</ns1:t>
            </ns1:r>
          </ns1:p>
          <ns1:p>
            <ns1:r>
              <ns1:t>            ],</ns1:t>
            </ns1:r>
          </ns1:p>
          <ns1:p>
            <ns1:r>
              <ns1:t>            "translation": [</ns1:t>
            </ns1:r>
          </ns1:p>
          <ns1:p>
            <ns1:r>
              <ns1:t>              -8.92016011650685,</ns1:t>
            </ns1:r>
          </ns1:p>
          <ns1:p>
            <ns1:r>
              <ns1:t>              -11.435930962673236,</ns1:t>
            </ns1:r>
          </ns1:p>
          <ns1:p>
            <ns1:r>
              <ns1:t>              10.142207680983107</ns1:t>
            </ns1:r>
          </ns1:p>
          <ns1:p>
            <ns1:r>
              <ns1:t>            ],</ns1:t>
            </ns1:r>
          </ns1:p>
          <ns1:p>
            <ns1:r>
              <ns1:t>            "core_fit_CA_RMSD_A": 1.2177891484904904,</ns1:t>
            </ns1:r>
          </ns1:p>
          <ns1:p>
            <ns1:r>
              <ns1:t>            "output": "local/2026-10-25_linker-parent-views_001/build/renders-v2/LK_P069_04-APNovo.jpg",</ns1:t>
            </ns1:r>
          </ns1:p>
          <ns1:p>
            <ns1:r>
              <ns1:t>            "parent_or_fusion_id": "LK_P069_04-APNovo",</ns1:t>
            </ns1:r>
          </ns1:p>
          <ns1:p>
            <ns1:r>
              <ns1:t>            "design_id": "LK_P069_04",</ns1:t>
            </ns1:r>
          </ns1:p>
          <ns1:p>
            <ns1:r>
              <ns1:t>            "panel": "APNovo",</ns1:t>
            </ns1:r>
          </ns1:p>
          <ns1:p>
            <ns1:r>
              <ns1:t>            "view": [</ns1:t>
            </ns1:r>
          </ns1:p>
          <ns1:p>
            <ns1:r>
              <ns1:t>              1,</ns1:t>
            </ns1:r>
          </ns1:p>
          <ns1:p>
            <ns1:r>
              <ns1:t>              0,</ns1:t>
            </ns1:r>
          </ns1:p>
          <ns1:p>
            <ns1:r>
              <ns1:t>              0,</ns1:t>
            </ns1:r>
          </ns1:p>
          <ns1:p>
            <ns1:r>
              <ns1:t>              0,</ns1:t>
            </ns1:r>
          </ns1:p>
          <ns1:p>
            <ns1:r>
              <ns1:t>              1,</ns1:t>
            </ns1:r>
          </ns1:p>
          <ns1:p>
            <ns1:r>
              <ns1:t>              0,</ns1:t>
            </ns1:r>
          </ns1:p>
          <ns1:p>
            <ns1:r>
              <ns1:t>              0,</ns1:t>
            </ns1:r>
          </ns1:p>
          <ns1:p>
            <ns1:r>
              <ns1:t>              0,</ns1:t>
            </ns1:r>
          </ns1:p>
          <ns1:p>
            <ns1:r>
              <ns1:t>              1,</ns1:t>
            </ns1:r>
          </ns1:p>
          <ns1:p>
            <ns1:r>
              <ns1:t>              0,</ns1:t>
            </ns1:r>
          </ns1:p>
          <ns1:p>
            <ns1:r>
              <ns1:t>              0,</ns1:t>
            </ns1:r>
          </ns1:p>
          <ns1:p>
            <ns1:r>
              <ns1:t>              -496.5170109924999,</ns1:t>
            </ns1:r>
          </ns1:p>
          <ns1:p>
            <ns1:r>
              <ns1:t>              -9.737458183446575,</ns1:t>
            </ns1:r>
          </ns1:p>
          <ns1:p>
            <ns1:r>
              <ns1:t>              -3.962820530700938,</ns1:t>
            </ns1:r>
          </ns1:p>
          <ns1:p>
            <ns1:r>
              <ns1:t>              -23.665971687061514,</ns1:t>
            </ns1:r>
          </ns1:p>
          <ns1:p>
            <ns1:r>
              <ns1:t>              417.052120461681,</ns1:t>
            </ns1:r>
          </ns1:p>
          <ns1:p>
            <ns1:r>
              <ns1:t>              575.9819015233188,</ns1:t>
            </ns1:r>
          </ns1:p>
          <ns1:p>
            <ns1:r>
              <ns1:t>              -20</ns1:t>
            </ns1:r>
          </ns1:p>
          <ns1:p>
            <ns1:r>
              <ns1:t>            ],</ns1:t>
            </ns1:r>
          </ns1:p>
          <ns1:p>
            <ns1:r>
              <ns1:t>            "world_height_A": 175.09869083739844,</ns1:t>
            </ns1:r>
          </ns1:p>
          <ns1:p>
            <ns1:r>
              <ns1:t>            "row_bounds_all_atoms_A": [</ns1:t>
            </ns1:r>
          </ns1:p>
          <ns1:p>
            <ns1:r>
              <ns1:t>              [</ns1:t>
            </ns1:r>
          </ns1:p>
          <ns1:p>
            <ns1:r>
              <ns1:t>                -50.80222034950911,</ns1:t>
            </ns1:r>
          </ns1:p>
          <ns1:p>
            <ns1:r>
              <ns1:t>                -84.51216594940016,</ns1:t>
            </ns1:r>
          </ns1:p>
          <ns1:p>
            <ns1:r>
              <ns1:t>                -88.1308622178804</ns1:t>
            </ns1:r>
          </ns1:p>
          <ns1:p>
            <ns1:r>
              <ns1:t>              ],</ns1:t>
            </ns1:r>
          </ns1:p>
          <ns1:p>
            <ns1:r>
              <ns1:t>              [</ns1:t>
            </ns1:r>
          </ns1:p>
          <ns1:p>
            <ns1:r>
              <ns1:t>                31.327303982615962,</ns1:t>
            </ns1:r>
          </ns1:p>
          <ns1:p>
            <ns1:r>
              <ns1:t>                76.58652488799828,</ns1:t>
            </ns1:r>
          </ns1:p>
          <ns1:p>
            <ns1:r>
              <ns1:t>                40.79891884375738</ns1:t>
            </ns1:r>
          </ns1:p>
          <ns1:p>
            <ns1:r>
              <ns1:t>              ]</ns1:t>
            </ns1:r>
          </ns1:p>
          <ns1:p>
            <ns1:r>
              <ns1:t>            ]</ns1:t>
            </ns1:r>
          </ns1:p>
          <ns1:p>
            <ns1:r>
              <ns1:t>          },</ns1:t>
            </ns1:r>
          </ns1:p>
          <ns1:p>
            <ns1:r>
              <ns1:t>          "Exact": {</ns1:t>
            </ns1:r>
          </ns1:p>
          <ns1:p>
            <ns1:r>
              <ns1:t>            "key": "LK_P069_04-Exact",</ns1:t>
            </ns1:r>
          </ns1:p>
          <ns1:p>
            <ns1:r>
              <ns1:t>            "source_path": "local/2026-10-25_linker-top100-review_001/models/LK_P069_04/boltz2.cif",</ns1:t>
            </ns1:r>
          </ns1:p>
          <ns1:p>
            <ns1:r>
              <ns1:t>            "source_sha256": "54a9810d3ee59227525a958e2f805ebc56a7d62119dee48fb1d16c141ec808c6",</ns1:t>
            </ns1:r>
          </ns1:p>
          <ns1:p>
            <ns1:r>
              <ns1:t>            "role": "fusion",</ns1:t>
            </ns1:r>
          </ns1:p>
          <ns1:p>
            <ns1:r>
              <ns1:t>            "ranges_zero_based": {</ns1:t>
            </ns1:r>
          </ns1:p>
          <ns1:p>
            <ns1:r>
              <ns1:t>              "ECD": [</ns1:t>
            </ns1:r>
          </ns1:p>
          <ns1:p>
            <ns1:r>
              <ns1:t>                0,</ns1:t>
            </ns1:r>
          </ns1:p>
          <ns1:p>
            <ns1:r>
              <ns1:t>                50</ns1:t>
            </ns1:r>
          </ns1:p>
          <ns1:p>
            <ns1:r>
              <ns1:t>              ],</ns1:t>
            </ns1:r>
          </ns1:p>
          <ns1:p>
            <ns1:r>
              <ns1:t>              "linker": [</ns1:t>
            </ns1:r>
          </ns1:p>
          <ns1:p>
            <ns1:r>
              <ns1:t>                50,</ns1:t>
            </ns1:r>
          </ns1:p>
          <ns1:p>
            <ns1:r>
              <ns1:t>                85</ns1:t>
            </ns1:r>
          </ns1:p>
          <ns1:p>
            <ns1:r>
              <ns1:t>              ],</ns1:t>
            </ns1:r>
          </ns1:p>
          <ns1:p>
            <ns1:r>
              <ns1:t>              "LF": [</ns1:t>
            </ns1:r>
          </ns1:p>
          <ns1:p>
            <ns1:r>
              <ns1:t>                85,</ns1:t>
            </ns1:r>
          </ns1:p>
          <ns1:p>
            <ns1:r>
              <ns1:t>                154</ns1:t>
            </ns1:r>
          </ns1:p>
          <ns1:p>
            <ns1:r>
              <ns1:t>              ]</ns1:t>
            </ns1:r>
          </ns1:p>
          <ns1:p>
            <ns1:r>
              <ns1:t>            },</ns1:t>
            </ns1:r>
          </ns1:p>
          <ns1:p>
            <ns1:r>
              <ns1:t>            "sequence": "MSIDYSSLVTHSPTGVAEATEFLYRYYQLREIPLETFIAVASALYHSSLLGGLGEFSDNGLPPVAPLPPGLPVPDLPQDEESDIKEVSGATIDLRVKTCVDFKQTVNFFKLRNTQLPGSCTKDNTVLFLLEGLKLGYASRYFSIGSGSGSQQFS",</ns1:t>
            </ns1:r>
          </ns1:p>
          <ns1:p>
            <ns1:r>
              <ns1:t>            "rotation": [</ns1:t>
            </ns1:r>
          </ns1:p>
          <ns1:p>
            <ns1:r>
              <ns1:t>              [</ns1:t>
            </ns1:r>
          </ns1:p>
          <ns1:p>
            <ns1:r>
              <ns1:t>                0.7774263845495244,</ns1:t>
            </ns1:r>
          </ns1:p>
          <ns1:p>
            <ns1:r>
              <ns1:t>                -0.6288804111934234,</ns1:t>
            </ns1:r>
          </ns1:p>
          <ns1:p>
            <ns1:r>
              <ns1:t>                0.01084821273662051</ns1:t>
            </ns1:r>
          </ns1:p>
          <ns1:p>
            <ns1:r>
              <ns1:t>              ],</ns1:t>
            </ns1:r>
          </ns1:p>
          <ns1:p>
            <ns1:r>
              <ns1:t>              [</ns1:t>
            </ns1:r>
          </ns1:p>
          <ns1:p>
            <ns1:r>
              <ns1:t>                0.6054828629244833,</ns1:t>
            </ns1:r>
          </ns1:p>
          <ns1:p>
            <ns1:r>
              <ns1:t>                0.7529491374211084,</ns1:t>
            </ns1:r>
          </ns1:p>
          <ns1:p>
            <ns1:r>
              <ns1:t>                0.25779475362851567</ns1:t>
            </ns1:r>
          </ns1:p>
          <ns1:p>
            <ns1:r>
              <ns1:t>              ],</ns1:t>
            </ns1:r>
          </ns1:p>
          <ns1:p>
            <ns1:r>
              <ns1:t>              [</ns1:t>
            </ns1:r>
          </ns1:p>
          <ns1:p>
            <ns1:r>
              <ns1:t>                -0.17029022649880599,</ns1:t>
            </ns1:r>
          </ns1:p>
          <ns1:p>
            <ns1:r>
              <ns1:t>                -0.19384808771865103,</ns1:t>
            </ns1:r>
          </ns1:p>
          <ns1:p>
            <ns1:r>
              <ns1:t>                0.9661388275518243</ns1:t>
            </ns1:r>
          </ns1:p>
          <ns1:p>
            <ns1:r>
              <ns1:t>              ]</ns1:t>
            </ns1:r>
          </ns1:p>
          <ns1:p>
            <ns1:r>
              <ns1:t>            ],</ns1:t>
            </ns1:r>
          </ns1:p>
          <ns1:p>
            <ns1:r>
              <ns1:t>            "translation": [</ns1:t>
            </ns1:r>
          </ns1:p>
          <ns1:p>
            <ns1:r>
              <ns1:t>              0.773261535403515,</ns1:t>
            </ns1:r>
          </ns1:p>
          <ns1:p>
            <ns1:r>
              <ns1:t>              -1.905948553053367,</ns1:t>
            </ns1:r>
          </ns1:p>
          <ns1:p>
            <ns1:r>
              <ns1:t>              -0.7879479020521534</ns1:t>
            </ns1:r>
          </ns1:p>
          <ns1:p>
            <ns1:r>
              <ns1:t>            ],</ns1:t>
            </ns1:r>
          </ns1:p>
          <ns1:p>
            <ns1:r>
              <ns1:t>            "core_fit_CA_RMSD_A": 1.0601763359580567,</ns1:t>
            </ns1:r>
          </ns1:p>
          <ns1:p>
            <ns1:r>
              <ns1:t>            "output": "local/2026-10-25_linker-parent-views_001/build/renders-v2/LK_P069_04-Exact.jpg",</ns1:t>
            </ns1:r>
          </ns1:p>
          <ns1:p>
            <ns1:r>
              <ns1:t>            "parent_or_fusion_id": "LK_P069_04-Exact",</ns1:t>
            </ns1:r>
          </ns1:p>
          <ns1:p>
            <ns1:r>
              <ns1:t>            "design_id": "LK_P069_04",</ns1:t>
            </ns1:r>
          </ns1:p>
          <ns1:p>
            <ns1:r>
              <ns1:t>            "panel": "Exact",</ns1:t>
            </ns1:r>
          </ns1:p>
          <ns1:p>
            <ns1:r>
              <ns1:t>            "view": [</ns1:t>
            </ns1:r>
          </ns1:p>
          <ns1:p>
            <ns1:r>
              <ns1:t>              1,</ns1:t>
            </ns1:r>
          </ns1:p>
          <ns1:p>
            <ns1:r>
              <ns1:t>              0,</ns1:t>
            </ns1:r>
          </ns1:p>
          <ns1:p>
            <ns1:r>
              <ns1:t>              0,</ns1:t>
            </ns1:r>
          </ns1:p>
          <ns1:p>
            <ns1:r>
              <ns1:t>              0,</ns1:t>
            </ns1:r>
          </ns1:p>
          <ns1:p>
            <ns1:r>
              <ns1:t>              1,</ns1:t>
            </ns1:r>
          </ns1:p>
          <ns1:p>
            <ns1:r>
              <ns1:t>              0,</ns1:t>
            </ns1:r>
          </ns1:p>
          <ns1:p>
            <ns1:r>
              <ns1:t>              0,</ns1:t>
            </ns1:r>
          </ns1:p>
          <ns1:p>
            <ns1:r>
              <ns1:t>              0,</ns1:t>
            </ns1:r>
          </ns1:p>
          <ns1:p>
            <ns1:r>
              <ns1:t>              1,</ns1:t>
            </ns1:r>
          </ns1:p>
          <ns1:p>
            <ns1:r>
              <ns1:t>              0,</ns1:t>
            </ns1:r>
          </ns1:p>
          <ns1:p>
            <ns1:r>
              <ns1:t>              0,</ns1:t>
            </ns1:r>
          </ns1:p>
          <ns1:p>
            <ns1:r>
              <ns1:t>              -496.5170109924999,</ns1:t>
            </ns1:r>
          </ns1:p>
          <ns1:p>
            <ns1:r>
              <ns1:t>              -9.737458183446575,</ns1:t>
            </ns1:r>
          </ns1:p>
          <ns1:p>
            <ns1:r>
              <ns1:t>              -3.962820530700938,</ns1:t>
            </ns1:r>
          </ns1:p>
          <ns1:p>
            <ns1:r>
              <ns1:t>              -23.665971687061514,</ns1:t>
            </ns1:r>
          </ns1:p>
          <ns1:p>
            <ns1:r>
              <ns1:t>              417.052120461681,</ns1:t>
            </ns1:r>
          </ns1:p>
          <ns1:p>
            <ns1:r>
              <ns1:t>              575.9819015233188,</ns1:t>
            </ns1:r>
          </ns1:p>
          <ns1:p>
            <ns1:r>
              <ns1:t>              -20</ns1:t>
            </ns1:r>
          </ns1:p>
          <ns1:p>
            <ns1:r>
              <ns1:t>            ],</ns1:t>
            </ns1:r>
          </ns1:p>
          <ns1:p>
            <ns1:r>
              <ns1:t>            "world_height_A": 175.09869083739844,</ns1:t>
            </ns1:r>
          </ns1:p>
          <ns1:p>
            <ns1:r>
              <ns1:t>            "row_bounds_all_atoms_A": [</ns1:t>
            </ns1:r>
          </ns1:p>
          <ns1:p>
            <ns1:r>
              <ns1:t>              [</ns1:t>
            </ns1:r>
          </ns1:p>
          <ns1:p>
            <ns1:r>
              <ns1:t>                -50.80222034950911,</ns1:t>
            </ns1:r>
          </ns1:p>
          <ns1:p>
            <ns1:r>
              <ns1:t>                -84.51216594940016,</ns1:t>
            </ns1:r>
          </ns1:p>
          <ns1:p>
            <ns1:r>
              <ns1:t>                -88.1308622178804</ns1:t>
            </ns1:r>
          </ns1:p>
          <ns1:p>
            <ns1:r>
              <ns1:t>              ],</ns1:t>
            </ns1:r>
          </ns1:p>
          <ns1:p>
            <ns1:r>
              <ns1:t>              [</ns1:t>
            </ns1:r>
          </ns1:p>
          <ns1:p>
            <ns1:r>
              <ns1:t>                31.327303982615962,</ns1:t>
            </ns1:r>
          </ns1:p>
          <ns1:p>
            <ns1:r>
              <ns1:t>                76.58652488799828,</ns1:t>
            </ns1:r>
          </ns1:p>
          <ns1:p>
            <ns1:r>
              <ns1:t>                40.79891884375738</ns1:t>
            </ns1:r>
          </ns1:p>
          <ns1:p>
            <ns1:r>
              <ns1:t>              ]</ns1:t>
            </ns1:r>
          </ns1:p>
          <ns1:p>
            <ns1:r>
              <ns1:t>            ]</ns1:t>
            </ns1:r>
          </ns1:p>
          <ns1:p>
            <ns1:r>
              <ns1:t>          },</ns1:t>
            </ns1:r>
          </ns1:p>
          <ns1:p>
            <ns1:r>
              <ns1:t>          "LF-parent": {</ns1:t>
            </ns1:r>
          </ns1:p>
          <ns1:p>
            <ns1:r>
              <ns1:t>            "key": "LK_P069_04-LF-parent",</ns1:t>
            </ns1:r>
          </ns1:p>
          <ns1:p>
            <ns1:r>
              <ns1:t>            "source_path": "local/2026-10-25_linker-parent-comparison_001/parents/Design_280/exact.pdb",</ns1:t>
            </ns1:r>
          </ns1:p>
          <ns1:p>
            <ns1:r>
              <ns1:t>            "source_sha256": "cd01c89fbf40d0e577c10f20c2afa96c3deef09880d6c761314a1c5e9898bd4f",</ns1:t>
            </ns1:r>
          </ns1:p>
          <ns1:p>
            <ns1:r>
              <ns1:t>            "role": "LF",</ns1:t>
            </ns1:r>
          </ns1:p>
          <ns1:p>
            <ns1:r>
              <ns1:t>            "ranges_zero_based": {</ns1:t>
            </ns1:r>
          </ns1:p>
          <ns1:p>
            <ns1:r>
              <ns1:t>              "LF": [</ns1:t>
            </ns1:r>
          </ns1:p>
          <ns1:p>
            <ns1:r>
              <ns1:t>                0,</ns1:t>
            </ns1:r>
          </ns1:p>
          <ns1:p>
            <ns1:r>
              <ns1:t>                69</ns1:t>
            </ns1:r>
          </ns1:p>
          <ns1:p>
            <ns1:r>
              <ns1:t>              ]</ns1:t>
            </ns1:r>
          </ns1:p>
          <ns1:p>
            <ns1:r>
              <ns1:t>            },</ns1:t>
            </ns1:r>
          </ns1:p>
          <ns1:p>
            <ns1:r>
              <ns1:t>            "sequence": "EVSGATIDLRVKTCVDFKQTVNFFKLRNTQLPGSCTKDNTVLFLLEGLKLGYASRYFSIGSGSGSQQFS",</ns1:t>
            </ns1:r>
          </ns1:p>
          <ns1:p>
            <ns1:r>
              <ns1:t>            "rotation": [</ns1:t>
            </ns1:r>
          </ns1:p>
          <ns1:p>
            <ns1:r>
              <ns1:t>              [</ns1:t>
            </ns1:r>
          </ns1:p>
          <ns1:p>
            <ns1:r>
              <ns1:t>                0.9716521520149124,</ns1:t>
            </ns1:r>
          </ns1:p>
          <ns1:p>
            <ns1:r>
              <ns1:t>                0.23640963200020604,</ns1:t>
            </ns1:r>
          </ns1:p>
          <ns1:p>
            <ns1:r>
              <ns1:t>                -0.0015985785293137766</ns1:t>
            </ns1:r>
          </ns1:p>
          <ns1:p>
            <ns1:r>
              <ns1:t>              ],</ns1:t>
            </ns1:r>
          </ns1:p>
          <ns1:p>
            <ns1:r>
              <ns1:t>              [</ns1:t>
            </ns1:r>
          </ns1:p>
          <ns1:p>
            <ns1:r>
              <ns1:t>                -0.232382419508661,</ns1:t>
            </ns1:r>
          </ns1:p>
          <ns1:p>
            <ns1:r>
              <ns1:t>                0.9563002615331773,</ns1:t>
            </ns1:r>
          </ns1:p>
          <ns1:p>
            <ns1:r>
              <ns1:t>                0.17744913387297956</ns1:t>
            </ns1:r>
          </ns1:p>
          <ns1:p>
            <ns1:r>
              <ns1:t>              ],</ns1:t>
            </ns1:r>
          </ns1:p>
          <ns1:p>
            <ns1:r>
              <ns1:t>              [</ns1:t>
            </ns1:r>
          </ns1:p>
          <ns1:p>
            <ns1:r>
              <ns1:t>                0.04347938667791329,</ns1:t>
            </ns1:r>
          </ns1:p>
          <ns1:p>
            <ns1:r>
              <ns1:t>                -0.1720473610249762,</ns1:t>
            </ns1:r>
          </ns1:p>
          <ns1:p>
            <ns1:r>
              <ns1:t>                0.9841286681075418</ns1:t>
            </ns1:r>
          </ns1:p>
          <ns1:p>
            <ns1:r>
              <ns1:t>              ]</ns1:t>
            </ns1:r>
          </ns1:p>
          <ns1:p>
            <ns1:r>
              <ns1:t>            ],</ns1:t>
            </ns1:r>
          </ns1:p>
          <ns1:p>
            <ns1:r>
              <ns1:t>            "translation": [</ns1:t>
            </ns1:r>
          </ns1:p>
          <ns1:p>
            <ns1:r>
              <ns1:t>              3.3985903455718525,</ns1:t>
            </ns1:r>
          </ns1:p>
          <ns1:p>
            <ns1:r>
              <ns1:t>              -6.121573941428423,</ns1:t>
            </ns1:r>
          </ns1:p>
          <ns1:p>
            <ns1:r>
              <ns1:t>              6.014485827651381</ns1:t>
            </ns1:r>
          </ns1:p>
          <ns1:p>
            <ns1:r>
              <ns1:t>            ],</ns1:t>
            </ns1:r>
          </ns1:p>
          <ns1:p>
            <ns1:r>
              <ns1:t>            "core_fit_CA_RMSD_A": 1.3060904572635719,</ns1:t>
            </ns1:r>
          </ns1:p>
          <ns1:p>
            <ns1:r>
              <ns1:t>            "output": "local/2026-10-25_linker-parent-views_001/build/renders-v2/LK_P069_04-LF-parent.jpg",</ns1:t>
            </ns1:r>
          </ns1:p>
          <ns1:p>
            <ns1:r>
              <ns1:t>            "parent_or_fusion_id": "Design_280",</ns1:t>
            </ns1:r>
          </ns1:p>
          <ns1:p>
            <ns1:r>
              <ns1:t>            "design_id": "LK_P069_04",</ns1:t>
            </ns1:r>
          </ns1:p>
          <ns1:p>
            <ns1:r>
              <ns1:t>            "panel": "LF-parent",</ns1:t>
            </ns1:r>
          </ns1:p>
          <ns1:p>
            <ns1:r>
              <ns1:t>            "view": [</ns1:t>
            </ns1:r>
          </ns1:p>
          <ns1:p>
            <ns1:r>
              <ns1:t>              1,</ns1:t>
            </ns1:r>
          </ns1:p>
          <ns1:p>
            <ns1:r>
              <ns1:t>              0,</ns1:t>
            </ns1:r>
          </ns1:p>
          <ns1:p>
            <ns1:r>
              <ns1:t>              0,</ns1:t>
            </ns1:r>
          </ns1:p>
          <ns1:p>
            <ns1:r>
              <ns1:t>              0,</ns1:t>
            </ns1:r>
          </ns1:p>
          <ns1:p>
            <ns1:r>
              <ns1:t>              1,</ns1:t>
            </ns1:r>
          </ns1:p>
          <ns1:p>
            <ns1:r>
              <ns1:t>              0,</ns1:t>
            </ns1:r>
          </ns1:p>
          <ns1:p>
            <ns1:r>
              <ns1:t>              0,</ns1:t>
            </ns1:r>
          </ns1:p>
          <ns1:p>
            <ns1:r>
              <ns1:t>              0,</ns1:t>
            </ns1:r>
          </ns1:p>
          <ns1:p>
            <ns1:r>
              <ns1:t>              1,</ns1:t>
            </ns1:r>
          </ns1:p>
          <ns1:p>
            <ns1:r>
              <ns1:t>              0,</ns1:t>
            </ns1:r>
          </ns1:p>
          <ns1:p>
            <ns1:r>
              <ns1:t>              0,</ns1:t>
            </ns1:r>
          </ns1:p>
          <ns1:p>
            <ns1:r>
              <ns1:t>              -496.5170109924999,</ns1:t>
            </ns1:r>
          </ns1:p>
          <ns1:p>
            <ns1:r>
              <ns1:t>              -9.737458183446575,</ns1:t>
            </ns1:r>
          </ns1:p>
          <ns1:p>
            <ns1:r>
              <ns1:t>              -3.962820530700938,</ns1:t>
            </ns1:r>
          </ns1:p>
          <ns1:p>
            <ns1:r>
              <ns1:t>              -23.665971687061514,</ns1:t>
            </ns1:r>
          </ns1:p>
          <ns1:p>
            <ns1:r>
              <ns1:t>              417.052120461681,</ns1:t>
            </ns1:r>
          </ns1:p>
          <ns1:p>
            <ns1:r>
              <ns1:t>              575.9819015233188,</ns1:t>
            </ns1:r>
          </ns1:p>
          <ns1:p>
            <ns1:r>
              <ns1:t>              -20</ns1:t>
            </ns1:r>
          </ns1:p>
          <ns1:p>
            <ns1:r>
              <ns1:t>            ],</ns1:t>
            </ns1:r>
          </ns1:p>
          <ns1:p>
            <ns1:r>
              <ns1:t>            "world_height_A": 175.09869083739844,</ns1:t>
            </ns1:r>
          </ns1:p>
          <ns1:p>
            <ns1:r>
              <ns1:t>            "row_bounds_all_atoms_A": [</ns1:t>
            </ns1:r>
          </ns1:p>
          <ns1:p>
            <ns1:r>
              <ns1:t>              [</ns1:t>
            </ns1:r>
          </ns1:p>
          <ns1:p>
            <ns1:r>
              <ns1:t>                -50.80222034950911,</ns1:t>
            </ns1:r>
          </ns1:p>
          <ns1:p>
            <ns1:r>
              <ns1:t>                -84.51216594940016,</ns1:t>
            </ns1:r>
          </ns1:p>
          <ns1:p>
            <ns1:r>
              <ns1:t>                -88.1308622178804</ns1:t>
            </ns1:r>
          </ns1:p>
          <ns1:p>
            <ns1:r>
              <ns1:t>              ],</ns1:t>
            </ns1:r>
          </ns1:p>
          <ns1:p>
            <ns1:r>
              <ns1:t>              [</ns1:t>
            </ns1:r>
          </ns1:p>
          <ns1:p>
            <ns1:r>
              <ns1:t>                31.327303982615962,</ns1:t>
            </ns1:r>
          </ns1:p>
          <ns1:p>
            <ns1:r>
              <ns1:t>                76.58652488799828,</ns1:t>
            </ns1:r>
          </ns1:p>
          <ns1:p>
            <ns1:r>
              <ns1:t>                40.79891884375738</ns1:t>
            </ns1:r>
          </ns1:p>
          <ns1:p>
            <ns1:r>
              <ns1:t>              ]</ns1:t>
            </ns1:r>
          </ns1:p>
          <ns1:p>
            <ns1:r>
              <ns1:t>            ]</ns1:t>
            </ns1:r>
          </ns1:p>
          <ns1:p>
            <ns1:r>
              <ns1:t>          }</ns1:t>
            </ns1:r>
          </ns1:p>
          <ns1:p>
            <ns1:r>
              <ns1:t>        },</ns1:t>
            </ns1:r>
          </ns1:p>
          <ns1:p>
            <ns1:r>
              <ns1:t>        "shared_camera": [</ns1:t>
            </ns1:r>
          </ns1:p>
          <ns1:p>
            <ns1:r>
              <ns1:t>          1,</ns1:t>
            </ns1:r>
          </ns1:p>
          <ns1:p>
            <ns1:r>
              <ns1:t>          0,</ns1:t>
            </ns1:r>
          </ns1:p>
          <ns1:p>
            <ns1:r>
              <ns1:t>          0,</ns1:t>
            </ns1:r>
          </ns1:p>
          <ns1:p>
            <ns1:r>
              <ns1:t>          0,</ns1:t>
            </ns1:r>
          </ns1:p>
          <ns1:p>
            <ns1:r>
              <ns1:t>          1,</ns1:t>
            </ns1:r>
          </ns1:p>
          <ns1:p>
            <ns1:r>
              <ns1:t>          0,</ns1:t>
            </ns1:r>
          </ns1:p>
          <ns1:p>
            <ns1:r>
              <ns1:t>          0,</ns1:t>
            </ns1:r>
          </ns1:p>
          <ns1:p>
            <ns1:r>
              <ns1:t>          0,</ns1:t>
            </ns1:r>
          </ns1:p>
          <ns1:p>
            <ns1:r>
              <ns1:t>          1,</ns1:t>
            </ns1:r>
          </ns1:p>
          <ns1:p>
            <ns1:r>
              <ns1:t>          0,</ns1:t>
            </ns1:r>
          </ns1:p>
          <ns1:p>
            <ns1:r>
              <ns1:t>          0,</ns1:t>
            </ns1:r>
          </ns1:p>
          <ns1:p>
            <ns1:r>
              <ns1:t>          -496.5170109924999,</ns1:t>
            </ns1:r>
          </ns1:p>
          <ns1:p>
            <ns1:r>
              <ns1:t>          -9.737458183446575,</ns1:t>
            </ns1:r>
          </ns1:p>
          <ns1:p>
            <ns1:r>
              <ns1:t>          -3.962820530700938,</ns1:t>
            </ns1:r>
          </ns1:p>
          <ns1:p>
            <ns1:r>
              <ns1:t>          -23.665971687061514,</ns1:t>
            </ns1:r>
          </ns1:p>
          <ns1:p>
            <ns1:r>
              <ns1:t>          417.052120461681,</ns1:t>
            </ns1:r>
          </ns1:p>
          <ns1:p>
            <ns1:r>
              <ns1:t>          575.9819015233188,</ns1:t>
            </ns1:r>
          </ns1:p>
          <ns1:p>
            <ns1:r>
              <ns1:t>          -20</ns1:t>
            </ns1:r>
          </ns1:p>
          <ns1:p>
            <ns1:r>
              <ns1:t>        ],</ns1:t>
            </ns1:r>
          </ns1:p>
          <ns1:p>
            <ns1:r>
              <ns1:t>        "reference": "Separate saved Exact parent complexes flank the linked Exact refold; AP Novo linked design comparison remains on the following slide. Rigid display alignment preserves native poses; all native receptor residues shown."</ns1:t>
            </ns1:r>
          </ns1:p>
          <ns1:p>
            <ns1:r>
              <ns1:t>      }</ns1:t>
            </ns1:r>
          </ns1:p>
          <ns1:p>
            <ns1:r>
              <ns1:t>    },</ns1:t>
            </ns1:r>
          </ns1:p>
          <ns1:p>
            <ns1:r>
              <ns1:t>    "display": "unchanged embedded JPEGs extracted from hash-verified delivered25-design PPTX; no resampling, cropping or new coordinate transforms",</ns1:t>
            </ns1:r>
          </ns1:p>
          <ns1:p>
            <ns1:r>
              <ns1:t>    "scale": "full complex and interface have different zooms; no matched-scale claim",</ns1:t>
            </ns1:r>
          </ns1:p>
          <ns1:p>
            <ns1:r>
              <ns1:t>    "hotspots": "black sticks; original27pocket positions for original LigandForge, R40/Q37/E34 annotations for DLD",</ns1:t>
            </ns1:r>
          </ns1:p>
          <ns1:p>
            <ns1:r>
              <ns1:t>    "colors": {</ns1:t>
            </ns1:r>
          </ns1:p>
          <ns1:p>
            <ns1:r>
              <ns1:t>      "LigandForge": "#E69F00",</ns1:t>
            </ns1:r>
          </ns1:p>
          <ns1:p>
            <ns1:r>
              <ns1:t>      "linker": "#AA4499",</ns1:t>
            </ns1:r>
          </ns1:p>
          <ns1:p>
            <ns1:r>
              <ns1:t>      "ECD_binder": "#0072B2",</ns1:t>
            </ns1:r>
          </ns1:p>
          <ns1:p>
            <ns1:r>
              <ns1:t>      "receptor_ECD": "#009E73",</ns1:t>
            </ns1:r>
          </ns1:p>
          <ns1:p>
            <ns1:r>
              <ns1:t>      "receptor_remainder": "#9AA5B1",</ns1:t>
            </ns1:r>
          </ns1:p>
          <ns1:p>
            <ns1:r>
              <ns1:t>      "hotspots": "#000000"</ns1:t>
            </ns1:r>
          </ns1:p>
          <ns1:p>
            <ns1:r>
              <ns1:t>    }</ns1:t>
            </ns1:r>
          </ns1:p>
          <ns1:p>
            <ns1:r>
              <ns1:t>  },</ns1:t>
            </ns1:r>
          </ns1:p>
          <ns1:p>
            <ns1:r>
              <ns1:t>  "source_deck": "local/2026-10-25_affinity-confidence-selection-deck_002/output/GLP1R_Selected_ipSAE_gt0p895_Kd_lt10nM_v3.pptx",</ns1:t>
            </ns1:r>
          </ns1:p>
          <ns1:p>
            <ns1:r>
              <ns1:t>  "source_deck_sha256": "ad9333fdf6c0ce7d6982e2980d6aade78af256710dbc7917f7f39e41d35aa173",</ns1:t>
            </ns1:r>
          </ns1:p>
          <ns1:p>
            <ns1:r>
              <ns1:t>  "domain_labels": "ECD A1-50  linker A51-85  LF A86-154",</ns1:t>
            </ns1:r>
          </ns1:p>
          <ns1:p>
            <ns1:r>
              <ns1:t>  "display_scope": "native Exact complex and saved interface view; same identity colors, independent zooms; no new coordinates or inferred agonism"</ns1:t>
            </ns1:r>
          </ns1:p>
          <ns1:p>
            <ns1:r>
              <ns1:t>}</ns1:t>
            </ns1:r>
          </ns1:p>
        </ns0:txBody>
      </ns0:sp>
      <ns0:sp>
        <ns0:nvSpPr>
          <ns0:cNvPr id="4" name="Slide Number Placeholder 3"/>
          <ns0:cNvSpPr>
            <ns1:spLocks noGrp="1"/>
          </ns0:cNvSpPr>
          <ns0:nvPr>
            <ns0:ph type="sldNum" idx="5"/>
          </ns0:nvPr>
        </ns0:nvSpPr>
        <ns0:spPr/>
        <ns0:txBody>
          <ns1:bodyPr/>
          <ns1:lstStyle/>
          <ns1:p/>
        </ns0:txBody>
      </ns0:sp>
    </ns0:spTree>
  </ns0:cSld>
  <ns0:clrMapOvr>
    <ns1:masterClrMapping/>
  </ns0:clrMapOvr>
</ns0:notes>
</file>

<file path=ppt/notesSlides/notesSlide19.xml><?xml version="1.0" encoding="utf-8"?>
<ns0:notes xmlns:ns0="http://schemas.openxmlformats.org/presentationml/2006/main" xmlns:ns1="http://schemas.openxmlformats.org/drawingml/2006/main">
  <ns0:cSld>
    <ns0:spTree>
      <ns0:nvGrpSpPr>
        <ns0:cNvPr id="1" name=""/>
        <ns0:cNvGrpSpPr/>
        <ns0:nvPr/>
      </ns0:nvGrpSpPr>
      <ns0:grpSpPr>
        <ns1:xfrm/>
      </ns0:grpSpPr>
      <ns0:sp>
        <ns0:nvSpPr>
          <ns0:cNvPr id="2" name="Slide Image Placeholder 1"/>
          <ns0:cNvSpPr>
            <ns1:spLocks noGrp="1"/>
          </ns0:cNvSpPr>
          <ns0:nvPr>
            <ns0:ph type="sldImg" idx="0"/>
          </ns0:nvPr>
        </ns0:nvSpPr>
        <ns0:spPr/>
      </ns0:sp>
      <ns0:sp>
        <ns0:nvSpPr>
          <ns0:cNvPr id="3" name="Notes Placeholder 2"/>
          <ns0:cNvSpPr>
            <ns1:spLocks noGrp="1"/>
          </ns0:cNvSpPr>
          <ns0:nvPr>
            <ns0:ph type="body" idx="1"/>
          </ns0:nvPr>
        </ns0:nvSpPr>
        <ns0:spPr/>
        <ns0:txBody>
          <ns1:bodyPr/>
          <ns1:lstStyle/>
          <ns1:p>
            <ns1:r>
              <ns1:t>{</ns1:t>
            </ns1:r>
          </ns1:p>
          <ns1:p>
            <ns1:r>
              <ns1:t>  "candidate": "LK_P024_03",</ns1:t>
            </ns1:r>
          </ns1:p>
          <ns1:p>
            <ns1:r>
              <ns1:t>  "final_rank": 10,</ns1:t>
            </ns1:r>
          </ns1:p>
          <ns1:p>
            <ns1:r>
              <ns1:t>  "selection": "Exact ipSAE&gt;0.895 and DeltaForge predicted Kd&lt;10nM; first20 by Exact ipSAE descending",</ns1:t>
            </ns1:r>
          </ns1:p>
          <ns1:p>
            <ns1:r>
              <ns1:t>  "sequence_sha256": "8dc9b6cdcee3e7e71a77d1467efe1238ae3ac5e5f038f9f11c9d2bddd853a214",</ns1:t>
            </ns1:r>
          </ns1:p>
          <ns1:p>
            <ns1:r>
              <ns1:t>  "sources": {</ns1:t>
            </ns1:r>
          </ns1:p>
          <ns1:p>
            <ns1:r>
              <ns1:t>    "source_table": {</ns1:t>
            </ns1:r>
          </ns1:p>
          <ns1:p>
            <ns1:r>
              <ns1:t>      "path": "local/2026-10-25_lf50-dld26-50-deltaforge_001/output/GLP1R_DLD_Top50_DeltaForge_Kd_and_Boltz2_Metrics.csv",</ns1:t>
            </ns1:r>
          </ns1:p>
          <ns1:p>
            <ns1:r>
              <ns1:t>      "sha256": "da9569bf0e8b74cce3d6792eb260d6a4b17b35e6f46e0793d49f02c0d3a0e728"</ns1:t>
            </ns1:r>
          </ns1:p>
          <ns1:p>
            <ns1:r>
              <ns1:t>    },</ns1:t>
            </ns1:r>
          </ns1:p>
          <ns1:p>
            <ns1:r>
              <ns1:t>    "native_cif": {</ns1:t>
            </ns1:r>
          </ns1:p>
          <ns1:p>
            <ns1:r>
              <ns1:t>      "path": "local/2026-10-25_linker-top100-review_001/models/LK_P024_03/boltz2.cif",</ns1:t>
            </ns1:r>
          </ns1:p>
          <ns1:p>
            <ns1:r>
              <ns1:t>      "sha256": "4fc14c3d8396a86eafcb4fcc7dfea43f4735fa0f1a97b442e4e297d2c289df24"</ns1:t>
            </ns1:r>
          </ns1:p>
          <ns1:p>
            <ns1:r>
              <ns1:t>    },</ns1:t>
            </ns1:r>
          </ns1:p>
          <ns1:p>
            <ns1:r>
              <ns1:t>    "scoring_pdb": {</ns1:t>
            </ns1:r>
          </ns1:p>
          <ns1:p>
            <ns1:r>
              <ns1:t>      "path": "local/2026-10-25_dld-top25-deltaforge_001/payload/structures/LK_P024_03.pdb",</ns1:t>
            </ns1:r>
          </ns1:p>
          <ns1:p>
            <ns1:r>
              <ns1:t>      "sha256": "dfb21db83d1128f2f2827422ca25d2545fcaf850845839b44f89539a3731148b"</ns1:t>
            </ns1:r>
          </ns1:p>
          <ns1:p>
            <ns1:r>
              <ns1:t>    },</ns1:t>
            </ns1:r>
          </ns1:p>
          <ns1:p>
            <ns1:r>
              <ns1:t>    "DeltaForge_result": {</ns1:t>
            </ns1:r>
          </ns1:p>
          <ns1:p>
            <ns1:r>
              <ns1:t>      "path": "campaigns/glp1r-r40-design/runs/2026-10-25_dld-top25-deltaforge_001/03_filtering/deltaforge_results/LK_P024_03.json",</ns1:t>
            </ns1:r>
          </ns1:p>
          <ns1:p>
            <ns1:r>
              <ns1:t>      "sha256": "3d5214c50e078aeb5312a53fa6cde425c0b0961cb21d46ca9d7f9c5cc41a04ff"</ns1:t>
            </ns1:r>
          </ns1:p>
          <ns1:p>
            <ns1:r>
              <ns1:t>    }</ns1:t>
            </ns1:r>
          </ns1:p>
          <ns1:p>
            <ns1:r>
              <ns1:t>  },</ns1:t>
            </ns1:r>
          </ns1:p>
          <ns1:p>
            <ns1:r>
              <ns1:t>  "source_ledger": "campaigns/glp1r-final-writeup/runs/2026-10-25_final20-writeup_001/04_analysis/provenance-ledger.json",</ns1:t>
            </ns1:r>
          </ns1:p>
          <ns1:p>
            <ns1:r>
              <ns1:t>  "scorer": "deltaforge_v10_2_unified_parallel / v10_2_unified_parallel_2026_05_08",</ns1:t>
            </ns1:r>
          </ns1:p>
          <ns1:p>
            <ns1:r>
              <ns1:t>  "calibration": "deltaforge_v10_boltz2_calibrated_gbr / v10_boltz2_gbr_2026_03_29",</ns1:t>
            </ns1:r>
          </ns1:p>
          <ns1:p>
            <ns1:r>
              <ns1:t>  "scope": "one complete candidate A against one receptor B; computational, no experimental Kd or activation"</ns1:t>
            </ns1:r>
          </ns1:p>
          <ns1:p>
            <ns1:r>
              <ns1:t>}</ns1:t>
            </ns1:r>
          </ns1:p>
        </ns0:txBody>
      </ns0:sp>
      <ns0:sp>
        <ns0:nvSpPr>
          <ns0:cNvPr id="4" name="Slide Number Placeholder 3"/>
          <ns0:cNvSpPr>
            <ns1:spLocks noGrp="1"/>
          </ns0:cNvSpPr>
          <ns0:nvPr>
            <ns0:ph type="sldNum" idx="5"/>
          </ns0:nvPr>
        </ns0:nvSpPr>
        <ns0:spPr/>
        <ns0:txBody>
          <ns1:bodyPr/>
          <ns1:lstStyle/>
          <ns1:p/>
        </ns0:txBody>
      </ns0:sp>
    </ns0:spTree>
  </ns0:cSld>
  <ns0:clrMapOvr>
    <ns1:masterClrMapping/>
  </ns0:clrMapOvr>
</ns0:notes>
</file>

<file path=ppt/notesSlides/notesSlide20.xml><?xml version="1.0" encoding="utf-8"?>
<ns0:notes xmlns:ns0="http://schemas.openxmlformats.org/presentationml/2006/main" xmlns:ns1="http://schemas.openxmlformats.org/drawingml/2006/main">
  <ns0:cSld>
    <ns0:spTree>
      <ns0:nvGrpSpPr>
        <ns0:cNvPr id="1" name=""/>
        <ns0:cNvGrpSpPr/>
        <ns0:nvPr/>
      </ns0:nvGrpSpPr>
      <ns0:grpSpPr>
        <ns1:xfrm/>
      </ns0:grpSpPr>
      <ns0:sp>
        <ns0:nvSpPr>
          <ns0:cNvPr id="2" name="Slide Image Placeholder 1"/>
          <ns0:cNvSpPr>
            <ns1:spLocks noGrp="1"/>
          </ns0:cNvSpPr>
          <ns0:nvPr>
            <ns0:ph type="sldImg" idx="0"/>
          </ns0:nvPr>
        </ns0:nvSpPr>
        <ns0:spPr/>
      </ns0:sp>
      <ns0:sp>
        <ns0:nvSpPr>
          <ns0:cNvPr id="3" name="Notes Placeholder 2"/>
          <ns0:cNvSpPr>
            <ns1:spLocks noGrp="1"/>
          </ns0:cNvSpPr>
          <ns0:nvPr>
            <ns0:ph type="body" idx="1"/>
          </ns0:nvPr>
        </ns0:nvSpPr>
        <ns0:spPr/>
        <ns0:txBody>
          <ns1:bodyPr/>
          <ns1:lstStyle/>
          <ns1:p>
            <ns1:r>
              <ns1:t>{</ns1:t>
            </ns1:r>
          </ns1:p>
          <ns1:p>
            <ns1:r>
              <ns1:t>  "candidate": "LK_P024_03",</ns1:t>
            </ns1:r>
          </ns1:p>
          <ns1:p>
            <ns1:r>
              <ns1:t>  "final_rank": 10,</ns1:t>
            </ns1:r>
          </ns1:p>
          <ns1:p>
            <ns1:r>
              <ns1:t>  "native_model_sha256": "4fc14c3d8396a86eafcb4fcc7dfea43f4735fa0f1a97b442e4e297d2c289df24",</ns1:t>
            </ns1:r>
          </ns1:p>
          <ns1:p>
            <ns1:r>
              <ns1:t>  "structure_views": {</ns1:t>
            </ns1:r>
          </ns1:p>
          <ns1:p>
            <ns1:r>
              <ns1:t>    "final_rank": 10,</ns1:t>
            </ns1:r>
          </ns1:p>
          <ns1:p>
            <ns1:r>
              <ns1:t>    "design_id": "LK_P024_03",</ns1:t>
            </ns1:r>
          </ns1:p>
          <ns1:p>
            <ns1:r>
              <ns1:t>    "sequence_sha256": "8dc9b6cdcee3e7e71a77d1467efe1238ae3ac5e5f038f9f11c9d2bddd853a214",</ns1:t>
            </ns1:r>
          </ns1:p>
          <ns1:p>
            <ns1:r>
              <ns1:t>    "native_model_sha256": "4fc14c3d8396a86eafcb4fcc7dfea43f4735fa0f1a97b442e4e297d2c289df24",</ns1:t>
            </ns1:r>
          </ns1:p>
          <ns1:p>
            <ns1:r>
              <ns1:t>    "scoring_pdb_sha256": "dfb21db83d1128f2f2827422ca25d2545fcaf850845839b44f89539a3731148b",</ns1:t>
            </ns1:r>
          </ns1:p>
          <ns1:p>
            <ns1:r>
              <ns1:t>    "overview": {</ns1:t>
            </ns1:r>
          </ns1:p>
          <ns1:p>
            <ns1:r>
              <ns1:t>      "source_slide": 47,</ns1:t>
            </ns1:r>
          </ns1:p>
          <ns1:p>
            <ns1:r>
              <ns1:t>      "source_picture_index": 1,</ns1:t>
            </ns1:r>
          </ns1:p>
          <ns1:p>
            <ns1:r>
              <ns1:t>      "embedded_media": "ppt/media/image51.jpeg",</ns1:t>
            </ns1:r>
          </ns1:p>
          <ns1:p>
            <ns1:r>
              <ns1:t>      "image_sha256": "52f28117130120e202328231f728d9ad2a559e8f7db2230aeff36f3d8dab1490",</ns1:t>
            </ns1:r>
          </ns1:p>
          <ns1:p>
            <ns1:r>
              <ns1:t>      "asset": "assets/LK_P024_03-complex.jpg"</ns1:t>
            </ns1:r>
          </ns1:p>
          <ns1:p>
            <ns1:r>
              <ns1:t>    },</ns1:t>
            </ns1:r>
          </ns1:p>
          <ns1:p>
            <ns1:r>
              <ns1:t>    "interface": {</ns1:t>
            </ns1:r>
          </ns1:p>
          <ns1:p>
            <ns1:r>
              <ns1:t>      "source_slide": 48,</ns1:t>
            </ns1:r>
          </ns1:p>
          <ns1:p>
            <ns1:r>
              <ns1:t>      "source_picture_index": 1,</ns1:t>
            </ns1:r>
          </ns1:p>
          <ns1:p>
            <ns1:r>
              <ns1:t>      "embedded_media": "ppt/media/image54.jpeg",</ns1:t>
            </ns1:r>
          </ns1:p>
          <ns1:p>
            <ns1:r>
              <ns1:t>      "image_sha256": "933650b7828ab6c40e0267a497b2a9e6751d6a22403ff6b2274558f27398bac4",</ns1:t>
            </ns1:r>
          </ns1:p>
          <ns1:p>
            <ns1:r>
              <ns1:t>      "asset": "assets/LK_P024_03-interface.jpg"</ns1:t>
            </ns1:r>
          </ns1:p>
          <ns1:p>
            <ns1:r>
              <ns1:t>    },</ns1:t>
            </ns1:r>
          </ns1:p>
          <ns1:p>
            <ns1:r>
              <ns1:t>    "rendering_provenance": {</ns1:t>
            </ns1:r>
          </ns1:p>
          <ns1:p>
            <ns1:r>
              <ns1:t>      "DeltaForge_source_PDB_sha256": "dfb21db83d1128f2f2827422ca25d2545fcaf850845839b44f89539a3731148b",</ns1:t>
            </ns1:r>
          </ns1:p>
          <ns1:p>
            <ns1:r>
              <ns1:t>      "role_ranges_zero_based": {</ns1:t>
            </ns1:r>
          </ns1:p>
          <ns1:p>
            <ns1:r>
              <ns1:t>        "ECD": [</ns1:t>
            </ns1:r>
          </ns1:p>
          <ns1:p>
            <ns1:r>
              <ns1:t>          0,</ns1:t>
            </ns1:r>
          </ns1:p>
          <ns1:p>
            <ns1:r>
              <ns1:t>          48</ns1:t>
            </ns1:r>
          </ns1:p>
          <ns1:p>
            <ns1:r>
              <ns1:t>        ],</ns1:t>
            </ns1:r>
          </ns1:p>
          <ns1:p>
            <ns1:r>
              <ns1:t>        "linker": [</ns1:t>
            </ns1:r>
          </ns1:p>
          <ns1:p>
            <ns1:r>
              <ns1:t>          48,</ns1:t>
            </ns1:r>
          </ns1:p>
          <ns1:p>
            <ns1:r>
              <ns1:t>          66</ns1:t>
            </ns1:r>
          </ns1:p>
          <ns1:p>
            <ns1:r>
              <ns1:t>        ],</ns1:t>
            </ns1:r>
          </ns1:p>
          <ns1:p>
            <ns1:r>
              <ns1:t>        "LF": [</ns1:t>
            </ns1:r>
          </ns1:p>
          <ns1:p>
            <ns1:r>
              <ns1:t>          66,</ns1:t>
            </ns1:r>
          </ns1:p>
          <ns1:p>
            <ns1:r>
              <ns1:t>          128</ns1:t>
            </ns1:r>
          </ns1:p>
          <ns1:p>
            <ns1:r>
              <ns1:t>        ]</ns1:t>
            </ns1:r>
          </ns1:p>
          <ns1:p>
            <ns1:r>
              <ns1:t>      },</ns1:t>
            </ns1:r>
          </ns1:p>
          <ns1:p>
            <ns1:r>
              <ns1:t>      "model_sha256": "4fc14c3d8396a86eafcb4fcc7dfea43f4735fa0f1a97b442e4e297d2c289df24",</ns1:t>
            </ns1:r>
          </ns1:p>
          <ns1:p>
            <ns1:r>
              <ns1:t>      "source_run": "2026-10-24_pair183-extracellular-exact_001",</ns1:t>
            </ns1:r>
          </ns1:p>
          <ns1:p>
            <ns1:r>
              <ns1:t>      "source_methods": [</ns1:t>
            </ns1:r>
          </ns1:p>
          <ns1:p>
            <ns1:r>
              <ns1:t>        "https://github.com/DunbrackLab/IPSAE",</ns1:t>
            </ns1:r>
          </ns1:p>
          <ns1:p>
            <ns1:r>
              <ns1:t>        "https://github.com/wallnerlab/DockQ",</ns1:t>
            </ns1:r>
          </ns1:p>
          <ns1:p>
            <ns1:r>
              <ns1:t>        "https://zhanggroup.org/TM-score/"</ns1:t>
            </ns1:r>
          </ns1:p>
          <ns1:p>
            <ns1:r>
              <ns1:t>      ],</ns1:t>
            </ns1:r>
          </ns1:p>
          <ns1:p>
            <ns1:r>
              <ns1:t>      "saved_display_appendix": {</ns1:t>
            </ns1:r>
          </ns1:p>
          <ns1:p>
            <ns1:r>
              <ns1:t>        "parent_sources": {</ns1:t>
            </ns1:r>
          </ns1:p>
          <ns1:p>
            <ns1:r>
              <ns1:t>          "ECD-parent": {</ns1:t>
            </ns1:r>
          </ns1:p>
          <ns1:p>
            <ns1:r>
              <ns1:t>            "key": "LK_P024_03-ECD-parent",</ns1:t>
            </ns1:r>
          </ns1:p>
          <ns1:p>
            <ns1:r>
              <ns1:t>            "source_path": "local/2026-10-25_linker-parent-comparison_001/parents/S11_00_040/exact.pdb",</ns1:t>
            </ns1:r>
          </ns1:p>
          <ns1:p>
            <ns1:r>
              <ns1:t>            "source_sha256": "4bfc65133e93d780ad1aad718e7827d6ba1fbc82b0da11aa257ac90f30f0817a",</ns1:t>
            </ns1:r>
          </ns1:p>
          <ns1:p>
            <ns1:r>
              <ns1:t>            "role": "ECD",</ns1:t>
            </ns1:r>
          </ns1:p>
          <ns1:p>
            <ns1:r>
              <ns1:t>            "ranges_zero_based": {</ns1:t>
            </ns1:r>
          </ns1:p>
          <ns1:p>
            <ns1:r>
              <ns1:t>              "ECD": [</ns1:t>
            </ns1:r>
          </ns1:p>
          <ns1:p>
            <ns1:r>
              <ns1:t>                0,</ns1:t>
            </ns1:r>
          </ns1:p>
          <ns1:p>
            <ns1:r>
              <ns1:t>                48</ns1:t>
            </ns1:r>
          </ns1:p>
          <ns1:p>
            <ns1:r>
              <ns1:t>              ]</ns1:t>
            </ns1:r>
          </ns1:p>
          <ns1:p>
            <ns1:r>
              <ns1:t>            },</ns1:t>
            </ns1:r>
          </ns1:p>
          <ns1:p>
            <ns1:r>
              <ns1:t>            "sequence": "MRALAQASTGSSALETLHRMRVEAFFQQQLRSGTLSDGAVEAYSRLVG",</ns1:t>
            </ns1:r>
          </ns1:p>
          <ns1:p>
            <ns1:r>
              <ns1:t>            "rotation": [</ns1:t>
            </ns1:r>
          </ns1:p>
          <ns1:p>
            <ns1:r>
              <ns1:t>              [</ns1:t>
            </ns1:r>
          </ns1:p>
          <ns1:p>
            <ns1:r>
              <ns1:t>                0.587952351171614,</ns1:t>
            </ns1:r>
          </ns1:p>
          <ns1:p>
            <ns1:r>
              <ns1:t>                0.715101864548231,</ns1:t>
            </ns1:r>
          </ns1:p>
          <ns1:p>
            <ns1:r>
              <ns1:t>                0.3780758143062162</ns1:t>
            </ns1:r>
          </ns1:p>
          <ns1:p>
            <ns1:r>
              <ns1:t>              ],</ns1:t>
            </ns1:r>
          </ns1:p>
          <ns1:p>
            <ns1:r>
              <ns1:t>              [</ns1:t>
            </ns1:r>
          </ns1:p>
          <ns1:p>
            <ns1:r>
              <ns1:t>                -0.39070231621004226,</ns1:t>
            </ns1:r>
          </ns1:p>
          <ns1:p>
            <ns1:r>
              <ns1:t>                0.6603173030814564,</ns1:t>
            </ns1:r>
          </ns1:p>
          <ns1:p>
            <ns1:r>
              <ns1:t>                -0.641352313308964</ns1:t>
            </ns1:r>
          </ns1:p>
          <ns1:p>
            <ns1:r>
              <ns1:t>              ],</ns1:t>
            </ns1:r>
          </ns1:p>
          <ns1:p>
            <ns1:r>
              <ns1:t>              [</ns1:t>
            </ns1:r>
          </ns1:p>
          <ns1:p>
            <ns1:r>
              <ns1:t>                -0.7082822407611347,</ns1:t>
            </ns1:r>
          </ns1:p>
          <ns1:p>
            <ns1:r>
              <ns1:t>                0.22936958443860261,</ns1:t>
            </ns1:r>
          </ns1:p>
          <ns1:p>
            <ns1:r>
              <ns1:t>                0.6676270711911929</ns1:t>
            </ns1:r>
          </ns1:p>
          <ns1:p>
            <ns1:r>
              <ns1:t>              ]</ns1:t>
            </ns1:r>
          </ns1:p>
          <ns1:p>
            <ns1:r>
              <ns1:t>            ],</ns1:t>
            </ns1:r>
          </ns1:p>
          <ns1:p>
            <ns1:r>
              <ns1:t>            "translation": [</ns1:t>
            </ns1:r>
          </ns1:p>
          <ns1:p>
            <ns1:r>
              <ns1:t>              1.9905973047053234,</ns1:t>
            </ns1:r>
          </ns1:p>
          <ns1:p>
            <ns1:r>
              <ns1:t>              4.0568865236184095,</ns1:t>
            </ns1:r>
          </ns1:p>
          <ns1:p>
            <ns1:r>
              <ns1:t>              -1.5660281006508652</ns1:t>
            </ns1:r>
          </ns1:p>
          <ns1:p>
            <ns1:r>
              <ns1:t>            ],</ns1:t>
            </ns1:r>
          </ns1:p>
          <ns1:p>
            <ns1:r>
              <ns1:t>            "core_fit_CA_RMSD_A": 1.0669233376856848,</ns1:t>
            </ns1:r>
          </ns1:p>
          <ns1:p>
            <ns1:r>
              <ns1:t>            "output": "local/2026-10-25_linker-parent-views_001/build/renders-v2/LK_P024_03-ECD-parent.jpg",</ns1:t>
            </ns1:r>
          </ns1:p>
          <ns1:p>
            <ns1:r>
              <ns1:t>            "parent_or_fusion_id": "S11_00_040",</ns1:t>
            </ns1:r>
          </ns1:p>
          <ns1:p>
            <ns1:r>
              <ns1:t>            "design_id": "LK_P024_03",</ns1:t>
            </ns1:r>
          </ns1:p>
          <ns1:p>
            <ns1:r>
              <ns1:t>            "panel": "ECD-parent",</ns1:t>
            </ns1:r>
          </ns1:p>
          <ns1:p>
            <ns1:r>
              <ns1:t>            "view": [</ns1:t>
            </ns1:r>
          </ns1:p>
          <ns1:p>
            <ns1:r>
              <ns1:t>              1,</ns1:t>
            </ns1:r>
          </ns1:p>
          <ns1:p>
            <ns1:r>
              <ns1:t>              0,</ns1:t>
            </ns1:r>
          </ns1:p>
          <ns1:p>
            <ns1:r>
              <ns1:t>              0,</ns1:t>
            </ns1:r>
          </ns1:p>
          <ns1:p>
            <ns1:r>
              <ns1:t>              0,</ns1:t>
            </ns1:r>
          </ns1:p>
          <ns1:p>
            <ns1:r>
              <ns1:t>              1,</ns1:t>
            </ns1:r>
          </ns1:p>
          <ns1:p>
            <ns1:r>
              <ns1:t>              0,</ns1:t>
            </ns1:r>
          </ns1:p>
          <ns1:p>
            <ns1:r>
              <ns1:t>              0,</ns1:t>
            </ns1:r>
          </ns1:p>
          <ns1:p>
            <ns1:r>
              <ns1:t>              0,</ns1:t>
            </ns1:r>
          </ns1:p>
          <ns1:p>
            <ns1:r>
              <ns1:t>              1,</ns1:t>
            </ns1:r>
          </ns1:p>
          <ns1:p>
            <ns1:r>
              <ns1:t>              0,</ns1:t>
            </ns1:r>
          </ns1:p>
          <ns1:p>
            <ns1:r>
              <ns1:t>              0,</ns1:t>
            </ns1:r>
          </ns1:p>
          <ns1:p>
            <ns1:r>
              <ns1:t>              -392.5082070036389,</ns1:t>
            </ns1:r>
          </ns1:p>
          <ns1:p>
            <ns1:r>
              <ns1:t>              -8.248592311390137,</ns1:t>
            </ns1:r>
          </ns1:p>
          <ns1:p>
            <ns1:r>
              <ns1:t>              25.075248512381208,</ns1:t>
            </ns1:r>
          </ns1:p>
          <ns1:p>
            <ns1:r>
              <ns1:t>              -6.306773769403417,</ns1:t>
            </ns1:r>
          </ns1:p>
          <ns1:p>
            <ns1:r>
              <ns1:t>              330.2384691083017,</ns1:t>
            </ns1:r>
          </ns1:p>
          <ns1:p>
            <ns1:r>
              <ns1:t>              454.77794489897616,</ns1:t>
            </ns1:r>
          </ns1:p>
          <ns1:p>
            <ns1:r>
              <ns1:t>              -20</ns1:t>
            </ns1:r>
          </ns1:p>
          <ns1:p>
            <ns1:r>
              <ns1:t>            ],</ns1:t>
            </ns1:r>
          </ns1:p>
          <ns1:p>
            <ns1:r>
              <ns1:t>            "world_height_A": 138.41957408848964,</ns1:t>
            </ns1:r>
          </ns1:p>
          <ns1:p>
            <ns1:r>
              <ns1:t>            "row_bounds_all_atoms_A": [</ns1:t>
            </ns1:r>
          </ns1:p>
          <ns1:p>
            <ns1:r>
              <ns1:t>              [</ns1:t>
            </ns1:r>
          </ns1:p>
          <ns1:p>
            <ns1:r>
              <ns1:t>                -49.95177578696983,</ns1:t>
            </ns1:r>
          </ns1:p>
          <ns1:p>
            <ns1:r>
              <ns1:t>                -33.21960602912013,</ns1:t>
            </ns1:r>
          </ns1:p>
          <ns1:p>
            <ns1:r>
              <ns1:t>                -53.576511664740664</ns1:t>
            </ns1:r>
          </ns1:p>
          <ns1:p>
            <ns1:r>
              <ns1:t>              ],</ns1:t>
            </ns1:r>
          </ns1:p>
          <ns1:p>
            <ns1:r>
              <ns1:t>              [</ns1:t>
            </ns1:r>
          </ns1:p>
          <ns1:p>
            <ns1:r>
              <ns1:t>                33.45459116418956,</ns1:t>
            </ns1:r>
          </ns1:p>
          <ns1:p>
            <ns1:r>
              <ns1:t>                83.37010305388254,</ns1:t>
            </ns1:r>
          </ns1:p>
          <ns1:p>
            <ns1:r>
              <ns1:t>                40.96296412593383</ns1:t>
            </ns1:r>
          </ns1:p>
          <ns1:p>
            <ns1:r>
              <ns1:t>              ]</ns1:t>
            </ns1:r>
          </ns1:p>
          <ns1:p>
            <ns1:r>
              <ns1:t>            ]</ns1:t>
            </ns1:r>
          </ns1:p>
          <ns1:p>
            <ns1:r>
              <ns1:t>          },</ns1:t>
            </ns1:r>
          </ns1:p>
          <ns1:p>
            <ns1:r>
              <ns1:t>          "APNovo": {</ns1:t>
            </ns1:r>
          </ns1:p>
          <ns1:p>
            <ns1:r>
              <ns1:t>            "key": "LK_P024_03-APNovo",</ns1:t>
            </ns1:r>
          </ns1:p>
          <ns1:p>
            <ns1:r>
              <ns1:t>            "source_path": "local/2026-10-25_linker-top100-review_001/build/comparisons/LK_P024_03/reference.pdb",</ns1:t>
            </ns1:r>
          </ns1:p>
          <ns1:p>
            <ns1:r>
              <ns1:t>            "source_sha256": "ed0602f99a2d58ae79dae7f789a8b8292eddddd7ab2be6738980512c46b26749",</ns1:t>
            </ns1:r>
          </ns1:p>
          <ns1:p>
            <ns1:r>
              <ns1:t>            "role": "fusion",</ns1:t>
            </ns1:r>
          </ns1:p>
          <ns1:p>
            <ns1:r>
              <ns1:t>            "ranges_zero_based": {</ns1:t>
            </ns1:r>
          </ns1:p>
          <ns1:p>
            <ns1:r>
              <ns1:t>              "ECD": [</ns1:t>
            </ns1:r>
          </ns1:p>
          <ns1:p>
            <ns1:r>
              <ns1:t>                0,</ns1:t>
            </ns1:r>
          </ns1:p>
          <ns1:p>
            <ns1:r>
              <ns1:t>                48</ns1:t>
            </ns1:r>
          </ns1:p>
          <ns1:p>
            <ns1:r>
              <ns1:t>              ],</ns1:t>
            </ns1:r>
          </ns1:p>
          <ns1:p>
            <ns1:r>
              <ns1:t>              "linker": [</ns1:t>
            </ns1:r>
          </ns1:p>
          <ns1:p>
            <ns1:r>
              <ns1:t>                48,</ns1:t>
            </ns1:r>
          </ns1:p>
          <ns1:p>
            <ns1:r>
              <ns1:t>                66</ns1:t>
            </ns1:r>
          </ns1:p>
          <ns1:p>
            <ns1:r>
              <ns1:t>              ],</ns1:t>
            </ns1:r>
          </ns1:p>
          <ns1:p>
            <ns1:r>
              <ns1:t>              "LF": [</ns1:t>
            </ns1:r>
          </ns1:p>
          <ns1:p>
            <ns1:r>
              <ns1:t>                66,</ns1:t>
            </ns1:r>
          </ns1:p>
          <ns1:p>
            <ns1:r>
              <ns1:t>                128</ns1:t>
            </ns1:r>
          </ns1:p>
          <ns1:p>
            <ns1:r>
              <ns1:t>              ]</ns1:t>
            </ns1:r>
          </ns1:p>
          <ns1:p>
            <ns1:r>
              <ns1:t>            },</ns1:t>
            </ns1:r>
          </ns1:p>
          <ns1:p>
            <ns1:r>
              <ns1:t>            "sequence": "MRALAQASTGSSALETLHRMRVEAFFQQQLRSGTLSDGAVEAYSRLVGGGHRVEPPVRPPPVSLPGRTCTSAYGVPYSDGHFQRPVPSENGLNTQGVTDVSGRETDESTDVFVVISCQGSGSGSTRFN",</ns1:t>
            </ns1:r>
          </ns1:p>
          <ns1:p>
            <ns1:r>
              <ns1:t>            "rotation": [</ns1:t>
            </ns1:r>
          </ns1:p>
          <ns1:p>
            <ns1:r>
              <ns1:t>              [</ns1:t>
            </ns1:r>
          </ns1:p>
          <ns1:p>
            <ns1:r>
              <ns1:t>                -0.9539850013056439,</ns1:t>
            </ns1:r>
          </ns1:p>
          <ns1:p>
            <ns1:r>
              <ns1:t>                0.15755770932714164,</ns1:t>
            </ns1:r>
          </ns1:p>
          <ns1:p>
            <ns1:r>
              <ns1:t>                -0.2551238732175687</ns1:t>
            </ns1:r>
          </ns1:p>
          <ns1:p>
            <ns1:r>
              <ns1:t>              ],</ns1:t>
            </ns1:r>
          </ns1:p>
          <ns1:p>
            <ns1:r>
              <ns1:t>              [</ns1:t>
            </ns1:r>
          </ns1:p>
          <ns1:p>
            <ns1:r>
              <ns1:t>                0.1619842265098122,</ns1:t>
            </ns1:r>
          </ns1:p>
          <ns1:p>
            <ns1:r>
              <ns1:t>                0.9867863884917113,</ns1:t>
            </ns1:r>
          </ns1:p>
          <ns1:p>
            <ns1:r>
              <ns1:t>                0.003705200803774615</ns1:t>
            </ns1:r>
          </ns1:p>
          <ns1:p>
            <ns1:r>
              <ns1:t>              ],</ns1:t>
            </ns1:r>
          </ns1:p>
          <ns1:p>
            <ns1:r>
              <ns1:t>              [</ns1:t>
            </ns1:r>
          </ns1:p>
          <ns1:p>
            <ns1:r>
              <ns1:t>                0.2523365843892744,</ns1:t>
            </ns1:r>
          </ns1:p>
          <ns1:p>
            <ns1:r>
              <ns1:t>                -0.03779134168460274,</ns1:t>
            </ns1:r>
          </ns1:p>
          <ns1:p>
            <ns1:r>
              <ns1:t>                -0.966901263858027</ns1:t>
            </ns1:r>
          </ns1:p>
          <ns1:p>
            <ns1:r>
              <ns1:t>              ]</ns1:t>
            </ns1:r>
          </ns1:p>
          <ns1:p>
            <ns1:r>
              <ns1:t>            ],</ns1:t>
            </ns1:r>
          </ns1:p>
          <ns1:p>
            <ns1:r>
              <ns1:t>            "translation": [</ns1:t>
            </ns1:r>
          </ns1:p>
          <ns1:p>
            <ns1:r>
              <ns1:t>              -14.944810937477325,</ns1:t>
            </ns1:r>
          </ns1:p>
          <ns1:p>
            <ns1:r>
              <ns1:t>              -12.126725604374272,</ns1:t>
            </ns1:r>
          </ns1:p>
          <ns1:p>
            <ns1:r>
              <ns1:t>              3.2817343794175633</ns1:t>
            </ns1:r>
          </ns1:p>
          <ns1:p>
            <ns1:r>
              <ns1:t>            ],</ns1:t>
            </ns1:r>
          </ns1:p>
          <ns1:p>
            <ns1:r>
              <ns1:t>            "core_fit_CA_RMSD_A": 1.0668990455407001,</ns1:t>
            </ns1:r>
          </ns1:p>
          <ns1:p>
            <ns1:r>
              <ns1:t>            "output": "local/2026-10-25_linker-parent-views_001/build/renders-v2/LK_P024_03-APNovo.jpg",</ns1:t>
            </ns1:r>
          </ns1:p>
          <ns1:p>
            <ns1:r>
              <ns1:t>            "parent_or_fusion_id": "LK_P024_03-APNovo",</ns1:t>
            </ns1:r>
          </ns1:p>
          <ns1:p>
            <ns1:r>
              <ns1:t>            "design_id": "LK_P024_03",</ns1:t>
            </ns1:r>
          </ns1:p>
          <ns1:p>
            <ns1:r>
              <ns1:t>            "panel": "APNovo",</ns1:t>
            </ns1:r>
          </ns1:p>
          <ns1:p>
            <ns1:r>
              <ns1:t>            "view": [</ns1:t>
            </ns1:r>
          </ns1:p>
          <ns1:p>
            <ns1:r>
              <ns1:t>              1,</ns1:t>
            </ns1:r>
          </ns1:p>
          <ns1:p>
            <ns1:r>
              <ns1:t>              0,</ns1:t>
            </ns1:r>
          </ns1:p>
          <ns1:p>
            <ns1:r>
              <ns1:t>              0,</ns1:t>
            </ns1:r>
          </ns1:p>
          <ns1:p>
            <ns1:r>
              <ns1:t>              0,</ns1:t>
            </ns1:r>
          </ns1:p>
          <ns1:p>
            <ns1:r>
              <ns1:t>              1,</ns1:t>
            </ns1:r>
          </ns1:p>
          <ns1:p>
            <ns1:r>
              <ns1:t>              0,</ns1:t>
            </ns1:r>
          </ns1:p>
          <ns1:p>
            <ns1:r>
              <ns1:t>              0,</ns1:t>
            </ns1:r>
          </ns1:p>
          <ns1:p>
            <ns1:r>
              <ns1:t>              0,</ns1:t>
            </ns1:r>
          </ns1:p>
          <ns1:p>
            <ns1:r>
              <ns1:t>              1,</ns1:t>
            </ns1:r>
          </ns1:p>
          <ns1:p>
            <ns1:r>
              <ns1:t>              0,</ns1:t>
            </ns1:r>
          </ns1:p>
          <ns1:p>
            <ns1:r>
              <ns1:t>              0,</ns1:t>
            </ns1:r>
          </ns1:p>
          <ns1:p>
            <ns1:r>
              <ns1:t>              -392.5082070036389,</ns1:t>
            </ns1:r>
          </ns1:p>
          <ns1:p>
            <ns1:r>
              <ns1:t>              -8.248592311390137,</ns1:t>
            </ns1:r>
          </ns1:p>
          <ns1:p>
            <ns1:r>
              <ns1:t>              25.075248512381208,</ns1:t>
            </ns1:r>
          </ns1:p>
          <ns1:p>
            <ns1:r>
              <ns1:t>              -6.306773769403417,</ns1:t>
            </ns1:r>
          </ns1:p>
          <ns1:p>
            <ns1:r>
              <ns1:t>              330.2384691083017,</ns1:t>
            </ns1:r>
          </ns1:p>
          <ns1:p>
            <ns1:r>
              <ns1:t>              454.77794489897616,</ns1:t>
            </ns1:r>
          </ns1:p>
          <ns1:p>
            <ns1:r>
              <ns1:t>              -20</ns1:t>
            </ns1:r>
          </ns1:p>
          <ns1:p>
            <ns1:r>
              <ns1:t>            ],</ns1:t>
            </ns1:r>
          </ns1:p>
          <ns1:p>
            <ns1:r>
              <ns1:t>            "world_height_A": 138.41957408848964,</ns1:t>
            </ns1:r>
          </ns1:p>
          <ns1:p>
            <ns1:r>
              <ns1:t>            "row_bounds_all_atoms_A": [</ns1:t>
            </ns1:r>
          </ns1:p>
          <ns1:p>
            <ns1:r>
              <ns1:t>              [</ns1:t>
            </ns1:r>
          </ns1:p>
          <ns1:p>
            <ns1:r>
              <ns1:t>                -49.95177578696983,</ns1:t>
            </ns1:r>
          </ns1:p>
          <ns1:p>
            <ns1:r>
              <ns1:t>                -33.21960602912013,</ns1:t>
            </ns1:r>
          </ns1:p>
          <ns1:p>
            <ns1:r>
              <ns1:t>                -53.576511664740664</ns1:t>
            </ns1:r>
          </ns1:p>
          <ns1:p>
            <ns1:r>
              <ns1:t>              ],</ns1:t>
            </ns1:r>
          </ns1:p>
          <ns1:p>
            <ns1:r>
              <ns1:t>              [</ns1:t>
            </ns1:r>
          </ns1:p>
          <ns1:p>
            <ns1:r>
              <ns1:t>                33.45459116418956,</ns1:t>
            </ns1:r>
          </ns1:p>
          <ns1:p>
            <ns1:r>
              <ns1:t>                83.37010305388254,</ns1:t>
            </ns1:r>
          </ns1:p>
          <ns1:p>
            <ns1:r>
              <ns1:t>                40.96296412593383</ns1:t>
            </ns1:r>
          </ns1:p>
          <ns1:p>
            <ns1:r>
              <ns1:t>              ]</ns1:t>
            </ns1:r>
          </ns1:p>
          <ns1:p>
            <ns1:r>
              <ns1:t>            ]</ns1:t>
            </ns1:r>
          </ns1:p>
          <ns1:p>
            <ns1:r>
              <ns1:t>          },</ns1:t>
            </ns1:r>
          </ns1:p>
          <ns1:p>
            <ns1:r>
              <ns1:t>          "Exact": {</ns1:t>
            </ns1:r>
          </ns1:p>
          <ns1:p>
            <ns1:r>
              <ns1:t>            "key": "LK_P024_03-Exact",</ns1:t>
            </ns1:r>
          </ns1:p>
          <ns1:p>
            <ns1:r>
              <ns1:t>            "source_path": "local/2026-10-25_linker-top100-review_001/models/LK_P024_03/boltz2.cif",</ns1:t>
            </ns1:r>
          </ns1:p>
          <ns1:p>
            <ns1:r>
              <ns1:t>            "source_sha256": "4fc14c3d8396a86eafcb4fcc7dfea43f4735fa0f1a97b442e4e297d2c289df24",</ns1:t>
            </ns1:r>
          </ns1:p>
          <ns1:p>
            <ns1:r>
              <ns1:t>            "role": "fusion",</ns1:t>
            </ns1:r>
          </ns1:p>
          <ns1:p>
            <ns1:r>
              <ns1:t>            "ranges_zero_based": {</ns1:t>
            </ns1:r>
          </ns1:p>
          <ns1:p>
            <ns1:r>
              <ns1:t>              "ECD": [</ns1:t>
            </ns1:r>
          </ns1:p>
          <ns1:p>
            <ns1:r>
              <ns1:t>                0,</ns1:t>
            </ns1:r>
          </ns1:p>
          <ns1:p>
            <ns1:r>
              <ns1:t>                48</ns1:t>
            </ns1:r>
          </ns1:p>
          <ns1:p>
            <ns1:r>
              <ns1:t>              ],</ns1:t>
            </ns1:r>
          </ns1:p>
          <ns1:p>
            <ns1:r>
              <ns1:t>              "linker": [</ns1:t>
            </ns1:r>
          </ns1:p>
          <ns1:p>
            <ns1:r>
              <ns1:t>                48,</ns1:t>
            </ns1:r>
          </ns1:p>
          <ns1:p>
            <ns1:r>
              <ns1:t>                66</ns1:t>
            </ns1:r>
          </ns1:p>
          <ns1:p>
            <ns1:r>
              <ns1:t>              ],</ns1:t>
            </ns1:r>
          </ns1:p>
          <ns1:p>
            <ns1:r>
              <ns1:t>              "LF": [</ns1:t>
            </ns1:r>
          </ns1:p>
          <ns1:p>
            <ns1:r>
              <ns1:t>                66,</ns1:t>
            </ns1:r>
          </ns1:p>
          <ns1:p>
            <ns1:r>
              <ns1:t>                128</ns1:t>
            </ns1:r>
          </ns1:p>
          <ns1:p>
            <ns1:r>
              <ns1:t>              ]</ns1:t>
            </ns1:r>
          </ns1:p>
          <ns1:p>
            <ns1:r>
              <ns1:t>            },</ns1:t>
            </ns1:r>
          </ns1:p>
          <ns1:p>
            <ns1:r>
              <ns1:t>            "sequence": "MRALAQASTGSSALETLHRMRVEAFFQQQLRSGTLSDGAVEAYSRLVGGGHRVEPPVRPPPVSLPGRTCTSAYGVPYSDGHFQRPVPSENGLNTQGVTDVSGRETDESTDVFVVISCQGSGSGSTRFN",</ns1:t>
            </ns1:r>
          </ns1:p>
          <ns1:p>
            <ns1:r>
              <ns1:t>            "rotation": [</ns1:t>
            </ns1:r>
          </ns1:p>
          <ns1:p>
            <ns1:r>
              <ns1:t>              [</ns1:t>
            </ns1:r>
          </ns1:p>
          <ns1:p>
            <ns1:r>
              <ns1:t>                0.6706716461501987,</ns1:t>
            </ns1:r>
          </ns1:p>
          <ns1:p>
            <ns1:r>
              <ns1:t>                0.6302667971094862,</ns1:t>
            </ns1:r>
          </ns1:p>
          <ns1:p>
            <ns1:r>
              <ns1:t>                0.3911052336731897</ns1:t>
            </ns1:r>
          </ns1:p>
          <ns1:p>
            <ns1:r>
              <ns1:t>              ],</ns1:t>
            </ns1:r>
          </ns1:p>
          <ns1:p>
            <ns1:r>
              <ns1:t>              [</ns1:t>
            </ns1:r>
          </ns1:p>
          <ns1:p>
            <ns1:r>
              <ns1:t>                0.5102478490527496,</ns1:t>
            </ns1:r>
          </ns1:p>
          <ns1:p>
            <ns1:r>
              <ns1:t>                -0.00930919091059379,</ns1:t>
            </ns1:r>
          </ns1:p>
          <ns1:p>
            <ns1:r>
              <ns1:t>                -0.8599770093367702</ns1:t>
            </ns1:r>
          </ns1:p>
          <ns1:p>
            <ns1:r>
              <ns1:t>              ],</ns1:t>
            </ns1:r>
          </ns1:p>
          <ns1:p>
            <ns1:r>
              <ns1:t>              [</ns1:t>
            </ns1:r>
          </ns1:p>
          <ns1:p>
            <ns1:r>
              <ns1:t>                -0.5383740657655967,</ns1:t>
            </ns1:r>
          </ns1:p>
          <ns1:p>
            <ns1:r>
              <ns1:t>                0.7763228308163823,</ns1:t>
            </ns1:r>
          </ns1:p>
          <ns1:p>
            <ns1:r>
              <ns1:t>                -0.327835648225002</ns1:t>
            </ns1:r>
          </ns1:p>
          <ns1:p>
            <ns1:r>
              <ns1:t>              ]</ns1:t>
            </ns1:r>
          </ns1:p>
          <ns1:p>
            <ns1:r>
              <ns1:t>            ],</ns1:t>
            </ns1:r>
          </ns1:p>
          <ns1:p>
            <ns1:r>
              <ns1:t>            "translation": [</ns1:t>
            </ns1:r>
          </ns1:p>
          <ns1:p>
            <ns1:r>
              <ns1:t>              0.13932472550518682,</ns1:t>
            </ns1:r>
          </ns1:p>
          <ns1:p>
            <ns1:r>
              <ns1:t>              2.5169201887088413,</ns1:t>
            </ns1:r>
          </ns1:p>
          <ns1:p>
            <ns1:r>
              <ns1:t>              2.5886366232108458</ns1:t>
            </ns1:r>
          </ns1:p>
          <ns1:p>
            <ns1:r>
              <ns1:t>            ],</ns1:t>
            </ns1:r>
          </ns1:p>
          <ns1:p>
            <ns1:r>
              <ns1:t>            "core_fit_CA_RMSD_A": 1.2820873342981451,</ns1:t>
            </ns1:r>
          </ns1:p>
          <ns1:p>
            <ns1:r>
              <ns1:t>            "output": "local/2026-10-25_linker-parent-views_001/build/renders-v2/LK_P024_03-Exact.jpg",</ns1:t>
            </ns1:r>
          </ns1:p>
          <ns1:p>
            <ns1:r>
              <ns1:t>            "parent_or_fusion_id": "LK_P024_03-Exact",</ns1:t>
            </ns1:r>
          </ns1:p>
          <ns1:p>
            <ns1:r>
              <ns1:t>            "design_id": "LK_P024_03",</ns1:t>
            </ns1:r>
          </ns1:p>
          <ns1:p>
            <ns1:r>
              <ns1:t>            "panel": "Exact",</ns1:t>
            </ns1:r>
          </ns1:p>
          <ns1:p>
            <ns1:r>
              <ns1:t>            "view": [</ns1:t>
            </ns1:r>
          </ns1:p>
          <ns1:p>
            <ns1:r>
              <ns1:t>              1,</ns1:t>
            </ns1:r>
          </ns1:p>
          <ns1:p>
            <ns1:r>
              <ns1:t>              0,</ns1:t>
            </ns1:r>
          </ns1:p>
          <ns1:p>
            <ns1:r>
              <ns1:t>              0,</ns1:t>
            </ns1:r>
          </ns1:p>
          <ns1:p>
            <ns1:r>
              <ns1:t>              0,</ns1:t>
            </ns1:r>
          </ns1:p>
          <ns1:p>
            <ns1:r>
              <ns1:t>              1,</ns1:t>
            </ns1:r>
          </ns1:p>
          <ns1:p>
            <ns1:r>
              <ns1:t>              0,</ns1:t>
            </ns1:r>
          </ns1:p>
          <ns1:p>
            <ns1:r>
              <ns1:t>              0,</ns1:t>
            </ns1:r>
          </ns1:p>
          <ns1:p>
            <ns1:r>
              <ns1:t>              0,</ns1:t>
            </ns1:r>
          </ns1:p>
          <ns1:p>
            <ns1:r>
              <ns1:t>              1,</ns1:t>
            </ns1:r>
          </ns1:p>
          <ns1:p>
            <ns1:r>
              <ns1:t>              0,</ns1:t>
            </ns1:r>
          </ns1:p>
          <ns1:p>
            <ns1:r>
              <ns1:t>              0,</ns1:t>
            </ns1:r>
          </ns1:p>
          <ns1:p>
            <ns1:r>
              <ns1:t>              -392.5082070036389,</ns1:t>
            </ns1:r>
          </ns1:p>
          <ns1:p>
            <ns1:r>
              <ns1:t>              -8.248592311390137,</ns1:t>
            </ns1:r>
          </ns1:p>
          <ns1:p>
            <ns1:r>
              <ns1:t>              25.075248512381208,</ns1:t>
            </ns1:r>
          </ns1:p>
          <ns1:p>
            <ns1:r>
              <ns1:t>              -6.306773769403417,</ns1:t>
            </ns1:r>
          </ns1:p>
          <ns1:p>
            <ns1:r>
              <ns1:t>              330.2384691083017,</ns1:t>
            </ns1:r>
          </ns1:p>
          <ns1:p>
            <ns1:r>
              <ns1:t>              454.77794489897616,</ns1:t>
            </ns1:r>
          </ns1:p>
          <ns1:p>
            <ns1:r>
              <ns1:t>              -20</ns1:t>
            </ns1:r>
          </ns1:p>
          <ns1:p>
            <ns1:r>
              <ns1:t>            ],</ns1:t>
            </ns1:r>
          </ns1:p>
          <ns1:p>
            <ns1:r>
              <ns1:t>            "world_height_A": 138.41957408848964,</ns1:t>
            </ns1:r>
          </ns1:p>
          <ns1:p>
            <ns1:r>
              <ns1:t>            "row_bounds_all_atoms_A": [</ns1:t>
            </ns1:r>
          </ns1:p>
          <ns1:p>
            <ns1:r>
              <ns1:t>              [</ns1:t>
            </ns1:r>
          </ns1:p>
          <ns1:p>
            <ns1:r>
              <ns1:t>                -49.95177578696983,</ns1:t>
            </ns1:r>
          </ns1:p>
          <ns1:p>
            <ns1:r>
              <ns1:t>                -33.21960602912013,</ns1:t>
            </ns1:r>
          </ns1:p>
          <ns1:p>
            <ns1:r>
              <ns1:t>                -53.576511664740664</ns1:t>
            </ns1:r>
          </ns1:p>
          <ns1:p>
            <ns1:r>
              <ns1:t>              ],</ns1:t>
            </ns1:r>
          </ns1:p>
          <ns1:p>
            <ns1:r>
              <ns1:t>              [</ns1:t>
            </ns1:r>
          </ns1:p>
          <ns1:p>
            <ns1:r>
              <ns1:t>                33.45459116418956,</ns1:t>
            </ns1:r>
          </ns1:p>
          <ns1:p>
            <ns1:r>
              <ns1:t>                83.37010305388254,</ns1:t>
            </ns1:r>
          </ns1:p>
          <ns1:p>
            <ns1:r>
              <ns1:t>                40.96296412593383</ns1:t>
            </ns1:r>
          </ns1:p>
          <ns1:p>
            <ns1:r>
              <ns1:t>              ]</ns1:t>
            </ns1:r>
          </ns1:p>
          <ns1:p>
            <ns1:r>
              <ns1:t>            ]</ns1:t>
            </ns1:r>
          </ns1:p>
          <ns1:p>
            <ns1:r>
              <ns1:t>          },</ns1:t>
            </ns1:r>
          </ns1:p>
          <ns1:p>
            <ns1:r>
              <ns1:t>          "LF-parent": {</ns1:t>
            </ns1:r>
          </ns1:p>
          <ns1:p>
            <ns1:r>
              <ns1:t>            "key": "LK_P024_03-LF-parent",</ns1:t>
            </ns1:r>
          </ns1:p>
          <ns1:p>
            <ns1:r>
              <ns1:t>            "source_path": "local/2026-10-25_linker-parent-comparison_001/parents/Design_613/exact.pdb",</ns1:t>
            </ns1:r>
          </ns1:p>
          <ns1:p>
            <ns1:r>
              <ns1:t>            "source_sha256": "45f959dfc2844f56fce4f564ccd71a5db6030b5f721bd2fbcec9c3c0d1be388f",</ns1:t>
            </ns1:r>
          </ns1:p>
          <ns1:p>
            <ns1:r>
              <ns1:t>            "role": "LF",</ns1:t>
            </ns1:r>
          </ns1:p>
          <ns1:p>
            <ns1:r>
              <ns1:t>            "ranges_zero_based": {</ns1:t>
            </ns1:r>
          </ns1:p>
          <ns1:p>
            <ns1:r>
              <ns1:t>              "LF": [</ns1:t>
            </ns1:r>
          </ns1:p>
          <ns1:p>
            <ns1:r>
              <ns1:t>                0,</ns1:t>
            </ns1:r>
          </ns1:p>
          <ns1:p>
            <ns1:r>
              <ns1:t>                62</ns1:t>
            </ns1:r>
          </ns1:p>
          <ns1:p>
            <ns1:r>
              <ns1:t>              ]</ns1:t>
            </ns1:r>
          </ns1:p>
          <ns1:p>
            <ns1:r>
              <ns1:t>            },</ns1:t>
            </ns1:r>
          </ns1:p>
          <ns1:p>
            <ns1:r>
              <ns1:t>            "sequence": "RTCTSAYGVPYSDGHFQRPVPSENGLNTQGVTDVSGRETDESTDVFVVISCQGSGSGSTRFN",</ns1:t>
            </ns1:r>
          </ns1:p>
          <ns1:p>
            <ns1:r>
              <ns1:t>            "rotation": [</ns1:t>
            </ns1:r>
          </ns1:p>
          <ns1:p>
            <ns1:r>
              <ns1:t>              [</ns1:t>
            </ns1:r>
          </ns1:p>
          <ns1:p>
            <ns1:r>
              <ns1:t>                0.551438133075445,</ns1:t>
            </ns1:r>
          </ns1:p>
          <ns1:p>
            <ns1:r>
              <ns1:t>                0.6946548793138909,</ns1:t>
            </ns1:r>
          </ns1:p>
          <ns1:p>
            <ns1:r>
              <ns1:t>                0.4619205502504471</ns1:t>
            </ns1:r>
          </ns1:p>
          <ns1:p>
            <ns1:r>
              <ns1:t>              ],</ns1:t>
            </ns1:r>
          </ns1:p>
          <ns1:p>
            <ns1:r>
              <ns1:t>              [</ns1:t>
            </ns1:r>
          </ns1:p>
          <ns1:p>
            <ns1:r>
              <ns1:t>                0.08183602926948264,</ns1:t>
            </ns1:r>
          </ns1:p>
          <ns1:p>
            <ns1:r>
              <ns1:t>                0.5060018083778517,</ns1:t>
            </ns1:r>
          </ns1:p>
          <ns1:p>
            <ns1:r>
              <ns1:t>                -0.8586414483630882</ns1:t>
            </ns1:r>
          </ns1:p>
          <ns1:p>
            <ns1:r>
              <ns1:t>              ],</ns1:t>
            </ns1:r>
          </ns1:p>
          <ns1:p>
            <ns1:r>
              <ns1:t>              [</ns1:t>
            </ns1:r>
          </ns1:p>
          <ns1:p>
            <ns1:r>
              <ns1:t>                -0.8301920581921252,</ns1:t>
            </ns1:r>
          </ns1:p>
          <ns1:p>
            <ns1:r>
              <ns1:t>                0.5112893754196808,</ns1:t>
            </ns1:r>
          </ns1:p>
          <ns1:p>
            <ns1:r>
              <ns1:t>                0.2221808673488601</ns1:t>
            </ns1:r>
          </ns1:p>
          <ns1:p>
            <ns1:r>
              <ns1:t>              ]</ns1:t>
            </ns1:r>
          </ns1:p>
          <ns1:p>
            <ns1:r>
              <ns1:t>            ],</ns1:t>
            </ns1:r>
          </ns1:p>
          <ns1:p>
            <ns1:r>
              <ns1:t>            "translation": [</ns1:t>
            </ns1:r>
          </ns1:p>
          <ns1:p>
            <ns1:r>
              <ns1:t>              0.3216919312394033,</ns1:t>
            </ns1:r>
          </ns1:p>
          <ns1:p>
            <ns1:r>
              <ns1:t>              -4.358870021686835,</ns1:t>
            </ns1:r>
          </ns1:p>
          <ns1:p>
            <ns1:r>
              <ns1:t>              2.6901840786592857</ns1:t>
            </ns1:r>
          </ns1:p>
          <ns1:p>
            <ns1:r>
              <ns1:t>            ],</ns1:t>
            </ns1:r>
          </ns1:p>
          <ns1:p>
            <ns1:r>
              <ns1:t>            "core_fit_CA_RMSD_A": 1.08576555051361,</ns1:t>
            </ns1:r>
          </ns1:p>
          <ns1:p>
            <ns1:r>
              <ns1:t>            "output": "local/2026-10-25_linker-parent-views_001/build/renders-v2/LK_P024_03-LF-parent.jpg",</ns1:t>
            </ns1:r>
          </ns1:p>
          <ns1:p>
            <ns1:r>
              <ns1:t>            "parent_or_fusion_id": "Design_613",</ns1:t>
            </ns1:r>
          </ns1:p>
          <ns1:p>
            <ns1:r>
              <ns1:t>            "design_id": "LK_P024_03",</ns1:t>
            </ns1:r>
          </ns1:p>
          <ns1:p>
            <ns1:r>
              <ns1:t>            "panel": "LF-parent",</ns1:t>
            </ns1:r>
          </ns1:p>
          <ns1:p>
            <ns1:r>
              <ns1:t>            "view": [</ns1:t>
            </ns1:r>
          </ns1:p>
          <ns1:p>
            <ns1:r>
              <ns1:t>              1,</ns1:t>
            </ns1:r>
          </ns1:p>
          <ns1:p>
            <ns1:r>
              <ns1:t>              0,</ns1:t>
            </ns1:r>
          </ns1:p>
          <ns1:p>
            <ns1:r>
              <ns1:t>              0,</ns1:t>
            </ns1:r>
          </ns1:p>
          <ns1:p>
            <ns1:r>
              <ns1:t>              0,</ns1:t>
            </ns1:r>
          </ns1:p>
          <ns1:p>
            <ns1:r>
              <ns1:t>              1,</ns1:t>
            </ns1:r>
          </ns1:p>
          <ns1:p>
            <ns1:r>
              <ns1:t>              0,</ns1:t>
            </ns1:r>
          </ns1:p>
          <ns1:p>
            <ns1:r>
              <ns1:t>              0,</ns1:t>
            </ns1:r>
          </ns1:p>
          <ns1:p>
            <ns1:r>
              <ns1:t>              0,</ns1:t>
            </ns1:r>
          </ns1:p>
          <ns1:p>
            <ns1:r>
              <ns1:t>              1,</ns1:t>
            </ns1:r>
          </ns1:p>
          <ns1:p>
            <ns1:r>
              <ns1:t>              0,</ns1:t>
            </ns1:r>
          </ns1:p>
          <ns1:p>
            <ns1:r>
              <ns1:t>              0,</ns1:t>
            </ns1:r>
          </ns1:p>
          <ns1:p>
            <ns1:r>
              <ns1:t>              -392.5082070036389,</ns1:t>
            </ns1:r>
          </ns1:p>
          <ns1:p>
            <ns1:r>
              <ns1:t>              -8.248592311390137,</ns1:t>
            </ns1:r>
          </ns1:p>
          <ns1:p>
            <ns1:r>
              <ns1:t>              25.075248512381208,</ns1:t>
            </ns1:r>
          </ns1:p>
          <ns1:p>
            <ns1:r>
              <ns1:t>              -6.306773769403417,</ns1:t>
            </ns1:r>
          </ns1:p>
          <ns1:p>
            <ns1:r>
              <ns1:t>              330.2384691083017,</ns1:t>
            </ns1:r>
          </ns1:p>
          <ns1:p>
            <ns1:r>
              <ns1:t>              454.77794489897616,</ns1:t>
            </ns1:r>
          </ns1:p>
          <ns1:p>
            <ns1:r>
              <ns1:t>              -20</ns1:t>
            </ns1:r>
          </ns1:p>
          <ns1:p>
            <ns1:r>
              <ns1:t>            ],</ns1:t>
            </ns1:r>
          </ns1:p>
          <ns1:p>
            <ns1:r>
              <ns1:t>            "world_height_A": 138.41957408848964,</ns1:t>
            </ns1:r>
          </ns1:p>
          <ns1:p>
            <ns1:r>
              <ns1:t>            "row_bounds_all_atoms_A": [</ns1:t>
            </ns1:r>
          </ns1:p>
          <ns1:p>
            <ns1:r>
              <ns1:t>              [</ns1:t>
            </ns1:r>
          </ns1:p>
          <ns1:p>
            <ns1:r>
              <ns1:t>                -49.95177578696983,</ns1:t>
            </ns1:r>
          </ns1:p>
          <ns1:p>
            <ns1:r>
              <ns1:t>                -33.21960602912013,</ns1:t>
            </ns1:r>
          </ns1:p>
          <ns1:p>
            <ns1:r>
              <ns1:t>                -53.576511664740664</ns1:t>
            </ns1:r>
          </ns1:p>
          <ns1:p>
            <ns1:r>
              <ns1:t>              ],</ns1:t>
            </ns1:r>
          </ns1:p>
          <ns1:p>
            <ns1:r>
              <ns1:t>              [</ns1:t>
            </ns1:r>
          </ns1:p>
          <ns1:p>
            <ns1:r>
              <ns1:t>                33.45459116418956,</ns1:t>
            </ns1:r>
          </ns1:p>
          <ns1:p>
            <ns1:r>
              <ns1:t>                83.37010305388254,</ns1:t>
            </ns1:r>
          </ns1:p>
          <ns1:p>
            <ns1:r>
              <ns1:t>                40.96296412593383</ns1:t>
            </ns1:r>
          </ns1:p>
          <ns1:p>
            <ns1:r>
              <ns1:t>              ]</ns1:t>
            </ns1:r>
          </ns1:p>
          <ns1:p>
            <ns1:r>
              <ns1:t>            ]</ns1:t>
            </ns1:r>
          </ns1:p>
          <ns1:p>
            <ns1:r>
              <ns1:t>          }</ns1:t>
            </ns1:r>
          </ns1:p>
          <ns1:p>
            <ns1:r>
              <ns1:t>        },</ns1:t>
            </ns1:r>
          </ns1:p>
          <ns1:p>
            <ns1:r>
              <ns1:t>        "shared_camera": [</ns1:t>
            </ns1:r>
          </ns1:p>
          <ns1:p>
            <ns1:r>
              <ns1:t>          1,</ns1:t>
            </ns1:r>
          </ns1:p>
          <ns1:p>
            <ns1:r>
              <ns1:t>          0,</ns1:t>
            </ns1:r>
          </ns1:p>
          <ns1:p>
            <ns1:r>
              <ns1:t>          0,</ns1:t>
            </ns1:r>
          </ns1:p>
          <ns1:p>
            <ns1:r>
              <ns1:t>          0,</ns1:t>
            </ns1:r>
          </ns1:p>
          <ns1:p>
            <ns1:r>
              <ns1:t>          1,</ns1:t>
            </ns1:r>
          </ns1:p>
          <ns1:p>
            <ns1:r>
              <ns1:t>          0,</ns1:t>
            </ns1:r>
          </ns1:p>
          <ns1:p>
            <ns1:r>
              <ns1:t>          0,</ns1:t>
            </ns1:r>
          </ns1:p>
          <ns1:p>
            <ns1:r>
              <ns1:t>          0,</ns1:t>
            </ns1:r>
          </ns1:p>
          <ns1:p>
            <ns1:r>
              <ns1:t>          1,</ns1:t>
            </ns1:r>
          </ns1:p>
          <ns1:p>
            <ns1:r>
              <ns1:t>          0,</ns1:t>
            </ns1:r>
          </ns1:p>
          <ns1:p>
            <ns1:r>
              <ns1:t>          0,</ns1:t>
            </ns1:r>
          </ns1:p>
          <ns1:p>
            <ns1:r>
              <ns1:t>          -392.5082070036389,</ns1:t>
            </ns1:r>
          </ns1:p>
          <ns1:p>
            <ns1:r>
              <ns1:t>          -8.248592311390137,</ns1:t>
            </ns1:r>
          </ns1:p>
          <ns1:p>
            <ns1:r>
              <ns1:t>          25.075248512381208,</ns1:t>
            </ns1:r>
          </ns1:p>
          <ns1:p>
            <ns1:r>
              <ns1:t>          -6.306773769403417,</ns1:t>
            </ns1:r>
          </ns1:p>
          <ns1:p>
            <ns1:r>
              <ns1:t>          330.2384691083017,</ns1:t>
            </ns1:r>
          </ns1:p>
          <ns1:p>
            <ns1:r>
              <ns1:t>          454.77794489897616,</ns1:t>
            </ns1:r>
          </ns1:p>
          <ns1:p>
            <ns1:r>
              <ns1:t>          -20</ns1:t>
            </ns1:r>
          </ns1:p>
          <ns1:p>
            <ns1:r>
              <ns1:t>        ],</ns1:t>
            </ns1:r>
          </ns1:p>
          <ns1:p>
            <ns1:r>
              <ns1:t>        "reference": "Separate saved Exact parent complexes flank the linked Exact refold; AP Novo linked design comparison remains on the following slide. Rigid display alignment preserves native poses; all native receptor residues shown."</ns1:t>
            </ns1:r>
          </ns1:p>
          <ns1:p>
            <ns1:r>
              <ns1:t>      }</ns1:t>
            </ns1:r>
          </ns1:p>
          <ns1:p>
            <ns1:r>
              <ns1:t>    },</ns1:t>
            </ns1:r>
          </ns1:p>
          <ns1:p>
            <ns1:r>
              <ns1:t>    "display": "unchanged embedded JPEGs extracted from hash-verified delivered25-design PPTX; no resampling, cropping or new coordinate transforms",</ns1:t>
            </ns1:r>
          </ns1:p>
          <ns1:p>
            <ns1:r>
              <ns1:t>    "scale": "full complex and interface have different zooms; no matched-scale claim",</ns1:t>
            </ns1:r>
          </ns1:p>
          <ns1:p>
            <ns1:r>
              <ns1:t>    "hotspots": "black sticks; original27pocket positions for original LigandForge, R40/Q37/E34 annotations for DLD",</ns1:t>
            </ns1:r>
          </ns1:p>
          <ns1:p>
            <ns1:r>
              <ns1:t>    "colors": {</ns1:t>
            </ns1:r>
          </ns1:p>
          <ns1:p>
            <ns1:r>
              <ns1:t>      "LigandForge": "#E69F00",</ns1:t>
            </ns1:r>
          </ns1:p>
          <ns1:p>
            <ns1:r>
              <ns1:t>      "linker": "#AA4499",</ns1:t>
            </ns1:r>
          </ns1:p>
          <ns1:p>
            <ns1:r>
              <ns1:t>      "ECD_binder": "#0072B2",</ns1:t>
            </ns1:r>
          </ns1:p>
          <ns1:p>
            <ns1:r>
              <ns1:t>      "receptor_ECD": "#009E73",</ns1:t>
            </ns1:r>
          </ns1:p>
          <ns1:p>
            <ns1:r>
              <ns1:t>      "receptor_remainder": "#9AA5B1",</ns1:t>
            </ns1:r>
          </ns1:p>
          <ns1:p>
            <ns1:r>
              <ns1:t>      "hotspots": "#000000"</ns1:t>
            </ns1:r>
          </ns1:p>
          <ns1:p>
            <ns1:r>
              <ns1:t>    }</ns1:t>
            </ns1:r>
          </ns1:p>
          <ns1:p>
            <ns1:r>
              <ns1:t>  },</ns1:t>
            </ns1:r>
          </ns1:p>
          <ns1:p>
            <ns1:r>
              <ns1:t>  "source_deck": "local/2026-10-25_affinity-confidence-selection-deck_002/output/GLP1R_Selected_ipSAE_gt0p895_Kd_lt10nM_v3.pptx",</ns1:t>
            </ns1:r>
          </ns1:p>
          <ns1:p>
            <ns1:r>
              <ns1:t>  "source_deck_sha256": "ad9333fdf6c0ce7d6982e2980d6aade78af256710dbc7917f7f39e41d35aa173",</ns1:t>
            </ns1:r>
          </ns1:p>
          <ns1:p>
            <ns1:r>
              <ns1:t>  "domain_labels": "ECD A1-48  linker A49-66  LF A67-128",</ns1:t>
            </ns1:r>
          </ns1:p>
          <ns1:p>
            <ns1:r>
              <ns1:t>  "display_scope": "native Exact complex and saved interface view; same identity colors, independent zooms; no new coordinates or inferred agonism"</ns1:t>
            </ns1:r>
          </ns1:p>
          <ns1:p>
            <ns1:r>
              <ns1:t>}</ns1:t>
            </ns1:r>
          </ns1:p>
        </ns0:txBody>
      </ns0:sp>
      <ns0:sp>
        <ns0:nvSpPr>
          <ns0:cNvPr id="4" name="Slide Number Placeholder 3"/>
          <ns0:cNvSpPr>
            <ns1:spLocks noGrp="1"/>
          </ns0:cNvSpPr>
          <ns0:nvPr>
            <ns0:ph type="sldNum" idx="5"/>
          </ns0:nvPr>
        </ns0:nvSpPr>
        <ns0:spPr/>
        <ns0:txBody>
          <ns1:bodyPr/>
          <ns1:lstStyle/>
          <ns1:p/>
        </ns0:txBody>
      </ns0:sp>
    </ns0:spTree>
  </ns0:cSld>
  <ns0:clrMapOvr>
    <ns1:masterClrMapping/>
  </ns0:clrMapOvr>
</ns0:notes>
</file>

<file path=ppt/notesSlides/notesSlide21.xml><?xml version="1.0" encoding="utf-8"?>
<ns0:notes xmlns:ns0="http://schemas.openxmlformats.org/presentationml/2006/main" xmlns:ns1="http://schemas.openxmlformats.org/drawingml/2006/main">
  <ns0:cSld>
    <ns0:spTree>
      <ns0:nvGrpSpPr>
        <ns0:cNvPr id="1" name=""/>
        <ns0:cNvGrpSpPr/>
        <ns0:nvPr/>
      </ns0:nvGrpSpPr>
      <ns0:grpSpPr>
        <ns1:xfrm/>
      </ns0:grpSpPr>
      <ns0:sp>
        <ns0:nvSpPr>
          <ns0:cNvPr id="2" name="Slide Image Placeholder 1"/>
          <ns0:cNvSpPr>
            <ns1:spLocks noGrp="1"/>
          </ns0:cNvSpPr>
          <ns0:nvPr>
            <ns0:ph type="sldImg" idx="0"/>
          </ns0:nvPr>
        </ns0:nvSpPr>
        <ns0:spPr/>
      </ns0:sp>
      <ns0:sp>
        <ns0:nvSpPr>
          <ns0:cNvPr id="3" name="Notes Placeholder 2"/>
          <ns0:cNvSpPr>
            <ns1:spLocks noGrp="1"/>
          </ns0:cNvSpPr>
          <ns0:nvPr>
            <ns0:ph type="body" idx="1"/>
          </ns0:nvPr>
        </ns0:nvSpPr>
        <ns0:spPr/>
        <ns0:txBody>
          <ns1:bodyPr/>
          <ns1:lstStyle/>
          <ns1:p>
            <ns1:r>
              <ns1:t>{</ns1:t>
            </ns1:r>
          </ns1:p>
          <ns1:p>
            <ns1:r>
              <ns1:t>  "candidate": "Design_994",</ns1:t>
            </ns1:r>
          </ns1:p>
          <ns1:p>
            <ns1:r>
              <ns1:t>  "final_rank": 11,</ns1:t>
            </ns1:r>
          </ns1:p>
          <ns1:p>
            <ns1:r>
              <ns1:t>  "selection": "Exact ipSAE&gt;0.895 and DeltaForge predicted Kd&lt;10nM; first20 by Exact ipSAE descending",</ns1:t>
            </ns1:r>
          </ns1:p>
          <ns1:p>
            <ns1:r>
              <ns1:t>  "sequence_sha256": "799f19539f7ce40757ac276419bda54c2548f8cdfffae59f8d86bc67fa50aa17",</ns1:t>
            </ns1:r>
          </ns1:p>
          <ns1:p>
            <ns1:r>
              <ns1:t>  "sources": {</ns1:t>
            </ns1:r>
          </ns1:p>
          <ns1:p>
            <ns1:r>
              <ns1:t>    "source_table": {</ns1:t>
            </ns1:r>
          </ns1:p>
          <ns1:p>
            <ns1:r>
              <ns1:t>      "path": "local/2026-10-25_lf50-dld26-50-deltaforge_001/output/GLP1R_LigandForge_Original_Top50_DeltaForge_Kd.csv",</ns1:t>
            </ns1:r>
          </ns1:p>
          <ns1:p>
            <ns1:r>
              <ns1:t>      "sha256": "da4de8915b1ca76443882c0651920ddd9551839d0d75a5b18b8b1ff4653b0360"</ns1:t>
            </ns1:r>
          </ns1:p>
          <ns1:p>
            <ns1:r>
              <ns1:t>    },</ns1:t>
            </ns1:r>
          </ns1:p>
          <ns1:p>
            <ns1:r>
              <ns1:t>    "native_cif": {</ns1:t>
            </ns1:r>
          </ns1:p>
          <ns1:p>
            <ns1:r>
              <ns1:t>      "path": "campaigns/glp1r-ligandforge-boltz2-exact/runs/2026-10-15_ligandforge-exact_001/02_design/chunks/batch-039/kit_outputs/by_seed/Design_994/s101/Design_994_model_0.cif",</ns1:t>
            </ns1:r>
          </ns1:p>
          <ns1:p>
            <ns1:r>
              <ns1:t>      "sha256": "23fffdccdb4b68471c9b243b9ef27714eb55e616644fe4e2f98483c3879579c6"</ns1:t>
            </ns1:r>
          </ns1:p>
          <ns1:p>
            <ns1:r>
              <ns1:t>    },</ns1:t>
            </ns1:r>
          </ns1:p>
          <ns1:p>
            <ns1:r>
              <ns1:t>    "scoring_pdb": {</ns1:t>
            </ns1:r>
          </ns1:p>
          <ns1:p>
            <ns1:r>
              <ns1:t>      "path": "local/2026-10-25_lf50-dld26-50-deltaforge_001/LF_Design_994.pdb",</ns1:t>
            </ns1:r>
          </ns1:p>
          <ns1:p>
            <ns1:r>
              <ns1:t>      "sha256": "195a001cf363948c1aea8e3d2c9802985e9597371143a7269596f0fd83555e92"</ns1:t>
            </ns1:r>
          </ns1:p>
          <ns1:p>
            <ns1:r>
              <ns1:t>    },</ns1:t>
            </ns1:r>
          </ns1:p>
          <ns1:p>
            <ns1:r>
              <ns1:t>    "DeltaForge_result": {</ns1:t>
            </ns1:r>
          </ns1:p>
          <ns1:p>
            <ns1:r>
              <ns1:t>      "path": "campaigns/glp1r-r40-design/runs/2026-10-25_lf50-dld26-50-deltaforge_001/03_filtering/deltaforge_results/LF_Design_994.json",</ns1:t>
            </ns1:r>
          </ns1:p>
          <ns1:p>
            <ns1:r>
              <ns1:t>      "sha256": "f90dad182faa41a5a1c3a24080b13a0516510571fb445cc3a7a360ef9d298327"</ns1:t>
            </ns1:r>
          </ns1:p>
          <ns1:p>
            <ns1:r>
              <ns1:t>    }</ns1:t>
            </ns1:r>
          </ns1:p>
          <ns1:p>
            <ns1:r>
              <ns1:t>  },</ns1:t>
            </ns1:r>
          </ns1:p>
          <ns1:p>
            <ns1:r>
              <ns1:t>  "source_ledger": "campaigns/glp1r-final-writeup/runs/2026-10-25_final20-writeup_001/04_analysis/provenance-ledger.json",</ns1:t>
            </ns1:r>
          </ns1:p>
          <ns1:p>
            <ns1:r>
              <ns1:t>  "scorer": "deltaforge_v10_2_unified_parallel / v10_2_unified_parallel_2026_05_08",</ns1:t>
            </ns1:r>
          </ns1:p>
          <ns1:p>
            <ns1:r>
              <ns1:t>  "calibration": "deltaforge_v10_boltz2_calibrated_gbr / v10_boltz2_gbr_2026_03_29",</ns1:t>
            </ns1:r>
          </ns1:p>
          <ns1:p>
            <ns1:r>
              <ns1:t>  "scope": "one complete candidate A against one receptor B; computational, no experimental Kd or activation"</ns1:t>
            </ns1:r>
          </ns1:p>
          <ns1:p>
            <ns1:r>
              <ns1:t>}</ns1:t>
            </ns1:r>
          </ns1:p>
        </ns0:txBody>
      </ns0:sp>
      <ns0:sp>
        <ns0:nvSpPr>
          <ns0:cNvPr id="4" name="Slide Number Placeholder 3"/>
          <ns0:cNvSpPr>
            <ns1:spLocks noGrp="1"/>
          </ns0:cNvSpPr>
          <ns0:nvPr>
            <ns0:ph type="sldNum" idx="5"/>
          </ns0:nvPr>
        </ns0:nvSpPr>
        <ns0:spPr/>
        <ns0:txBody>
          <ns1:bodyPr/>
          <ns1:lstStyle/>
          <ns1:p/>
        </ns0:txBody>
      </ns0:sp>
    </ns0:spTree>
  </ns0:cSld>
  <ns0:clrMapOvr>
    <ns1:masterClrMapping/>
  </ns0:clrMapOvr>
</ns0:notes>
</file>

<file path=ppt/notesSlides/notesSlide22.xml><?xml version="1.0" encoding="utf-8"?>
<ns0:notes xmlns:ns0="http://schemas.openxmlformats.org/presentationml/2006/main" xmlns:ns1="http://schemas.openxmlformats.org/drawingml/2006/main">
  <ns0:cSld>
    <ns0:spTree>
      <ns0:nvGrpSpPr>
        <ns0:cNvPr id="1" name=""/>
        <ns0:cNvGrpSpPr/>
        <ns0:nvPr/>
      </ns0:nvGrpSpPr>
      <ns0:grpSpPr>
        <ns1:xfrm/>
      </ns0:grpSpPr>
      <ns0:sp>
        <ns0:nvSpPr>
          <ns0:cNvPr id="2" name="Slide Image Placeholder 1"/>
          <ns0:cNvSpPr>
            <ns1:spLocks noGrp="1"/>
          </ns0:cNvSpPr>
          <ns0:nvPr>
            <ns0:ph type="sldImg" idx="0"/>
          </ns0:nvPr>
        </ns0:nvSpPr>
        <ns0:spPr/>
      </ns0:sp>
      <ns0:sp>
        <ns0:nvSpPr>
          <ns0:cNvPr id="3" name="Notes Placeholder 2"/>
          <ns0:cNvSpPr>
            <ns1:spLocks noGrp="1"/>
          </ns0:cNvSpPr>
          <ns0:nvPr>
            <ns0:ph type="body" idx="1"/>
          </ns0:nvPr>
        </ns0:nvSpPr>
        <ns0:spPr/>
        <ns0:txBody>
          <ns1:bodyPr/>
          <ns1:lstStyle/>
          <ns1:p>
            <ns1:r>
              <ns1:t>{</ns1:t>
            </ns1:r>
          </ns1:p>
          <ns1:p>
            <ns1:r>
              <ns1:t>  "candidate": "Design_994",</ns1:t>
            </ns1:r>
          </ns1:p>
          <ns1:p>
            <ns1:r>
              <ns1:t>  "final_rank": 11,</ns1:t>
            </ns1:r>
          </ns1:p>
          <ns1:p>
            <ns1:r>
              <ns1:t>  "native_model_sha256": "23fffdccdb4b68471c9b243b9ef27714eb55e616644fe4e2f98483c3879579c6",</ns1:t>
            </ns1:r>
          </ns1:p>
          <ns1:p>
            <ns1:r>
              <ns1:t>  "structure_views": {</ns1:t>
            </ns1:r>
          </ns1:p>
          <ns1:p>
            <ns1:r>
              <ns1:t>    "final_rank": 11,</ns1:t>
            </ns1:r>
          </ns1:p>
          <ns1:p>
            <ns1:r>
              <ns1:t>    "design_id": "Design_994",</ns1:t>
            </ns1:r>
          </ns1:p>
          <ns1:p>
            <ns1:r>
              <ns1:t>    "sequence_sha256": "799f19539f7ce40757ac276419bda54c2548f8cdfffae59f8d86bc67fa50aa17",</ns1:t>
            </ns1:r>
          </ns1:p>
          <ns1:p>
            <ns1:r>
              <ns1:t>    "native_model_sha256": "23fffdccdb4b68471c9b243b9ef27714eb55e616644fe4e2f98483c3879579c6",</ns1:t>
            </ns1:r>
          </ns1:p>
          <ns1:p>
            <ns1:r>
              <ns1:t>    "scoring_pdb_sha256": "195a001cf363948c1aea8e3d2c9802985e9597371143a7269596f0fd83555e92",</ns1:t>
            </ns1:r>
          </ns1:p>
          <ns1:p>
            <ns1:r>
              <ns1:t>    "overview": {</ns1:t>
            </ns1:r>
          </ns1:p>
          <ns1:p>
            <ns1:r>
              <ns1:t>      "source_slide": 9,</ns1:t>
            </ns1:r>
          </ns1:p>
          <ns1:p>
            <ns1:r>
              <ns1:t>      "source_picture_index": 0,</ns1:t>
            </ns1:r>
          </ns1:p>
          <ns1:p>
            <ns1:r>
              <ns1:t>      "embedded_media": "ppt/media/image5.jpeg",</ns1:t>
            </ns1:r>
          </ns1:p>
          <ns1:p>
            <ns1:r>
              <ns1:t>      "image_sha256": "64f857730b8faa419488a95fc67fe847d66dd2f4921b8489f6c9ed19bc05e4e0",</ns1:t>
            </ns1:r>
          </ns1:p>
          <ns1:p>
            <ns1:r>
              <ns1:t>      "asset": "assets/Design_994-complex.jpg"</ns1:t>
            </ns1:r>
          </ns1:p>
          <ns1:p>
            <ns1:r>
              <ns1:t>    },</ns1:t>
            </ns1:r>
          </ns1:p>
          <ns1:p>
            <ns1:r>
              <ns1:t>    "interface": {</ns1:t>
            </ns1:r>
          </ns1:p>
          <ns1:p>
            <ns1:r>
              <ns1:t>      "source_slide": 9,</ns1:t>
            </ns1:r>
          </ns1:p>
          <ns1:p>
            <ns1:r>
              <ns1:t>      "source_picture_index": 1,</ns1:t>
            </ns1:r>
          </ns1:p>
          <ns1:p>
            <ns1:r>
              <ns1:t>      "embedded_media": "ppt/media/image6.jpeg",</ns1:t>
            </ns1:r>
          </ns1:p>
          <ns1:p>
            <ns1:r>
              <ns1:t>      "image_sha256": "73959ec100cea70f9de894043dcd50dd3d4d275bd31ce21bfaba2f1da3faed7c",</ns1:t>
            </ns1:r>
          </ns1:p>
          <ns1:p>
            <ns1:r>
              <ns1:t>      "asset": "assets/Design_994-interface.jpg"</ns1:t>
            </ns1:r>
          </ns1:p>
          <ns1:p>
            <ns1:r>
              <ns1:t>    },</ns1:t>
            </ns1:r>
          </ns1:p>
          <ns1:p>
            <ns1:r>
              <ns1:t>    "rendering_provenance": {</ns1:t>
            </ns1:r>
          </ns1:p>
          <ns1:p>
            <ns1:r>
              <ns1:t>      "source_PDB": "campaigns/glp1r-ligandforge-affinity/runs/2026-10-15_top100-affinity_001/01_staging/payload/pdb_inputs/Design_994.pdb",</ns1:t>
            </ns1:r>
          </ns1:p>
          <ns1:p>
            <ns1:r>
              <ns1:t>      "PDB_SHA256": "195a001cf363948c1aea8e3d2c9802985e9597371143a7269596f0fd83555e92",</ns1:t>
            </ns1:r>
          </ns1:p>
          <ns1:p>
            <ns1:r>
              <ns1:t>      "model_SHA256": "23fffdccdb4b68471c9b243b9ef27714eb55e616644fe4e2f98483c3879579c6",</ns1:t>
            </ns1:r>
          </ns1:p>
          <ns1:p>
            <ns1:r>
              <ns1:t>      "source_render_script": "local/2026-10-25_affinity-confidence-selection-deck_002/render_originals.py",</ns1:t>
            </ns1:r>
          </ns1:p>
          <ns1:p>
            <ns1:r>
              <ns1:t>      "alignment": "rigid core CA B117-400 fitting; original full/interface zooms reused",</ns1:t>
            </ns1:r>
          </ns1:p>
          <ns1:p>
            <ns1:r>
              <ns1:t>      "camera_version": "saved original full and interface frames from final90-slide deck"</ns1:t>
            </ns1:r>
          </ns1:p>
          <ns1:p>
            <ns1:r>
              <ns1:t>    },</ns1:t>
            </ns1:r>
          </ns1:p>
          <ns1:p>
            <ns1:r>
              <ns1:t>    "display": "unchanged embedded JPEGs extracted from hash-verified delivered25-design PPTX; no resampling, cropping or new coordinate transforms",</ns1:t>
            </ns1:r>
          </ns1:p>
          <ns1:p>
            <ns1:r>
              <ns1:t>    "scale": "full complex and interface have different zooms; no matched-scale claim",</ns1:t>
            </ns1:r>
          </ns1:p>
          <ns1:p>
            <ns1:r>
              <ns1:t>    "hotspots": "black sticks; original27pocket positions for original LigandForge, R40/Q37/E34 annotations for DLD",</ns1:t>
            </ns1:r>
          </ns1:p>
          <ns1:p>
            <ns1:r>
              <ns1:t>    "colors": {</ns1:t>
            </ns1:r>
          </ns1:p>
          <ns1:p>
            <ns1:r>
              <ns1:t>      "LigandForge": "#E69F00",</ns1:t>
            </ns1:r>
          </ns1:p>
          <ns1:p>
            <ns1:r>
              <ns1:t>      "linker": "#AA4499",</ns1:t>
            </ns1:r>
          </ns1:p>
          <ns1:p>
            <ns1:r>
              <ns1:t>      "ECD_binder": "#0072B2",</ns1:t>
            </ns1:r>
          </ns1:p>
          <ns1:p>
            <ns1:r>
              <ns1:t>      "receptor_ECD": "#009E73",</ns1:t>
            </ns1:r>
          </ns1:p>
          <ns1:p>
            <ns1:r>
              <ns1:t>      "receptor_remainder": "#9AA5B1",</ns1:t>
            </ns1:r>
          </ns1:p>
          <ns1:p>
            <ns1:r>
              <ns1:t>      "hotspots": "#000000"</ns1:t>
            </ns1:r>
          </ns1:p>
          <ns1:p>
            <ns1:r>
              <ns1:t>    }</ns1:t>
            </ns1:r>
          </ns1:p>
          <ns1:p>
            <ns1:r>
              <ns1:t>  },</ns1:t>
            </ns1:r>
          </ns1:p>
          <ns1:p>
            <ns1:r>
              <ns1:t>  "source_deck": "local/2026-10-25_affinity-confidence-selection-deck_002/output/GLP1R_Selected_ipSAE_gt0p895_Kd_lt10nM_v3.pptx",</ns1:t>
            </ns1:r>
          </ns1:p>
          <ns1:p>
            <ns1:r>
              <ns1:t>  "source_deck_sha256": "ad9333fdf6c0ce7d6982e2980d6aade78af256710dbc7917f7f39e41d35aa173",</ns1:t>
            </ns1:r>
          </ns1:p>
          <ns1:p>
            <ns1:r>
              <ns1:t>  "domain_labels": "LigandForge A1-70",</ns1:t>
            </ns1:r>
          </ns1:p>
          <ns1:p>
            <ns1:r>
              <ns1:t>  "display_scope": "native Exact complex and saved interface view; same identity colors, independent zooms; no new coordinates or inferred agonism"</ns1:t>
            </ns1:r>
          </ns1:p>
          <ns1:p>
            <ns1:r>
              <ns1:t>}</ns1:t>
            </ns1:r>
          </ns1:p>
        </ns0:txBody>
      </ns0:sp>
      <ns0:sp>
        <ns0:nvSpPr>
          <ns0:cNvPr id="4" name="Slide Number Placeholder 3"/>
          <ns0:cNvSpPr>
            <ns1:spLocks noGrp="1"/>
          </ns0:cNvSpPr>
          <ns0:nvPr>
            <ns0:ph type="sldNum" idx="5"/>
          </ns0:nvPr>
        </ns0:nvSpPr>
        <ns0:spPr/>
        <ns0:txBody>
          <ns1:bodyPr/>
          <ns1:lstStyle/>
          <ns1:p/>
        </ns0:txBody>
      </ns0:sp>
    </ns0:spTree>
  </ns0:cSld>
  <ns0:clrMapOvr>
    <ns1:masterClrMapping/>
  </ns0:clrMapOvr>
</ns0:notes>
</file>

<file path=ppt/notesSlides/notesSlide23.xml><?xml version="1.0" encoding="utf-8"?>
<ns0:notes xmlns:ns0="http://schemas.openxmlformats.org/presentationml/2006/main" xmlns:ns1="http://schemas.openxmlformats.org/drawingml/2006/main">
  <ns0:cSld>
    <ns0:spTree>
      <ns0:nvGrpSpPr>
        <ns0:cNvPr id="1" name=""/>
        <ns0:cNvGrpSpPr/>
        <ns0:nvPr/>
      </ns0:nvGrpSpPr>
      <ns0:grpSpPr>
        <ns1:xfrm/>
      </ns0:grpSpPr>
      <ns0:sp>
        <ns0:nvSpPr>
          <ns0:cNvPr id="2" name="Slide Image Placeholder 1"/>
          <ns0:cNvSpPr>
            <ns1:spLocks noGrp="1"/>
          </ns0:cNvSpPr>
          <ns0:nvPr>
            <ns0:ph type="sldImg" idx="0"/>
          </ns0:nvPr>
        </ns0:nvSpPr>
        <ns0:spPr/>
      </ns0:sp>
      <ns0:sp>
        <ns0:nvSpPr>
          <ns0:cNvPr id="3" name="Notes Placeholder 2"/>
          <ns0:cNvSpPr>
            <ns1:spLocks noGrp="1"/>
          </ns0:cNvSpPr>
          <ns0:nvPr>
            <ns0:ph type="body" idx="1"/>
          </ns0:nvPr>
        </ns0:nvSpPr>
        <ns0:spPr/>
        <ns0:txBody>
          <ns1:bodyPr/>
          <ns1:lstStyle/>
          <ns1:p>
            <ns1:r>
              <ns1:t>{</ns1:t>
            </ns1:r>
          </ns1:p>
          <ns1:p>
            <ns1:r>
              <ns1:t>  "candidate": "LK_P012_08",</ns1:t>
            </ns1:r>
          </ns1:p>
          <ns1:p>
            <ns1:r>
              <ns1:t>  "final_rank": 12,</ns1:t>
            </ns1:r>
          </ns1:p>
          <ns1:p>
            <ns1:r>
              <ns1:t>  "selection": "Exact ipSAE&gt;0.895 and DeltaForge predicted Kd&lt;10nM; first20 by Exact ipSAE descending",</ns1:t>
            </ns1:r>
          </ns1:p>
          <ns1:p>
            <ns1:r>
              <ns1:t>  "sequence_sha256": "a8fa1d10358030cab72dca008ae0844ce42d6d4bafa0bd4d7d2b64643ef440c7",</ns1:t>
            </ns1:r>
          </ns1:p>
          <ns1:p>
            <ns1:r>
              <ns1:t>  "sources": {</ns1:t>
            </ns1:r>
          </ns1:p>
          <ns1:p>
            <ns1:r>
              <ns1:t>    "source_table": {</ns1:t>
            </ns1:r>
          </ns1:p>
          <ns1:p>
            <ns1:r>
              <ns1:t>      "path": "local/2026-10-25_lf50-dld26-50-deltaforge_001/output/GLP1R_DLD_Top50_DeltaForge_Kd_and_Boltz2_Metrics.csv",</ns1:t>
            </ns1:r>
          </ns1:p>
          <ns1:p>
            <ns1:r>
              <ns1:t>      "sha256": "da9569bf0e8b74cce3d6792eb260d6a4b17b35e6f46e0793d49f02c0d3a0e728"</ns1:t>
            </ns1:r>
          </ns1:p>
          <ns1:p>
            <ns1:r>
              <ns1:t>    },</ns1:t>
            </ns1:r>
          </ns1:p>
          <ns1:p>
            <ns1:r>
              <ns1:t>    "native_cif": {</ns1:t>
            </ns1:r>
          </ns1:p>
          <ns1:p>
            <ns1:r>
              <ns1:t>      "path": "local/2026-10-25_linker-top100-review_001/models/LK_P012_08/boltz2.cif",</ns1:t>
            </ns1:r>
          </ns1:p>
          <ns1:p>
            <ns1:r>
              <ns1:t>      "sha256": "05354a48a6723a5e62d6a6d0700be933508e8986daad01fb8900ad828620a74d"</ns1:t>
            </ns1:r>
          </ns1:p>
          <ns1:p>
            <ns1:r>
              <ns1:t>    },</ns1:t>
            </ns1:r>
          </ns1:p>
          <ns1:p>
            <ns1:r>
              <ns1:t>    "scoring_pdb": {</ns1:t>
            </ns1:r>
          </ns1:p>
          <ns1:p>
            <ns1:r>
              <ns1:t>      "path": "local/2026-10-25_dld-top25-deltaforge_001/payload/structures/LK_P012_08.pdb",</ns1:t>
            </ns1:r>
          </ns1:p>
          <ns1:p>
            <ns1:r>
              <ns1:t>      "sha256": "970fc5302535823051074742639b19f84f496d87c9928ba0760abc7cfa16a295"</ns1:t>
            </ns1:r>
          </ns1:p>
          <ns1:p>
            <ns1:r>
              <ns1:t>    },</ns1:t>
            </ns1:r>
          </ns1:p>
          <ns1:p>
            <ns1:r>
              <ns1:t>    "DeltaForge_result": {</ns1:t>
            </ns1:r>
          </ns1:p>
          <ns1:p>
            <ns1:r>
              <ns1:t>      "path": "campaigns/glp1r-r40-design/runs/2026-10-25_dld-top25-deltaforge_001/03_filtering/deltaforge_results/LK_P012_08.json",</ns1:t>
            </ns1:r>
          </ns1:p>
          <ns1:p>
            <ns1:r>
              <ns1:t>      "sha256": "20e4273cd4e3c8cf407fe103deb973c6c1873cba3e9ca7021503f52c9ac7b3ff"</ns1:t>
            </ns1:r>
          </ns1:p>
          <ns1:p>
            <ns1:r>
              <ns1:t>    }</ns1:t>
            </ns1:r>
          </ns1:p>
          <ns1:p>
            <ns1:r>
              <ns1:t>  },</ns1:t>
            </ns1:r>
          </ns1:p>
          <ns1:p>
            <ns1:r>
              <ns1:t>  "source_ledger": "campaigns/glp1r-final-writeup/runs/2026-10-25_final20-writeup_001/04_analysis/provenance-ledger.json",</ns1:t>
            </ns1:r>
          </ns1:p>
          <ns1:p>
            <ns1:r>
              <ns1:t>  "scorer": "deltaforge_v10_2_unified_parallel / v10_2_unified_parallel_2026_05_08",</ns1:t>
            </ns1:r>
          </ns1:p>
          <ns1:p>
            <ns1:r>
              <ns1:t>  "calibration": "deltaforge_v10_boltz2_calibrated_gbr / v10_boltz2_gbr_2026_03_29",</ns1:t>
            </ns1:r>
          </ns1:p>
          <ns1:p>
            <ns1:r>
              <ns1:t>  "scope": "one complete candidate A against one receptor B; computational, no experimental Kd or activation"</ns1:t>
            </ns1:r>
          </ns1:p>
          <ns1:p>
            <ns1:r>
              <ns1:t>}</ns1:t>
            </ns1:r>
          </ns1:p>
        </ns0:txBody>
      </ns0:sp>
      <ns0:sp>
        <ns0:nvSpPr>
          <ns0:cNvPr id="4" name="Slide Number Placeholder 3"/>
          <ns0:cNvSpPr>
            <ns1:spLocks noGrp="1"/>
          </ns0:cNvSpPr>
          <ns0:nvPr>
            <ns0:ph type="sldNum" idx="5"/>
          </ns0:nvPr>
        </ns0:nvSpPr>
        <ns0:spPr/>
        <ns0:txBody>
          <ns1:bodyPr/>
          <ns1:lstStyle/>
          <ns1:p/>
        </ns0:txBody>
      </ns0:sp>
    </ns0:spTree>
  </ns0:cSld>
  <ns0:clrMapOvr>
    <ns1:masterClrMapping/>
  </ns0:clrMapOvr>
</ns0:notes>
</file>

<file path=ppt/notesSlides/notesSlide24.xml><?xml version="1.0" encoding="utf-8"?>
<ns0:notes xmlns:ns0="http://schemas.openxmlformats.org/presentationml/2006/main" xmlns:ns1="http://schemas.openxmlformats.org/drawingml/2006/main">
  <ns0:cSld>
    <ns0:spTree>
      <ns0:nvGrpSpPr>
        <ns0:cNvPr id="1" name=""/>
        <ns0:cNvGrpSpPr/>
        <ns0:nvPr/>
      </ns0:nvGrpSpPr>
      <ns0:grpSpPr>
        <ns1:xfrm/>
      </ns0:grpSpPr>
      <ns0:sp>
        <ns0:nvSpPr>
          <ns0:cNvPr id="2" name="Slide Image Placeholder 1"/>
          <ns0:cNvSpPr>
            <ns1:spLocks noGrp="1"/>
          </ns0:cNvSpPr>
          <ns0:nvPr>
            <ns0:ph type="sldImg" idx="0"/>
          </ns0:nvPr>
        </ns0:nvSpPr>
        <ns0:spPr/>
      </ns0:sp>
      <ns0:sp>
        <ns0:nvSpPr>
          <ns0:cNvPr id="3" name="Notes Placeholder 2"/>
          <ns0:cNvSpPr>
            <ns1:spLocks noGrp="1"/>
          </ns0:cNvSpPr>
          <ns0:nvPr>
            <ns0:ph type="body" idx="1"/>
          </ns0:nvPr>
        </ns0:nvSpPr>
        <ns0:spPr/>
        <ns0:txBody>
          <ns1:bodyPr/>
          <ns1:lstStyle/>
          <ns1:p>
            <ns1:r>
              <ns1:t>{</ns1:t>
            </ns1:r>
          </ns1:p>
          <ns1:p>
            <ns1:r>
              <ns1:t>  "candidate": "LK_P012_08",</ns1:t>
            </ns1:r>
          </ns1:p>
          <ns1:p>
            <ns1:r>
              <ns1:t>  "final_rank": 12,</ns1:t>
            </ns1:r>
          </ns1:p>
          <ns1:p>
            <ns1:r>
              <ns1:t>  "native_model_sha256": "05354a48a6723a5e62d6a6d0700be933508e8986daad01fb8900ad828620a74d",</ns1:t>
            </ns1:r>
          </ns1:p>
          <ns1:p>
            <ns1:r>
              <ns1:t>  "structure_views": {</ns1:t>
            </ns1:r>
          </ns1:p>
          <ns1:p>
            <ns1:r>
              <ns1:t>    "final_rank": 12,</ns1:t>
            </ns1:r>
          </ns1:p>
          <ns1:p>
            <ns1:r>
              <ns1:t>    "design_id": "LK_P012_08",</ns1:t>
            </ns1:r>
          </ns1:p>
          <ns1:p>
            <ns1:r>
              <ns1:t>    "sequence_sha256": "a8fa1d10358030cab72dca008ae0844ce42d6d4bafa0bd4d7d2b64643ef440c7",</ns1:t>
            </ns1:r>
          </ns1:p>
          <ns1:p>
            <ns1:r>
              <ns1:t>    "native_model_sha256": "05354a48a6723a5e62d6a6d0700be933508e8986daad01fb8900ad828620a74d",</ns1:t>
            </ns1:r>
          </ns1:p>
          <ns1:p>
            <ns1:r>
              <ns1:t>    "scoring_pdb_sha256": "970fc5302535823051074742639b19f84f496d87c9928ba0760abc7cfa16a295",</ns1:t>
            </ns1:r>
          </ns1:p>
          <ns1:p>
            <ns1:r>
              <ns1:t>    "overview": {</ns1:t>
            </ns1:r>
          </ns1:p>
          <ns1:p>
            <ns1:r>
              <ns1:t>      "source_slide": 51,</ns1:t>
            </ns1:r>
          </ns1:p>
          <ns1:p>
            <ns1:r>
              <ns1:t>      "source_picture_index": 1,</ns1:t>
            </ns1:r>
          </ns1:p>
          <ns1:p>
            <ns1:r>
              <ns1:t>      "embedded_media": "ppt/media/image56.jpeg",</ns1:t>
            </ns1:r>
          </ns1:p>
          <ns1:p>
            <ns1:r>
              <ns1:t>      "image_sha256": "bb7ee298896ad90a97c99d74115de8573e8f68dcd80f1f803995ccefdabd1bfd",</ns1:t>
            </ns1:r>
          </ns1:p>
          <ns1:p>
            <ns1:r>
              <ns1:t>      "asset": "assets/LK_P012_08-complex.jpg"</ns1:t>
            </ns1:r>
          </ns1:p>
          <ns1:p>
            <ns1:r>
              <ns1:t>    },</ns1:t>
            </ns1:r>
          </ns1:p>
          <ns1:p>
            <ns1:r>
              <ns1:t>    "interface": {</ns1:t>
            </ns1:r>
          </ns1:p>
          <ns1:p>
            <ns1:r>
              <ns1:t>      "source_slide": 52,</ns1:t>
            </ns1:r>
          </ns1:p>
          <ns1:p>
            <ns1:r>
              <ns1:t>      "source_picture_index": 1,</ns1:t>
            </ns1:r>
          </ns1:p>
          <ns1:p>
            <ns1:r>
              <ns1:t>      "embedded_media": "ppt/media/image59.jpeg",</ns1:t>
            </ns1:r>
          </ns1:p>
          <ns1:p>
            <ns1:r>
              <ns1:t>      "image_sha256": "c450099cc95198b482c5dce663b5007b118c4a798d0107df90765ecf956d2d45",</ns1:t>
            </ns1:r>
          </ns1:p>
          <ns1:p>
            <ns1:r>
              <ns1:t>      "asset": "assets/LK_P012_08-interface.jpg"</ns1:t>
            </ns1:r>
          </ns1:p>
          <ns1:p>
            <ns1:r>
              <ns1:t>    },</ns1:t>
            </ns1:r>
          </ns1:p>
          <ns1:p>
            <ns1:r>
              <ns1:t>    "rendering_provenance": {</ns1:t>
            </ns1:r>
          </ns1:p>
          <ns1:p>
            <ns1:r>
              <ns1:t>      "DeltaForge_source_PDB_sha256": "970fc5302535823051074742639b19f84f496d87c9928ba0760abc7cfa16a295",</ns1:t>
            </ns1:r>
          </ns1:p>
          <ns1:p>
            <ns1:r>
              <ns1:t>      "role_ranges_zero_based": {</ns1:t>
            </ns1:r>
          </ns1:p>
          <ns1:p>
            <ns1:r>
              <ns1:t>        "ECD": [</ns1:t>
            </ns1:r>
          </ns1:p>
          <ns1:p>
            <ns1:r>
              <ns1:t>          0,</ns1:t>
            </ns1:r>
          </ns1:p>
          <ns1:p>
            <ns1:r>
              <ns1:t>          39</ns1:t>
            </ns1:r>
          </ns1:p>
          <ns1:p>
            <ns1:r>
              <ns1:t>        ],</ns1:t>
            </ns1:r>
          </ns1:p>
          <ns1:p>
            <ns1:r>
              <ns1:t>        "linker": [</ns1:t>
            </ns1:r>
          </ns1:p>
          <ns1:p>
            <ns1:r>
              <ns1:t>          39,</ns1:t>
            </ns1:r>
          </ns1:p>
          <ns1:p>
            <ns1:r>
              <ns1:t>          60</ns1:t>
            </ns1:r>
          </ns1:p>
          <ns1:p>
            <ns1:r>
              <ns1:t>        ],</ns1:t>
            </ns1:r>
          </ns1:p>
          <ns1:p>
            <ns1:r>
              <ns1:t>        "LF": [</ns1:t>
            </ns1:r>
          </ns1:p>
          <ns1:p>
            <ns1:r>
              <ns1:t>          60,</ns1:t>
            </ns1:r>
          </ns1:p>
          <ns1:p>
            <ns1:r>
              <ns1:t>          125</ns1:t>
            </ns1:r>
          </ns1:p>
          <ns1:p>
            <ns1:r>
              <ns1:t>        ]</ns1:t>
            </ns1:r>
          </ns1:p>
          <ns1:p>
            <ns1:r>
              <ns1:t>      },</ns1:t>
            </ns1:r>
          </ns1:p>
          <ns1:p>
            <ns1:r>
              <ns1:t>      "model_sha256": "05354a48a6723a5e62d6a6d0700be933508e8986daad01fb8900ad828620a74d",</ns1:t>
            </ns1:r>
          </ns1:p>
          <ns1:p>
            <ns1:r>
              <ns1:t>      "source_run": "2026-10-24_pair183-extracellular-exact_001",</ns1:t>
            </ns1:r>
          </ns1:p>
          <ns1:p>
            <ns1:r>
              <ns1:t>      "source_methods": [</ns1:t>
            </ns1:r>
          </ns1:p>
          <ns1:p>
            <ns1:r>
              <ns1:t>        "https://github.com/DunbrackLab/IPSAE",</ns1:t>
            </ns1:r>
          </ns1:p>
          <ns1:p>
            <ns1:r>
              <ns1:t>        "https://github.com/wallnerlab/DockQ",</ns1:t>
            </ns1:r>
          </ns1:p>
          <ns1:p>
            <ns1:r>
              <ns1:t>        "https://zhanggroup.org/TM-score/"</ns1:t>
            </ns1:r>
          </ns1:p>
          <ns1:p>
            <ns1:r>
              <ns1:t>      ],</ns1:t>
            </ns1:r>
          </ns1:p>
          <ns1:p>
            <ns1:r>
              <ns1:t>      "saved_display_appendix": {</ns1:t>
            </ns1:r>
          </ns1:p>
          <ns1:p>
            <ns1:r>
              <ns1:t>        "parent_sources": {</ns1:t>
            </ns1:r>
          </ns1:p>
          <ns1:p>
            <ns1:r>
              <ns1:t>          "ECD-parent": {</ns1:t>
            </ns1:r>
          </ns1:p>
          <ns1:p>
            <ns1:r>
              <ns1:t>            "key": "LK_P012_08-ECD-parent",</ns1:t>
            </ns1:r>
          </ns1:p>
          <ns1:p>
            <ns1:r>
              <ns1:t>            "source_path": "local/2026-10-25_linker-parent-comparison_001/parents/S08_00_042/exact.pdb",</ns1:t>
            </ns1:r>
          </ns1:p>
          <ns1:p>
            <ns1:r>
              <ns1:t>            "source_sha256": "586dbe8949136305e5e0d5d43c665bd5ed5d95548b9f5bc863aed4430cf0b282",</ns1:t>
            </ns1:r>
          </ns1:p>
          <ns1:p>
            <ns1:r>
              <ns1:t>            "role": "ECD",</ns1:t>
            </ns1:r>
          </ns1:p>
          <ns1:p>
            <ns1:r>
              <ns1:t>            "ranges_zero_based": {</ns1:t>
            </ns1:r>
          </ns1:p>
          <ns1:p>
            <ns1:r>
              <ns1:t>              "ECD": [</ns1:t>
            </ns1:r>
          </ns1:p>
          <ns1:p>
            <ns1:r>
              <ns1:t>                0,</ns1:t>
            </ns1:r>
          </ns1:p>
          <ns1:p>
            <ns1:r>
              <ns1:t>                39</ns1:t>
            </ns1:r>
          </ns1:p>
          <ns1:p>
            <ns1:r>
              <ns1:t>              ]</ns1:t>
            </ns1:r>
          </ns1:p>
          <ns1:p>
            <ns1:r>
              <ns1:t>            },</ns1:t>
            </ns1:r>
          </ns1:p>
          <ns1:p>
            <ns1:r>
              <ns1:t>            "sequence": "MADSISEVSEGVHLILAAQALELPPFVVAARLEEARAKR",</ns1:t>
            </ns1:r>
          </ns1:p>
          <ns1:p>
            <ns1:r>
              <ns1:t>            "rotation": [</ns1:t>
            </ns1:r>
          </ns1:p>
          <ns1:p>
            <ns1:r>
              <ns1:t>              [</ns1:t>
            </ns1:r>
          </ns1:p>
          <ns1:p>
            <ns1:r>
              <ns1:t>                -0.1115210831342317,</ns1:t>
            </ns1:r>
          </ns1:p>
          <ns1:p>
            <ns1:r>
              <ns1:t>                0.9835902168408683,</ns1:t>
            </ns1:r>
          </ns1:p>
          <ns1:p>
            <ns1:r>
              <ns1:t>                -0.1418215514822947</ns1:t>
            </ns1:r>
          </ns1:p>
          <ns1:p>
            <ns1:r>
              <ns1:t>              ],</ns1:t>
            </ns1:r>
          </ns1:p>
          <ns1:p>
            <ns1:r>
              <ns1:t>              [</ns1:t>
            </ns1:r>
          </ns1:p>
          <ns1:p>
            <ns1:r>
              <ns1:t>                0.6850233413445608,</ns1:t>
            </ns1:r>
          </ns1:p>
          <ns1:p>
            <ns1:r>
              <ns1:t>                -0.02730086207089444,</ns1:t>
            </ns1:r>
          </ns1:p>
          <ns1:p>
            <ns1:r>
              <ns1:t>                -0.7280093576971334</ns1:t>
            </ns1:r>
          </ns1:p>
          <ns1:p>
            <ns1:r>
              <ns1:t>              ],</ns1:t>
            </ns1:r>
          </ns1:p>
          <ns1:p>
            <ns1:r>
              <ns1:t>              [</ns1:t>
            </ns1:r>
          </ns1:p>
          <ns1:p>
            <ns1:r>
              <ns1:t>                -0.7199347331369061,</ns1:t>
            </ns1:r>
          </ns1:p>
          <ns1:p>
            <ns1:r>
              <ns1:t>                -0.17833945967167697,</ns1:t>
            </ns1:r>
          </ns1:p>
          <ns1:p>
            <ns1:r>
              <ns1:t>                -0.6707376398307572</ns1:t>
            </ns1:r>
          </ns1:p>
          <ns1:p>
            <ns1:r>
              <ns1:t>              ]</ns1:t>
            </ns1:r>
          </ns1:p>
          <ns1:p>
            <ns1:r>
              <ns1:t>            ],</ns1:t>
            </ns1:r>
          </ns1:p>
          <ns1:p>
            <ns1:r>
              <ns1:t>            "translation": [</ns1:t>
            </ns1:r>
          </ns1:p>
          <ns1:p>
            <ns1:r>
              <ns1:t>              3.8607485500063383,</ns1:t>
            </ns1:r>
          </ns1:p>
          <ns1:p>
            <ns1:r>
              <ns1:t>              4.630699048501577,</ns1:t>
            </ns1:r>
          </ns1:p>
          <ns1:p>
            <ns1:r>
              <ns1:t>              -3.485280759986309</ns1:t>
            </ns1:r>
          </ns1:p>
          <ns1:p>
            <ns1:r>
              <ns1:t>            ],</ns1:t>
            </ns1:r>
          </ns1:p>
          <ns1:p>
            <ns1:r>
              <ns1:t>            "core_fit_CA_RMSD_A": 1.029119308080871,</ns1:t>
            </ns1:r>
          </ns1:p>
          <ns1:p>
            <ns1:r>
              <ns1:t>            "output": "local/2026-10-25_linker-parent-views_001/build/renders-v2/LK_P012_08-ECD-parent.jpg",</ns1:t>
            </ns1:r>
          </ns1:p>
          <ns1:p>
            <ns1:r>
              <ns1:t>            "parent_or_fusion_id": "S08_00_042",</ns1:t>
            </ns1:r>
          </ns1:p>
          <ns1:p>
            <ns1:r>
              <ns1:t>            "design_id": "LK_P012_08",</ns1:t>
            </ns1:r>
          </ns1:p>
          <ns1:p>
            <ns1:r>
              <ns1:t>            "panel": "ECD-parent",</ns1:t>
            </ns1:r>
          </ns1:p>
          <ns1:p>
            <ns1:r>
              <ns1:t>            "view": [</ns1:t>
            </ns1:r>
          </ns1:p>
          <ns1:p>
            <ns1:r>
              <ns1:t>              1,</ns1:t>
            </ns1:r>
          </ns1:p>
          <ns1:p>
            <ns1:r>
              <ns1:t>              0,</ns1:t>
            </ns1:r>
          </ns1:p>
          <ns1:p>
            <ns1:r>
              <ns1:t>              0,</ns1:t>
            </ns1:r>
          </ns1:p>
          <ns1:p>
            <ns1:r>
              <ns1:t>              0,</ns1:t>
            </ns1:r>
          </ns1:p>
          <ns1:p>
            <ns1:r>
              <ns1:t>              1,</ns1:t>
            </ns1:r>
          </ns1:p>
          <ns1:p>
            <ns1:r>
              <ns1:t>              0,</ns1:t>
            </ns1:r>
          </ns1:p>
          <ns1:p>
            <ns1:r>
              <ns1:t>              0,</ns1:t>
            </ns1:r>
          </ns1:p>
          <ns1:p>
            <ns1:r>
              <ns1:t>              0,</ns1:t>
            </ns1:r>
          </ns1:p>
          <ns1:p>
            <ns1:r>
              <ns1:t>              1,</ns1:t>
            </ns1:r>
          </ns1:p>
          <ns1:p>
            <ns1:r>
              <ns1:t>              0,</ns1:t>
            </ns1:r>
          </ns1:p>
          <ns1:p>
            <ns1:r>
              <ns1:t>              0,</ns1:t>
            </ns1:r>
          </ns1:p>
          <ns1:p>
            <ns1:r>
              <ns1:t>              -375.1807890577328,</ns1:t>
            </ns1:r>
          </ns1:p>
          <ns1:p>
            <ns1:r>
              <ns1:t>              -6.0423595806129775,</ns1:t>
            </ns1:r>
          </ns1:p>
          <ns1:p>
            <ns1:r>
              <ns1:t>              17.833570216119554,</ns1:t>
            </ns1:r>
          </ns1:p>
          <ns1:p>
            <ns1:r>
              <ns1:t>              -17.22229832419229,</ns1:t>
            </ns1:r>
          </ns1:p>
          <ns1:p>
            <ns1:r>
              <ns1:t>              309.92548266224577,</ns1:t>
            </ns1:r>
          </ns1:p>
          <ns1:p>
            <ns1:r>
              <ns1:t>              440.4360954532198,</ns1:t>
            </ns1:r>
          </ns1:p>
          <ns1:p>
            <ns1:r>
              <ns1:t>              -20</ns1:t>
            </ns1:r>
          </ns1:p>
          <ns1:p>
            <ns1:r>
              <ns1:t>            ],</ns1:t>
            </ns1:r>
          </ns1:p>
          <ns1:p>
            <ns1:r>
              <ns1:t>            "world_height_A": 132.30899150873904,</ns1:t>
            </ns1:r>
          </ns1:p>
          <ns1:p>
            <ns1:r>
              <ns1:t>            "row_bounds_all_atoms_A": [</ns1:t>
            </ns1:r>
          </ns1:p>
          <ns1:p>
            <ns1:r>
              <ns1:t>              [</ns1:t>
            </ns1:r>
          </ns1:p>
          <ns1:p>
            <ns1:r>
              <ns1:t>                -43.157771701907166,</ns1:t>
            </ns1:r>
          </ns1:p>
          <ns1:p>
            <ns1:r>
              <ns1:t>                -41.320925538249966,</ns1:t>
            </ns1:r>
          </ns1:p>
          <ns1:p>
            <ns1:r>
              <ns1:t>                -67.47760471967932</ns1:t>
            </ns1:r>
          </ns1:p>
          <ns1:p>
            <ns1:r>
              <ns1:t>              ],</ns1:t>
            </ns1:r>
          </ns1:p>
          <ns1:p>
            <ns1:r>
              <ns1:t>              [</ns1:t>
            </ns1:r>
          </ns1:p>
          <ns1:p>
            <ns1:r>
              <ns1:t>                31.07305254068121,</ns1:t>
            </ns1:r>
          </ns1:p>
          <ns1:p>
            <ns1:r>
              <ns1:t>                76.98806597048907,</ns1:t>
            </ns1:r>
          </ns1:p>
          <ns1:p>
            <ns1:r>
              <ns1:t>                33.03300807129474</ns1:t>
            </ns1:r>
          </ns1:p>
          <ns1:p>
            <ns1:r>
              <ns1:t>              ]</ns1:t>
            </ns1:r>
          </ns1:p>
          <ns1:p>
            <ns1:r>
              <ns1:t>            ]</ns1:t>
            </ns1:r>
          </ns1:p>
          <ns1:p>
            <ns1:r>
              <ns1:t>          },</ns1:t>
            </ns1:r>
          </ns1:p>
          <ns1:p>
            <ns1:r>
              <ns1:t>          "APNovo": {</ns1:t>
            </ns1:r>
          </ns1:p>
          <ns1:p>
            <ns1:r>
              <ns1:t>            "key": "LK_P012_08-APNovo",</ns1:t>
            </ns1:r>
          </ns1:p>
          <ns1:p>
            <ns1:r>
              <ns1:t>            "source_path": "local/2026-10-25_linker-top100-review_001/build/comparisons/LK_P012_08/reference.pdb",</ns1:t>
            </ns1:r>
          </ns1:p>
          <ns1:p>
            <ns1:r>
              <ns1:t>            "source_sha256": "531e3b07d4ac1b3b4abe4ea8f6aa7b2cc594709ab59bffc278de38f1aff3fd8b",</ns1:t>
            </ns1:r>
          </ns1:p>
          <ns1:p>
            <ns1:r>
              <ns1:t>            "role": "fusion",</ns1:t>
            </ns1:r>
          </ns1:p>
          <ns1:p>
            <ns1:r>
              <ns1:t>            "ranges_zero_based": {</ns1:t>
            </ns1:r>
          </ns1:p>
          <ns1:p>
            <ns1:r>
              <ns1:t>              "ECD": [</ns1:t>
            </ns1:r>
          </ns1:p>
          <ns1:p>
            <ns1:r>
              <ns1:t>                0,</ns1:t>
            </ns1:r>
          </ns1:p>
          <ns1:p>
            <ns1:r>
              <ns1:t>                39</ns1:t>
            </ns1:r>
          </ns1:p>
          <ns1:p>
            <ns1:r>
              <ns1:t>              ],</ns1:t>
            </ns1:r>
          </ns1:p>
          <ns1:p>
            <ns1:r>
              <ns1:t>              "linker": [</ns1:t>
            </ns1:r>
          </ns1:p>
          <ns1:p>
            <ns1:r>
              <ns1:t>                39,</ns1:t>
            </ns1:r>
          </ns1:p>
          <ns1:p>
            <ns1:r>
              <ns1:t>                60</ns1:t>
            </ns1:r>
          </ns1:p>
          <ns1:p>
            <ns1:r>
              <ns1:t>              ],</ns1:t>
            </ns1:r>
          </ns1:p>
          <ns1:p>
            <ns1:r>
              <ns1:t>              "LF": [</ns1:t>
            </ns1:r>
          </ns1:p>
          <ns1:p>
            <ns1:r>
              <ns1:t>                60,</ns1:t>
            </ns1:r>
          </ns1:p>
          <ns1:p>
            <ns1:r>
              <ns1:t>                125</ns1:t>
            </ns1:r>
          </ns1:p>
          <ns1:p>
            <ns1:r>
              <ns1:t>              ]</ns1:t>
            </ns1:r>
          </ns1:p>
          <ns1:p>
            <ns1:r>
              <ns1:t>            },</ns1:t>
            </ns1:r>
          </ns1:p>
          <ns1:p>
            <ns1:r>
              <ns1:t>            "sequence": "MADSISEVSEGVHLILAAQALELPPFVVAARLEEARAKRGGAPSFLPPPNVTSGYVNGGGAFHLTGLAARCGAVWRGVFCQFGNGVKGEGSVTGGSLNTFYILTVAPTSANILTSGSGSGSLEGS",</ns1:t>
            </ns1:r>
          </ns1:p>
          <ns1:p>
            <ns1:r>
              <ns1:t>            "rotation": [</ns1:t>
            </ns1:r>
          </ns1:p>
          <ns1:p>
            <ns1:r>
              <ns1:t>              [</ns1:t>
            </ns1:r>
          </ns1:p>
          <ns1:p>
            <ns1:r>
              <ns1:t>                0.5312599578036306,</ns1:t>
            </ns1:r>
          </ns1:p>
          <ns1:p>
            <ns1:r>
              <ns1:t>                -0.8089077733482348,</ns1:t>
            </ns1:r>
          </ns1:p>
          <ns1:p>
            <ns1:r>
              <ns1:t>                0.2518553238768293</ns1:t>
            </ns1:r>
          </ns1:p>
          <ns1:p>
            <ns1:r>
              <ns1:t>              ],</ns1:t>
            </ns1:r>
          </ns1:p>
          <ns1:p>
            <ns1:r>
              <ns1:t>              [</ns1:t>
            </ns1:r>
          </ns1:p>
          <ns1:p>
            <ns1:r>
              <ns1:t>                -0.49887658403582336,</ns1:t>
            </ns1:r>
          </ns1:p>
          <ns1:p>
            <ns1:r>
              <ns1:t>                -0.5389603751446335,</ns1:t>
            </ns1:r>
          </ns1:p>
          <ns1:p>
            <ns1:r>
              <ns1:t>                -0.6787075301108718</ns1:t>
            </ns1:r>
          </ns1:p>
          <ns1:p>
            <ns1:r>
              <ns1:t>              ],</ns1:t>
            </ns1:r>
          </ns1:p>
          <ns1:p>
            <ns1:r>
              <ns1:t>              [</ns1:t>
            </ns1:r>
          </ns1:p>
          <ns1:p>
            <ns1:r>
              <ns1:t>                0.684751798850054,</ns1:t>
            </ns1:r>
          </ns1:p>
          <ns1:p>
            <ns1:r>
              <ns1:t>                0.23492539943640278,</ns1:t>
            </ns1:r>
          </ns1:p>
          <ns1:p>
            <ns1:r>
              <ns1:t>                -0.6898731672315037</ns1:t>
            </ns1:r>
          </ns1:p>
          <ns1:p>
            <ns1:r>
              <ns1:t>              ]</ns1:t>
            </ns1:r>
          </ns1:p>
          <ns1:p>
            <ns1:r>
              <ns1:t>            ],</ns1:t>
            </ns1:r>
          </ns1:p>
          <ns1:p>
            <ns1:r>
              <ns1:t>            "translation": [</ns1:t>
            </ns1:r>
          </ns1:p>
          <ns1:p>
            <ns1:r>
              <ns1:t>              -13.506761469234021,</ns1:t>
            </ns1:r>
          </ns1:p>
          <ns1:p>
            <ns1:r>
              <ns1:t>              -7.866028786133306,</ns1:t>
            </ns1:r>
          </ns1:p>
          <ns1:p>
            <ns1:r>
              <ns1:t>              5.680318718429358</ns1:t>
            </ns1:r>
          </ns1:p>
          <ns1:p>
            <ns1:r>
              <ns1:t>            ],</ns1:t>
            </ns1:r>
          </ns1:p>
          <ns1:p>
            <ns1:r>
              <ns1:t>            "core_fit_CA_RMSD_A": 1.0290974972677107,</ns1:t>
            </ns1:r>
          </ns1:p>
          <ns1:p>
            <ns1:r>
              <ns1:t>            "output": "local/2026-10-25_linker-parent-views_001/build/renders-v2/LK_P012_08-APNovo.jpg",</ns1:t>
            </ns1:r>
          </ns1:p>
          <ns1:p>
            <ns1:r>
              <ns1:t>            "parent_or_fusion_id": "LK_P012_08-APNovo",</ns1:t>
            </ns1:r>
          </ns1:p>
          <ns1:p>
            <ns1:r>
              <ns1:t>            "design_id": "LK_P012_08",</ns1:t>
            </ns1:r>
          </ns1:p>
          <ns1:p>
            <ns1:r>
              <ns1:t>            "panel": "APNovo",</ns1:t>
            </ns1:r>
          </ns1:p>
          <ns1:p>
            <ns1:r>
              <ns1:t>            "view": [</ns1:t>
            </ns1:r>
          </ns1:p>
          <ns1:p>
            <ns1:r>
              <ns1:t>              1,</ns1:t>
            </ns1:r>
          </ns1:p>
          <ns1:p>
            <ns1:r>
              <ns1:t>              0,</ns1:t>
            </ns1:r>
          </ns1:p>
          <ns1:p>
            <ns1:r>
              <ns1:t>              0,</ns1:t>
            </ns1:r>
          </ns1:p>
          <ns1:p>
            <ns1:r>
              <ns1:t>              0,</ns1:t>
            </ns1:r>
          </ns1:p>
          <ns1:p>
            <ns1:r>
              <ns1:t>              1,</ns1:t>
            </ns1:r>
          </ns1:p>
          <ns1:p>
            <ns1:r>
              <ns1:t>              0,</ns1:t>
            </ns1:r>
          </ns1:p>
          <ns1:p>
            <ns1:r>
              <ns1:t>              0,</ns1:t>
            </ns1:r>
          </ns1:p>
          <ns1:p>
            <ns1:r>
              <ns1:t>              0,</ns1:t>
            </ns1:r>
          </ns1:p>
          <ns1:p>
            <ns1:r>
              <ns1:t>              1,</ns1:t>
            </ns1:r>
          </ns1:p>
          <ns1:p>
            <ns1:r>
              <ns1:t>              0,</ns1:t>
            </ns1:r>
          </ns1:p>
          <ns1:p>
            <ns1:r>
              <ns1:t>              0,</ns1:t>
            </ns1:r>
          </ns1:p>
          <ns1:p>
            <ns1:r>
              <ns1:t>              -375.1807890577328,</ns1:t>
            </ns1:r>
          </ns1:p>
          <ns1:p>
            <ns1:r>
              <ns1:t>              -6.0423595806129775,</ns1:t>
            </ns1:r>
          </ns1:p>
          <ns1:p>
            <ns1:r>
              <ns1:t>              17.833570216119554,</ns1:t>
            </ns1:r>
          </ns1:p>
          <ns1:p>
            <ns1:r>
              <ns1:t>              -17.22229832419229,</ns1:t>
            </ns1:r>
          </ns1:p>
          <ns1:p>
            <ns1:r>
              <ns1:t>              309.92548266224577,</ns1:t>
            </ns1:r>
          </ns1:p>
          <ns1:p>
            <ns1:r>
              <ns1:t>              440.4360954532198,</ns1:t>
            </ns1:r>
          </ns1:p>
          <ns1:p>
            <ns1:r>
              <ns1:t>              -20</ns1:t>
            </ns1:r>
          </ns1:p>
          <ns1:p>
            <ns1:r>
              <ns1:t>            ],</ns1:t>
            </ns1:r>
          </ns1:p>
          <ns1:p>
            <ns1:r>
              <ns1:t>            "world_height_A": 132.30899150873904,</ns1:t>
            </ns1:r>
          </ns1:p>
          <ns1:p>
            <ns1:r>
              <ns1:t>            "row_bounds_all_atoms_A": [</ns1:t>
            </ns1:r>
          </ns1:p>
          <ns1:p>
            <ns1:r>
              <ns1:t>              [</ns1:t>
            </ns1:r>
          </ns1:p>
          <ns1:p>
            <ns1:r>
              <ns1:t>                -43.157771701907166,</ns1:t>
            </ns1:r>
          </ns1:p>
          <ns1:p>
            <ns1:r>
              <ns1:t>                -41.320925538249966,</ns1:t>
            </ns1:r>
          </ns1:p>
          <ns1:p>
            <ns1:r>
              <ns1:t>                -67.47760471967932</ns1:t>
            </ns1:r>
          </ns1:p>
          <ns1:p>
            <ns1:r>
              <ns1:t>              ],</ns1:t>
            </ns1:r>
          </ns1:p>
          <ns1:p>
            <ns1:r>
              <ns1:t>              [</ns1:t>
            </ns1:r>
          </ns1:p>
          <ns1:p>
            <ns1:r>
              <ns1:t>                31.07305254068121,</ns1:t>
            </ns1:r>
          </ns1:p>
          <ns1:p>
            <ns1:r>
              <ns1:t>                76.98806597048907,</ns1:t>
            </ns1:r>
          </ns1:p>
          <ns1:p>
            <ns1:r>
              <ns1:t>                33.03300807129474</ns1:t>
            </ns1:r>
          </ns1:p>
          <ns1:p>
            <ns1:r>
              <ns1:t>              ]</ns1:t>
            </ns1:r>
          </ns1:p>
          <ns1:p>
            <ns1:r>
              <ns1:t>            ]</ns1:t>
            </ns1:r>
          </ns1:p>
          <ns1:p>
            <ns1:r>
              <ns1:t>          },</ns1:t>
            </ns1:r>
          </ns1:p>
          <ns1:p>
            <ns1:r>
              <ns1:t>          "Exact": {</ns1:t>
            </ns1:r>
          </ns1:p>
          <ns1:p>
            <ns1:r>
              <ns1:t>            "key": "LK_P012_08-Exact",</ns1:t>
            </ns1:r>
          </ns1:p>
          <ns1:p>
            <ns1:r>
              <ns1:t>            "source_path": "local/2026-10-25_linker-top100-review_001/models/LK_P012_08/boltz2.cif",</ns1:t>
            </ns1:r>
          </ns1:p>
          <ns1:p>
            <ns1:r>
              <ns1:t>            "source_sha256": "05354a48a6723a5e62d6a6d0700be933508e8986daad01fb8900ad828620a74d",</ns1:t>
            </ns1:r>
          </ns1:p>
          <ns1:p>
            <ns1:r>
              <ns1:t>            "role": "fusion",</ns1:t>
            </ns1:r>
          </ns1:p>
          <ns1:p>
            <ns1:r>
              <ns1:t>            "ranges_zero_based": {</ns1:t>
            </ns1:r>
          </ns1:p>
          <ns1:p>
            <ns1:r>
              <ns1:t>              "ECD": [</ns1:t>
            </ns1:r>
          </ns1:p>
          <ns1:p>
            <ns1:r>
              <ns1:t>                0,</ns1:t>
            </ns1:r>
          </ns1:p>
          <ns1:p>
            <ns1:r>
              <ns1:t>                39</ns1:t>
            </ns1:r>
          </ns1:p>
          <ns1:p>
            <ns1:r>
              <ns1:t>              ],</ns1:t>
            </ns1:r>
          </ns1:p>
          <ns1:p>
            <ns1:r>
              <ns1:t>              "linker": [</ns1:t>
            </ns1:r>
          </ns1:p>
          <ns1:p>
            <ns1:r>
              <ns1:t>                39,</ns1:t>
            </ns1:r>
          </ns1:p>
          <ns1:p>
            <ns1:r>
              <ns1:t>                60</ns1:t>
            </ns1:r>
          </ns1:p>
          <ns1:p>
            <ns1:r>
              <ns1:t>              ],</ns1:t>
            </ns1:r>
          </ns1:p>
          <ns1:p>
            <ns1:r>
              <ns1:t>              "LF": [</ns1:t>
            </ns1:r>
          </ns1:p>
          <ns1:p>
            <ns1:r>
              <ns1:t>                60,</ns1:t>
            </ns1:r>
          </ns1:p>
          <ns1:p>
            <ns1:r>
              <ns1:t>                125</ns1:t>
            </ns1:r>
          </ns1:p>
          <ns1:p>
            <ns1:r>
              <ns1:t>              ]</ns1:t>
            </ns1:r>
          </ns1:p>
          <ns1:p>
            <ns1:r>
              <ns1:t>            },</ns1:t>
            </ns1:r>
          </ns1:p>
          <ns1:p>
            <ns1:r>
              <ns1:t>            "sequence": "MADSISEVSEGVHLILAAQALELPPFVVAARLEEARAKRGGAPSFLPPPNVTSGYVNGGGAFHLTGLAARCGAVWRGVFCQFGNGVKGEGSVTGGSLNTFYILTVAPTSANILTSGSGSGSLEGS",</ns1:t>
            </ns1:r>
          </ns1:p>
          <ns1:p>
            <ns1:r>
              <ns1:t>            "rotation": [</ns1:t>
            </ns1:r>
          </ns1:p>
          <ns1:p>
            <ns1:r>
              <ns1:t>              [</ns1:t>
            </ns1:r>
          </ns1:p>
          <ns1:p>
            <ns1:r>
              <ns1:t>                0.16970661815816923,</ns1:t>
            </ns1:r>
          </ns1:p>
          <ns1:p>
            <ns1:r>
              <ns1:t>                0.9854237568841433,</ns1:t>
            </ns1:r>
          </ns1:p>
          <ns1:p>
            <ns1:r>
              <ns1:t>                -0.011816291558553682</ns1:t>
            </ns1:r>
          </ns1:p>
          <ns1:p>
            <ns1:r>
              <ns1:t>              ],</ns1:t>
            </ns1:r>
          </ns1:p>
          <ns1:p>
            <ns1:r>
              <ns1:t>              [</ns1:t>
            </ns1:r>
          </ns1:p>
          <ns1:p>
            <ns1:r>
              <ns1:t>                0.6209101221361255,</ns1:t>
            </ns1:r>
          </ns1:p>
          <ns1:p>
            <ns1:r>
              <ns1:t>                -0.11622689653465379,</ns1:t>
            </ns1:r>
          </ns1:p>
          <ns1:p>
            <ns1:r>
              <ns1:t>                -0.7752172840507594</ns1:t>
            </ns1:r>
          </ns1:p>
          <ns1:p>
            <ns1:r>
              <ns1:t>              ],</ns1:t>
            </ns1:r>
          </ns1:p>
          <ns1:p>
            <ns1:r>
              <ns1:t>              [</ns1:t>
            </ns1:r>
          </ns1:p>
          <ns1:p>
            <ns1:r>
              <ns1:t>                -0.7652909807457919,</ns1:t>
            </ns1:r>
          </ns1:p>
          <ns1:p>
            <ns1:r>
              <ns1:t>                0.12422264831330398,</ns1:t>
            </ns1:r>
          </ns1:p>
          <ns1:p>
            <ns1:r>
              <ns1:t>                -0.6315841224510725</ns1:t>
            </ns1:r>
          </ns1:p>
          <ns1:p>
            <ns1:r>
              <ns1:t>              ]</ns1:t>
            </ns1:r>
          </ns1:p>
          <ns1:p>
            <ns1:r>
              <ns1:t>            ],</ns1:t>
            </ns1:r>
          </ns1:p>
          <ns1:p>
            <ns1:r>
              <ns1:t>            "translation": [</ns1:t>
            </ns1:r>
          </ns1:p>
          <ns1:p>
            <ns1:r>
              <ns1:t>              0.2197726165738132,</ns1:t>
            </ns1:r>
          </ns1:p>
          <ns1:p>
            <ns1:r>
              <ns1:t>              2.274811098129649,</ns1:t>
            </ns1:r>
          </ns1:p>
          <ns1:p>
            <ns1:r>
              <ns1:t>              -2.1532297212823908</ns1:t>
            </ns1:r>
          </ns1:p>
          <ns1:p>
            <ns1:r>
              <ns1:t>            ],</ns1:t>
            </ns1:r>
          </ns1:p>
          <ns1:p>
            <ns1:r>
              <ns1:t>            "core_fit_CA_RMSD_A": 1.1311960594416401,</ns1:t>
            </ns1:r>
          </ns1:p>
          <ns1:p>
            <ns1:r>
              <ns1:t>            "output": "local/2026-10-25_linker-parent-views_001/build/renders-v2/LK_P012_08-Exact.jpg",</ns1:t>
            </ns1:r>
          </ns1:p>
          <ns1:p>
            <ns1:r>
              <ns1:t>            "parent_or_fusion_id": "LK_P012_08-Exact",</ns1:t>
            </ns1:r>
          </ns1:p>
          <ns1:p>
            <ns1:r>
              <ns1:t>            "design_id": "LK_P012_08",</ns1:t>
            </ns1:r>
          </ns1:p>
          <ns1:p>
            <ns1:r>
              <ns1:t>            "panel": "Exact",</ns1:t>
            </ns1:r>
          </ns1:p>
          <ns1:p>
            <ns1:r>
              <ns1:t>            "view": [</ns1:t>
            </ns1:r>
          </ns1:p>
          <ns1:p>
            <ns1:r>
              <ns1:t>              1,</ns1:t>
            </ns1:r>
          </ns1:p>
          <ns1:p>
            <ns1:r>
              <ns1:t>              0,</ns1:t>
            </ns1:r>
          </ns1:p>
          <ns1:p>
            <ns1:r>
              <ns1:t>              0,</ns1:t>
            </ns1:r>
          </ns1:p>
          <ns1:p>
            <ns1:r>
              <ns1:t>              0,</ns1:t>
            </ns1:r>
          </ns1:p>
          <ns1:p>
            <ns1:r>
              <ns1:t>              1,</ns1:t>
            </ns1:r>
          </ns1:p>
          <ns1:p>
            <ns1:r>
              <ns1:t>              0,</ns1:t>
            </ns1:r>
          </ns1:p>
          <ns1:p>
            <ns1:r>
              <ns1:t>              0,</ns1:t>
            </ns1:r>
          </ns1:p>
          <ns1:p>
            <ns1:r>
              <ns1:t>              0,</ns1:t>
            </ns1:r>
          </ns1:p>
          <ns1:p>
            <ns1:r>
              <ns1:t>              1,</ns1:t>
            </ns1:r>
          </ns1:p>
          <ns1:p>
            <ns1:r>
              <ns1:t>              0,</ns1:t>
            </ns1:r>
          </ns1:p>
          <ns1:p>
            <ns1:r>
              <ns1:t>              0,</ns1:t>
            </ns1:r>
          </ns1:p>
          <ns1:p>
            <ns1:r>
              <ns1:t>              -375.1807890577328,</ns1:t>
            </ns1:r>
          </ns1:p>
          <ns1:p>
            <ns1:r>
              <ns1:t>              -6.0423595806129775,</ns1:t>
            </ns1:r>
          </ns1:p>
          <ns1:p>
            <ns1:r>
              <ns1:t>              17.833570216119554,</ns1:t>
            </ns1:r>
          </ns1:p>
          <ns1:p>
            <ns1:r>
              <ns1:t>              -17.22229832419229,</ns1:t>
            </ns1:r>
          </ns1:p>
          <ns1:p>
            <ns1:r>
              <ns1:t>              309.92548266224577,</ns1:t>
            </ns1:r>
          </ns1:p>
          <ns1:p>
            <ns1:r>
              <ns1:t>              440.4360954532198,</ns1:t>
            </ns1:r>
          </ns1:p>
          <ns1:p>
            <ns1:r>
              <ns1:t>              -20</ns1:t>
            </ns1:r>
          </ns1:p>
          <ns1:p>
            <ns1:r>
              <ns1:t>            ],</ns1:t>
            </ns1:r>
          </ns1:p>
          <ns1:p>
            <ns1:r>
              <ns1:t>            "world_height_A": 132.30899150873904,</ns1:t>
            </ns1:r>
          </ns1:p>
          <ns1:p>
            <ns1:r>
              <ns1:t>            "row_bounds_all_atoms_A": [</ns1:t>
            </ns1:r>
          </ns1:p>
          <ns1:p>
            <ns1:r>
              <ns1:t>              [</ns1:t>
            </ns1:r>
          </ns1:p>
          <ns1:p>
            <ns1:r>
              <ns1:t>                -43.157771701907166,</ns1:t>
            </ns1:r>
          </ns1:p>
          <ns1:p>
            <ns1:r>
              <ns1:t>                -41.320925538249966,</ns1:t>
            </ns1:r>
          </ns1:p>
          <ns1:p>
            <ns1:r>
              <ns1:t>                -67.47760471967932</ns1:t>
            </ns1:r>
          </ns1:p>
          <ns1:p>
            <ns1:r>
              <ns1:t>              ],</ns1:t>
            </ns1:r>
          </ns1:p>
          <ns1:p>
            <ns1:r>
              <ns1:t>              [</ns1:t>
            </ns1:r>
          </ns1:p>
          <ns1:p>
            <ns1:r>
              <ns1:t>                31.07305254068121,</ns1:t>
            </ns1:r>
          </ns1:p>
          <ns1:p>
            <ns1:r>
              <ns1:t>                76.98806597048907,</ns1:t>
            </ns1:r>
          </ns1:p>
          <ns1:p>
            <ns1:r>
              <ns1:t>                33.03300807129474</ns1:t>
            </ns1:r>
          </ns1:p>
          <ns1:p>
            <ns1:r>
              <ns1:t>              ]</ns1:t>
            </ns1:r>
          </ns1:p>
          <ns1:p>
            <ns1:r>
              <ns1:t>            ]</ns1:t>
            </ns1:r>
          </ns1:p>
          <ns1:p>
            <ns1:r>
              <ns1:t>          },</ns1:t>
            </ns1:r>
          </ns1:p>
          <ns1:p>
            <ns1:r>
              <ns1:t>          "LF-parent": {</ns1:t>
            </ns1:r>
          </ns1:p>
          <ns1:p>
            <ns1:r>
              <ns1:t>            "key": "LK_P012_08-LF-parent",</ns1:t>
            </ns1:r>
          </ns1:p>
          <ns1:p>
            <ns1:r>
              <ns1:t>            "source_path": "local/2026-10-25_linker-parent-comparison_001/parents/Design_991/exact.pdb",</ns1:t>
            </ns1:r>
          </ns1:p>
          <ns1:p>
            <ns1:r>
              <ns1:t>            "source_sha256": "4f8a662dc2ed593fd5dee32e1629c724986d9aed7a1595f5fe62f82875a40b30",</ns1:t>
            </ns1:r>
          </ns1:p>
          <ns1:p>
            <ns1:r>
              <ns1:t>            "role": "LF",</ns1:t>
            </ns1:r>
          </ns1:p>
          <ns1:p>
            <ns1:r>
              <ns1:t>            "ranges_zero_based": {</ns1:t>
            </ns1:r>
          </ns1:p>
          <ns1:p>
            <ns1:r>
              <ns1:t>              "LF": [</ns1:t>
            </ns1:r>
          </ns1:p>
          <ns1:p>
            <ns1:r>
              <ns1:t>                0,</ns1:t>
            </ns1:r>
          </ns1:p>
          <ns1:p>
            <ns1:r>
              <ns1:t>                65</ns1:t>
            </ns1:r>
          </ns1:p>
          <ns1:p>
            <ns1:r>
              <ns1:t>              ]</ns1:t>
            </ns1:r>
          </ns1:p>
          <ns1:p>
            <ns1:r>
              <ns1:t>            },</ns1:t>
            </ns1:r>
          </ns1:p>
          <ns1:p>
            <ns1:r>
              <ns1:t>            "sequence": "AFHLTGLAARCGAVWRGVFCQFGNGVKGEGSVTGGSLNTFYILTVAPTSANILTSGSGSGSLEGS",</ns1:t>
            </ns1:r>
          </ns1:p>
          <ns1:p>
            <ns1:r>
              <ns1:t>            "rotation": [</ns1:t>
            </ns1:r>
          </ns1:p>
          <ns1:p>
            <ns1:r>
              <ns1:t>              [</ns1:t>
            </ns1:r>
          </ns1:p>
          <ns1:p>
            <ns1:r>
              <ns1:t>                0.18609119756738046,</ns1:t>
            </ns1:r>
          </ns1:p>
          <ns1:p>
            <ns1:r>
              <ns1:t>                0.8911453867842396,</ns1:t>
            </ns1:r>
          </ns1:p>
          <ns1:p>
            <ns1:r>
              <ns1:t>                0.4137994593682368</ns1:t>
            </ns1:r>
          </ns1:p>
          <ns1:p>
            <ns1:r>
              <ns1:t>              ],</ns1:t>
            </ns1:r>
          </ns1:p>
          <ns1:p>
            <ns1:r>
              <ns1:t>              [</ns1:t>
            </ns1:r>
          </ns1:p>
          <ns1:p>
            <ns1:r>
              <ns1:t>                -0.12071599924220555,</ns1:t>
            </ns1:r>
          </ns1:p>
          <ns1:p>
            <ns1:r>
              <ns1:t>                0.4387022197578485,</ns1:t>
            </ns1:r>
          </ns1:p>
          <ns1:p>
            <ns1:r>
              <ns1:t>                -0.8904875356810176</ns1:t>
            </ns1:r>
          </ns1:p>
          <ns1:p>
            <ns1:r>
              <ns1:t>              ],</ns1:t>
            </ns1:r>
          </ns1:p>
          <ns1:p>
            <ns1:r>
              <ns1:t>              [</ns1:t>
            </ns1:r>
          </ns1:p>
          <ns1:p>
            <ns1:r>
              <ns1:t>                -0.975088565786745,</ns1:t>
            </ns1:r>
          </ns1:p>
          <ns1:p>
            <ns1:r>
              <ns1:t>                0.11575964260876503,</ns1:t>
            </ns1:r>
          </ns1:p>
          <ns1:p>
            <ns1:r>
              <ns1:t>                0.18921412162218942</ns1:t>
            </ns1:r>
          </ns1:p>
          <ns1:p>
            <ns1:r>
              <ns1:t>              ]</ns1:t>
            </ns1:r>
          </ns1:p>
          <ns1:p>
            <ns1:r>
              <ns1:t>            ],</ns1:t>
            </ns1:r>
          </ns1:p>
          <ns1:p>
            <ns1:r>
              <ns1:t>            "translation": [</ns1:t>
            </ns1:r>
          </ns1:p>
          <ns1:p>
            <ns1:r>
              <ns1:t>              1.169208298701557,</ns1:t>
            </ns1:r>
          </ns1:p>
          <ns1:p>
            <ns1:r>
              <ns1:t>              -3.634658331489863,</ns1:t>
            </ns1:r>
          </ns1:p>
          <ns1:p>
            <ns1:r>
              <ns1:t>              3.72688275909145</ns1:t>
            </ns1:r>
          </ns1:p>
          <ns1:p>
            <ns1:r>
              <ns1:t>            ],</ns1:t>
            </ns1:r>
          </ns1:p>
          <ns1:p>
            <ns1:r>
              <ns1:t>            "core_fit_CA_RMSD_A": 1.015400445473429,</ns1:t>
            </ns1:r>
          </ns1:p>
          <ns1:p>
            <ns1:r>
              <ns1:t>            "output": "local/2026-10-25_linker-parent-views_001/build/renders-v2/LK_P012_08-LF-parent.jpg",</ns1:t>
            </ns1:r>
          </ns1:p>
          <ns1:p>
            <ns1:r>
              <ns1:t>            "parent_or_fusion_id": "Design_991",</ns1:t>
            </ns1:r>
          </ns1:p>
          <ns1:p>
            <ns1:r>
              <ns1:t>            "design_id": "LK_P012_08",</ns1:t>
            </ns1:r>
          </ns1:p>
          <ns1:p>
            <ns1:r>
              <ns1:t>            "panel": "LF-parent",</ns1:t>
            </ns1:r>
          </ns1:p>
          <ns1:p>
            <ns1:r>
              <ns1:t>            "view": [</ns1:t>
            </ns1:r>
          </ns1:p>
          <ns1:p>
            <ns1:r>
              <ns1:t>              1,</ns1:t>
            </ns1:r>
          </ns1:p>
          <ns1:p>
            <ns1:r>
              <ns1:t>              0,</ns1:t>
            </ns1:r>
          </ns1:p>
          <ns1:p>
            <ns1:r>
              <ns1:t>              0,</ns1:t>
            </ns1:r>
          </ns1:p>
          <ns1:p>
            <ns1:r>
              <ns1:t>              0,</ns1:t>
            </ns1:r>
          </ns1:p>
          <ns1:p>
            <ns1:r>
              <ns1:t>              1,</ns1:t>
            </ns1:r>
          </ns1:p>
          <ns1:p>
            <ns1:r>
              <ns1:t>              0,</ns1:t>
            </ns1:r>
          </ns1:p>
          <ns1:p>
            <ns1:r>
              <ns1:t>              0,</ns1:t>
            </ns1:r>
          </ns1:p>
          <ns1:p>
            <ns1:r>
              <ns1:t>              0,</ns1:t>
            </ns1:r>
          </ns1:p>
          <ns1:p>
            <ns1:r>
              <ns1:t>              1,</ns1:t>
            </ns1:r>
          </ns1:p>
          <ns1:p>
            <ns1:r>
              <ns1:t>              0,</ns1:t>
            </ns1:r>
          </ns1:p>
          <ns1:p>
            <ns1:r>
              <ns1:t>              0,</ns1:t>
            </ns1:r>
          </ns1:p>
          <ns1:p>
            <ns1:r>
              <ns1:t>              -375.1807890577328,</ns1:t>
            </ns1:r>
          </ns1:p>
          <ns1:p>
            <ns1:r>
              <ns1:t>              -6.0423595806129775,</ns1:t>
            </ns1:r>
          </ns1:p>
          <ns1:p>
            <ns1:r>
              <ns1:t>              17.833570216119554,</ns1:t>
            </ns1:r>
          </ns1:p>
          <ns1:p>
            <ns1:r>
              <ns1:t>              -17.22229832419229,</ns1:t>
            </ns1:r>
          </ns1:p>
          <ns1:p>
            <ns1:r>
              <ns1:t>              309.92548266224577,</ns1:t>
            </ns1:r>
          </ns1:p>
          <ns1:p>
            <ns1:r>
              <ns1:t>              440.4360954532198,</ns1:t>
            </ns1:r>
          </ns1:p>
          <ns1:p>
            <ns1:r>
              <ns1:t>              -20</ns1:t>
            </ns1:r>
          </ns1:p>
          <ns1:p>
            <ns1:r>
              <ns1:t>            ],</ns1:t>
            </ns1:r>
          </ns1:p>
          <ns1:p>
            <ns1:r>
              <ns1:t>            "world_height_A": 132.30899150873904,</ns1:t>
            </ns1:r>
          </ns1:p>
          <ns1:p>
            <ns1:r>
              <ns1:t>            "row_bounds_all_atoms_A": [</ns1:t>
            </ns1:r>
          </ns1:p>
          <ns1:p>
            <ns1:r>
              <ns1:t>              [</ns1:t>
            </ns1:r>
          </ns1:p>
          <ns1:p>
            <ns1:r>
              <ns1:t>                -43.157771701907166,</ns1:t>
            </ns1:r>
          </ns1:p>
          <ns1:p>
            <ns1:r>
              <ns1:t>                -41.320925538249966,</ns1:t>
            </ns1:r>
          </ns1:p>
          <ns1:p>
            <ns1:r>
              <ns1:t>                -67.47760471967932</ns1:t>
            </ns1:r>
          </ns1:p>
          <ns1:p>
            <ns1:r>
              <ns1:t>              ],</ns1:t>
            </ns1:r>
          </ns1:p>
          <ns1:p>
            <ns1:r>
              <ns1:t>              [</ns1:t>
            </ns1:r>
          </ns1:p>
          <ns1:p>
            <ns1:r>
              <ns1:t>                31.07305254068121,</ns1:t>
            </ns1:r>
          </ns1:p>
          <ns1:p>
            <ns1:r>
              <ns1:t>                76.98806597048907,</ns1:t>
            </ns1:r>
          </ns1:p>
          <ns1:p>
            <ns1:r>
              <ns1:t>                33.03300807129474</ns1:t>
            </ns1:r>
          </ns1:p>
          <ns1:p>
            <ns1:r>
              <ns1:t>              ]</ns1:t>
            </ns1:r>
          </ns1:p>
          <ns1:p>
            <ns1:r>
              <ns1:t>            ]</ns1:t>
            </ns1:r>
          </ns1:p>
          <ns1:p>
            <ns1:r>
              <ns1:t>          }</ns1:t>
            </ns1:r>
          </ns1:p>
          <ns1:p>
            <ns1:r>
              <ns1:t>        },</ns1:t>
            </ns1:r>
          </ns1:p>
          <ns1:p>
            <ns1:r>
              <ns1:t>        "shared_camera": [</ns1:t>
            </ns1:r>
          </ns1:p>
          <ns1:p>
            <ns1:r>
              <ns1:t>          1,</ns1:t>
            </ns1:r>
          </ns1:p>
          <ns1:p>
            <ns1:r>
              <ns1:t>          0,</ns1:t>
            </ns1:r>
          </ns1:p>
          <ns1:p>
            <ns1:r>
              <ns1:t>          0,</ns1:t>
            </ns1:r>
          </ns1:p>
          <ns1:p>
            <ns1:r>
              <ns1:t>          0,</ns1:t>
            </ns1:r>
          </ns1:p>
          <ns1:p>
            <ns1:r>
              <ns1:t>          1,</ns1:t>
            </ns1:r>
          </ns1:p>
          <ns1:p>
            <ns1:r>
              <ns1:t>          0,</ns1:t>
            </ns1:r>
          </ns1:p>
          <ns1:p>
            <ns1:r>
              <ns1:t>          0,</ns1:t>
            </ns1:r>
          </ns1:p>
          <ns1:p>
            <ns1:r>
              <ns1:t>          0,</ns1:t>
            </ns1:r>
          </ns1:p>
          <ns1:p>
            <ns1:r>
              <ns1:t>          1,</ns1:t>
            </ns1:r>
          </ns1:p>
          <ns1:p>
            <ns1:r>
              <ns1:t>          0,</ns1:t>
            </ns1:r>
          </ns1:p>
          <ns1:p>
            <ns1:r>
              <ns1:t>          0,</ns1:t>
            </ns1:r>
          </ns1:p>
          <ns1:p>
            <ns1:r>
              <ns1:t>          -375.1807890577328,</ns1:t>
            </ns1:r>
          </ns1:p>
          <ns1:p>
            <ns1:r>
              <ns1:t>          -6.0423595806129775,</ns1:t>
            </ns1:r>
          </ns1:p>
          <ns1:p>
            <ns1:r>
              <ns1:t>          17.833570216119554,</ns1:t>
            </ns1:r>
          </ns1:p>
          <ns1:p>
            <ns1:r>
              <ns1:t>          -17.22229832419229,</ns1:t>
            </ns1:r>
          </ns1:p>
          <ns1:p>
            <ns1:r>
              <ns1:t>          309.92548266224577,</ns1:t>
            </ns1:r>
          </ns1:p>
          <ns1:p>
            <ns1:r>
              <ns1:t>          440.4360954532198,</ns1:t>
            </ns1:r>
          </ns1:p>
          <ns1:p>
            <ns1:r>
              <ns1:t>          -20</ns1:t>
            </ns1:r>
          </ns1:p>
          <ns1:p>
            <ns1:r>
              <ns1:t>        ],</ns1:t>
            </ns1:r>
          </ns1:p>
          <ns1:p>
            <ns1:r>
              <ns1:t>        "reference": "Separate saved Exact parent complexes flank the linked Exact refold; AP Novo linked design comparison remains on the following slide. Rigid display alignment preserves native poses; all native receptor residues shown."</ns1:t>
            </ns1:r>
          </ns1:p>
          <ns1:p>
            <ns1:r>
              <ns1:t>      }</ns1:t>
            </ns1:r>
          </ns1:p>
          <ns1:p>
            <ns1:r>
              <ns1:t>    },</ns1:t>
            </ns1:r>
          </ns1:p>
          <ns1:p>
            <ns1:r>
              <ns1:t>    "display": "unchanged embedded JPEGs extracted from hash-verified delivered25-design PPTX; no resampling, cropping or new coordinate transforms",</ns1:t>
            </ns1:r>
          </ns1:p>
          <ns1:p>
            <ns1:r>
              <ns1:t>    "scale": "full complex and interface have different zooms; no matched-scale claim",</ns1:t>
            </ns1:r>
          </ns1:p>
          <ns1:p>
            <ns1:r>
              <ns1:t>    "hotspots": "black sticks; original27pocket positions for original LigandForge, R40/Q37/E34 annotations for DLD",</ns1:t>
            </ns1:r>
          </ns1:p>
          <ns1:p>
            <ns1:r>
              <ns1:t>    "colors": {</ns1:t>
            </ns1:r>
          </ns1:p>
          <ns1:p>
            <ns1:r>
              <ns1:t>      "LigandForge": "#E69F00",</ns1:t>
            </ns1:r>
          </ns1:p>
          <ns1:p>
            <ns1:r>
              <ns1:t>      "linker": "#AA4499",</ns1:t>
            </ns1:r>
          </ns1:p>
          <ns1:p>
            <ns1:r>
              <ns1:t>      "ECD_binder": "#0072B2",</ns1:t>
            </ns1:r>
          </ns1:p>
          <ns1:p>
            <ns1:r>
              <ns1:t>      "receptor_ECD": "#009E73",</ns1:t>
            </ns1:r>
          </ns1:p>
          <ns1:p>
            <ns1:r>
              <ns1:t>      "receptor_remainder": "#9AA5B1",</ns1:t>
            </ns1:r>
          </ns1:p>
          <ns1:p>
            <ns1:r>
              <ns1:t>      "hotspots": "#000000"</ns1:t>
            </ns1:r>
          </ns1:p>
          <ns1:p>
            <ns1:r>
              <ns1:t>    }</ns1:t>
            </ns1:r>
          </ns1:p>
          <ns1:p>
            <ns1:r>
              <ns1:t>  },</ns1:t>
            </ns1:r>
          </ns1:p>
          <ns1:p>
            <ns1:r>
              <ns1:t>  "source_deck": "local/2026-10-25_affinity-confidence-selection-deck_002/output/GLP1R_Selected_ipSAE_gt0p895_Kd_lt10nM_v3.pptx",</ns1:t>
            </ns1:r>
          </ns1:p>
          <ns1:p>
            <ns1:r>
              <ns1:t>  "source_deck_sha256": "ad9333fdf6c0ce7d6982e2980d6aade78af256710dbc7917f7f39e41d35aa173",</ns1:t>
            </ns1:r>
          </ns1:p>
          <ns1:p>
            <ns1:r>
              <ns1:t>  "domain_labels": "ECD A1-39  linker A40-60  LF A61-125",</ns1:t>
            </ns1:r>
          </ns1:p>
          <ns1:p>
            <ns1:r>
              <ns1:t>  "display_scope": "native Exact complex and saved interface view; same identity colors, independent zooms; no new coordinates or inferred agonism"</ns1:t>
            </ns1:r>
          </ns1:p>
          <ns1:p>
            <ns1:r>
              <ns1:t>}</ns1:t>
            </ns1:r>
          </ns1:p>
        </ns0:txBody>
      </ns0:sp>
      <ns0:sp>
        <ns0:nvSpPr>
          <ns0:cNvPr id="4" name="Slide Number Placeholder 3"/>
          <ns0:cNvSpPr>
            <ns1:spLocks noGrp="1"/>
          </ns0:cNvSpPr>
          <ns0:nvPr>
            <ns0:ph type="sldNum" idx="5"/>
          </ns0:nvPr>
        </ns0:nvSpPr>
        <ns0:spPr/>
        <ns0:txBody>
          <ns1:bodyPr/>
          <ns1:lstStyle/>
          <ns1:p/>
        </ns0:txBody>
      </ns0:sp>
    </ns0:spTree>
  </ns0:cSld>
  <ns0:clrMapOvr>
    <ns1:masterClrMapping/>
  </ns0:clrMapOvr>
</ns0:notes>
</file>

<file path=ppt/notesSlides/notesSlide25.xml><?xml version="1.0" encoding="utf-8"?>
<ns0:notes xmlns:ns0="http://schemas.openxmlformats.org/presentationml/2006/main" xmlns:ns1="http://schemas.openxmlformats.org/drawingml/2006/main">
  <ns0:cSld>
    <ns0:spTree>
      <ns0:nvGrpSpPr>
        <ns0:cNvPr id="1" name=""/>
        <ns0:cNvGrpSpPr/>
        <ns0:nvPr/>
      </ns0:nvGrpSpPr>
      <ns0:grpSpPr>
        <ns1:xfrm/>
      </ns0:grpSpPr>
      <ns0:sp>
        <ns0:nvSpPr>
          <ns0:cNvPr id="2" name="Slide Image Placeholder 1"/>
          <ns0:cNvSpPr>
            <ns1:spLocks noGrp="1"/>
          </ns0:cNvSpPr>
          <ns0:nvPr>
            <ns0:ph type="sldImg" idx="0"/>
          </ns0:nvPr>
        </ns0:nvSpPr>
        <ns0:spPr/>
      </ns0:sp>
      <ns0:sp>
        <ns0:nvSpPr>
          <ns0:cNvPr id="3" name="Notes Placeholder 2"/>
          <ns0:cNvSpPr>
            <ns1:spLocks noGrp="1"/>
          </ns0:cNvSpPr>
          <ns0:nvPr>
            <ns0:ph type="body" idx="1"/>
          </ns0:nvPr>
        </ns0:nvSpPr>
        <ns0:spPr/>
        <ns0:txBody>
          <ns1:bodyPr/>
          <ns1:lstStyle/>
          <ns1:p>
            <ns1:r>
              <ns1:t>{</ns1:t>
            </ns1:r>
          </ns1:p>
          <ns1:p>
            <ns1:r>
              <ns1:t>  "candidate": "LK_P062_00",</ns1:t>
            </ns1:r>
          </ns1:p>
          <ns1:p>
            <ns1:r>
              <ns1:t>  "final_rank": 13,</ns1:t>
            </ns1:r>
          </ns1:p>
          <ns1:p>
            <ns1:r>
              <ns1:t>  "selection": "Exact ipSAE&gt;0.895 and DeltaForge predicted Kd&lt;10nM; first20 by Exact ipSAE descending",</ns1:t>
            </ns1:r>
          </ns1:p>
          <ns1:p>
            <ns1:r>
              <ns1:t>  "sequence_sha256": "d25de47402eaf8301bd45d56bf0ab83b327eb81914b61bab0977a3e01daa140d",</ns1:t>
            </ns1:r>
          </ns1:p>
          <ns1:p>
            <ns1:r>
              <ns1:t>  "sources": {</ns1:t>
            </ns1:r>
          </ns1:p>
          <ns1:p>
            <ns1:r>
              <ns1:t>    "source_table": {</ns1:t>
            </ns1:r>
          </ns1:p>
          <ns1:p>
            <ns1:r>
              <ns1:t>      "path": "local/2026-10-25_lf50-dld26-50-deltaforge_001/output/GLP1R_DLD_Top50_DeltaForge_Kd_and_Boltz2_Metrics.csv",</ns1:t>
            </ns1:r>
          </ns1:p>
          <ns1:p>
            <ns1:r>
              <ns1:t>      "sha256": "da9569bf0e8b74cce3d6792eb260d6a4b17b35e6f46e0793d49f02c0d3a0e728"</ns1:t>
            </ns1:r>
          </ns1:p>
          <ns1:p>
            <ns1:r>
              <ns1:t>    },</ns1:t>
            </ns1:r>
          </ns1:p>
          <ns1:p>
            <ns1:r>
              <ns1:t>    "native_cif": {</ns1:t>
            </ns1:r>
          </ns1:p>
          <ns1:p>
            <ns1:r>
              <ns1:t>      "path": "local/2026-10-25_linker-top100-review_001/models/LK_P062_00/boltz2.cif",</ns1:t>
            </ns1:r>
          </ns1:p>
          <ns1:p>
            <ns1:r>
              <ns1:t>      "sha256": "dce45c8b68d53fc8283de14d7c4b58921b395dc5b766260bc32bf5e75240d8f3"</ns1:t>
            </ns1:r>
          </ns1:p>
          <ns1:p>
            <ns1:r>
              <ns1:t>    },</ns1:t>
            </ns1:r>
          </ns1:p>
          <ns1:p>
            <ns1:r>
              <ns1:t>    "scoring_pdb": {</ns1:t>
            </ns1:r>
          </ns1:p>
          <ns1:p>
            <ns1:r>
              <ns1:t>      "path": "local/2026-10-25_dld-top25-deltaforge_001/payload/structures/LK_P062_00.pdb",</ns1:t>
            </ns1:r>
          </ns1:p>
          <ns1:p>
            <ns1:r>
              <ns1:t>      "sha256": "f7d9595940d943470113693a9381f7b685598b8ba2b8ab0f1feddd5d3092ab4e"</ns1:t>
            </ns1:r>
          </ns1:p>
          <ns1:p>
            <ns1:r>
              <ns1:t>    },</ns1:t>
            </ns1:r>
          </ns1:p>
          <ns1:p>
            <ns1:r>
              <ns1:t>    "DeltaForge_result": {</ns1:t>
            </ns1:r>
          </ns1:p>
          <ns1:p>
            <ns1:r>
              <ns1:t>      "path": "campaigns/glp1r-r40-design/runs/2026-10-25_dld-top25-deltaforge_001/03_filtering/deltaforge_results/LK_P062_00.json",</ns1:t>
            </ns1:r>
          </ns1:p>
          <ns1:p>
            <ns1:r>
              <ns1:t>      "sha256": "bf2aa21dd94c3b0383884bceb43e35c81230f2f7d8150386a634d0647b68a822"</ns1:t>
            </ns1:r>
          </ns1:p>
          <ns1:p>
            <ns1:r>
              <ns1:t>    }</ns1:t>
            </ns1:r>
          </ns1:p>
          <ns1:p>
            <ns1:r>
              <ns1:t>  },</ns1:t>
            </ns1:r>
          </ns1:p>
          <ns1:p>
            <ns1:r>
              <ns1:t>  "source_ledger": "campaigns/glp1r-final-writeup/runs/2026-10-25_final20-writeup_001/04_analysis/provenance-ledger.json",</ns1:t>
            </ns1:r>
          </ns1:p>
          <ns1:p>
            <ns1:r>
              <ns1:t>  "scorer": "deltaforge_v10_2_unified_parallel / v10_2_unified_parallel_2026_05_08",</ns1:t>
            </ns1:r>
          </ns1:p>
          <ns1:p>
            <ns1:r>
              <ns1:t>  "calibration": "deltaforge_v10_boltz2_calibrated_gbr / v10_boltz2_gbr_2026_03_29",</ns1:t>
            </ns1:r>
          </ns1:p>
          <ns1:p>
            <ns1:r>
              <ns1:t>  "scope": "one complete candidate A against one receptor B; computational, no experimental Kd or activation"</ns1:t>
            </ns1:r>
          </ns1:p>
          <ns1:p>
            <ns1:r>
              <ns1:t>}</ns1:t>
            </ns1:r>
          </ns1:p>
        </ns0:txBody>
      </ns0:sp>
      <ns0:sp>
        <ns0:nvSpPr>
          <ns0:cNvPr id="4" name="Slide Number Placeholder 3"/>
          <ns0:cNvSpPr>
            <ns1:spLocks noGrp="1"/>
          </ns0:cNvSpPr>
          <ns0:nvPr>
            <ns0:ph type="sldNum" idx="5"/>
          </ns0:nvPr>
        </ns0:nvSpPr>
        <ns0:spPr/>
        <ns0:txBody>
          <ns1:bodyPr/>
          <ns1:lstStyle/>
          <ns1:p/>
        </ns0:txBody>
      </ns0:sp>
    </ns0:spTree>
  </ns0:cSld>
  <ns0:clrMapOvr>
    <ns1:masterClrMapping/>
  </ns0:clrMapOvr>
</ns0:notes>
</file>

<file path=ppt/notesSlides/notesSlide26.xml><?xml version="1.0" encoding="utf-8"?>
<ns0:notes xmlns:ns0="http://schemas.openxmlformats.org/presentationml/2006/main" xmlns:ns1="http://schemas.openxmlformats.org/drawingml/2006/main">
  <ns0:cSld>
    <ns0:spTree>
      <ns0:nvGrpSpPr>
        <ns0:cNvPr id="1" name=""/>
        <ns0:cNvGrpSpPr/>
        <ns0:nvPr/>
      </ns0:nvGrpSpPr>
      <ns0:grpSpPr>
        <ns1:xfrm/>
      </ns0:grpSpPr>
      <ns0:sp>
        <ns0:nvSpPr>
          <ns0:cNvPr id="2" name="Slide Image Placeholder 1"/>
          <ns0:cNvSpPr>
            <ns1:spLocks noGrp="1"/>
          </ns0:cNvSpPr>
          <ns0:nvPr>
            <ns0:ph type="sldImg" idx="0"/>
          </ns0:nvPr>
        </ns0:nvSpPr>
        <ns0:spPr/>
      </ns0:sp>
      <ns0:sp>
        <ns0:nvSpPr>
          <ns0:cNvPr id="3" name="Notes Placeholder 2"/>
          <ns0:cNvSpPr>
            <ns1:spLocks noGrp="1"/>
          </ns0:cNvSpPr>
          <ns0:nvPr>
            <ns0:ph type="body" idx="1"/>
          </ns0:nvPr>
        </ns0:nvSpPr>
        <ns0:spPr/>
        <ns0:txBody>
          <ns1:bodyPr/>
          <ns1:lstStyle/>
          <ns1:p>
            <ns1:r>
              <ns1:t>{</ns1:t>
            </ns1:r>
          </ns1:p>
          <ns1:p>
            <ns1:r>
              <ns1:t>  "candidate": "LK_P062_00",</ns1:t>
            </ns1:r>
          </ns1:p>
          <ns1:p>
            <ns1:r>
              <ns1:t>  "final_rank": 13,</ns1:t>
            </ns1:r>
          </ns1:p>
          <ns1:p>
            <ns1:r>
              <ns1:t>  "native_model_sha256": "dce45c8b68d53fc8283de14d7c4b58921b395dc5b766260bc32bf5e75240d8f3",</ns1:t>
            </ns1:r>
          </ns1:p>
          <ns1:p>
            <ns1:r>
              <ns1:t>  "structure_views": {</ns1:t>
            </ns1:r>
          </ns1:p>
          <ns1:p>
            <ns1:r>
              <ns1:t>    "final_rank": 13,</ns1:t>
            </ns1:r>
          </ns1:p>
          <ns1:p>
            <ns1:r>
              <ns1:t>    "design_id": "LK_P062_00",</ns1:t>
            </ns1:r>
          </ns1:p>
          <ns1:p>
            <ns1:r>
              <ns1:t>    "sequence_sha256": "d25de47402eaf8301bd45d56bf0ab83b327eb81914b61bab0977a3e01daa140d",</ns1:t>
            </ns1:r>
          </ns1:p>
          <ns1:p>
            <ns1:r>
              <ns1:t>    "native_model_sha256": "dce45c8b68d53fc8283de14d7c4b58921b395dc5b766260bc32bf5e75240d8f3",</ns1:t>
            </ns1:r>
          </ns1:p>
          <ns1:p>
            <ns1:r>
              <ns1:t>    "scoring_pdb_sha256": "f7d9595940d943470113693a9381f7b685598b8ba2b8ab0f1feddd5d3092ab4e",</ns1:t>
            </ns1:r>
          </ns1:p>
          <ns1:p>
            <ns1:r>
              <ns1:t>    "overview": {</ns1:t>
            </ns1:r>
          </ns1:p>
          <ns1:p>
            <ns1:r>
              <ns1:t>      "source_slide": 55,</ns1:t>
            </ns1:r>
          </ns1:p>
          <ns1:p>
            <ns1:r>
              <ns1:t>      "source_picture_index": 1,</ns1:t>
            </ns1:r>
          </ns1:p>
          <ns1:p>
            <ns1:r>
              <ns1:t>      "embedded_media": "ppt/media/image61.jpeg",</ns1:t>
            </ns1:r>
          </ns1:p>
          <ns1:p>
            <ns1:r>
              <ns1:t>      "image_sha256": "c21182e654299ca5d2bceae0ad1fb995071aae7a761cb58783c9f4e690af8518",</ns1:t>
            </ns1:r>
          </ns1:p>
          <ns1:p>
            <ns1:r>
              <ns1:t>      "asset": "assets/LK_P062_00-complex.jpg"</ns1:t>
            </ns1:r>
          </ns1:p>
          <ns1:p>
            <ns1:r>
              <ns1:t>    },</ns1:t>
            </ns1:r>
          </ns1:p>
          <ns1:p>
            <ns1:r>
              <ns1:t>    "interface": {</ns1:t>
            </ns1:r>
          </ns1:p>
          <ns1:p>
            <ns1:r>
              <ns1:t>      "source_slide": 56,</ns1:t>
            </ns1:r>
          </ns1:p>
          <ns1:p>
            <ns1:r>
              <ns1:t>      "source_picture_index": 1,</ns1:t>
            </ns1:r>
          </ns1:p>
          <ns1:p>
            <ns1:r>
              <ns1:t>      "embedded_media": "ppt/media/image64.jpeg",</ns1:t>
            </ns1:r>
          </ns1:p>
          <ns1:p>
            <ns1:r>
              <ns1:t>      "image_sha256": "6a132dd2aa1a127dcd16132ba436cc697491089348d6c19360464d1a9a59e6fb",</ns1:t>
            </ns1:r>
          </ns1:p>
          <ns1:p>
            <ns1:r>
              <ns1:t>      "asset": "assets/LK_P062_00-interface.jpg"</ns1:t>
            </ns1:r>
          </ns1:p>
          <ns1:p>
            <ns1:r>
              <ns1:t>    },</ns1:t>
            </ns1:r>
          </ns1:p>
          <ns1:p>
            <ns1:r>
              <ns1:t>    "rendering_provenance": {</ns1:t>
            </ns1:r>
          </ns1:p>
          <ns1:p>
            <ns1:r>
              <ns1:t>      "DeltaForge_source_PDB_sha256": "f7d9595940d943470113693a9381f7b685598b8ba2b8ab0f1feddd5d3092ab4e",</ns1:t>
            </ns1:r>
          </ns1:p>
          <ns1:p>
            <ns1:r>
              <ns1:t>      "role_ranges_zero_based": {</ns1:t>
            </ns1:r>
          </ns1:p>
          <ns1:p>
            <ns1:r>
              <ns1:t>        "ECD": [</ns1:t>
            </ns1:r>
          </ns1:p>
          <ns1:p>
            <ns1:r>
              <ns1:t>          0,</ns1:t>
            </ns1:r>
          </ns1:p>
          <ns1:p>
            <ns1:r>
              <ns1:t>          46</ns1:t>
            </ns1:r>
          </ns1:p>
          <ns1:p>
            <ns1:r>
              <ns1:t>        ],</ns1:t>
            </ns1:r>
          </ns1:p>
          <ns1:p>
            <ns1:r>
              <ns1:t>        "linker": [</ns1:t>
            </ns1:r>
          </ns1:p>
          <ns1:p>
            <ns1:r>
              <ns1:t>          46,</ns1:t>
            </ns1:r>
          </ns1:p>
          <ns1:p>
            <ns1:r>
              <ns1:t>          77</ns1:t>
            </ns1:r>
          </ns1:p>
          <ns1:p>
            <ns1:r>
              <ns1:t>        ],</ns1:t>
            </ns1:r>
          </ns1:p>
          <ns1:p>
            <ns1:r>
              <ns1:t>        "LF": [</ns1:t>
            </ns1:r>
          </ns1:p>
          <ns1:p>
            <ns1:r>
              <ns1:t>          77,</ns1:t>
            </ns1:r>
          </ns1:p>
          <ns1:p>
            <ns1:r>
              <ns1:t>          146</ns1:t>
            </ns1:r>
          </ns1:p>
          <ns1:p>
            <ns1:r>
              <ns1:t>        ]</ns1:t>
            </ns1:r>
          </ns1:p>
          <ns1:p>
            <ns1:r>
              <ns1:t>      },</ns1:t>
            </ns1:r>
          </ns1:p>
          <ns1:p>
            <ns1:r>
              <ns1:t>      "model_sha256": "dce45c8b68d53fc8283de14d7c4b58921b395dc5b766260bc32bf5e75240d8f3",</ns1:t>
            </ns1:r>
          </ns1:p>
          <ns1:p>
            <ns1:r>
              <ns1:t>      "source_run": "2026-10-24_pair183-extracellular-exact_001",</ns1:t>
            </ns1:r>
          </ns1:p>
          <ns1:p>
            <ns1:r>
              <ns1:t>      "source_methods": [</ns1:t>
            </ns1:r>
          </ns1:p>
          <ns1:p>
            <ns1:r>
              <ns1:t>        "https://github.com/DunbrackLab/IPSAE",</ns1:t>
            </ns1:r>
          </ns1:p>
          <ns1:p>
            <ns1:r>
              <ns1:t>        "https://github.com/wallnerlab/DockQ",</ns1:t>
            </ns1:r>
          </ns1:p>
          <ns1:p>
            <ns1:r>
              <ns1:t>        "https://zhanggroup.org/TM-score/"</ns1:t>
            </ns1:r>
          </ns1:p>
          <ns1:p>
            <ns1:r>
              <ns1:t>      ],</ns1:t>
            </ns1:r>
          </ns1:p>
          <ns1:p>
            <ns1:r>
              <ns1:t>      "saved_display_appendix": {</ns1:t>
            </ns1:r>
          </ns1:p>
          <ns1:p>
            <ns1:r>
              <ns1:t>        "parent_sources": {</ns1:t>
            </ns1:r>
          </ns1:p>
          <ns1:p>
            <ns1:r>
              <ns1:t>          "ECD-parent": {</ns1:t>
            </ns1:r>
          </ns1:p>
          <ns1:p>
            <ns1:r>
              <ns1:t>            "key": "LK_P062_00-ECD-parent",</ns1:t>
            </ns1:r>
          </ns1:p>
          <ns1:p>
            <ns1:r>
              <ns1:t>            "source_path": "local/2026-10-25_linker-parent-comparison_001/parents/S10_04_045/exact.pdb",</ns1:t>
            </ns1:r>
          </ns1:p>
          <ns1:p>
            <ns1:r>
              <ns1:t>            "source_sha256": "d856a93e192b48e2a32d5571ecf6527fc3c48d52690ec2f3257f8def3feecf50",</ns1:t>
            </ns1:r>
          </ns1:p>
          <ns1:p>
            <ns1:r>
              <ns1:t>            "role": "ECD",</ns1:t>
            </ns1:r>
          </ns1:p>
          <ns1:p>
            <ns1:r>
              <ns1:t>            "ranges_zero_based": {</ns1:t>
            </ns1:r>
          </ns1:p>
          <ns1:p>
            <ns1:r>
              <ns1:t>              "ECD": [</ns1:t>
            </ns1:r>
          </ns1:p>
          <ns1:p>
            <ns1:r>
              <ns1:t>                0,</ns1:t>
            </ns1:r>
          </ns1:p>
          <ns1:p>
            <ns1:r>
              <ns1:t>                46</ns1:t>
            </ns1:r>
          </ns1:p>
          <ns1:p>
            <ns1:r>
              <ns1:t>              ]</ns1:t>
            </ns1:r>
          </ns1:p>
          <ns1:p>
            <ns1:r>
              <ns1:t>            },</ns1:t>
            </ns1:r>
          </ns1:p>
          <ns1:p>
            <ns1:r>
              <ns1:t>            "sequence": "MTDIGEEIKALVALTEGVPPENRPFAVELAQRLSPWFSLYSRLSSR",</ns1:t>
            </ns1:r>
          </ns1:p>
          <ns1:p>
            <ns1:r>
              <ns1:t>            "rotation": [</ns1:t>
            </ns1:r>
          </ns1:p>
          <ns1:p>
            <ns1:r>
              <ns1:t>              [</ns1:t>
            </ns1:r>
          </ns1:p>
          <ns1:p>
            <ns1:r>
              <ns1:t>                -0.7659009152032654,</ns1:t>
            </ns1:r>
          </ns1:p>
          <ns1:p>
            <ns1:r>
              <ns1:t>                0.44457328975867383,</ns1:t>
            </ns1:r>
          </ns1:p>
          <ns1:p>
            <ns1:r>
              <ns1:t>                -0.46448936063786195</ns1:t>
            </ns1:r>
          </ns1:p>
          <ns1:p>
            <ns1:r>
              <ns1:t>              ],</ns1:t>
            </ns1:r>
          </ns1:p>
          <ns1:p>
            <ns1:r>
              <ns1:t>              [</ns1:t>
            </ns1:r>
          </ns1:p>
          <ns1:p>
            <ns1:r>
              <ns1:t>                0.6319833925829315,</ns1:t>
            </ns1:r>
          </ns1:p>
          <ns1:p>
            <ns1:r>
              <ns1:t>                0.3876304664207044,</ns1:t>
            </ns1:r>
          </ns1:p>
          <ns1:p>
            <ns1:r>
              <ns1:t>                -0.671073477369938</ns1:t>
            </ns1:r>
          </ns1:p>
          <ns1:p>
            <ns1:r>
              <ns1:t>              ],</ns1:t>
            </ns1:r>
          </ns1:p>
          <ns1:p>
            <ns1:r>
              <ns1:t>              [</ns1:t>
            </ns1:r>
          </ns1:p>
          <ns1:p>
            <ns1:r>
              <ns1:t>                -0.11829112395071917,</ns1:t>
            </ns1:r>
          </ns1:p>
          <ns1:p>
            <ns1:r>
              <ns1:t>                -0.8075254084960974,</ns1:t>
            </ns1:r>
          </ns1:p>
          <ns1:p>
            <ns1:r>
              <ns1:t>                -0.5778494372454919</ns1:t>
            </ns1:r>
          </ns1:p>
          <ns1:p>
            <ns1:r>
              <ns1:t>              ]</ns1:t>
            </ns1:r>
          </ns1:p>
          <ns1:p>
            <ns1:r>
              <ns1:t>            ],</ns1:t>
            </ns1:r>
          </ns1:p>
          <ns1:p>
            <ns1:r>
              <ns1:t>            "translation": [</ns1:t>
            </ns1:r>
          </ns1:p>
          <ns1:p>
            <ns1:r>
              <ns1:t>              3.337034305635745,</ns1:t>
            </ns1:r>
          </ns1:p>
          <ns1:p>
            <ns1:r>
              <ns1:t>              1.7437276682553975,</ns1:t>
            </ns1:r>
          </ns1:p>
          <ns1:p>
            <ns1:r>
              <ns1:t>              -4.640213931658266</ns1:t>
            </ns1:r>
          </ns1:p>
          <ns1:p>
            <ns1:r>
              <ns1:t>            ],</ns1:t>
            </ns1:r>
          </ns1:p>
          <ns1:p>
            <ns1:r>
              <ns1:t>            "core_fit_CA_RMSD_A": 1.5804245054744916,</ns1:t>
            </ns1:r>
          </ns1:p>
          <ns1:p>
            <ns1:r>
              <ns1:t>            "output": "local/2026-10-25_linker-parent-views_001/build/renders-v2/LK_P062_00-ECD-parent.jpg",</ns1:t>
            </ns1:r>
          </ns1:p>
          <ns1:p>
            <ns1:r>
              <ns1:t>            "parent_or_fusion_id": "S10_04_045",</ns1:t>
            </ns1:r>
          </ns1:p>
          <ns1:p>
            <ns1:r>
              <ns1:t>            "design_id": "LK_P062_00",</ns1:t>
            </ns1:r>
          </ns1:p>
          <ns1:p>
            <ns1:r>
              <ns1:t>            "panel": "ECD-parent",</ns1:t>
            </ns1:r>
          </ns1:p>
          <ns1:p>
            <ns1:r>
              <ns1:t>            "view": [</ns1:t>
            </ns1:r>
          </ns1:p>
          <ns1:p>
            <ns1:r>
              <ns1:t>              1,</ns1:t>
            </ns1:r>
          </ns1:p>
          <ns1:p>
            <ns1:r>
              <ns1:t>              0,</ns1:t>
            </ns1:r>
          </ns1:p>
          <ns1:p>
            <ns1:r>
              <ns1:t>              0,</ns1:t>
            </ns1:r>
          </ns1:p>
          <ns1:p>
            <ns1:r>
              <ns1:t>              0,</ns1:t>
            </ns1:r>
          </ns1:p>
          <ns1:p>
            <ns1:r>
              <ns1:t>              1,</ns1:t>
            </ns1:r>
          </ns1:p>
          <ns1:p>
            <ns1:r>
              <ns1:t>              0,</ns1:t>
            </ns1:r>
          </ns1:p>
          <ns1:p>
            <ns1:r>
              <ns1:t>              0,</ns1:t>
            </ns1:r>
          </ns1:p>
          <ns1:p>
            <ns1:r>
              <ns1:t>              0,</ns1:t>
            </ns1:r>
          </ns1:p>
          <ns1:p>
            <ns1:r>
              <ns1:t>              1,</ns1:t>
            </ns1:r>
          </ns1:p>
          <ns1:p>
            <ns1:r>
              <ns1:t>              0,</ns1:t>
            </ns1:r>
          </ns1:p>
          <ns1:p>
            <ns1:r>
              <ns1:t>              0,</ns1:t>
            </ns1:r>
          </ns1:p>
          <ns1:p>
            <ns1:r>
              <ns1:t>              -402.6122762241926,</ns1:t>
            </ns1:r>
          </ns1:p>
          <ns1:p>
            <ns1:r>
              <ns1:t>              -9.659566563778899,</ns1:t>
            </ns1:r>
          </ns1:p>
          <ns1:p>
            <ns1:r>
              <ns1:t>              18.97552561204033,</ns1:t>
            </ns1:r>
          </ns1:p>
          <ns1:p>
            <ns1:r>
              <ns1:t>              -24.92050513421202,</ns1:t>
            </ns1:r>
          </ns1:p>
          <ns1:p>
            <ns1:r>
              <ns1:t>              334.71367607558113,</ns1:t>
            </ns1:r>
          </ns1:p>
          <ns1:p>
            <ns1:r>
              <ns1:t>              470.5108763728041,</ns1:t>
            </ns1:r>
          </ns1:p>
          <ns1:p>
            <ns1:r>
              <ns1:t>              -20</ns1:t>
            </ns1:r>
          </ns1:p>
          <ns1:p>
            <ns1:r>
              <ns1:t>            ],</ns1:t>
            </ns1:r>
          </ns1:p>
          <ns1:p>
            <ns1:r>
              <ns1:t>            "world_height_A": 141.98281412554877,</ns1:t>
            </ns1:r>
          </ns1:p>
          <ns1:p>
            <ns1:r>
              <ns1:t>            "row_bounds_all_atoms_A": [</ns1:t>
            </ns1:r>
          </ns1:p>
          <ns1:p>
            <ns1:r>
              <ns1:t>              [</ns1:t>
            </ns1:r>
          </ns1:p>
          <ns1:p>
            <ns1:r>
              <ns1:t>                -50.82540039270206,</ns1:t>
            </ns1:r>
          </ns1:p>
          <ns1:p>
            <ns1:r>
              <ns1:t>                -45.01588145073406,</ns1:t>
            </ns1:r>
          </ns1:p>
          <ns1:p>
            <ns1:r>
              <ns1:t>                -77.8191052828235</ns1:t>
            </ns1:r>
          </ns1:p>
          <ns1:p>
            <ns1:r>
              <ns1:t>              ],</ns1:t>
            </ns1:r>
          </ns1:p>
          <ns1:p>
            <ns1:r>
              <ns1:t>              [</ns1:t>
            </ns1:r>
          </ns1:p>
          <ns1:p>
            <ns1:r>
              <ns1:t>                31.50626726514426,</ns1:t>
            </ns1:r>
          </ns1:p>
          <ns1:p>
            <ns1:r>
              <ns1:t>                82.96693267481471,</ns1:t>
            </ns1:r>
          </ns1:p>
          <ns1:p>
            <ns1:r>
              <ns1:t>                27.97809501439946</ns1:t>
            </ns1:r>
          </ns1:p>
          <ns1:p>
            <ns1:r>
              <ns1:t>              ]</ns1:t>
            </ns1:r>
          </ns1:p>
          <ns1:p>
            <ns1:r>
              <ns1:t>            ]</ns1:t>
            </ns1:r>
          </ns1:p>
          <ns1:p>
            <ns1:r>
              <ns1:t>          },</ns1:t>
            </ns1:r>
          </ns1:p>
          <ns1:p>
            <ns1:r>
              <ns1:t>          "APNovo": {</ns1:t>
            </ns1:r>
          </ns1:p>
          <ns1:p>
            <ns1:r>
              <ns1:t>            "key": "LK_P062_00-APNovo",</ns1:t>
            </ns1:r>
          </ns1:p>
          <ns1:p>
            <ns1:r>
              <ns1:t>            "source_path": "local/2026-10-25_linker-top100-review_001/build/comparisons/LK_P062_00/reference.pdb",</ns1:t>
            </ns1:r>
          </ns1:p>
          <ns1:p>
            <ns1:r>
              <ns1:t>            "source_sha256": "9fc05641c81826b66198aef1949f40fe20d9b279d52557dfe99dc861811856c3",</ns1:t>
            </ns1:r>
          </ns1:p>
          <ns1:p>
            <ns1:r>
              <ns1:t>            "role": "fusion",</ns1:t>
            </ns1:r>
          </ns1:p>
          <ns1:p>
            <ns1:r>
              <ns1:t>            "ranges_zero_based": {</ns1:t>
            </ns1:r>
          </ns1:p>
          <ns1:p>
            <ns1:r>
              <ns1:t>              "ECD": [</ns1:t>
            </ns1:r>
          </ns1:p>
          <ns1:p>
            <ns1:r>
              <ns1:t>                0,</ns1:t>
            </ns1:r>
          </ns1:p>
          <ns1:p>
            <ns1:r>
              <ns1:t>                46</ns1:t>
            </ns1:r>
          </ns1:p>
          <ns1:p>
            <ns1:r>
              <ns1:t>              ],</ns1:t>
            </ns1:r>
          </ns1:p>
          <ns1:p>
            <ns1:r>
              <ns1:t>              "linker": [</ns1:t>
            </ns1:r>
          </ns1:p>
          <ns1:p>
            <ns1:r>
              <ns1:t>                46,</ns1:t>
            </ns1:r>
          </ns1:p>
          <ns1:p>
            <ns1:r>
              <ns1:t>                77</ns1:t>
            </ns1:r>
          </ns1:p>
          <ns1:p>
            <ns1:r>
              <ns1:t>              ],</ns1:t>
            </ns1:r>
          </ns1:p>
          <ns1:p>
            <ns1:r>
              <ns1:t>              "LF": [</ns1:t>
            </ns1:r>
          </ns1:p>
          <ns1:p>
            <ns1:r>
              <ns1:t>                77,</ns1:t>
            </ns1:r>
          </ns1:p>
          <ns1:p>
            <ns1:r>
              <ns1:t>                146</ns1:t>
            </ns1:r>
          </ns1:p>
          <ns1:p>
            <ns1:r>
              <ns1:t>              ]</ns1:t>
            </ns1:r>
          </ns1:p>
          <ns1:p>
            <ns1:r>
              <ns1:t>            },</ns1:t>
            </ns1:r>
          </ns1:p>
          <ns1:p>
            <ns1:r>
              <ns1:t>            "sequence": "MTDIGEEIKALVALTEGVPPENRPFAVELAQRLSPWFSLYSRLSSRGGVGSGHPLEPITIVRPPPVPELEPITGPVTEVSGATIDLRVKTCVDFKQTVNFFKLRNTQLPGSCTKDNTVLFLLEGLKLGYASRYFSIGSGSGSQQFS",</ns1:t>
            </ns1:r>
          </ns1:p>
          <ns1:p>
            <ns1:r>
              <ns1:t>            "rotation": [</ns1:t>
            </ns1:r>
          </ns1:p>
          <ns1:p>
            <ns1:r>
              <ns1:t>              [</ns1:t>
            </ns1:r>
          </ns1:p>
          <ns1:p>
            <ns1:r>
              <ns1:t>                -0.7464841219590426,</ns1:t>
            </ns1:r>
          </ns1:p>
          <ns1:p>
            <ns1:r>
              <ns1:t>                0.6174605750755569,</ns1:t>
            </ns1:r>
          </ns1:p>
          <ns1:p>
            <ns1:r>
              <ns1:t>                0.24799973106733475</ns1:t>
            </ns1:r>
          </ns1:p>
          <ns1:p>
            <ns1:r>
              <ns1:t>              ],</ns1:t>
            </ns1:r>
          </ns1:p>
          <ns1:p>
            <ns1:r>
              <ns1:t>              [</ns1:t>
            </ns1:r>
          </ns1:p>
          <ns1:p>
            <ns1:r>
              <ns1:t>                0.5591867037501492,</ns1:t>
            </ns1:r>
          </ns1:p>
          <ns1:p>
            <ns1:r>
              <ns1:t>                0.38011585550119964,</ns1:t>
            </ns1:r>
          </ns1:p>
          <ns1:p>
            <ns1:r>
              <ns1:t>                0.7367646622595139</ns1:t>
            </ns1:r>
          </ns1:p>
          <ns1:p>
            <ns1:r>
              <ns1:t>              ],</ns1:t>
            </ns1:r>
          </ns1:p>
          <ns1:p>
            <ns1:r>
              <ns1:t>              [</ns1:t>
            </ns1:r>
          </ns1:p>
          <ns1:p>
            <ns1:r>
              <ns1:t>                0.360654513484602,</ns1:t>
            </ns1:r>
          </ns1:p>
          <ns1:p>
            <ns1:r>
              <ns1:t>                0.6886613241019546,</ns1:t>
            </ns1:r>
          </ns1:p>
          <ns1:p>
            <ns1:r>
              <ns1:t>                -0.6290261974618905</ns1:t>
            </ns1:r>
          </ns1:p>
          <ns1:p>
            <ns1:r>
              <ns1:t>              ]</ns1:t>
            </ns1:r>
          </ns1:p>
          <ns1:p>
            <ns1:r>
              <ns1:t>            ],</ns1:t>
            </ns1:r>
          </ns1:p>
          <ns1:p>
            <ns1:r>
              <ns1:t>            "translation": [</ns1:t>
            </ns1:r>
          </ns1:p>
          <ns1:p>
            <ns1:r>
              <ns1:t>              -12.814681317967693,</ns1:t>
            </ns1:r>
          </ns1:p>
          <ns1:p>
            <ns1:r>
              <ns1:t>              -11.580958322308518,</ns1:t>
            </ns1:r>
          </ns1:p>
          <ns1:p>
            <ns1:r>
              <ns1:t>              6.066300588185621</ns1:t>
            </ns1:r>
          </ns1:p>
          <ns1:p>
            <ns1:r>
              <ns1:t>            ],</ns1:t>
            </ns1:r>
          </ns1:p>
          <ns1:p>
            <ns1:r>
              <ns1:t>            "core_fit_CA_RMSD_A": 1.5804148260981623,</ns1:t>
            </ns1:r>
          </ns1:p>
          <ns1:p>
            <ns1:r>
              <ns1:t>            "output": "local/2026-10-25_linker-parent-views_001/build/renders-v2/LK_P062_00-APNovo.jpg",</ns1:t>
            </ns1:r>
          </ns1:p>
          <ns1:p>
            <ns1:r>
              <ns1:t>            "parent_or_fusion_id": "LK_P062_00-APNovo",</ns1:t>
            </ns1:r>
          </ns1:p>
          <ns1:p>
            <ns1:r>
              <ns1:t>            "design_id": "LK_P062_00",</ns1:t>
            </ns1:r>
          </ns1:p>
          <ns1:p>
            <ns1:r>
              <ns1:t>            "panel": "APNovo",</ns1:t>
            </ns1:r>
          </ns1:p>
          <ns1:p>
            <ns1:r>
              <ns1:t>            "view": [</ns1:t>
            </ns1:r>
          </ns1:p>
          <ns1:p>
            <ns1:r>
              <ns1:t>              1,</ns1:t>
            </ns1:r>
          </ns1:p>
          <ns1:p>
            <ns1:r>
              <ns1:t>              0,</ns1:t>
            </ns1:r>
          </ns1:p>
          <ns1:p>
            <ns1:r>
              <ns1:t>              0,</ns1:t>
            </ns1:r>
          </ns1:p>
          <ns1:p>
            <ns1:r>
              <ns1:t>              0,</ns1:t>
            </ns1:r>
          </ns1:p>
          <ns1:p>
            <ns1:r>
              <ns1:t>              1,</ns1:t>
            </ns1:r>
          </ns1:p>
          <ns1:p>
            <ns1:r>
              <ns1:t>              0,</ns1:t>
            </ns1:r>
          </ns1:p>
          <ns1:p>
            <ns1:r>
              <ns1:t>              0,</ns1:t>
            </ns1:r>
          </ns1:p>
          <ns1:p>
            <ns1:r>
              <ns1:t>              0,</ns1:t>
            </ns1:r>
          </ns1:p>
          <ns1:p>
            <ns1:r>
              <ns1:t>              1,</ns1:t>
            </ns1:r>
          </ns1:p>
          <ns1:p>
            <ns1:r>
              <ns1:t>              0,</ns1:t>
            </ns1:r>
          </ns1:p>
          <ns1:p>
            <ns1:r>
              <ns1:t>              0,</ns1:t>
            </ns1:r>
          </ns1:p>
          <ns1:p>
            <ns1:r>
              <ns1:t>              -402.6122762241926,</ns1:t>
            </ns1:r>
          </ns1:p>
          <ns1:p>
            <ns1:r>
              <ns1:t>              -9.659566563778899,</ns1:t>
            </ns1:r>
          </ns1:p>
          <ns1:p>
            <ns1:r>
              <ns1:t>              18.97552561204033,</ns1:t>
            </ns1:r>
          </ns1:p>
          <ns1:p>
            <ns1:r>
              <ns1:t>              -24.92050513421202,</ns1:t>
            </ns1:r>
          </ns1:p>
          <ns1:p>
            <ns1:r>
              <ns1:t>              334.71367607558113,</ns1:t>
            </ns1:r>
          </ns1:p>
          <ns1:p>
            <ns1:r>
              <ns1:t>              470.5108763728041,</ns1:t>
            </ns1:r>
          </ns1:p>
          <ns1:p>
            <ns1:r>
              <ns1:t>              -20</ns1:t>
            </ns1:r>
          </ns1:p>
          <ns1:p>
            <ns1:r>
              <ns1:t>            ],</ns1:t>
            </ns1:r>
          </ns1:p>
          <ns1:p>
            <ns1:r>
              <ns1:t>            "world_height_A": 141.98281412554877,</ns1:t>
            </ns1:r>
          </ns1:p>
          <ns1:p>
            <ns1:r>
              <ns1:t>            "row_bounds_all_atoms_A": [</ns1:t>
            </ns1:r>
          </ns1:p>
          <ns1:p>
            <ns1:r>
              <ns1:t>              [</ns1:t>
            </ns1:r>
          </ns1:p>
          <ns1:p>
            <ns1:r>
              <ns1:t>                -50.82540039270206,</ns1:t>
            </ns1:r>
          </ns1:p>
          <ns1:p>
            <ns1:r>
              <ns1:t>                -45.01588145073406,</ns1:t>
            </ns1:r>
          </ns1:p>
          <ns1:p>
            <ns1:r>
              <ns1:t>                -77.8191052828235</ns1:t>
            </ns1:r>
          </ns1:p>
          <ns1:p>
            <ns1:r>
              <ns1:t>              ],</ns1:t>
            </ns1:r>
          </ns1:p>
          <ns1:p>
            <ns1:r>
              <ns1:t>              [</ns1:t>
            </ns1:r>
          </ns1:p>
          <ns1:p>
            <ns1:r>
              <ns1:t>                31.50626726514426,</ns1:t>
            </ns1:r>
          </ns1:p>
          <ns1:p>
            <ns1:r>
              <ns1:t>                82.96693267481471,</ns1:t>
            </ns1:r>
          </ns1:p>
          <ns1:p>
            <ns1:r>
              <ns1:t>                27.97809501439946</ns1:t>
            </ns1:r>
          </ns1:p>
          <ns1:p>
            <ns1:r>
              <ns1:t>              ]</ns1:t>
            </ns1:r>
          </ns1:p>
          <ns1:p>
            <ns1:r>
              <ns1:t>            ]</ns1:t>
            </ns1:r>
          </ns1:p>
          <ns1:p>
            <ns1:r>
              <ns1:t>          },</ns1:t>
            </ns1:r>
          </ns1:p>
          <ns1:p>
            <ns1:r>
              <ns1:t>          "Exact": {</ns1:t>
            </ns1:r>
          </ns1:p>
          <ns1:p>
            <ns1:r>
              <ns1:t>            "key": "LK_P062_00-Exact",</ns1:t>
            </ns1:r>
          </ns1:p>
          <ns1:p>
            <ns1:r>
              <ns1:t>            "source_path": "local/2026-10-25_linker-top100-review_001/models/LK_P062_00/boltz2.cif",</ns1:t>
            </ns1:r>
          </ns1:p>
          <ns1:p>
            <ns1:r>
              <ns1:t>            "source_sha256": "dce45c8b68d53fc8283de14d7c4b58921b395dc5b766260bc32bf5e75240d8f3",</ns1:t>
            </ns1:r>
          </ns1:p>
          <ns1:p>
            <ns1:r>
              <ns1:t>            "role": "fusion",</ns1:t>
            </ns1:r>
          </ns1:p>
          <ns1:p>
            <ns1:r>
              <ns1:t>            "ranges_zero_based": {</ns1:t>
            </ns1:r>
          </ns1:p>
          <ns1:p>
            <ns1:r>
              <ns1:t>              "ECD": [</ns1:t>
            </ns1:r>
          </ns1:p>
          <ns1:p>
            <ns1:r>
              <ns1:t>                0,</ns1:t>
            </ns1:r>
          </ns1:p>
          <ns1:p>
            <ns1:r>
              <ns1:t>                46</ns1:t>
            </ns1:r>
          </ns1:p>
          <ns1:p>
            <ns1:r>
              <ns1:t>              ],</ns1:t>
            </ns1:r>
          </ns1:p>
          <ns1:p>
            <ns1:r>
              <ns1:t>              "linker": [</ns1:t>
            </ns1:r>
          </ns1:p>
          <ns1:p>
            <ns1:r>
              <ns1:t>                46,</ns1:t>
            </ns1:r>
          </ns1:p>
          <ns1:p>
            <ns1:r>
              <ns1:t>                77</ns1:t>
            </ns1:r>
          </ns1:p>
          <ns1:p>
            <ns1:r>
              <ns1:t>              ],</ns1:t>
            </ns1:r>
          </ns1:p>
          <ns1:p>
            <ns1:r>
              <ns1:t>              "LF": [</ns1:t>
            </ns1:r>
          </ns1:p>
          <ns1:p>
            <ns1:r>
              <ns1:t>                77,</ns1:t>
            </ns1:r>
          </ns1:p>
          <ns1:p>
            <ns1:r>
              <ns1:t>                146</ns1:t>
            </ns1:r>
          </ns1:p>
          <ns1:p>
            <ns1:r>
              <ns1:t>              ]</ns1:t>
            </ns1:r>
          </ns1:p>
          <ns1:p>
            <ns1:r>
              <ns1:t>            },</ns1:t>
            </ns1:r>
          </ns1:p>
          <ns1:p>
            <ns1:r>
              <ns1:t>            "sequence": "MTDIGEEIKALVALTEGVPPENRPFAVELAQRLSPWFSLYSRLSSRGGVGSGHPLEPITIVRPPPVPELEPITGPVTEVSGATIDLRVKTCVDFKQTVNFFKLRNTQLPGSCTKDNTVLFLLEGLKLGYASRYFSIGSGSGSQQFS",</ns1:t>
            </ns1:r>
          </ns1:p>
          <ns1:p>
            <ns1:r>
              <ns1:t>            "rotation": [</ns1:t>
            </ns1:r>
          </ns1:p>
          <ns1:p>
            <ns1:r>
              <ns1:t>              [</ns1:t>
            </ns1:r>
          </ns1:p>
          <ns1:p>
            <ns1:r>
              <ns1:t>                0.2948000701186402,</ns1:t>
            </ns1:r>
          </ns1:p>
          <ns1:p>
            <ns1:r>
              <ns1:t>                0.6043207322610122,</ns1:t>
            </ns1:r>
          </ns1:p>
          <ns1:p>
            <ns1:r>
              <ns1:t>                0.7401954927176178</ns1:t>
            </ns1:r>
          </ns1:p>
          <ns1:p>
            <ns1:r>
              <ns1:t>              ],</ns1:t>
            </ns1:r>
          </ns1:p>
          <ns1:p>
            <ns1:r>
              <ns1:t>              [</ns1:t>
            </ns1:r>
          </ns1:p>
          <ns1:p>
            <ns1:r>
              <ns1:t>                0.26588702788232466,</ns1:t>
            </ns1:r>
          </ns1:p>
          <ns1:p>
            <ns1:r>
              <ns1:t>                0.6921517236125538,</ns1:t>
            </ns1:r>
          </ns1:p>
          <ns1:p>
            <ns1:r>
              <ns1:t>                -0.670991869508256</ns1:t>
            </ns1:r>
          </ns1:p>
          <ns1:p>
            <ns1:r>
              <ns1:t>              ],</ns1:t>
            </ns1:r>
          </ns1:p>
          <ns1:p>
            <ns1:r>
              <ns1:t>              [</ns1:t>
            </ns1:r>
          </ns1:p>
          <ns1:p>
            <ns1:r>
              <ns1:t>                -0.91782187756883,</ns1:t>
            </ns1:r>
          </ns1:p>
          <ns1:p>
            <ns1:r>
              <ns1:t>                0.3946168289979468,</ns1:t>
            </ns1:r>
          </ns1:p>
          <ns1:p>
            <ns1:r>
              <ns1:t>                0.043365292829296465</ns1:t>
            </ns1:r>
          </ns1:p>
          <ns1:p>
            <ns1:r>
              <ns1:t>              ]</ns1:t>
            </ns1:r>
          </ns1:p>
          <ns1:p>
            <ns1:r>
              <ns1:t>            ],</ns1:t>
            </ns1:r>
          </ns1:p>
          <ns1:p>
            <ns1:r>
              <ns1:t>            "translation": [</ns1:t>
            </ns1:r>
          </ns1:p>
          <ns1:p>
            <ns1:r>
              <ns1:t>              -3.315992808690771,</ns1:t>
            </ns1:r>
          </ns1:p>
          <ns1:p>
            <ns1:r>
              <ns1:t>              -3.8289024203864486,</ns1:t>
            </ns1:r>
          </ns1:p>
          <ns1:p>
            <ns1:r>
              <ns1:t>              -0.9966176897091257</ns1:t>
            </ns1:r>
          </ns1:p>
          <ns1:p>
            <ns1:r>
              <ns1:t>            ],</ns1:t>
            </ns1:r>
          </ns1:p>
          <ns1:p>
            <ns1:r>
              <ns1:t>            "core_fit_CA_RMSD_A": 1.090003921006582,</ns1:t>
            </ns1:r>
          </ns1:p>
          <ns1:p>
            <ns1:r>
              <ns1:t>            "output": "local/2026-10-25_linker-parent-views_001/build/renders-v2/LK_P062_00-Exact.jpg",</ns1:t>
            </ns1:r>
          </ns1:p>
          <ns1:p>
            <ns1:r>
              <ns1:t>            "parent_or_fusion_id": "LK_P062_00-Exact",</ns1:t>
            </ns1:r>
          </ns1:p>
          <ns1:p>
            <ns1:r>
              <ns1:t>            "design_id": "LK_P062_00",</ns1:t>
            </ns1:r>
          </ns1:p>
          <ns1:p>
            <ns1:r>
              <ns1:t>            "panel": "Exact",</ns1:t>
            </ns1:r>
          </ns1:p>
          <ns1:p>
            <ns1:r>
              <ns1:t>            "view": [</ns1:t>
            </ns1:r>
          </ns1:p>
          <ns1:p>
            <ns1:r>
              <ns1:t>              1,</ns1:t>
            </ns1:r>
          </ns1:p>
          <ns1:p>
            <ns1:r>
              <ns1:t>              0,</ns1:t>
            </ns1:r>
          </ns1:p>
          <ns1:p>
            <ns1:r>
              <ns1:t>              0,</ns1:t>
            </ns1:r>
          </ns1:p>
          <ns1:p>
            <ns1:r>
              <ns1:t>              0,</ns1:t>
            </ns1:r>
          </ns1:p>
          <ns1:p>
            <ns1:r>
              <ns1:t>              1,</ns1:t>
            </ns1:r>
          </ns1:p>
          <ns1:p>
            <ns1:r>
              <ns1:t>              0,</ns1:t>
            </ns1:r>
          </ns1:p>
          <ns1:p>
            <ns1:r>
              <ns1:t>              0,</ns1:t>
            </ns1:r>
          </ns1:p>
          <ns1:p>
            <ns1:r>
              <ns1:t>              0,</ns1:t>
            </ns1:r>
          </ns1:p>
          <ns1:p>
            <ns1:r>
              <ns1:t>              1,</ns1:t>
            </ns1:r>
          </ns1:p>
          <ns1:p>
            <ns1:r>
              <ns1:t>              0,</ns1:t>
            </ns1:r>
          </ns1:p>
          <ns1:p>
            <ns1:r>
              <ns1:t>              0,</ns1:t>
            </ns1:r>
          </ns1:p>
          <ns1:p>
            <ns1:r>
              <ns1:t>              -402.6122762241926,</ns1:t>
            </ns1:r>
          </ns1:p>
          <ns1:p>
            <ns1:r>
              <ns1:t>              -9.659566563778899,</ns1:t>
            </ns1:r>
          </ns1:p>
          <ns1:p>
            <ns1:r>
              <ns1:t>              18.97552561204033,</ns1:t>
            </ns1:r>
          </ns1:p>
          <ns1:p>
            <ns1:r>
              <ns1:t>              -24.92050513421202,</ns1:t>
            </ns1:r>
          </ns1:p>
          <ns1:p>
            <ns1:r>
              <ns1:t>              334.71367607558113,</ns1:t>
            </ns1:r>
          </ns1:p>
          <ns1:p>
            <ns1:r>
              <ns1:t>              470.5108763728041,</ns1:t>
            </ns1:r>
          </ns1:p>
          <ns1:p>
            <ns1:r>
              <ns1:t>              -20</ns1:t>
            </ns1:r>
          </ns1:p>
          <ns1:p>
            <ns1:r>
              <ns1:t>            ],</ns1:t>
            </ns1:r>
          </ns1:p>
          <ns1:p>
            <ns1:r>
              <ns1:t>            "world_height_A": 141.98281412554877,</ns1:t>
            </ns1:r>
          </ns1:p>
          <ns1:p>
            <ns1:r>
              <ns1:t>            "row_bounds_all_atoms_A": [</ns1:t>
            </ns1:r>
          </ns1:p>
          <ns1:p>
            <ns1:r>
              <ns1:t>              [</ns1:t>
            </ns1:r>
          </ns1:p>
          <ns1:p>
            <ns1:r>
              <ns1:t>                -50.82540039270206,</ns1:t>
            </ns1:r>
          </ns1:p>
          <ns1:p>
            <ns1:r>
              <ns1:t>                -45.01588145073406,</ns1:t>
            </ns1:r>
          </ns1:p>
          <ns1:p>
            <ns1:r>
              <ns1:t>                -77.8191052828235</ns1:t>
            </ns1:r>
          </ns1:p>
          <ns1:p>
            <ns1:r>
              <ns1:t>              ],</ns1:t>
            </ns1:r>
          </ns1:p>
          <ns1:p>
            <ns1:r>
              <ns1:t>              [</ns1:t>
            </ns1:r>
          </ns1:p>
          <ns1:p>
            <ns1:r>
              <ns1:t>                31.50626726514426,</ns1:t>
            </ns1:r>
          </ns1:p>
          <ns1:p>
            <ns1:r>
              <ns1:t>                82.96693267481471,</ns1:t>
            </ns1:r>
          </ns1:p>
          <ns1:p>
            <ns1:r>
              <ns1:t>                27.97809501439946</ns1:t>
            </ns1:r>
          </ns1:p>
          <ns1:p>
            <ns1:r>
              <ns1:t>              ]</ns1:t>
            </ns1:r>
          </ns1:p>
          <ns1:p>
            <ns1:r>
              <ns1:t>            ]</ns1:t>
            </ns1:r>
          </ns1:p>
          <ns1:p>
            <ns1:r>
              <ns1:t>          },</ns1:t>
            </ns1:r>
          </ns1:p>
          <ns1:p>
            <ns1:r>
              <ns1:t>          "LF-parent": {</ns1:t>
            </ns1:r>
          </ns1:p>
          <ns1:p>
            <ns1:r>
              <ns1:t>            "key": "LK_P062_00-LF-parent",</ns1:t>
            </ns1:r>
          </ns1:p>
          <ns1:p>
            <ns1:r>
              <ns1:t>            "source_path": "local/2026-10-25_linker-parent-comparison_001/parents/Design_280/exact.pdb",</ns1:t>
            </ns1:r>
          </ns1:p>
          <ns1:p>
            <ns1:r>
              <ns1:t>            "source_sha256": "cd01c89fbf40d0e577c10f20c2afa96c3deef09880d6c761314a1c5e9898bd4f",</ns1:t>
            </ns1:r>
          </ns1:p>
          <ns1:p>
            <ns1:r>
              <ns1:t>            "role": "LF",</ns1:t>
            </ns1:r>
          </ns1:p>
          <ns1:p>
            <ns1:r>
              <ns1:t>            "ranges_zero_based": {</ns1:t>
            </ns1:r>
          </ns1:p>
          <ns1:p>
            <ns1:r>
              <ns1:t>              "LF": [</ns1:t>
            </ns1:r>
          </ns1:p>
          <ns1:p>
            <ns1:r>
              <ns1:t>                0,</ns1:t>
            </ns1:r>
          </ns1:p>
          <ns1:p>
            <ns1:r>
              <ns1:t>                69</ns1:t>
            </ns1:r>
          </ns1:p>
          <ns1:p>
            <ns1:r>
              <ns1:t>              ]</ns1:t>
            </ns1:r>
          </ns1:p>
          <ns1:p>
            <ns1:r>
              <ns1:t>            },</ns1:t>
            </ns1:r>
          </ns1:p>
          <ns1:p>
            <ns1:r>
              <ns1:t>            "sequence": "EVSGATIDLRVKTCVDFKQTVNFFKLRNTQLPGSCTKDNTVLFLLEGLKLGYASRYFSIGSGSGSQQFS",</ns1:t>
            </ns1:r>
          </ns1:p>
          <ns1:p>
            <ns1:r>
              <ns1:t>            "rotation": [</ns1:t>
            </ns1:r>
          </ns1:p>
          <ns1:p>
            <ns1:r>
              <ns1:t>              [</ns1:t>
            </ns1:r>
          </ns1:p>
          <ns1:p>
            <ns1:r>
              <ns1:t>                0.9716521520149124,</ns1:t>
            </ns1:r>
          </ns1:p>
          <ns1:p>
            <ns1:r>
              <ns1:t>                0.23640963200020604,</ns1:t>
            </ns1:r>
          </ns1:p>
          <ns1:p>
            <ns1:r>
              <ns1:t>                -0.0015985785293137766</ns1:t>
            </ns1:r>
          </ns1:p>
          <ns1:p>
            <ns1:r>
              <ns1:t>              ],</ns1:t>
            </ns1:r>
          </ns1:p>
          <ns1:p>
            <ns1:r>
              <ns1:t>              [</ns1:t>
            </ns1:r>
          </ns1:p>
          <ns1:p>
            <ns1:r>
              <ns1:t>                -0.232382419508661,</ns1:t>
            </ns1:r>
          </ns1:p>
          <ns1:p>
            <ns1:r>
              <ns1:t>                0.9563002615331773,</ns1:t>
            </ns1:r>
          </ns1:p>
          <ns1:p>
            <ns1:r>
              <ns1:t>                0.17744913387297956</ns1:t>
            </ns1:r>
          </ns1:p>
          <ns1:p>
            <ns1:r>
              <ns1:t>              ],</ns1:t>
            </ns1:r>
          </ns1:p>
          <ns1:p>
            <ns1:r>
              <ns1:t>              [</ns1:t>
            </ns1:r>
          </ns1:p>
          <ns1:p>
            <ns1:r>
              <ns1:t>                0.04347938667791329,</ns1:t>
            </ns1:r>
          </ns1:p>
          <ns1:p>
            <ns1:r>
              <ns1:t>                -0.1720473610249762,</ns1:t>
            </ns1:r>
          </ns1:p>
          <ns1:p>
            <ns1:r>
              <ns1:t>                0.9841286681075418</ns1:t>
            </ns1:r>
          </ns1:p>
          <ns1:p>
            <ns1:r>
              <ns1:t>              ]</ns1:t>
            </ns1:r>
          </ns1:p>
          <ns1:p>
            <ns1:r>
              <ns1:t>            ],</ns1:t>
            </ns1:r>
          </ns1:p>
          <ns1:p>
            <ns1:r>
              <ns1:t>            "translation": [</ns1:t>
            </ns1:r>
          </ns1:p>
          <ns1:p>
            <ns1:r>
              <ns1:t>              3.3985903455718525,</ns1:t>
            </ns1:r>
          </ns1:p>
          <ns1:p>
            <ns1:r>
              <ns1:t>              -6.121573941428423,</ns1:t>
            </ns1:r>
          </ns1:p>
          <ns1:p>
            <ns1:r>
              <ns1:t>              6.014485827651381</ns1:t>
            </ns1:r>
          </ns1:p>
          <ns1:p>
            <ns1:r>
              <ns1:t>            ],</ns1:t>
            </ns1:r>
          </ns1:p>
          <ns1:p>
            <ns1:r>
              <ns1:t>            "core_fit_CA_RMSD_A": 1.3060904572635719,</ns1:t>
            </ns1:r>
          </ns1:p>
          <ns1:p>
            <ns1:r>
              <ns1:t>            "output": "local/2026-10-25_linker-parent-views_001/build/renders-v2/LK_P062_00-LF-parent.jpg",</ns1:t>
            </ns1:r>
          </ns1:p>
          <ns1:p>
            <ns1:r>
              <ns1:t>            "parent_or_fusion_id": "Design_280",</ns1:t>
            </ns1:r>
          </ns1:p>
          <ns1:p>
            <ns1:r>
              <ns1:t>            "design_id": "LK_P062_00",</ns1:t>
            </ns1:r>
          </ns1:p>
          <ns1:p>
            <ns1:r>
              <ns1:t>            "panel": "LF-parent",</ns1:t>
            </ns1:r>
          </ns1:p>
          <ns1:p>
            <ns1:r>
              <ns1:t>            "view": [</ns1:t>
            </ns1:r>
          </ns1:p>
          <ns1:p>
            <ns1:r>
              <ns1:t>              1,</ns1:t>
            </ns1:r>
          </ns1:p>
          <ns1:p>
            <ns1:r>
              <ns1:t>              0,</ns1:t>
            </ns1:r>
          </ns1:p>
          <ns1:p>
            <ns1:r>
              <ns1:t>              0,</ns1:t>
            </ns1:r>
          </ns1:p>
          <ns1:p>
            <ns1:r>
              <ns1:t>              0,</ns1:t>
            </ns1:r>
          </ns1:p>
          <ns1:p>
            <ns1:r>
              <ns1:t>              1,</ns1:t>
            </ns1:r>
          </ns1:p>
          <ns1:p>
            <ns1:r>
              <ns1:t>              0,</ns1:t>
            </ns1:r>
          </ns1:p>
          <ns1:p>
            <ns1:r>
              <ns1:t>              0,</ns1:t>
            </ns1:r>
          </ns1:p>
          <ns1:p>
            <ns1:r>
              <ns1:t>              0,</ns1:t>
            </ns1:r>
          </ns1:p>
          <ns1:p>
            <ns1:r>
              <ns1:t>              1,</ns1:t>
            </ns1:r>
          </ns1:p>
          <ns1:p>
            <ns1:r>
              <ns1:t>              0,</ns1:t>
            </ns1:r>
          </ns1:p>
          <ns1:p>
            <ns1:r>
              <ns1:t>              0,</ns1:t>
            </ns1:r>
          </ns1:p>
          <ns1:p>
            <ns1:r>
              <ns1:t>              -402.6122762241926,</ns1:t>
            </ns1:r>
          </ns1:p>
          <ns1:p>
            <ns1:r>
              <ns1:t>              -9.659566563778899,</ns1:t>
            </ns1:r>
          </ns1:p>
          <ns1:p>
            <ns1:r>
              <ns1:t>              18.97552561204033,</ns1:t>
            </ns1:r>
          </ns1:p>
          <ns1:p>
            <ns1:r>
              <ns1:t>              -24.92050513421202,</ns1:t>
            </ns1:r>
          </ns1:p>
          <ns1:p>
            <ns1:r>
              <ns1:t>              334.71367607558113,</ns1:t>
            </ns1:r>
          </ns1:p>
          <ns1:p>
            <ns1:r>
              <ns1:t>              470.5108763728041,</ns1:t>
            </ns1:r>
          </ns1:p>
          <ns1:p>
            <ns1:r>
              <ns1:t>              -20</ns1:t>
            </ns1:r>
          </ns1:p>
          <ns1:p>
            <ns1:r>
              <ns1:t>            ],</ns1:t>
            </ns1:r>
          </ns1:p>
          <ns1:p>
            <ns1:r>
              <ns1:t>            "world_height_A": 141.98281412554877,</ns1:t>
            </ns1:r>
          </ns1:p>
          <ns1:p>
            <ns1:r>
              <ns1:t>            "row_bounds_all_atoms_A": [</ns1:t>
            </ns1:r>
          </ns1:p>
          <ns1:p>
            <ns1:r>
              <ns1:t>              [</ns1:t>
            </ns1:r>
          </ns1:p>
          <ns1:p>
            <ns1:r>
              <ns1:t>                -50.82540039270206,</ns1:t>
            </ns1:r>
          </ns1:p>
          <ns1:p>
            <ns1:r>
              <ns1:t>                -45.01588145073406,</ns1:t>
            </ns1:r>
          </ns1:p>
          <ns1:p>
            <ns1:r>
              <ns1:t>                -77.8191052828235</ns1:t>
            </ns1:r>
          </ns1:p>
          <ns1:p>
            <ns1:r>
              <ns1:t>              ],</ns1:t>
            </ns1:r>
          </ns1:p>
          <ns1:p>
            <ns1:r>
              <ns1:t>              [</ns1:t>
            </ns1:r>
          </ns1:p>
          <ns1:p>
            <ns1:r>
              <ns1:t>                31.50626726514426,</ns1:t>
            </ns1:r>
          </ns1:p>
          <ns1:p>
            <ns1:r>
              <ns1:t>                82.96693267481471,</ns1:t>
            </ns1:r>
          </ns1:p>
          <ns1:p>
            <ns1:r>
              <ns1:t>                27.97809501439946</ns1:t>
            </ns1:r>
          </ns1:p>
          <ns1:p>
            <ns1:r>
              <ns1:t>              ]</ns1:t>
            </ns1:r>
          </ns1:p>
          <ns1:p>
            <ns1:r>
              <ns1:t>            ]</ns1:t>
            </ns1:r>
          </ns1:p>
          <ns1:p>
            <ns1:r>
              <ns1:t>          }</ns1:t>
            </ns1:r>
          </ns1:p>
          <ns1:p>
            <ns1:r>
              <ns1:t>        },</ns1:t>
            </ns1:r>
          </ns1:p>
          <ns1:p>
            <ns1:r>
              <ns1:t>        "shared_camera": [</ns1:t>
            </ns1:r>
          </ns1:p>
          <ns1:p>
            <ns1:r>
              <ns1:t>          1,</ns1:t>
            </ns1:r>
          </ns1:p>
          <ns1:p>
            <ns1:r>
              <ns1:t>          0,</ns1:t>
            </ns1:r>
          </ns1:p>
          <ns1:p>
            <ns1:r>
              <ns1:t>          0,</ns1:t>
            </ns1:r>
          </ns1:p>
          <ns1:p>
            <ns1:r>
              <ns1:t>          0,</ns1:t>
            </ns1:r>
          </ns1:p>
          <ns1:p>
            <ns1:r>
              <ns1:t>          1,</ns1:t>
            </ns1:r>
          </ns1:p>
          <ns1:p>
            <ns1:r>
              <ns1:t>          0,</ns1:t>
            </ns1:r>
          </ns1:p>
          <ns1:p>
            <ns1:r>
              <ns1:t>          0,</ns1:t>
            </ns1:r>
          </ns1:p>
          <ns1:p>
            <ns1:r>
              <ns1:t>          0,</ns1:t>
            </ns1:r>
          </ns1:p>
          <ns1:p>
            <ns1:r>
              <ns1:t>          1,</ns1:t>
            </ns1:r>
          </ns1:p>
          <ns1:p>
            <ns1:r>
              <ns1:t>          0,</ns1:t>
            </ns1:r>
          </ns1:p>
          <ns1:p>
            <ns1:r>
              <ns1:t>          0,</ns1:t>
            </ns1:r>
          </ns1:p>
          <ns1:p>
            <ns1:r>
              <ns1:t>          -402.6122762241926,</ns1:t>
            </ns1:r>
          </ns1:p>
          <ns1:p>
            <ns1:r>
              <ns1:t>          -9.659566563778899,</ns1:t>
            </ns1:r>
          </ns1:p>
          <ns1:p>
            <ns1:r>
              <ns1:t>          18.97552561204033,</ns1:t>
            </ns1:r>
          </ns1:p>
          <ns1:p>
            <ns1:r>
              <ns1:t>          -24.92050513421202,</ns1:t>
            </ns1:r>
          </ns1:p>
          <ns1:p>
            <ns1:r>
              <ns1:t>          334.71367607558113,</ns1:t>
            </ns1:r>
          </ns1:p>
          <ns1:p>
            <ns1:r>
              <ns1:t>          470.5108763728041,</ns1:t>
            </ns1:r>
          </ns1:p>
          <ns1:p>
            <ns1:r>
              <ns1:t>          -20</ns1:t>
            </ns1:r>
          </ns1:p>
          <ns1:p>
            <ns1:r>
              <ns1:t>        ],</ns1:t>
            </ns1:r>
          </ns1:p>
          <ns1:p>
            <ns1:r>
              <ns1:t>        "reference": "Separate saved Exact parent complexes flank the linked Exact refold; AP Novo linked design comparison remains on the following slide. Rigid display alignment preserves native poses; all native receptor residues shown."</ns1:t>
            </ns1:r>
          </ns1:p>
          <ns1:p>
            <ns1:r>
              <ns1:t>      }</ns1:t>
            </ns1:r>
          </ns1:p>
          <ns1:p>
            <ns1:r>
              <ns1:t>    },</ns1:t>
            </ns1:r>
          </ns1:p>
          <ns1:p>
            <ns1:r>
              <ns1:t>    "display": "unchanged embedded JPEGs extracted from hash-verified delivered25-design PPTX; no resampling, cropping or new coordinate transforms",</ns1:t>
            </ns1:r>
          </ns1:p>
          <ns1:p>
            <ns1:r>
              <ns1:t>    "scale": "full complex and interface have different zooms; no matched-scale claim",</ns1:t>
            </ns1:r>
          </ns1:p>
          <ns1:p>
            <ns1:r>
              <ns1:t>    "hotspots": "black sticks; original27pocket positions for original LigandForge, R40/Q37/E34 annotations for DLD",</ns1:t>
            </ns1:r>
          </ns1:p>
          <ns1:p>
            <ns1:r>
              <ns1:t>    "colors": {</ns1:t>
            </ns1:r>
          </ns1:p>
          <ns1:p>
            <ns1:r>
              <ns1:t>      "LigandForge": "#E69F00",</ns1:t>
            </ns1:r>
          </ns1:p>
          <ns1:p>
            <ns1:r>
              <ns1:t>      "linker": "#AA4499",</ns1:t>
            </ns1:r>
          </ns1:p>
          <ns1:p>
            <ns1:r>
              <ns1:t>      "ECD_binder": "#0072B2",</ns1:t>
            </ns1:r>
          </ns1:p>
          <ns1:p>
            <ns1:r>
              <ns1:t>      "receptor_ECD": "#009E73",</ns1:t>
            </ns1:r>
          </ns1:p>
          <ns1:p>
            <ns1:r>
              <ns1:t>      "receptor_remainder": "#9AA5B1",</ns1:t>
            </ns1:r>
          </ns1:p>
          <ns1:p>
            <ns1:r>
              <ns1:t>      "hotspots": "#000000"</ns1:t>
            </ns1:r>
          </ns1:p>
          <ns1:p>
            <ns1:r>
              <ns1:t>    }</ns1:t>
            </ns1:r>
          </ns1:p>
          <ns1:p>
            <ns1:r>
              <ns1:t>  },</ns1:t>
            </ns1:r>
          </ns1:p>
          <ns1:p>
            <ns1:r>
              <ns1:t>  "source_deck": "local/2026-10-25_affinity-confidence-selection-deck_002/output/GLP1R_Selected_ipSAE_gt0p895_Kd_lt10nM_v3.pptx",</ns1:t>
            </ns1:r>
          </ns1:p>
          <ns1:p>
            <ns1:r>
              <ns1:t>  "source_deck_sha256": "ad9333fdf6c0ce7d6982e2980d6aade78af256710dbc7917f7f39e41d35aa173",</ns1:t>
            </ns1:r>
          </ns1:p>
          <ns1:p>
            <ns1:r>
              <ns1:t>  "domain_labels": "ECD A1-46  linker A47-77  LF A78-146",</ns1:t>
            </ns1:r>
          </ns1:p>
          <ns1:p>
            <ns1:r>
              <ns1:t>  "display_scope": "native Exact complex and saved interface view; same identity colors, independent zooms; no new coordinates or inferred agonism"</ns1:t>
            </ns1:r>
          </ns1:p>
          <ns1:p>
            <ns1:r>
              <ns1:t>}</ns1:t>
            </ns1:r>
          </ns1:p>
        </ns0:txBody>
      </ns0:sp>
      <ns0:sp>
        <ns0:nvSpPr>
          <ns0:cNvPr id="4" name="Slide Number Placeholder 3"/>
          <ns0:cNvSpPr>
            <ns1:spLocks noGrp="1"/>
          </ns0:cNvSpPr>
          <ns0:nvPr>
            <ns0:ph type="sldNum" idx="5"/>
          </ns0:nvPr>
        </ns0:nvSpPr>
        <ns0:spPr/>
        <ns0:txBody>
          <ns1:bodyPr/>
          <ns1:lstStyle/>
          <ns1:p/>
        </ns0:txBody>
      </ns0:sp>
    </ns0:spTree>
  </ns0:cSld>
  <ns0:clrMapOvr>
    <ns1:masterClrMapping/>
  </ns0:clrMapOvr>
</ns0:notes>
</file>

<file path=ppt/notesSlides/notesSlide27.xml><?xml version="1.0" encoding="utf-8"?>
<ns0:notes xmlns:ns0="http://schemas.openxmlformats.org/presentationml/2006/main" xmlns:ns1="http://schemas.openxmlformats.org/drawingml/2006/main">
  <ns0:cSld>
    <ns0:spTree>
      <ns0:nvGrpSpPr>
        <ns0:cNvPr id="1" name=""/>
        <ns0:cNvGrpSpPr/>
        <ns0:nvPr/>
      </ns0:nvGrpSpPr>
      <ns0:grpSpPr>
        <ns1:xfrm/>
      </ns0:grpSpPr>
      <ns0:sp>
        <ns0:nvSpPr>
          <ns0:cNvPr id="2" name="Slide Image Placeholder 1"/>
          <ns0:cNvSpPr>
            <ns1:spLocks noGrp="1"/>
          </ns0:cNvSpPr>
          <ns0:nvPr>
            <ns0:ph type="sldImg" idx="0"/>
          </ns0:nvPr>
        </ns0:nvSpPr>
        <ns0:spPr/>
      </ns0:sp>
      <ns0:sp>
        <ns0:nvSpPr>
          <ns0:cNvPr id="3" name="Notes Placeholder 2"/>
          <ns0:cNvSpPr>
            <ns1:spLocks noGrp="1"/>
          </ns0:cNvSpPr>
          <ns0:nvPr>
            <ns0:ph type="body" idx="1"/>
          </ns0:nvPr>
        </ns0:nvSpPr>
        <ns0:spPr/>
        <ns0:txBody>
          <ns1:bodyPr/>
          <ns1:lstStyle/>
          <ns1:p>
            <ns1:r>
              <ns1:t>{</ns1:t>
            </ns1:r>
          </ns1:p>
          <ns1:p>
            <ns1:r>
              <ns1:t>  "candidate": "Design_440",</ns1:t>
            </ns1:r>
          </ns1:p>
          <ns1:p>
            <ns1:r>
              <ns1:t>  "final_rank": 14,</ns1:t>
            </ns1:r>
          </ns1:p>
          <ns1:p>
            <ns1:r>
              <ns1:t>  "selection": "Exact ipSAE&gt;0.895 and DeltaForge predicted Kd&lt;10nM; first20 by Exact ipSAE descending",</ns1:t>
            </ns1:r>
          </ns1:p>
          <ns1:p>
            <ns1:r>
              <ns1:t>  "sequence_sha256": "6c59785b808d0f88b202feec60fb02b1916c40b1d343c3525c2990c255ce2819",</ns1:t>
            </ns1:r>
          </ns1:p>
          <ns1:p>
            <ns1:r>
              <ns1:t>  "sources": {</ns1:t>
            </ns1:r>
          </ns1:p>
          <ns1:p>
            <ns1:r>
              <ns1:t>    "source_table": {</ns1:t>
            </ns1:r>
          </ns1:p>
          <ns1:p>
            <ns1:r>
              <ns1:t>      "path": "local/2026-10-25_lf50-dld26-50-deltaforge_001/output/GLP1R_LigandForge_Original_Top50_DeltaForge_Kd.csv",</ns1:t>
            </ns1:r>
          </ns1:p>
          <ns1:p>
            <ns1:r>
              <ns1:t>      "sha256": "da4de8915b1ca76443882c0651920ddd9551839d0d75a5b18b8b1ff4653b0360"</ns1:t>
            </ns1:r>
          </ns1:p>
          <ns1:p>
            <ns1:r>
              <ns1:t>    },</ns1:t>
            </ns1:r>
          </ns1:p>
          <ns1:p>
            <ns1:r>
              <ns1:t>    "native_cif": {</ns1:t>
            </ns1:r>
          </ns1:p>
          <ns1:p>
            <ns1:r>
              <ns1:t>      "path": "campaigns/glp1r-ligandforge-boltz2-exact/runs/2026-10-15_ligandforge-exact_001/02_design/chunks/batch-017/kit_outputs/by_seed/Design_440/s101/Design_440_model_0.cif",</ns1:t>
            </ns1:r>
          </ns1:p>
          <ns1:p>
            <ns1:r>
              <ns1:t>      "sha256": "472cb2faf83cc57ac6a6924c72a44f06f02ec0d85e3226147c08b51bc594cb21"</ns1:t>
            </ns1:r>
          </ns1:p>
          <ns1:p>
            <ns1:r>
              <ns1:t>    },</ns1:t>
            </ns1:r>
          </ns1:p>
          <ns1:p>
            <ns1:r>
              <ns1:t>    "scoring_pdb": {</ns1:t>
            </ns1:r>
          </ns1:p>
          <ns1:p>
            <ns1:r>
              <ns1:t>      "path": "local/2026-10-25_lf50-dld26-50-deltaforge_001/LF_Design_440.pdb",</ns1:t>
            </ns1:r>
          </ns1:p>
          <ns1:p>
            <ns1:r>
              <ns1:t>      "sha256": "700bc40ed25e70ba088da4728f31148ae15d80d859a0f2923c3252627429a0d6"</ns1:t>
            </ns1:r>
          </ns1:p>
          <ns1:p>
            <ns1:r>
              <ns1:t>    },</ns1:t>
            </ns1:r>
          </ns1:p>
          <ns1:p>
            <ns1:r>
              <ns1:t>    "DeltaForge_result": {</ns1:t>
            </ns1:r>
          </ns1:p>
          <ns1:p>
            <ns1:r>
              <ns1:t>      "path": "campaigns/glp1r-r40-design/runs/2026-10-25_lf50-dld26-50-deltaforge_001/03_filtering/deltaforge_results/LF_Design_440.json",</ns1:t>
            </ns1:r>
          </ns1:p>
          <ns1:p>
            <ns1:r>
              <ns1:t>      "sha256": "83fceacca3c499f99601e106db9f6d290d1f501b807f8d9f9e1eff4010602ce2"</ns1:t>
            </ns1:r>
          </ns1:p>
          <ns1:p>
            <ns1:r>
              <ns1:t>    }</ns1:t>
            </ns1:r>
          </ns1:p>
          <ns1:p>
            <ns1:r>
              <ns1:t>  },</ns1:t>
            </ns1:r>
          </ns1:p>
          <ns1:p>
            <ns1:r>
              <ns1:t>  "source_ledger": "campaigns/glp1r-final-writeup/runs/2026-10-25_final20-writeup_001/04_analysis/provenance-ledger.json",</ns1:t>
            </ns1:r>
          </ns1:p>
          <ns1:p>
            <ns1:r>
              <ns1:t>  "scorer": "deltaforge_v10_2_unified_parallel / v10_2_unified_parallel_2026_05_08",</ns1:t>
            </ns1:r>
          </ns1:p>
          <ns1:p>
            <ns1:r>
              <ns1:t>  "calibration": "deltaforge_v10_boltz2_calibrated_gbr / v10_boltz2_gbr_2026_03_29",</ns1:t>
            </ns1:r>
          </ns1:p>
          <ns1:p>
            <ns1:r>
              <ns1:t>  "scope": "one complete candidate A against one receptor B; computational, no experimental Kd or activation"</ns1:t>
            </ns1:r>
          </ns1:p>
          <ns1:p>
            <ns1:r>
              <ns1:t>}</ns1:t>
            </ns1:r>
          </ns1:p>
        </ns0:txBody>
      </ns0:sp>
      <ns0:sp>
        <ns0:nvSpPr>
          <ns0:cNvPr id="4" name="Slide Number Placeholder 3"/>
          <ns0:cNvSpPr>
            <ns1:spLocks noGrp="1"/>
          </ns0:cNvSpPr>
          <ns0:nvPr>
            <ns0:ph type="sldNum" idx="5"/>
          </ns0:nvPr>
        </ns0:nvSpPr>
        <ns0:spPr/>
        <ns0:txBody>
          <ns1:bodyPr/>
          <ns1:lstStyle/>
          <ns1:p/>
        </ns0:txBody>
      </ns0:sp>
    </ns0:spTree>
  </ns0:cSld>
  <ns0:clrMapOvr>
    <ns1:masterClrMapping/>
  </ns0:clrMapOvr>
</ns0:notes>
</file>

<file path=ppt/notesSlides/notesSlide28.xml><?xml version="1.0" encoding="utf-8"?>
<ns0:notes xmlns:ns0="http://schemas.openxmlformats.org/presentationml/2006/main" xmlns:ns1="http://schemas.openxmlformats.org/drawingml/2006/main">
  <ns0:cSld>
    <ns0:spTree>
      <ns0:nvGrpSpPr>
        <ns0:cNvPr id="1" name=""/>
        <ns0:cNvGrpSpPr/>
        <ns0:nvPr/>
      </ns0:nvGrpSpPr>
      <ns0:grpSpPr>
        <ns1:xfrm/>
      </ns0:grpSpPr>
      <ns0:sp>
        <ns0:nvSpPr>
          <ns0:cNvPr id="2" name="Slide Image Placeholder 1"/>
          <ns0:cNvSpPr>
            <ns1:spLocks noGrp="1"/>
          </ns0:cNvSpPr>
          <ns0:nvPr>
            <ns0:ph type="sldImg" idx="0"/>
          </ns0:nvPr>
        </ns0:nvSpPr>
        <ns0:spPr/>
      </ns0:sp>
      <ns0:sp>
        <ns0:nvSpPr>
          <ns0:cNvPr id="3" name="Notes Placeholder 2"/>
          <ns0:cNvSpPr>
            <ns1:spLocks noGrp="1"/>
          </ns0:cNvSpPr>
          <ns0:nvPr>
            <ns0:ph type="body" idx="1"/>
          </ns0:nvPr>
        </ns0:nvSpPr>
        <ns0:spPr/>
        <ns0:txBody>
          <ns1:bodyPr/>
          <ns1:lstStyle/>
          <ns1:p>
            <ns1:r>
              <ns1:t>{</ns1:t>
            </ns1:r>
          </ns1:p>
          <ns1:p>
            <ns1:r>
              <ns1:t>  "candidate": "Design_440",</ns1:t>
            </ns1:r>
          </ns1:p>
          <ns1:p>
            <ns1:r>
              <ns1:t>  "final_rank": 14,</ns1:t>
            </ns1:r>
          </ns1:p>
          <ns1:p>
            <ns1:r>
              <ns1:t>  "native_model_sha256": "472cb2faf83cc57ac6a6924c72a44f06f02ec0d85e3226147c08b51bc594cb21",</ns1:t>
            </ns1:r>
          </ns1:p>
          <ns1:p>
            <ns1:r>
              <ns1:t>  "structure_views": {</ns1:t>
            </ns1:r>
          </ns1:p>
          <ns1:p>
            <ns1:r>
              <ns1:t>    "final_rank": 14,</ns1:t>
            </ns1:r>
          </ns1:p>
          <ns1:p>
            <ns1:r>
              <ns1:t>    "design_id": "Design_440",</ns1:t>
            </ns1:r>
          </ns1:p>
          <ns1:p>
            <ns1:r>
              <ns1:t>    "sequence_sha256": "6c59785b808d0f88b202feec60fb02b1916c40b1d343c3525c2990c255ce2819",</ns1:t>
            </ns1:r>
          </ns1:p>
          <ns1:p>
            <ns1:r>
              <ns1:t>    "native_model_sha256": "472cb2faf83cc57ac6a6924c72a44f06f02ec0d85e3226147c08b51bc594cb21",</ns1:t>
            </ns1:r>
          </ns1:p>
          <ns1:p>
            <ns1:r>
              <ns1:t>    "scoring_pdb_sha256": "700bc40ed25e70ba088da4728f31148ae15d80d859a0f2923c3252627429a0d6",</ns1:t>
            </ns1:r>
          </ns1:p>
          <ns1:p>
            <ns1:r>
              <ns1:t>    "overview": {</ns1:t>
            </ns1:r>
          </ns1:p>
          <ns1:p>
            <ns1:r>
              <ns1:t>      "source_slide": 11,</ns1:t>
            </ns1:r>
          </ns1:p>
          <ns1:p>
            <ns1:r>
              <ns1:t>      "source_picture_index": 0,</ns1:t>
            </ns1:r>
          </ns1:p>
          <ns1:p>
            <ns1:r>
              <ns1:t>      "embedded_media": "ppt/media/image7.jpeg",</ns1:t>
            </ns1:r>
          </ns1:p>
          <ns1:p>
            <ns1:r>
              <ns1:t>      "image_sha256": "c9653e6d617d72eef65aa3c68c5314dee3e83266532d643cbed23514dc898fad",</ns1:t>
            </ns1:r>
          </ns1:p>
          <ns1:p>
            <ns1:r>
              <ns1:t>      "asset": "assets/Design_440-complex.jpg"</ns1:t>
            </ns1:r>
          </ns1:p>
          <ns1:p>
            <ns1:r>
              <ns1:t>    },</ns1:t>
            </ns1:r>
          </ns1:p>
          <ns1:p>
            <ns1:r>
              <ns1:t>    "interface": {</ns1:t>
            </ns1:r>
          </ns1:p>
          <ns1:p>
            <ns1:r>
              <ns1:t>      "source_slide": 11,</ns1:t>
            </ns1:r>
          </ns1:p>
          <ns1:p>
            <ns1:r>
              <ns1:t>      "source_picture_index": 1,</ns1:t>
            </ns1:r>
          </ns1:p>
          <ns1:p>
            <ns1:r>
              <ns1:t>      "embedded_media": "ppt/media/image8.jpeg",</ns1:t>
            </ns1:r>
          </ns1:p>
          <ns1:p>
            <ns1:r>
              <ns1:t>      "image_sha256": "2842718bd60440d956712fb73495810fd326b6ffe5a57710363239fa9a4d107f",</ns1:t>
            </ns1:r>
          </ns1:p>
          <ns1:p>
            <ns1:r>
              <ns1:t>      "asset": "assets/Design_440-interface.jpg"</ns1:t>
            </ns1:r>
          </ns1:p>
          <ns1:p>
            <ns1:r>
              <ns1:t>    },</ns1:t>
            </ns1:r>
          </ns1:p>
          <ns1:p>
            <ns1:r>
              <ns1:t>    "rendering_provenance": {</ns1:t>
            </ns1:r>
          </ns1:p>
          <ns1:p>
            <ns1:r>
              <ns1:t>      "source_PDB": "campaigns/glp1r-ligandforge-affinity/runs/2026-10-15_top100-affinity_001/01_staging/payload/pdb_inputs/Design_440.pdb",</ns1:t>
            </ns1:r>
          </ns1:p>
          <ns1:p>
            <ns1:r>
              <ns1:t>      "PDB_SHA256": "700bc40ed25e70ba088da4728f31148ae15d80d859a0f2923c3252627429a0d6",</ns1:t>
            </ns1:r>
          </ns1:p>
          <ns1:p>
            <ns1:r>
              <ns1:t>      "model_SHA256": "472cb2faf83cc57ac6a6924c72a44f06f02ec0d85e3226147c08b51bc594cb21",</ns1:t>
            </ns1:r>
          </ns1:p>
          <ns1:p>
            <ns1:r>
              <ns1:t>      "source_render_script": "local/2026-10-25_affinity-confidence-selection-deck_002/render_originals.py",</ns1:t>
            </ns1:r>
          </ns1:p>
          <ns1:p>
            <ns1:r>
              <ns1:t>      "alignment": "rigid core CA B117-400 fitting; original full/interface zooms reused",</ns1:t>
            </ns1:r>
          </ns1:p>
          <ns1:p>
            <ns1:r>
              <ns1:t>      "camera_version": "saved original full and interface frames from final90-slide deck"</ns1:t>
            </ns1:r>
          </ns1:p>
          <ns1:p>
            <ns1:r>
              <ns1:t>    },</ns1:t>
            </ns1:r>
          </ns1:p>
          <ns1:p>
            <ns1:r>
              <ns1:t>    "display": "unchanged embedded JPEGs extracted from hash-verified delivered25-design PPTX; no resampling, cropping or new coordinate transforms",</ns1:t>
            </ns1:r>
          </ns1:p>
          <ns1:p>
            <ns1:r>
              <ns1:t>    "scale": "full complex and interface have different zooms; no matched-scale claim",</ns1:t>
            </ns1:r>
          </ns1:p>
          <ns1:p>
            <ns1:r>
              <ns1:t>    "hotspots": "black sticks; original27pocket positions for original LigandForge, R40/Q37/E34 annotations for DLD",</ns1:t>
            </ns1:r>
          </ns1:p>
          <ns1:p>
            <ns1:r>
              <ns1:t>    "colors": {</ns1:t>
            </ns1:r>
          </ns1:p>
          <ns1:p>
            <ns1:r>
              <ns1:t>      "LigandForge": "#E69F00",</ns1:t>
            </ns1:r>
          </ns1:p>
          <ns1:p>
            <ns1:r>
              <ns1:t>      "linker": "#AA4499",</ns1:t>
            </ns1:r>
          </ns1:p>
          <ns1:p>
            <ns1:r>
              <ns1:t>      "ECD_binder": "#0072B2",</ns1:t>
            </ns1:r>
          </ns1:p>
          <ns1:p>
            <ns1:r>
              <ns1:t>      "receptor_ECD": "#009E73",</ns1:t>
            </ns1:r>
          </ns1:p>
          <ns1:p>
            <ns1:r>
              <ns1:t>      "receptor_remainder": "#9AA5B1",</ns1:t>
            </ns1:r>
          </ns1:p>
          <ns1:p>
            <ns1:r>
              <ns1:t>      "hotspots": "#000000"</ns1:t>
            </ns1:r>
          </ns1:p>
          <ns1:p>
            <ns1:r>
              <ns1:t>    }</ns1:t>
            </ns1:r>
          </ns1:p>
          <ns1:p>
            <ns1:r>
              <ns1:t>  },</ns1:t>
            </ns1:r>
          </ns1:p>
          <ns1:p>
            <ns1:r>
              <ns1:t>  "source_deck": "local/2026-10-25_affinity-confidence-selection-deck_002/output/GLP1R_Selected_ipSAE_gt0p895_Kd_lt10nM_v3.pptx",</ns1:t>
            </ns1:r>
          </ns1:p>
          <ns1:p>
            <ns1:r>
              <ns1:t>  "source_deck_sha256": "ad9333fdf6c0ce7d6982e2980d6aade78af256710dbc7917f7f39e41d35aa173",</ns1:t>
            </ns1:r>
          </ns1:p>
          <ns1:p>
            <ns1:r>
              <ns1:t>  "domain_labels": "LigandForge A1-54",</ns1:t>
            </ns1:r>
          </ns1:p>
          <ns1:p>
            <ns1:r>
              <ns1:t>  "display_scope": "native Exact complex and saved interface view; same identity colors, independent zooms; no new coordinates or inferred agonism"</ns1:t>
            </ns1:r>
          </ns1:p>
          <ns1:p>
            <ns1:r>
              <ns1:t>}</ns1:t>
            </ns1:r>
          </ns1:p>
        </ns0:txBody>
      </ns0:sp>
      <ns0:sp>
        <ns0:nvSpPr>
          <ns0:cNvPr id="4" name="Slide Number Placeholder 3"/>
          <ns0:cNvSpPr>
            <ns1:spLocks noGrp="1"/>
          </ns0:cNvSpPr>
          <ns0:nvPr>
            <ns0:ph type="sldNum" idx="5"/>
          </ns0:nvPr>
        </ns0:nvSpPr>
        <ns0:spPr/>
        <ns0:txBody>
          <ns1:bodyPr/>
          <ns1:lstStyle/>
          <ns1:p/>
        </ns0:txBody>
      </ns0:sp>
    </ns0:spTree>
  </ns0:cSld>
  <ns0:clrMapOvr>
    <ns1:masterClrMapping/>
  </ns0:clrMapOvr>
</ns0:notes>
</file>

<file path=ppt/notesSlides/notesSlide29.xml><?xml version="1.0" encoding="utf-8"?>
<ns0:notes xmlns:ns0="http://schemas.openxmlformats.org/presentationml/2006/main" xmlns:ns1="http://schemas.openxmlformats.org/drawingml/2006/main">
  <ns0:cSld>
    <ns0:spTree>
      <ns0:nvGrpSpPr>
        <ns0:cNvPr id="1" name=""/>
        <ns0:cNvGrpSpPr/>
        <ns0:nvPr/>
      </ns0:nvGrpSpPr>
      <ns0:grpSpPr>
        <ns1:xfrm/>
      </ns0:grpSpPr>
      <ns0:sp>
        <ns0:nvSpPr>
          <ns0:cNvPr id="2" name="Slide Image Placeholder 1"/>
          <ns0:cNvSpPr>
            <ns1:spLocks noGrp="1"/>
          </ns0:cNvSpPr>
          <ns0:nvPr>
            <ns0:ph type="sldImg" idx="0"/>
          </ns0:nvPr>
        </ns0:nvSpPr>
        <ns0:spPr/>
      </ns0:sp>
      <ns0:sp>
        <ns0:nvSpPr>
          <ns0:cNvPr id="3" name="Notes Placeholder 2"/>
          <ns0:cNvSpPr>
            <ns1:spLocks noGrp="1"/>
          </ns0:cNvSpPr>
          <ns0:nvPr>
            <ns0:ph type="body" idx="1"/>
          </ns0:nvPr>
        </ns0:nvSpPr>
        <ns0:spPr/>
        <ns0:txBody>
          <ns1:bodyPr/>
          <ns1:lstStyle/>
          <ns1:p>
            <ns1:r>
              <ns1:t>{</ns1:t>
            </ns1:r>
          </ns1:p>
          <ns1:p>
            <ns1:r>
              <ns1:t>  "candidate": "LK_P141_07",</ns1:t>
            </ns1:r>
          </ns1:p>
          <ns1:p>
            <ns1:r>
              <ns1:t>  "final_rank": 15,</ns1:t>
            </ns1:r>
          </ns1:p>
          <ns1:p>
            <ns1:r>
              <ns1:t>  "selection": "Exact ipSAE&gt;0.895 and DeltaForge predicted Kd&lt;10nM; first20 by Exact ipSAE descending",</ns1:t>
            </ns1:r>
          </ns1:p>
          <ns1:p>
            <ns1:r>
              <ns1:t>  "sequence_sha256": "f16d400b253e38395bd82e22ebc6e5de8863a953f494c6219be2e224ae30c46c",</ns1:t>
            </ns1:r>
          </ns1:p>
          <ns1:p>
            <ns1:r>
              <ns1:t>  "sources": {</ns1:t>
            </ns1:r>
          </ns1:p>
          <ns1:p>
            <ns1:r>
              <ns1:t>    "source_table": {</ns1:t>
            </ns1:r>
          </ns1:p>
          <ns1:p>
            <ns1:r>
              <ns1:t>      "path": "local/2026-10-25_lf50-dld26-50-deltaforge_001/output/GLP1R_DLD_Top50_DeltaForge_Kd_and_Boltz2_Metrics.csv",</ns1:t>
            </ns1:r>
          </ns1:p>
          <ns1:p>
            <ns1:r>
              <ns1:t>      "sha256": "da9569bf0e8b74cce3d6792eb260d6a4b17b35e6f46e0793d49f02c0d3a0e728"</ns1:t>
            </ns1:r>
          </ns1:p>
          <ns1:p>
            <ns1:r>
              <ns1:t>    },</ns1:t>
            </ns1:r>
          </ns1:p>
          <ns1:p>
            <ns1:r>
              <ns1:t>    "native_cif": {</ns1:t>
            </ns1:r>
          </ns1:p>
          <ns1:p>
            <ns1:r>
              <ns1:t>      "path": "local/2026-10-25_linker-top100-review_001/models/LK_P141_07/boltz2.cif",</ns1:t>
            </ns1:r>
          </ns1:p>
          <ns1:p>
            <ns1:r>
              <ns1:t>      "sha256": "057c941f900347a58c03754e4ed3405a7187730b30c880c5e8fa4ca13920b391"</ns1:t>
            </ns1:r>
          </ns1:p>
          <ns1:p>
            <ns1:r>
              <ns1:t>    },</ns1:t>
            </ns1:r>
          </ns1:p>
          <ns1:p>
            <ns1:r>
              <ns1:t>    "scoring_pdb": {</ns1:t>
            </ns1:r>
          </ns1:p>
          <ns1:p>
            <ns1:r>
              <ns1:t>      "path": "local/2026-10-25_dld-top25-deltaforge_001/payload/structures/LK_P141_07.pdb",</ns1:t>
            </ns1:r>
          </ns1:p>
          <ns1:p>
            <ns1:r>
              <ns1:t>      "sha256": "6cd56c4f82f7f8db0c47931f50c2f85bc7cd0fe1513fb44df4ca27ff60f0de02"</ns1:t>
            </ns1:r>
          </ns1:p>
          <ns1:p>
            <ns1:r>
              <ns1:t>    },</ns1:t>
            </ns1:r>
          </ns1:p>
          <ns1:p>
            <ns1:r>
              <ns1:t>    "DeltaForge_result": {</ns1:t>
            </ns1:r>
          </ns1:p>
          <ns1:p>
            <ns1:r>
              <ns1:t>      "path": "campaigns/glp1r-r40-design/runs/2026-10-25_dld-top25-deltaforge_001/03_filtering/deltaforge_results/LK_P141_07.json",</ns1:t>
            </ns1:r>
          </ns1:p>
          <ns1:p>
            <ns1:r>
              <ns1:t>      "sha256": "6676183e5d74c20062985940808e9ec4a7cf41d8f2e2e02cf075b760c68e380b"</ns1:t>
            </ns1:r>
          </ns1:p>
          <ns1:p>
            <ns1:r>
              <ns1:t>    }</ns1:t>
            </ns1:r>
          </ns1:p>
          <ns1:p>
            <ns1:r>
              <ns1:t>  },</ns1:t>
            </ns1:r>
          </ns1:p>
          <ns1:p>
            <ns1:r>
              <ns1:t>  "source_ledger": "campaigns/glp1r-final-writeup/runs/2026-10-25_final20-writeup_001/04_analysis/provenance-ledger.json",</ns1:t>
            </ns1:r>
          </ns1:p>
          <ns1:p>
            <ns1:r>
              <ns1:t>  "scorer": "deltaforge_v10_2_unified_parallel / v10_2_unified_parallel_2026_05_08",</ns1:t>
            </ns1:r>
          </ns1:p>
          <ns1:p>
            <ns1:r>
              <ns1:t>  "calibration": "deltaforge_v10_boltz2_calibrated_gbr / v10_boltz2_gbr_2026_03_29",</ns1:t>
            </ns1:r>
          </ns1:p>
          <ns1:p>
            <ns1:r>
              <ns1:t>  "scope": "one complete candidate A against one receptor B; computational, no experimental Kd or activation"</ns1:t>
            </ns1:r>
          </ns1:p>
          <ns1:p>
            <ns1:r>
              <ns1:t>}</ns1:t>
            </ns1:r>
          </ns1:p>
        </ns0:txBody>
      </ns0:sp>
      <ns0:sp>
        <ns0:nvSpPr>
          <ns0:cNvPr id="4" name="Slide Number Placeholder 3"/>
          <ns0:cNvSpPr>
            <ns1:spLocks noGrp="1"/>
          </ns0:cNvSpPr>
          <ns0:nvPr>
            <ns0:ph type="sldNum" idx="5"/>
          </ns0:nvPr>
        </ns0:nvSpPr>
        <ns0:spPr/>
        <ns0:txBody>
          <ns1:bodyPr/>
          <ns1:lstStyle/>
          <ns1:p/>
        </ns0:txBody>
      </ns0:sp>
    </ns0:spTree>
  </ns0:cSld>
  <ns0:clrMapOvr>
    <ns1:masterClrMapping/>
  </ns0:clrMapOvr>
</ns0:notes>
</file>

<file path=ppt/notesSlides/notesSlide30.xml><?xml version="1.0" encoding="utf-8"?>
<ns0:notes xmlns:ns0="http://schemas.openxmlformats.org/presentationml/2006/main" xmlns:ns1="http://schemas.openxmlformats.org/drawingml/2006/main">
  <ns0:cSld>
    <ns0:spTree>
      <ns0:nvGrpSpPr>
        <ns0:cNvPr id="1" name=""/>
        <ns0:cNvGrpSpPr/>
        <ns0:nvPr/>
      </ns0:nvGrpSpPr>
      <ns0:grpSpPr>
        <ns1:xfrm/>
      </ns0:grpSpPr>
      <ns0:sp>
        <ns0:nvSpPr>
          <ns0:cNvPr id="2" name="Slide Image Placeholder 1"/>
          <ns0:cNvSpPr>
            <ns1:spLocks noGrp="1"/>
          </ns0:cNvSpPr>
          <ns0:nvPr>
            <ns0:ph type="sldImg" idx="0"/>
          </ns0:nvPr>
        </ns0:nvSpPr>
        <ns0:spPr/>
      </ns0:sp>
      <ns0:sp>
        <ns0:nvSpPr>
          <ns0:cNvPr id="3" name="Notes Placeholder 2"/>
          <ns0:cNvSpPr>
            <ns1:spLocks noGrp="1"/>
          </ns0:cNvSpPr>
          <ns0:nvPr>
            <ns0:ph type="body" idx="1"/>
          </ns0:nvPr>
        </ns0:nvSpPr>
        <ns0:spPr/>
        <ns0:txBody>
          <ns1:bodyPr/>
          <ns1:lstStyle/>
          <ns1:p>
            <ns1:r>
              <ns1:t>{</ns1:t>
            </ns1:r>
          </ns1:p>
          <ns1:p>
            <ns1:r>
              <ns1:t>  "candidate": "LK_P141_07",</ns1:t>
            </ns1:r>
          </ns1:p>
          <ns1:p>
            <ns1:r>
              <ns1:t>  "final_rank": 15,</ns1:t>
            </ns1:r>
          </ns1:p>
          <ns1:p>
            <ns1:r>
              <ns1:t>  "native_model_sha256": "057c941f900347a58c03754e4ed3405a7187730b30c880c5e8fa4ca13920b391",</ns1:t>
            </ns1:r>
          </ns1:p>
          <ns1:p>
            <ns1:r>
              <ns1:t>  "structure_views": {</ns1:t>
            </ns1:r>
          </ns1:p>
          <ns1:p>
            <ns1:r>
              <ns1:t>    "final_rank": 15,</ns1:t>
            </ns1:r>
          </ns1:p>
          <ns1:p>
            <ns1:r>
              <ns1:t>    "design_id": "LK_P141_07",</ns1:t>
            </ns1:r>
          </ns1:p>
          <ns1:p>
            <ns1:r>
              <ns1:t>    "sequence_sha256": "f16d400b253e38395bd82e22ebc6e5de8863a953f494c6219be2e224ae30c46c",</ns1:t>
            </ns1:r>
          </ns1:p>
          <ns1:p>
            <ns1:r>
              <ns1:t>    "native_model_sha256": "057c941f900347a58c03754e4ed3405a7187730b30c880c5e8fa4ca13920b391",</ns1:t>
            </ns1:r>
          </ns1:p>
          <ns1:p>
            <ns1:r>
              <ns1:t>    "scoring_pdb_sha256": "6cd56c4f82f7f8db0c47931f50c2f85bc7cd0fe1513fb44df4ca27ff60f0de02",</ns1:t>
            </ns1:r>
          </ns1:p>
          <ns1:p>
            <ns1:r>
              <ns1:t>    "overview": {</ns1:t>
            </ns1:r>
          </ns1:p>
          <ns1:p>
            <ns1:r>
              <ns1:t>      "source_slide": 59,</ns1:t>
            </ns1:r>
          </ns1:p>
          <ns1:p>
            <ns1:r>
              <ns1:t>      "source_picture_index": 1,</ns1:t>
            </ns1:r>
          </ns1:p>
          <ns1:p>
            <ns1:r>
              <ns1:t>      "embedded_media": "ppt/media/image66.jpeg",</ns1:t>
            </ns1:r>
          </ns1:p>
          <ns1:p>
            <ns1:r>
              <ns1:t>      "image_sha256": "6b08b7034659a9a4fe985bc04712a773f6e930e37a2bd7f5f791edd89d6126ab",</ns1:t>
            </ns1:r>
          </ns1:p>
          <ns1:p>
            <ns1:r>
              <ns1:t>      "asset": "assets/LK_P141_07-complex.jpg"</ns1:t>
            </ns1:r>
          </ns1:p>
          <ns1:p>
            <ns1:r>
              <ns1:t>    },</ns1:t>
            </ns1:r>
          </ns1:p>
          <ns1:p>
            <ns1:r>
              <ns1:t>    "interface": {</ns1:t>
            </ns1:r>
          </ns1:p>
          <ns1:p>
            <ns1:r>
              <ns1:t>      "source_slide": 60,</ns1:t>
            </ns1:r>
          </ns1:p>
          <ns1:p>
            <ns1:r>
              <ns1:t>      "source_picture_index": 1,</ns1:t>
            </ns1:r>
          </ns1:p>
          <ns1:p>
            <ns1:r>
              <ns1:t>      "embedded_media": "ppt/media/image69.jpeg",</ns1:t>
            </ns1:r>
          </ns1:p>
          <ns1:p>
            <ns1:r>
              <ns1:t>      "image_sha256": "1fc99fc7b5debeb989ad2ddfcb4c85bb3490848b3a67ebb67ed1ad805799d6f2",</ns1:t>
            </ns1:r>
          </ns1:p>
          <ns1:p>
            <ns1:r>
              <ns1:t>      "asset": "assets/LK_P141_07-interface.jpg"</ns1:t>
            </ns1:r>
          </ns1:p>
          <ns1:p>
            <ns1:r>
              <ns1:t>    },</ns1:t>
            </ns1:r>
          </ns1:p>
          <ns1:p>
            <ns1:r>
              <ns1:t>    "rendering_provenance": {</ns1:t>
            </ns1:r>
          </ns1:p>
          <ns1:p>
            <ns1:r>
              <ns1:t>      "DeltaForge_source_PDB_sha256": "6cd56c4f82f7f8db0c47931f50c2f85bc7cd0fe1513fb44df4ca27ff60f0de02",</ns1:t>
            </ns1:r>
          </ns1:p>
          <ns1:p>
            <ns1:r>
              <ns1:t>      "role_ranges_zero_based": {</ns1:t>
            </ns1:r>
          </ns1:p>
          <ns1:p>
            <ns1:r>
              <ns1:t>        "ECD": [</ns1:t>
            </ns1:r>
          </ns1:p>
          <ns1:p>
            <ns1:r>
              <ns1:t>          0,</ns1:t>
            </ns1:r>
          </ns1:p>
          <ns1:p>
            <ns1:r>
              <ns1:t>          32</ns1:t>
            </ns1:r>
          </ns1:p>
          <ns1:p>
            <ns1:r>
              <ns1:t>        ],</ns1:t>
            </ns1:r>
          </ns1:p>
          <ns1:p>
            <ns1:r>
              <ns1:t>        "linker": [</ns1:t>
            </ns1:r>
          </ns1:p>
          <ns1:p>
            <ns1:r>
              <ns1:t>          32,</ns1:t>
            </ns1:r>
          </ns1:p>
          <ns1:p>
            <ns1:r>
              <ns1:t>          52</ns1:t>
            </ns1:r>
          </ns1:p>
          <ns1:p>
            <ns1:r>
              <ns1:t>        ],</ns1:t>
            </ns1:r>
          </ns1:p>
          <ns1:p>
            <ns1:r>
              <ns1:t>        "LF": [</ns1:t>
            </ns1:r>
          </ns1:p>
          <ns1:p>
            <ns1:r>
              <ns1:t>          52,</ns1:t>
            </ns1:r>
          </ns1:p>
          <ns1:p>
            <ns1:r>
              <ns1:t>          121</ns1:t>
            </ns1:r>
          </ns1:p>
          <ns1:p>
            <ns1:r>
              <ns1:t>        ]</ns1:t>
            </ns1:r>
          </ns1:p>
          <ns1:p>
            <ns1:r>
              <ns1:t>      },</ns1:t>
            </ns1:r>
          </ns1:p>
          <ns1:p>
            <ns1:r>
              <ns1:t>      "model_sha256": "057c941f900347a58c03754e4ed3405a7187730b30c880c5e8fa4ca13920b391",</ns1:t>
            </ns1:r>
          </ns1:p>
          <ns1:p>
            <ns1:r>
              <ns1:t>      "source_run": "2026-10-24_pair183-extracellular-exact_001",</ns1:t>
            </ns1:r>
          </ns1:p>
          <ns1:p>
            <ns1:r>
              <ns1:t>      "source_methods": [</ns1:t>
            </ns1:r>
          </ns1:p>
          <ns1:p>
            <ns1:r>
              <ns1:t>        "https://github.com/DunbrackLab/IPSAE",</ns1:t>
            </ns1:r>
          </ns1:p>
          <ns1:p>
            <ns1:r>
              <ns1:t>        "https://github.com/wallnerlab/DockQ",</ns1:t>
            </ns1:r>
          </ns1:p>
          <ns1:p>
            <ns1:r>
              <ns1:t>        "https://zhanggroup.org/TM-score/"</ns1:t>
            </ns1:r>
          </ns1:p>
          <ns1:p>
            <ns1:r>
              <ns1:t>      ],</ns1:t>
            </ns1:r>
          </ns1:p>
          <ns1:p>
            <ns1:r>
              <ns1:t>      "saved_display_appendix": {</ns1:t>
            </ns1:r>
          </ns1:p>
          <ns1:p>
            <ns1:r>
              <ns1:t>        "parent_sources": {</ns1:t>
            </ns1:r>
          </ns1:p>
          <ns1:p>
            <ns1:r>
              <ns1:t>          "ECD-parent": {</ns1:t>
            </ns1:r>
          </ns1:p>
          <ns1:p>
            <ns1:r>
              <ns1:t>            "key": "LK_P141_07-ECD-parent",</ns1:t>
            </ns1:r>
          </ns1:p>
          <ns1:p>
            <ns1:r>
              <ns1:t>            "source_path": "local/2026-10-25_linker-parent-comparison_001/parents/S09_03_086/exact.pdb",</ns1:t>
            </ns1:r>
          </ns1:p>
          <ns1:p>
            <ns1:r>
              <ns1:t>            "source_sha256": "175108ef3bc179b82adfa75b41565eaa66f1f1ba783f392bc468013d898e1deb",</ns1:t>
            </ns1:r>
          </ns1:p>
          <ns1:p>
            <ns1:r>
              <ns1:t>            "role": "ECD",</ns1:t>
            </ns1:r>
          </ns1:p>
          <ns1:p>
            <ns1:r>
              <ns1:t>            "ranges_zero_based": {</ns1:t>
            </ns1:r>
          </ns1:p>
          <ns1:p>
            <ns1:r>
              <ns1:t>              "ECD": [</ns1:t>
            </ns1:r>
          </ns1:p>
          <ns1:p>
            <ns1:r>
              <ns1:t>                0,</ns1:t>
            </ns1:r>
          </ns1:p>
          <ns1:p>
            <ns1:r>
              <ns1:t>                32</ns1:t>
            </ns1:r>
          </ns1:p>
          <ns1:p>
            <ns1:r>
              <ns1:t>              ]</ns1:t>
            </ns1:r>
          </ns1:p>
          <ns1:p>
            <ns1:r>
              <ns1:t>            },</ns1:t>
            </ns1:r>
          </ns1:p>
          <ns1:p>
            <ns1:r>
              <ns1:t>            "sequence": "MVSIGSTGFDGLLQLDEELRNLFLQRLVLGRL",</ns1:t>
            </ns1:r>
          </ns1:p>
          <ns1:p>
            <ns1:r>
              <ns1:t>            "rotation": [</ns1:t>
            </ns1:r>
          </ns1:p>
          <ns1:p>
            <ns1:r>
              <ns1:t>              [</ns1:t>
            </ns1:r>
          </ns1:p>
          <ns1:p>
            <ns1:r>
              <ns1:t>                0.2309916525890099,</ns1:t>
            </ns1:r>
          </ns1:p>
          <ns1:p>
            <ns1:r>
              <ns1:t>                0.9715843167883049,</ns1:t>
            </ns1:r>
          </ns1:p>
          <ns1:p>
            <ns1:r>
              <ns1:t>                0.05164012752946334</ns1:t>
            </ns1:r>
          </ns1:p>
          <ns1:p>
            <ns1:r>
              <ns1:t>              ],</ns1:t>
            </ns1:r>
          </ns1:p>
          <ns1:p>
            <ns1:r>
              <ns1:t>              [</ns1:t>
            </ns1:r>
          </ns1:p>
          <ns1:p>
            <ns1:r>
              <ns1:t>                0.6783570864777069,</ns1:t>
            </ns1:r>
          </ns1:p>
          <ns1:p>
            <ns1:r>
              <ns1:t>                -0.12277540695293698,</ns1:t>
            </ns1:r>
          </ns1:p>
          <ns1:p>
            <ns1:r>
              <ns1:t>                -0.7244017647467462</ns1:t>
            </ns1:r>
          </ns1:p>
          <ns1:p>
            <ns1:r>
              <ns1:t>              ],</ns1:t>
            </ns1:r>
          </ns1:p>
          <ns1:p>
            <ns1:r>
              <ns1:t>              [</ns1:t>
            </ns1:r>
          </ns1:p>
          <ns1:p>
            <ns1:r>
              <ns1:t>                -0.6974772290949753,</ns1:t>
            </ns1:r>
          </ns1:p>
          <ns1:p>
            <ns1:r>
              <ns1:t>                0.20236121237692806,</ns1:t>
            </ns1:r>
          </ns1:p>
          <ns1:p>
            <ns1:r>
              <ns1:t>                -0.6874411834197737</ns1:t>
            </ns1:r>
          </ns1:p>
          <ns1:p>
            <ns1:r>
              <ns1:t>              ]</ns1:t>
            </ns1:r>
          </ns1:p>
          <ns1:p>
            <ns1:r>
              <ns1:t>            ],</ns1:t>
            </ns1:r>
          </ns1:p>
          <ns1:p>
            <ns1:r>
              <ns1:t>            "translation": [</ns1:t>
            </ns1:r>
          </ns1:p>
          <ns1:p>
            <ns1:r>
              <ns1:t>              6.1236782492205615,</ns1:t>
            </ns1:r>
          </ns1:p>
          <ns1:p>
            <ns1:r>
              <ns1:t>              1.8014812624173393,</ns1:t>
            </ns1:r>
          </ns1:p>
          <ns1:p>
            <ns1:r>
              <ns1:t>              -3.603368378360269</ns1:t>
            </ns1:r>
          </ns1:p>
          <ns1:p>
            <ns1:r>
              <ns1:t>            ],</ns1:t>
            </ns1:r>
          </ns1:p>
          <ns1:p>
            <ns1:r>
              <ns1:t>            "core_fit_CA_RMSD_A": 1.0518887169865072,</ns1:t>
            </ns1:r>
          </ns1:p>
          <ns1:p>
            <ns1:r>
              <ns1:t>            "output": "local/2026-10-25_linker-parent-views_001/build/renders-v2/LK_P141_07-ECD-parent.jpg",</ns1:t>
            </ns1:r>
          </ns1:p>
          <ns1:p>
            <ns1:r>
              <ns1:t>            "parent_or_fusion_id": "S09_03_086",</ns1:t>
            </ns1:r>
          </ns1:p>
          <ns1:p>
            <ns1:r>
              <ns1:t>            "design_id": "LK_P141_07",</ns1:t>
            </ns1:r>
          </ns1:p>
          <ns1:p>
            <ns1:r>
              <ns1:t>            "panel": "ECD-parent",</ns1:t>
            </ns1:r>
          </ns1:p>
          <ns1:p>
            <ns1:r>
              <ns1:t>            "view": [</ns1:t>
            </ns1:r>
          </ns1:p>
          <ns1:p>
            <ns1:r>
              <ns1:t>              1,</ns1:t>
            </ns1:r>
          </ns1:p>
          <ns1:p>
            <ns1:r>
              <ns1:t>              0,</ns1:t>
            </ns1:r>
          </ns1:p>
          <ns1:p>
            <ns1:r>
              <ns1:t>              0,</ns1:t>
            </ns1:r>
          </ns1:p>
          <ns1:p>
            <ns1:r>
              <ns1:t>              0,</ns1:t>
            </ns1:r>
          </ns1:p>
          <ns1:p>
            <ns1:r>
              <ns1:t>              1,</ns1:t>
            </ns1:r>
          </ns1:p>
          <ns1:p>
            <ns1:r>
              <ns1:t>              0,</ns1:t>
            </ns1:r>
          </ns1:p>
          <ns1:p>
            <ns1:r>
              <ns1:t>              0,</ns1:t>
            </ns1:r>
          </ns1:p>
          <ns1:p>
            <ns1:r>
              <ns1:t>              0,</ns1:t>
            </ns1:r>
          </ns1:p>
          <ns1:p>
            <ns1:r>
              <ns1:t>              1,</ns1:t>
            </ns1:r>
          </ns1:p>
          <ns1:p>
            <ns1:r>
              <ns1:t>              0,</ns1:t>
            </ns1:r>
          </ns1:p>
          <ns1:p>
            <ns1:r>
              <ns1:t>              0,</ns1:t>
            </ns1:r>
          </ns1:p>
          <ns1:p>
            <ns1:r>
              <ns1:t>              -436.8714256770552,</ns1:t>
            </ns1:r>
          </ns1:p>
          <ns1:p>
            <ns1:r>
              <ns1:t>              -6.942141291724319,</ns1:t>
            </ns1:r>
          </ns1:p>
          <ns1:p>
            <ns1:r>
              <ns1:t>              12.832198331403418,</ns1:t>
            </ns1:r>
          </ns1:p>
          <ns1:p>
            <ns1:r>
              <ns1:t>              -32.261276511870626,</ns1:t>
            </ns1:r>
          </ns1:p>
          <ns1:p>
            <ns1:r>
              <ns1:t>              360.5203728790387,</ns1:t>
            </ns1:r>
          </ns1:p>
          <ns1:p>
            <ns1:r>
              <ns1:t>              513.2224784750717,</ns1:t>
            </ns1:r>
          </ns1:p>
          <ns1:p>
            <ns1:r>
              <ns1:t>              -20</ns1:t>
            </ns1:r>
          </ns1:p>
          <ns1:p>
            <ns1:r>
              <ns1:t>            ],</ns1:t>
            </ns1:r>
          </ns1:p>
          <ns1:p>
            <ns1:r>
              <ns1:t>            "world_height_A": 154.0644388948754,</ns1:t>
            </ns1:r>
          </ns1:p>
          <ns1:p>
            <ns1:r>
              <ns1:t>            "row_bounds_all_atoms_A": [</ns1:t>
            </ns1:r>
          </ns1:p>
          <ns1:p>
            <ns1:r>
              <ns1:t>              [</ns1:t>
            </ns1:r>
          </ns1:p>
          <ns1:p>
            <ns1:r>
              <ns1:t>                -50.79037642370106,</ns1:t>
            </ns1:r>
          </ns1:p>
          <ns1:p>
            <ns1:r>
              <ns1:t>                -57.20002111603428,</ns1:t>
            </ns1:r>
          </ns1:p>
          <ns1:p>
            <ns1:r>
              <ns1:t>                -93.61232930988712</ns1:t>
            </ns1:r>
          </ns1:p>
          <ns1:p>
            <ns1:r>
              <ns1:t>              ],</ns1:t>
            </ns1:r>
          </ns1:p>
          <ns1:p>
            <ns1:r>
              <ns1:t>              [</ns1:t>
            </ns1:r>
          </ns1:p>
          <ns1:p>
            <ns1:r>
              <ns1:t>                36.906093840252424,</ns1:t>
            </ns1:r>
          </ns1:p>
          <ns1:p>
            <ns1:r>
              <ns1:t>                82.86441777884112,</ns1:t>
            </ns1:r>
          </ns1:p>
          <ns1:p>
            <ns1:r>
              <ns1:t>                29.08977628614586</ns1:t>
            </ns1:r>
          </ns1:p>
          <ns1:p>
            <ns1:r>
              <ns1:t>              ]</ns1:t>
            </ns1:r>
          </ns1:p>
          <ns1:p>
            <ns1:r>
              <ns1:t>            ]</ns1:t>
            </ns1:r>
          </ns1:p>
          <ns1:p>
            <ns1:r>
              <ns1:t>          },</ns1:t>
            </ns1:r>
          </ns1:p>
          <ns1:p>
            <ns1:r>
              <ns1:t>          "APNovo": {</ns1:t>
            </ns1:r>
          </ns1:p>
          <ns1:p>
            <ns1:r>
              <ns1:t>            "key": "LK_P141_07-APNovo",</ns1:t>
            </ns1:r>
          </ns1:p>
          <ns1:p>
            <ns1:r>
              <ns1:t>            "source_path": "local/2026-10-25_linker-top100-review_001/build/comparisons/LK_P141_07/reference.pdb",</ns1:t>
            </ns1:r>
          </ns1:p>
          <ns1:p>
            <ns1:r>
              <ns1:t>            "source_sha256": "49a7ace5605da29958329285c231d3a27542311f2692bf7da4b0fcb743984de9",</ns1:t>
            </ns1:r>
          </ns1:p>
          <ns1:p>
            <ns1:r>
              <ns1:t>            "role": "fusion",</ns1:t>
            </ns1:r>
          </ns1:p>
          <ns1:p>
            <ns1:r>
              <ns1:t>            "ranges_zero_based": {</ns1:t>
            </ns1:r>
          </ns1:p>
          <ns1:p>
            <ns1:r>
              <ns1:t>              "ECD": [</ns1:t>
            </ns1:r>
          </ns1:p>
          <ns1:p>
            <ns1:r>
              <ns1:t>                0,</ns1:t>
            </ns1:r>
          </ns1:p>
          <ns1:p>
            <ns1:r>
              <ns1:t>                32</ns1:t>
            </ns1:r>
          </ns1:p>
          <ns1:p>
            <ns1:r>
              <ns1:t>              ],</ns1:t>
            </ns1:r>
          </ns1:p>
          <ns1:p>
            <ns1:r>
              <ns1:t>              "linker": [</ns1:t>
            </ns1:r>
          </ns1:p>
          <ns1:p>
            <ns1:r>
              <ns1:t>                32,</ns1:t>
            </ns1:r>
          </ns1:p>
          <ns1:p>
            <ns1:r>
              <ns1:t>                52</ns1:t>
            </ns1:r>
          </ns1:p>
          <ns1:p>
            <ns1:r>
              <ns1:t>              ],</ns1:t>
            </ns1:r>
          </ns1:p>
          <ns1:p>
            <ns1:r>
              <ns1:t>              "LF": [</ns1:t>
            </ns1:r>
          </ns1:p>
          <ns1:p>
            <ns1:r>
              <ns1:t>                52,</ns1:t>
            </ns1:r>
          </ns1:p>
          <ns1:p>
            <ns1:r>
              <ns1:t>                121</ns1:t>
            </ns1:r>
          </ns1:p>
          <ns1:p>
            <ns1:r>
              <ns1:t>              ]</ns1:t>
            </ns1:r>
          </ns1:p>
          <ns1:p>
            <ns1:r>
              <ns1:t>            },</ns1:t>
            </ns1:r>
          </ns1:p>
          <ns1:p>
            <ns1:r>
              <ns1:t>            "sequence": "MVSIGSTGFDGLLQLDEELRNLFLQRLVLGRLGSGLPPPPPPVDVIPPSEVKEVSGATIDLRVKTCVDFKQTVNFFKLRNTQLPGSCTKDNTVLFLLEGLKLGYASRYFSIGSGSGSQQFS",</ns1:t>
            </ns1:r>
          </ns1:p>
          <ns1:p>
            <ns1:r>
              <ns1:t>            "rotation": [</ns1:t>
            </ns1:r>
          </ns1:p>
          <ns1:p>
            <ns1:r>
              <ns1:t>              [</ns1:t>
            </ns1:r>
          </ns1:p>
          <ns1:p>
            <ns1:r>
              <ns1:t>                0.231129521755296,</ns1:t>
            </ns1:r>
          </ns1:p>
          <ns1:p>
            <ns1:r>
              <ns1:t>                0.7473325103830195,</ns1:t>
            </ns1:r>
          </ns1:p>
          <ns1:p>
            <ns1:r>
              <ns1:t>                0.6229552395853997</ns1:t>
            </ns1:r>
          </ns1:p>
          <ns1:p>
            <ns1:r>
              <ns1:t>              ],</ns1:t>
            </ns1:r>
          </ns1:p>
          <ns1:p>
            <ns1:r>
              <ns1:t>              [</ns1:t>
            </ns1:r>
          </ns1:p>
          <ns1:p>
            <ns1:r>
              <ns1:t>                0.5339710640451969,</ns1:t>
            </ns1:r>
          </ns1:p>
          <ns1:p>
            <ns1:r>
              <ns1:t>                -0.632679893028012,</ns1:t>
            </ns1:r>
          </ns1:p>
          <ns1:p>
            <ns1:r>
              <ns1:t>                0.5608842319368179</ns1:t>
            </ns1:r>
          </ns1:p>
          <ns1:p>
            <ns1:r>
              <ns1:t>              ],</ns1:t>
            </ns1:r>
          </ns1:p>
          <ns1:p>
            <ns1:r>
              <ns1:t>              [</ns1:t>
            </ns1:r>
          </ns1:p>
          <ns1:p>
            <ns1:r>
              <ns1:t>                0.8132982570092686,</ns1:t>
            </ns1:r>
          </ns1:p>
          <ns1:p>
            <ns1:r>
              <ns1:t>                0.20300318471532297,</ns1:t>
            </ns1:r>
          </ns1:p>
          <ns1:p>
            <ns1:r>
              <ns1:t>                -0.5452849120246892</ns1:t>
            </ns1:r>
          </ns1:p>
          <ns1:p>
            <ns1:r>
              <ns1:t>              ]</ns1:t>
            </ns1:r>
          </ns1:p>
          <ns1:p>
            <ns1:r>
              <ns1:t>            ],</ns1:t>
            </ns1:r>
          </ns1:p>
          <ns1:p>
            <ns1:r>
              <ns1:t>            "translation": [</ns1:t>
            </ns1:r>
          </ns1:p>
          <ns1:p>
            <ns1:r>
              <ns1:t>              -10.589328661633946,</ns1:t>
            </ns1:r>
          </ns1:p>
          <ns1:p>
            <ns1:r>
              <ns1:t>              -13.59453477913015,</ns1:t>
            </ns1:r>
          </ns1:p>
          <ns1:p>
            <ns1:r>
              <ns1:t>              8.389515573406804</ns1:t>
            </ns1:r>
          </ns1:p>
          <ns1:p>
            <ns1:r>
              <ns1:t>            ],</ns1:t>
            </ns1:r>
          </ns1:p>
          <ns1:p>
            <ns1:r>
              <ns1:t>            "core_fit_CA_RMSD_A": 1.0518649660608899,</ns1:t>
            </ns1:r>
          </ns1:p>
          <ns1:p>
            <ns1:r>
              <ns1:t>            "output": "local/2026-10-25_linker-parent-views_001/build/renders-v2/LK_P141_07-APNovo.jpg",</ns1:t>
            </ns1:r>
          </ns1:p>
          <ns1:p>
            <ns1:r>
              <ns1:t>            "parent_or_fusion_id": "LK_P141_07-APNovo",</ns1:t>
            </ns1:r>
          </ns1:p>
          <ns1:p>
            <ns1:r>
              <ns1:t>            "design_id": "LK_P141_07",</ns1:t>
            </ns1:r>
          </ns1:p>
          <ns1:p>
            <ns1:r>
              <ns1:t>            "panel": "APNovo",</ns1:t>
            </ns1:r>
          </ns1:p>
          <ns1:p>
            <ns1:r>
              <ns1:t>            "view": [</ns1:t>
            </ns1:r>
          </ns1:p>
          <ns1:p>
            <ns1:r>
              <ns1:t>              1,</ns1:t>
            </ns1:r>
          </ns1:p>
          <ns1:p>
            <ns1:r>
              <ns1:t>              0,</ns1:t>
            </ns1:r>
          </ns1:p>
          <ns1:p>
            <ns1:r>
              <ns1:t>              0,</ns1:t>
            </ns1:r>
          </ns1:p>
          <ns1:p>
            <ns1:r>
              <ns1:t>              0,</ns1:t>
            </ns1:r>
          </ns1:p>
          <ns1:p>
            <ns1:r>
              <ns1:t>              1,</ns1:t>
            </ns1:r>
          </ns1:p>
          <ns1:p>
            <ns1:r>
              <ns1:t>              0,</ns1:t>
            </ns1:r>
          </ns1:p>
          <ns1:p>
            <ns1:r>
              <ns1:t>              0,</ns1:t>
            </ns1:r>
          </ns1:p>
          <ns1:p>
            <ns1:r>
              <ns1:t>              0,</ns1:t>
            </ns1:r>
          </ns1:p>
          <ns1:p>
            <ns1:r>
              <ns1:t>              1,</ns1:t>
            </ns1:r>
          </ns1:p>
          <ns1:p>
            <ns1:r>
              <ns1:t>              0,</ns1:t>
            </ns1:r>
          </ns1:p>
          <ns1:p>
            <ns1:r>
              <ns1:t>              0,</ns1:t>
            </ns1:r>
          </ns1:p>
          <ns1:p>
            <ns1:r>
              <ns1:t>              -436.8714256770552,</ns1:t>
            </ns1:r>
          </ns1:p>
          <ns1:p>
            <ns1:r>
              <ns1:t>              -6.942141291724319,</ns1:t>
            </ns1:r>
          </ns1:p>
          <ns1:p>
            <ns1:r>
              <ns1:t>              12.832198331403418,</ns1:t>
            </ns1:r>
          </ns1:p>
          <ns1:p>
            <ns1:r>
              <ns1:t>              -32.261276511870626,</ns1:t>
            </ns1:r>
          </ns1:p>
          <ns1:p>
            <ns1:r>
              <ns1:t>              360.5203728790387,</ns1:t>
            </ns1:r>
          </ns1:p>
          <ns1:p>
            <ns1:r>
              <ns1:t>              513.2224784750717,</ns1:t>
            </ns1:r>
          </ns1:p>
          <ns1:p>
            <ns1:r>
              <ns1:t>              -20</ns1:t>
            </ns1:r>
          </ns1:p>
          <ns1:p>
            <ns1:r>
              <ns1:t>            ],</ns1:t>
            </ns1:r>
          </ns1:p>
          <ns1:p>
            <ns1:r>
              <ns1:t>            "world_height_A": 154.0644388948754,</ns1:t>
            </ns1:r>
          </ns1:p>
          <ns1:p>
            <ns1:r>
              <ns1:t>            "row_bounds_all_atoms_A": [</ns1:t>
            </ns1:r>
          </ns1:p>
          <ns1:p>
            <ns1:r>
              <ns1:t>              [</ns1:t>
            </ns1:r>
          </ns1:p>
          <ns1:p>
            <ns1:r>
              <ns1:t>                -50.79037642370106,</ns1:t>
            </ns1:r>
          </ns1:p>
          <ns1:p>
            <ns1:r>
              <ns1:t>                -57.20002111603428,</ns1:t>
            </ns1:r>
          </ns1:p>
          <ns1:p>
            <ns1:r>
              <ns1:t>                -93.61232930988712</ns1:t>
            </ns1:r>
          </ns1:p>
          <ns1:p>
            <ns1:r>
              <ns1:t>              ],</ns1:t>
            </ns1:r>
          </ns1:p>
          <ns1:p>
            <ns1:r>
              <ns1:t>              [</ns1:t>
            </ns1:r>
          </ns1:p>
          <ns1:p>
            <ns1:r>
              <ns1:t>                36.906093840252424,</ns1:t>
            </ns1:r>
          </ns1:p>
          <ns1:p>
            <ns1:r>
              <ns1:t>                82.86441777884112,</ns1:t>
            </ns1:r>
          </ns1:p>
          <ns1:p>
            <ns1:r>
              <ns1:t>                29.08977628614586</ns1:t>
            </ns1:r>
          </ns1:p>
          <ns1:p>
            <ns1:r>
              <ns1:t>              ]</ns1:t>
            </ns1:r>
          </ns1:p>
          <ns1:p>
            <ns1:r>
              <ns1:t>            ]</ns1:t>
            </ns1:r>
          </ns1:p>
          <ns1:p>
            <ns1:r>
              <ns1:t>          },</ns1:t>
            </ns1:r>
          </ns1:p>
          <ns1:p>
            <ns1:r>
              <ns1:t>          "Exact": {</ns1:t>
            </ns1:r>
          </ns1:p>
          <ns1:p>
            <ns1:r>
              <ns1:t>            "key": "LK_P141_07-Exact",</ns1:t>
            </ns1:r>
          </ns1:p>
          <ns1:p>
            <ns1:r>
              <ns1:t>            "source_path": "local/2026-10-25_linker-top100-review_001/models/LK_P141_07/boltz2.cif",</ns1:t>
            </ns1:r>
          </ns1:p>
          <ns1:p>
            <ns1:r>
              <ns1:t>            "source_sha256": "057c941f900347a58c03754e4ed3405a7187730b30c880c5e8fa4ca13920b391",</ns1:t>
            </ns1:r>
          </ns1:p>
          <ns1:p>
            <ns1:r>
              <ns1:t>            "role": "fusion",</ns1:t>
            </ns1:r>
          </ns1:p>
          <ns1:p>
            <ns1:r>
              <ns1:t>            "ranges_zero_based": {</ns1:t>
            </ns1:r>
          </ns1:p>
          <ns1:p>
            <ns1:r>
              <ns1:t>              "ECD": [</ns1:t>
            </ns1:r>
          </ns1:p>
          <ns1:p>
            <ns1:r>
              <ns1:t>                0,</ns1:t>
            </ns1:r>
          </ns1:p>
          <ns1:p>
            <ns1:r>
              <ns1:t>                32</ns1:t>
            </ns1:r>
          </ns1:p>
          <ns1:p>
            <ns1:r>
              <ns1:t>              ],</ns1:t>
            </ns1:r>
          </ns1:p>
          <ns1:p>
            <ns1:r>
              <ns1:t>              "linker": [</ns1:t>
            </ns1:r>
          </ns1:p>
          <ns1:p>
            <ns1:r>
              <ns1:t>                32,</ns1:t>
            </ns1:r>
          </ns1:p>
          <ns1:p>
            <ns1:r>
              <ns1:t>                52</ns1:t>
            </ns1:r>
          </ns1:p>
          <ns1:p>
            <ns1:r>
              <ns1:t>              ],</ns1:t>
            </ns1:r>
          </ns1:p>
          <ns1:p>
            <ns1:r>
              <ns1:t>              "LF": [</ns1:t>
            </ns1:r>
          </ns1:p>
          <ns1:p>
            <ns1:r>
              <ns1:t>                52,</ns1:t>
            </ns1:r>
          </ns1:p>
          <ns1:p>
            <ns1:r>
              <ns1:t>                121</ns1:t>
            </ns1:r>
          </ns1:p>
          <ns1:p>
            <ns1:r>
              <ns1:t>              ]</ns1:t>
            </ns1:r>
          </ns1:p>
          <ns1:p>
            <ns1:r>
              <ns1:t>            },</ns1:t>
            </ns1:r>
          </ns1:p>
          <ns1:p>
            <ns1:r>
              <ns1:t>            "sequence": "MVSIGSTGFDGLLQLDEELRNLFLQRLVLGRLGSGLPPPPPPVDVIPPSEVKEVSGATIDLRVKTCVDFKQTVNFFKLRNTQLPGSCTKDNTVLFLLEGLKLGYASRYFSIGSGSGSQQFS",</ns1:t>
            </ns1:r>
          </ns1:p>
          <ns1:p>
            <ns1:r>
              <ns1:t>            "rotation": [</ns1:t>
            </ns1:r>
          </ns1:p>
          <ns1:p>
            <ns1:r>
              <ns1:t>              [</ns1:t>
            </ns1:r>
          </ns1:p>
          <ns1:p>
            <ns1:r>
              <ns1:t>                0.8513331309120266,</ns1:t>
            </ns1:r>
          </ns1:p>
          <ns1:p>
            <ns1:r>
              <ns1:t>                0.16701335569941955,</ns1:t>
            </ns1:r>
          </ns1:p>
          <ns1:p>
            <ns1:r>
              <ns1:t>                0.4973312277945721</ns1:t>
            </ns1:r>
          </ns1:p>
          <ns1:p>
            <ns1:r>
              <ns1:t>              ],</ns1:t>
            </ns1:r>
          </ns1:p>
          <ns1:p>
            <ns1:r>
              <ns1:t>              [</ns1:t>
            </ns1:r>
          </ns1:p>
          <ns1:p>
            <ns1:r>
              <ns1:t>                0.17809101349476109,</ns1:t>
            </ns1:r>
          </ns1:p>
          <ns1:p>
            <ns1:r>
              <ns1:t>                0.7996812729700107,</ns1:t>
            </ns1:r>
          </ns1:p>
          <ns1:p>
            <ns1:r>
              <ns1:t>                -0.573405068774103</ns1:t>
            </ns1:r>
          </ns1:p>
          <ns1:p>
            <ns1:r>
              <ns1:t>              ],</ns1:t>
            </ns1:r>
          </ns1:p>
          <ns1:p>
            <ns1:r>
              <ns1:t>              [</ns1:t>
            </ns1:r>
          </ns1:p>
          <ns1:p>
            <ns1:r>
              <ns1:t>                -0.493472825585048,</ns1:t>
            </ns1:r>
          </ns1:p>
          <ns1:p>
            <ns1:r>
              <ns1:t>                0.5767289934116029,</ns1:t>
            </ns1:r>
          </ns1:p>
          <ns1:p>
            <ns1:r>
              <ns1:t>                0.6510516376787141</ns1:t>
            </ns1:r>
          </ns1:p>
          <ns1:p>
            <ns1:r>
              <ns1:t>              ]</ns1:t>
            </ns1:r>
          </ns1:p>
          <ns1:p>
            <ns1:r>
              <ns1:t>            ],</ns1:t>
            </ns1:r>
          </ns1:p>
          <ns1:p>
            <ns1:r>
              <ns1:t>            "translation": [</ns1:t>
            </ns1:r>
          </ns1:p>
          <ns1:p>
            <ns1:r>
              <ns1:t>              -4.813532820341685,</ns1:t>
            </ns1:r>
          </ns1:p>
          <ns1:p>
            <ns1:r>
              <ns1:t>              0.3512594498022992,</ns1:t>
            </ns1:r>
          </ns1:p>
          <ns1:p>
            <ns1:r>
              <ns1:t>              -0.8178737943182991</ns1:t>
            </ns1:r>
          </ns1:p>
          <ns1:p>
            <ns1:r>
              <ns1:t>            ],</ns1:t>
            </ns1:r>
          </ns1:p>
          <ns1:p>
            <ns1:r>
              <ns1:t>            "core_fit_CA_RMSD_A": 1.2092542756129305,</ns1:t>
            </ns1:r>
          </ns1:p>
          <ns1:p>
            <ns1:r>
              <ns1:t>            "output": "local/2026-10-25_linker-parent-views_001/build/renders-v2/LK_P141_07-Exact.jpg",</ns1:t>
            </ns1:r>
          </ns1:p>
          <ns1:p>
            <ns1:r>
              <ns1:t>            "parent_or_fusion_id": "LK_P141_07-Exact",</ns1:t>
            </ns1:r>
          </ns1:p>
          <ns1:p>
            <ns1:r>
              <ns1:t>            "design_id": "LK_P141_07",</ns1:t>
            </ns1:r>
          </ns1:p>
          <ns1:p>
            <ns1:r>
              <ns1:t>            "panel": "Exact",</ns1:t>
            </ns1:r>
          </ns1:p>
          <ns1:p>
            <ns1:r>
              <ns1:t>            "view": [</ns1:t>
            </ns1:r>
          </ns1:p>
          <ns1:p>
            <ns1:r>
              <ns1:t>              1,</ns1:t>
            </ns1:r>
          </ns1:p>
          <ns1:p>
            <ns1:r>
              <ns1:t>              0,</ns1:t>
            </ns1:r>
          </ns1:p>
          <ns1:p>
            <ns1:r>
              <ns1:t>              0,</ns1:t>
            </ns1:r>
          </ns1:p>
          <ns1:p>
            <ns1:r>
              <ns1:t>              0,</ns1:t>
            </ns1:r>
          </ns1:p>
          <ns1:p>
            <ns1:r>
              <ns1:t>              1,</ns1:t>
            </ns1:r>
          </ns1:p>
          <ns1:p>
            <ns1:r>
              <ns1:t>              0,</ns1:t>
            </ns1:r>
          </ns1:p>
          <ns1:p>
            <ns1:r>
              <ns1:t>              0,</ns1:t>
            </ns1:r>
          </ns1:p>
          <ns1:p>
            <ns1:r>
              <ns1:t>              0,</ns1:t>
            </ns1:r>
          </ns1:p>
          <ns1:p>
            <ns1:r>
              <ns1:t>              1,</ns1:t>
            </ns1:r>
          </ns1:p>
          <ns1:p>
            <ns1:r>
              <ns1:t>              0,</ns1:t>
            </ns1:r>
          </ns1:p>
          <ns1:p>
            <ns1:r>
              <ns1:t>              0,</ns1:t>
            </ns1:r>
          </ns1:p>
          <ns1:p>
            <ns1:r>
              <ns1:t>              -436.8714256770552,</ns1:t>
            </ns1:r>
          </ns1:p>
          <ns1:p>
            <ns1:r>
              <ns1:t>              -6.942141291724319,</ns1:t>
            </ns1:r>
          </ns1:p>
          <ns1:p>
            <ns1:r>
              <ns1:t>              12.832198331403418,</ns1:t>
            </ns1:r>
          </ns1:p>
          <ns1:p>
            <ns1:r>
              <ns1:t>              -32.261276511870626,</ns1:t>
            </ns1:r>
          </ns1:p>
          <ns1:p>
            <ns1:r>
              <ns1:t>              360.5203728790387,</ns1:t>
            </ns1:r>
          </ns1:p>
          <ns1:p>
            <ns1:r>
              <ns1:t>              513.2224784750717,</ns1:t>
            </ns1:r>
          </ns1:p>
          <ns1:p>
            <ns1:r>
              <ns1:t>              -20</ns1:t>
            </ns1:r>
          </ns1:p>
          <ns1:p>
            <ns1:r>
              <ns1:t>            ],</ns1:t>
            </ns1:r>
          </ns1:p>
          <ns1:p>
            <ns1:r>
              <ns1:t>            "world_height_A": 154.0644388948754,</ns1:t>
            </ns1:r>
          </ns1:p>
          <ns1:p>
            <ns1:r>
              <ns1:t>            "row_bounds_all_atoms_A": [</ns1:t>
            </ns1:r>
          </ns1:p>
          <ns1:p>
            <ns1:r>
              <ns1:t>              [</ns1:t>
            </ns1:r>
          </ns1:p>
          <ns1:p>
            <ns1:r>
              <ns1:t>                -50.79037642370106,</ns1:t>
            </ns1:r>
          </ns1:p>
          <ns1:p>
            <ns1:r>
              <ns1:t>                -57.20002111603428,</ns1:t>
            </ns1:r>
          </ns1:p>
          <ns1:p>
            <ns1:r>
              <ns1:t>                -93.61232930988712</ns1:t>
            </ns1:r>
          </ns1:p>
          <ns1:p>
            <ns1:r>
              <ns1:t>              ],</ns1:t>
            </ns1:r>
          </ns1:p>
          <ns1:p>
            <ns1:r>
              <ns1:t>              [</ns1:t>
            </ns1:r>
          </ns1:p>
          <ns1:p>
            <ns1:r>
              <ns1:t>                36.906093840252424,</ns1:t>
            </ns1:r>
          </ns1:p>
          <ns1:p>
            <ns1:r>
              <ns1:t>                82.86441777884112,</ns1:t>
            </ns1:r>
          </ns1:p>
          <ns1:p>
            <ns1:r>
              <ns1:t>                29.08977628614586</ns1:t>
            </ns1:r>
          </ns1:p>
          <ns1:p>
            <ns1:r>
              <ns1:t>              ]</ns1:t>
            </ns1:r>
          </ns1:p>
          <ns1:p>
            <ns1:r>
              <ns1:t>            ]</ns1:t>
            </ns1:r>
          </ns1:p>
          <ns1:p>
            <ns1:r>
              <ns1:t>          },</ns1:t>
            </ns1:r>
          </ns1:p>
          <ns1:p>
            <ns1:r>
              <ns1:t>          "LF-parent": {</ns1:t>
            </ns1:r>
          </ns1:p>
          <ns1:p>
            <ns1:r>
              <ns1:t>            "key": "LK_P141_07-LF-parent",</ns1:t>
            </ns1:r>
          </ns1:p>
          <ns1:p>
            <ns1:r>
              <ns1:t>            "source_path": "local/2026-10-25_linker-parent-comparison_001/parents/Design_280/exact.pdb",</ns1:t>
            </ns1:r>
          </ns1:p>
          <ns1:p>
            <ns1:r>
              <ns1:t>            "source_sha256": "cd01c89fbf40d0e577c10f20c2afa96c3deef09880d6c761314a1c5e9898bd4f",</ns1:t>
            </ns1:r>
          </ns1:p>
          <ns1:p>
            <ns1:r>
              <ns1:t>            "role": "LF",</ns1:t>
            </ns1:r>
          </ns1:p>
          <ns1:p>
            <ns1:r>
              <ns1:t>            "ranges_zero_based": {</ns1:t>
            </ns1:r>
          </ns1:p>
          <ns1:p>
            <ns1:r>
              <ns1:t>              "LF": [</ns1:t>
            </ns1:r>
          </ns1:p>
          <ns1:p>
            <ns1:r>
              <ns1:t>                0,</ns1:t>
            </ns1:r>
          </ns1:p>
          <ns1:p>
            <ns1:r>
              <ns1:t>                69</ns1:t>
            </ns1:r>
          </ns1:p>
          <ns1:p>
            <ns1:r>
              <ns1:t>              ]</ns1:t>
            </ns1:r>
          </ns1:p>
          <ns1:p>
            <ns1:r>
              <ns1:t>            },</ns1:t>
            </ns1:r>
          </ns1:p>
          <ns1:p>
            <ns1:r>
              <ns1:t>            "sequence": "EVSGATIDLRVKTCVDFKQTVNFFKLRNTQLPGSCTKDNTVLFLLEGLKLGYASRYFSIGSGSGSQQFS",</ns1:t>
            </ns1:r>
          </ns1:p>
          <ns1:p>
            <ns1:r>
              <ns1:t>            "rotation": [</ns1:t>
            </ns1:r>
          </ns1:p>
          <ns1:p>
            <ns1:r>
              <ns1:t>              [</ns1:t>
            </ns1:r>
          </ns1:p>
          <ns1:p>
            <ns1:r>
              <ns1:t>                0.9716521520149124,</ns1:t>
            </ns1:r>
          </ns1:p>
          <ns1:p>
            <ns1:r>
              <ns1:t>                0.23640963200020604,</ns1:t>
            </ns1:r>
          </ns1:p>
          <ns1:p>
            <ns1:r>
              <ns1:t>                -0.0015985785293137766</ns1:t>
            </ns1:r>
          </ns1:p>
          <ns1:p>
            <ns1:r>
              <ns1:t>              ],</ns1:t>
            </ns1:r>
          </ns1:p>
          <ns1:p>
            <ns1:r>
              <ns1:t>              [</ns1:t>
            </ns1:r>
          </ns1:p>
          <ns1:p>
            <ns1:r>
              <ns1:t>                -0.232382419508661,</ns1:t>
            </ns1:r>
          </ns1:p>
          <ns1:p>
            <ns1:r>
              <ns1:t>                0.9563002615331773,</ns1:t>
            </ns1:r>
          </ns1:p>
          <ns1:p>
            <ns1:r>
              <ns1:t>                0.17744913387297956</ns1:t>
            </ns1:r>
          </ns1:p>
          <ns1:p>
            <ns1:r>
              <ns1:t>              ],</ns1:t>
            </ns1:r>
          </ns1:p>
          <ns1:p>
            <ns1:r>
              <ns1:t>              [</ns1:t>
            </ns1:r>
          </ns1:p>
          <ns1:p>
            <ns1:r>
              <ns1:t>                0.04347938667791329,</ns1:t>
            </ns1:r>
          </ns1:p>
          <ns1:p>
            <ns1:r>
              <ns1:t>                -0.1720473610249762,</ns1:t>
            </ns1:r>
          </ns1:p>
          <ns1:p>
            <ns1:r>
              <ns1:t>                0.9841286681075418</ns1:t>
            </ns1:r>
          </ns1:p>
          <ns1:p>
            <ns1:r>
              <ns1:t>              ]</ns1:t>
            </ns1:r>
          </ns1:p>
          <ns1:p>
            <ns1:r>
              <ns1:t>            ],</ns1:t>
            </ns1:r>
          </ns1:p>
          <ns1:p>
            <ns1:r>
              <ns1:t>            "translation": [</ns1:t>
            </ns1:r>
          </ns1:p>
          <ns1:p>
            <ns1:r>
              <ns1:t>              3.3985903455718525,</ns1:t>
            </ns1:r>
          </ns1:p>
          <ns1:p>
            <ns1:r>
              <ns1:t>              -6.121573941428423,</ns1:t>
            </ns1:r>
          </ns1:p>
          <ns1:p>
            <ns1:r>
              <ns1:t>              6.014485827651381</ns1:t>
            </ns1:r>
          </ns1:p>
          <ns1:p>
            <ns1:r>
              <ns1:t>            ],</ns1:t>
            </ns1:r>
          </ns1:p>
          <ns1:p>
            <ns1:r>
              <ns1:t>            "core_fit_CA_RMSD_A": 1.3060904572635719,</ns1:t>
            </ns1:r>
          </ns1:p>
          <ns1:p>
            <ns1:r>
              <ns1:t>            "output": "local/2026-10-25_linker-parent-views_001/build/renders-v2/LK_P141_07-LF-parent.jpg",</ns1:t>
            </ns1:r>
          </ns1:p>
          <ns1:p>
            <ns1:r>
              <ns1:t>            "parent_or_fusion_id": "Design_280",</ns1:t>
            </ns1:r>
          </ns1:p>
          <ns1:p>
            <ns1:r>
              <ns1:t>            "design_id": "LK_P141_07",</ns1:t>
            </ns1:r>
          </ns1:p>
          <ns1:p>
            <ns1:r>
              <ns1:t>            "panel": "LF-parent",</ns1:t>
            </ns1:r>
          </ns1:p>
          <ns1:p>
            <ns1:r>
              <ns1:t>            "view": [</ns1:t>
            </ns1:r>
          </ns1:p>
          <ns1:p>
            <ns1:r>
              <ns1:t>              1,</ns1:t>
            </ns1:r>
          </ns1:p>
          <ns1:p>
            <ns1:r>
              <ns1:t>              0,</ns1:t>
            </ns1:r>
          </ns1:p>
          <ns1:p>
            <ns1:r>
              <ns1:t>              0,</ns1:t>
            </ns1:r>
          </ns1:p>
          <ns1:p>
            <ns1:r>
              <ns1:t>              0,</ns1:t>
            </ns1:r>
          </ns1:p>
          <ns1:p>
            <ns1:r>
              <ns1:t>              1,</ns1:t>
            </ns1:r>
          </ns1:p>
          <ns1:p>
            <ns1:r>
              <ns1:t>              0,</ns1:t>
            </ns1:r>
          </ns1:p>
          <ns1:p>
            <ns1:r>
              <ns1:t>              0,</ns1:t>
            </ns1:r>
          </ns1:p>
          <ns1:p>
            <ns1:r>
              <ns1:t>              0,</ns1:t>
            </ns1:r>
          </ns1:p>
          <ns1:p>
            <ns1:r>
              <ns1:t>              1,</ns1:t>
            </ns1:r>
          </ns1:p>
          <ns1:p>
            <ns1:r>
              <ns1:t>              0,</ns1:t>
            </ns1:r>
          </ns1:p>
          <ns1:p>
            <ns1:r>
              <ns1:t>              0,</ns1:t>
            </ns1:r>
          </ns1:p>
          <ns1:p>
            <ns1:r>
              <ns1:t>              -436.8714256770552,</ns1:t>
            </ns1:r>
          </ns1:p>
          <ns1:p>
            <ns1:r>
              <ns1:t>              -6.942141291724319,</ns1:t>
            </ns1:r>
          </ns1:p>
          <ns1:p>
            <ns1:r>
              <ns1:t>              12.832198331403418,</ns1:t>
            </ns1:r>
          </ns1:p>
          <ns1:p>
            <ns1:r>
              <ns1:t>              -32.261276511870626,</ns1:t>
            </ns1:r>
          </ns1:p>
          <ns1:p>
            <ns1:r>
              <ns1:t>              360.5203728790387,</ns1:t>
            </ns1:r>
          </ns1:p>
          <ns1:p>
            <ns1:r>
              <ns1:t>              513.2224784750717,</ns1:t>
            </ns1:r>
          </ns1:p>
          <ns1:p>
            <ns1:r>
              <ns1:t>              -20</ns1:t>
            </ns1:r>
          </ns1:p>
          <ns1:p>
            <ns1:r>
              <ns1:t>            ],</ns1:t>
            </ns1:r>
          </ns1:p>
          <ns1:p>
            <ns1:r>
              <ns1:t>            "world_height_A": 154.0644388948754,</ns1:t>
            </ns1:r>
          </ns1:p>
          <ns1:p>
            <ns1:r>
              <ns1:t>            "row_bounds_all_atoms_A": [</ns1:t>
            </ns1:r>
          </ns1:p>
          <ns1:p>
            <ns1:r>
              <ns1:t>              [</ns1:t>
            </ns1:r>
          </ns1:p>
          <ns1:p>
            <ns1:r>
              <ns1:t>                -50.79037642370106,</ns1:t>
            </ns1:r>
          </ns1:p>
          <ns1:p>
            <ns1:r>
              <ns1:t>                -57.20002111603428,</ns1:t>
            </ns1:r>
          </ns1:p>
          <ns1:p>
            <ns1:r>
              <ns1:t>                -93.61232930988712</ns1:t>
            </ns1:r>
          </ns1:p>
          <ns1:p>
            <ns1:r>
              <ns1:t>              ],</ns1:t>
            </ns1:r>
          </ns1:p>
          <ns1:p>
            <ns1:r>
              <ns1:t>              [</ns1:t>
            </ns1:r>
          </ns1:p>
          <ns1:p>
            <ns1:r>
              <ns1:t>                36.906093840252424,</ns1:t>
            </ns1:r>
          </ns1:p>
          <ns1:p>
            <ns1:r>
              <ns1:t>                82.86441777884112,</ns1:t>
            </ns1:r>
          </ns1:p>
          <ns1:p>
            <ns1:r>
              <ns1:t>                29.08977628614586</ns1:t>
            </ns1:r>
          </ns1:p>
          <ns1:p>
            <ns1:r>
              <ns1:t>              ]</ns1:t>
            </ns1:r>
          </ns1:p>
          <ns1:p>
            <ns1:r>
              <ns1:t>            ]</ns1:t>
            </ns1:r>
          </ns1:p>
          <ns1:p>
            <ns1:r>
              <ns1:t>          }</ns1:t>
            </ns1:r>
          </ns1:p>
          <ns1:p>
            <ns1:r>
              <ns1:t>        },</ns1:t>
            </ns1:r>
          </ns1:p>
          <ns1:p>
            <ns1:r>
              <ns1:t>        "shared_camera": [</ns1:t>
            </ns1:r>
          </ns1:p>
          <ns1:p>
            <ns1:r>
              <ns1:t>          1,</ns1:t>
            </ns1:r>
          </ns1:p>
          <ns1:p>
            <ns1:r>
              <ns1:t>          0,</ns1:t>
            </ns1:r>
          </ns1:p>
          <ns1:p>
            <ns1:r>
              <ns1:t>          0,</ns1:t>
            </ns1:r>
          </ns1:p>
          <ns1:p>
            <ns1:r>
              <ns1:t>          0,</ns1:t>
            </ns1:r>
          </ns1:p>
          <ns1:p>
            <ns1:r>
              <ns1:t>          1,</ns1:t>
            </ns1:r>
          </ns1:p>
          <ns1:p>
            <ns1:r>
              <ns1:t>          0,</ns1:t>
            </ns1:r>
          </ns1:p>
          <ns1:p>
            <ns1:r>
              <ns1:t>          0,</ns1:t>
            </ns1:r>
          </ns1:p>
          <ns1:p>
            <ns1:r>
              <ns1:t>          0,</ns1:t>
            </ns1:r>
          </ns1:p>
          <ns1:p>
            <ns1:r>
              <ns1:t>          1,</ns1:t>
            </ns1:r>
          </ns1:p>
          <ns1:p>
            <ns1:r>
              <ns1:t>          0,</ns1:t>
            </ns1:r>
          </ns1:p>
          <ns1:p>
            <ns1:r>
              <ns1:t>          0,</ns1:t>
            </ns1:r>
          </ns1:p>
          <ns1:p>
            <ns1:r>
              <ns1:t>          -436.8714256770552,</ns1:t>
            </ns1:r>
          </ns1:p>
          <ns1:p>
            <ns1:r>
              <ns1:t>          -6.942141291724319,</ns1:t>
            </ns1:r>
          </ns1:p>
          <ns1:p>
            <ns1:r>
              <ns1:t>          12.832198331403418,</ns1:t>
            </ns1:r>
          </ns1:p>
          <ns1:p>
            <ns1:r>
              <ns1:t>          -32.261276511870626,</ns1:t>
            </ns1:r>
          </ns1:p>
          <ns1:p>
            <ns1:r>
              <ns1:t>          360.5203728790387,</ns1:t>
            </ns1:r>
          </ns1:p>
          <ns1:p>
            <ns1:r>
              <ns1:t>          513.2224784750717,</ns1:t>
            </ns1:r>
          </ns1:p>
          <ns1:p>
            <ns1:r>
              <ns1:t>          -20</ns1:t>
            </ns1:r>
          </ns1:p>
          <ns1:p>
            <ns1:r>
              <ns1:t>        ],</ns1:t>
            </ns1:r>
          </ns1:p>
          <ns1:p>
            <ns1:r>
              <ns1:t>        "reference": "Separate saved Exact parent complexes flank the linked Exact refold; AP Novo linked design comparison remains on the following slide. Rigid display alignment preserves native poses; all native receptor residues shown."</ns1:t>
            </ns1:r>
          </ns1:p>
          <ns1:p>
            <ns1:r>
              <ns1:t>      }</ns1:t>
            </ns1:r>
          </ns1:p>
          <ns1:p>
            <ns1:r>
              <ns1:t>    },</ns1:t>
            </ns1:r>
          </ns1:p>
          <ns1:p>
            <ns1:r>
              <ns1:t>    "display": "unchanged embedded JPEGs extracted from hash-verified delivered25-design PPTX; no resampling, cropping or new coordinate transforms",</ns1:t>
            </ns1:r>
          </ns1:p>
          <ns1:p>
            <ns1:r>
              <ns1:t>    "scale": "full complex and interface have different zooms; no matched-scale claim",</ns1:t>
            </ns1:r>
          </ns1:p>
          <ns1:p>
            <ns1:r>
              <ns1:t>    "hotspots": "black sticks; original27pocket positions for original LigandForge, R40/Q37/E34 annotations for DLD",</ns1:t>
            </ns1:r>
          </ns1:p>
          <ns1:p>
            <ns1:r>
              <ns1:t>    "colors": {</ns1:t>
            </ns1:r>
          </ns1:p>
          <ns1:p>
            <ns1:r>
              <ns1:t>      "LigandForge": "#E69F00",</ns1:t>
            </ns1:r>
          </ns1:p>
          <ns1:p>
            <ns1:r>
              <ns1:t>      "linker": "#AA4499",</ns1:t>
            </ns1:r>
          </ns1:p>
          <ns1:p>
            <ns1:r>
              <ns1:t>      "ECD_binder": "#0072B2",</ns1:t>
            </ns1:r>
          </ns1:p>
          <ns1:p>
            <ns1:r>
              <ns1:t>      "receptor_ECD": "#009E73",</ns1:t>
            </ns1:r>
          </ns1:p>
          <ns1:p>
            <ns1:r>
              <ns1:t>      "receptor_remainder": "#9AA5B1",</ns1:t>
            </ns1:r>
          </ns1:p>
          <ns1:p>
            <ns1:r>
              <ns1:t>      "hotspots": "#000000"</ns1:t>
            </ns1:r>
          </ns1:p>
          <ns1:p>
            <ns1:r>
              <ns1:t>    }</ns1:t>
            </ns1:r>
          </ns1:p>
          <ns1:p>
            <ns1:r>
              <ns1:t>  },</ns1:t>
            </ns1:r>
          </ns1:p>
          <ns1:p>
            <ns1:r>
              <ns1:t>  "source_deck": "local/2026-10-25_affinity-confidence-selection-deck_002/output/GLP1R_Selected_ipSAE_gt0p895_Kd_lt10nM_v3.pptx",</ns1:t>
            </ns1:r>
          </ns1:p>
          <ns1:p>
            <ns1:r>
              <ns1:t>  "source_deck_sha256": "ad9333fdf6c0ce7d6982e2980d6aade78af256710dbc7917f7f39e41d35aa173",</ns1:t>
            </ns1:r>
          </ns1:p>
          <ns1:p>
            <ns1:r>
              <ns1:t>  "domain_labels": "ECD A1-32  linker A33-52  LF A53-121",</ns1:t>
            </ns1:r>
          </ns1:p>
          <ns1:p>
            <ns1:r>
              <ns1:t>  "display_scope": "native Exact complex and saved interface view; same identity colors, independent zooms; no new coordinates or inferred agonism"</ns1:t>
            </ns1:r>
          </ns1:p>
          <ns1:p>
            <ns1:r>
              <ns1:t>}</ns1:t>
            </ns1:r>
          </ns1:p>
        </ns0:txBody>
      </ns0:sp>
      <ns0:sp>
        <ns0:nvSpPr>
          <ns0:cNvPr id="4" name="Slide Number Placeholder 3"/>
          <ns0:cNvSpPr>
            <ns1:spLocks noGrp="1"/>
          </ns0:cNvSpPr>
          <ns0:nvPr>
            <ns0:ph type="sldNum" idx="5"/>
          </ns0:nvPr>
        </ns0:nvSpPr>
        <ns0:spPr/>
        <ns0:txBody>
          <ns1:bodyPr/>
          <ns1:lstStyle/>
          <ns1:p/>
        </ns0:txBody>
      </ns0:sp>
    </ns0:spTree>
  </ns0:cSld>
  <ns0:clrMapOvr>
    <ns1:masterClrMapping/>
  </ns0:clrMapOvr>
</ns0:notes>
</file>

<file path=ppt/notesSlides/notesSlide31.xml><?xml version="1.0" encoding="utf-8"?>
<ns0:notes xmlns:ns0="http://schemas.openxmlformats.org/presentationml/2006/main" xmlns:ns1="http://schemas.openxmlformats.org/drawingml/2006/main">
  <ns0:cSld>
    <ns0:spTree>
      <ns0:nvGrpSpPr>
        <ns0:cNvPr id="1" name=""/>
        <ns0:cNvGrpSpPr/>
        <ns0:nvPr/>
      </ns0:nvGrpSpPr>
      <ns0:grpSpPr>
        <ns1:xfrm/>
      </ns0:grpSpPr>
      <ns0:sp>
        <ns0:nvSpPr>
          <ns0:cNvPr id="2" name="Slide Image Placeholder 1"/>
          <ns0:cNvSpPr>
            <ns1:spLocks noGrp="1"/>
          </ns0:cNvSpPr>
          <ns0:nvPr>
            <ns0:ph type="sldImg" idx="0"/>
          </ns0:nvPr>
        </ns0:nvSpPr>
        <ns0:spPr/>
      </ns0:sp>
      <ns0:sp>
        <ns0:nvSpPr>
          <ns0:cNvPr id="3" name="Notes Placeholder 2"/>
          <ns0:cNvSpPr>
            <ns1:spLocks noGrp="1"/>
          </ns0:cNvSpPr>
          <ns0:nvPr>
            <ns0:ph type="body" idx="1"/>
          </ns0:nvPr>
        </ns0:nvSpPr>
        <ns0:spPr/>
        <ns0:txBody>
          <ns1:bodyPr/>
          <ns1:lstStyle/>
          <ns1:p>
            <ns1:r>
              <ns1:t>{</ns1:t>
            </ns1:r>
          </ns1:p>
          <ns1:p>
            <ns1:r>
              <ns1:t>  "candidate": "LK_P002_05",</ns1:t>
            </ns1:r>
          </ns1:p>
          <ns1:p>
            <ns1:r>
              <ns1:t>  "final_rank": 16,</ns1:t>
            </ns1:r>
          </ns1:p>
          <ns1:p>
            <ns1:r>
              <ns1:t>  "selection": "Exact ipSAE&gt;0.895 and DeltaForge predicted Kd&lt;10nM; first20 by Exact ipSAE descending",</ns1:t>
            </ns1:r>
          </ns1:p>
          <ns1:p>
            <ns1:r>
              <ns1:t>  "sequence_sha256": "8dcbb7d8cdc0f0dedcabe96c99dedf901c32eddadf2c8d7dec2e96f528f8b01a",</ns1:t>
            </ns1:r>
          </ns1:p>
          <ns1:p>
            <ns1:r>
              <ns1:t>  "sources": {</ns1:t>
            </ns1:r>
          </ns1:p>
          <ns1:p>
            <ns1:r>
              <ns1:t>    "source_table": {</ns1:t>
            </ns1:r>
          </ns1:p>
          <ns1:p>
            <ns1:r>
              <ns1:t>      "path": "local/2026-10-25_lf50-dld26-50-deltaforge_001/output/GLP1R_DLD_Top50_DeltaForge_Kd_and_Boltz2_Metrics.csv",</ns1:t>
            </ns1:r>
          </ns1:p>
          <ns1:p>
            <ns1:r>
              <ns1:t>      "sha256": "da9569bf0e8b74cce3d6792eb260d6a4b17b35e6f46e0793d49f02c0d3a0e728"</ns1:t>
            </ns1:r>
          </ns1:p>
          <ns1:p>
            <ns1:r>
              <ns1:t>    },</ns1:t>
            </ns1:r>
          </ns1:p>
          <ns1:p>
            <ns1:r>
              <ns1:t>    "native_cif": {</ns1:t>
            </ns1:r>
          </ns1:p>
          <ns1:p>
            <ns1:r>
              <ns1:t>      "path": "local/2026-10-25_linker-top100-review_001/models/LK_P002_05/boltz2.cif",</ns1:t>
            </ns1:r>
          </ns1:p>
          <ns1:p>
            <ns1:r>
              <ns1:t>      "sha256": "b42fd0d87e7deba61c440007ffdbe63e077f7982ac2d552a73dd74fd7a92bd52"</ns1:t>
            </ns1:r>
          </ns1:p>
          <ns1:p>
            <ns1:r>
              <ns1:t>    },</ns1:t>
            </ns1:r>
          </ns1:p>
          <ns1:p>
            <ns1:r>
              <ns1:t>    "scoring_pdb": {</ns1:t>
            </ns1:r>
          </ns1:p>
          <ns1:p>
            <ns1:r>
              <ns1:t>      "path": "local/2026-10-25_dld-top25-deltaforge_001/payload/structures/LK_P002_05.pdb",</ns1:t>
            </ns1:r>
          </ns1:p>
          <ns1:p>
            <ns1:r>
              <ns1:t>      "sha256": "2cdbeaadafb5b0d2c96000faac08312915566af30e7bc4b1c57d5ce84f861e5d"</ns1:t>
            </ns1:r>
          </ns1:p>
          <ns1:p>
            <ns1:r>
              <ns1:t>    },</ns1:t>
            </ns1:r>
          </ns1:p>
          <ns1:p>
            <ns1:r>
              <ns1:t>    "DeltaForge_result": {</ns1:t>
            </ns1:r>
          </ns1:p>
          <ns1:p>
            <ns1:r>
              <ns1:t>      "path": "campaigns/glp1r-r40-design/runs/2026-10-25_dld-top25-deltaforge_001/03_filtering/deltaforge_results/LK_P002_05.json",</ns1:t>
            </ns1:r>
          </ns1:p>
          <ns1:p>
            <ns1:r>
              <ns1:t>      "sha256": "80f0480127c0e61dce92b002b5e845ec638a8b8f5193fdbe07401b41051eff24"</ns1:t>
            </ns1:r>
          </ns1:p>
          <ns1:p>
            <ns1:r>
              <ns1:t>    }</ns1:t>
            </ns1:r>
          </ns1:p>
          <ns1:p>
            <ns1:r>
              <ns1:t>  },</ns1:t>
            </ns1:r>
          </ns1:p>
          <ns1:p>
            <ns1:r>
              <ns1:t>  "source_ledger": "campaigns/glp1r-final-writeup/runs/2026-10-25_final20-writeup_001/04_analysis/provenance-ledger.json",</ns1:t>
            </ns1:r>
          </ns1:p>
          <ns1:p>
            <ns1:r>
              <ns1:t>  "scorer": "deltaforge_v10_2_unified_parallel / v10_2_unified_parallel_2026_05_08",</ns1:t>
            </ns1:r>
          </ns1:p>
          <ns1:p>
            <ns1:r>
              <ns1:t>  "calibration": "deltaforge_v10_boltz2_calibrated_gbr / v10_boltz2_gbr_2026_03_29",</ns1:t>
            </ns1:r>
          </ns1:p>
          <ns1:p>
            <ns1:r>
              <ns1:t>  "scope": "one complete candidate A against one receptor B; computational, no experimental Kd or activation"</ns1:t>
            </ns1:r>
          </ns1:p>
          <ns1:p>
            <ns1:r>
              <ns1:t>}</ns1:t>
            </ns1:r>
          </ns1:p>
        </ns0:txBody>
      </ns0:sp>
      <ns0:sp>
        <ns0:nvSpPr>
          <ns0:cNvPr id="4" name="Slide Number Placeholder 3"/>
          <ns0:cNvSpPr>
            <ns1:spLocks noGrp="1"/>
          </ns0:cNvSpPr>
          <ns0:nvPr>
            <ns0:ph type="sldNum" idx="5"/>
          </ns0:nvPr>
        </ns0:nvSpPr>
        <ns0:spPr/>
        <ns0:txBody>
          <ns1:bodyPr/>
          <ns1:lstStyle/>
          <ns1:p/>
        </ns0:txBody>
      </ns0:sp>
    </ns0:spTree>
  </ns0:cSld>
  <ns0:clrMapOvr>
    <ns1:masterClrMapping/>
  </ns0:clrMapOvr>
</ns0:notes>
</file>

<file path=ppt/notesSlides/notesSlide32.xml><?xml version="1.0" encoding="utf-8"?>
<ns0:notes xmlns:ns0="http://schemas.openxmlformats.org/presentationml/2006/main" xmlns:ns1="http://schemas.openxmlformats.org/drawingml/2006/main">
  <ns0:cSld>
    <ns0:spTree>
      <ns0:nvGrpSpPr>
        <ns0:cNvPr id="1" name=""/>
        <ns0:cNvGrpSpPr/>
        <ns0:nvPr/>
      </ns0:nvGrpSpPr>
      <ns0:grpSpPr>
        <ns1:xfrm/>
      </ns0:grpSpPr>
      <ns0:sp>
        <ns0:nvSpPr>
          <ns0:cNvPr id="2" name="Slide Image Placeholder 1"/>
          <ns0:cNvSpPr>
            <ns1:spLocks noGrp="1"/>
          </ns0:cNvSpPr>
          <ns0:nvPr>
            <ns0:ph type="sldImg" idx="0"/>
          </ns0:nvPr>
        </ns0:nvSpPr>
        <ns0:spPr/>
      </ns0:sp>
      <ns0:sp>
        <ns0:nvSpPr>
          <ns0:cNvPr id="3" name="Notes Placeholder 2"/>
          <ns0:cNvSpPr>
            <ns1:spLocks noGrp="1"/>
          </ns0:cNvSpPr>
          <ns0:nvPr>
            <ns0:ph type="body" idx="1"/>
          </ns0:nvPr>
        </ns0:nvSpPr>
        <ns0:spPr/>
        <ns0:txBody>
          <ns1:bodyPr/>
          <ns1:lstStyle/>
          <ns1:p>
            <ns1:r>
              <ns1:t>{</ns1:t>
            </ns1:r>
          </ns1:p>
          <ns1:p>
            <ns1:r>
              <ns1:t>  "candidate": "LK_P002_05",</ns1:t>
            </ns1:r>
          </ns1:p>
          <ns1:p>
            <ns1:r>
              <ns1:t>  "final_rank": 16,</ns1:t>
            </ns1:r>
          </ns1:p>
          <ns1:p>
            <ns1:r>
              <ns1:t>  "native_model_sha256": "b42fd0d87e7deba61c440007ffdbe63e077f7982ac2d552a73dd74fd7a92bd52",</ns1:t>
            </ns1:r>
          </ns1:p>
          <ns1:p>
            <ns1:r>
              <ns1:t>  "structure_views": {</ns1:t>
            </ns1:r>
          </ns1:p>
          <ns1:p>
            <ns1:r>
              <ns1:t>    "final_rank": 16,</ns1:t>
            </ns1:r>
          </ns1:p>
          <ns1:p>
            <ns1:r>
              <ns1:t>    "design_id": "LK_P002_05",</ns1:t>
            </ns1:r>
          </ns1:p>
          <ns1:p>
            <ns1:r>
              <ns1:t>    "sequence_sha256": "8dcbb7d8cdc0f0dedcabe96c99dedf901c32eddadf2c8d7dec2e96f528f8b01a",</ns1:t>
            </ns1:r>
          </ns1:p>
          <ns1:p>
            <ns1:r>
              <ns1:t>    "native_model_sha256": "b42fd0d87e7deba61c440007ffdbe63e077f7982ac2d552a73dd74fd7a92bd52",</ns1:t>
            </ns1:r>
          </ns1:p>
          <ns1:p>
            <ns1:r>
              <ns1:t>    "scoring_pdb_sha256": "2cdbeaadafb5b0d2c96000faac08312915566af30e7bc4b1c57d5ce84f861e5d",</ns1:t>
            </ns1:r>
          </ns1:p>
          <ns1:p>
            <ns1:r>
              <ns1:t>    "overview": {</ns1:t>
            </ns1:r>
          </ns1:p>
          <ns1:p>
            <ns1:r>
              <ns1:t>      "source_slide": 63,</ns1:t>
            </ns1:r>
          </ns1:p>
          <ns1:p>
            <ns1:r>
              <ns1:t>      "source_picture_index": 1,</ns1:t>
            </ns1:r>
          </ns1:p>
          <ns1:p>
            <ns1:r>
              <ns1:t>      "embedded_media": "ppt/media/image71.jpeg",</ns1:t>
            </ns1:r>
          </ns1:p>
          <ns1:p>
            <ns1:r>
              <ns1:t>      "image_sha256": "a6ef51884c0033dbfe8c76d76cdce96264eaf168a1f406e242fc5765f9f847e0",</ns1:t>
            </ns1:r>
          </ns1:p>
          <ns1:p>
            <ns1:r>
              <ns1:t>      "asset": "assets/LK_P002_05-complex.jpg"</ns1:t>
            </ns1:r>
          </ns1:p>
          <ns1:p>
            <ns1:r>
              <ns1:t>    },</ns1:t>
            </ns1:r>
          </ns1:p>
          <ns1:p>
            <ns1:r>
              <ns1:t>    "interface": {</ns1:t>
            </ns1:r>
          </ns1:p>
          <ns1:p>
            <ns1:r>
              <ns1:t>      "source_slide": 64,</ns1:t>
            </ns1:r>
          </ns1:p>
          <ns1:p>
            <ns1:r>
              <ns1:t>      "source_picture_index": 1,</ns1:t>
            </ns1:r>
          </ns1:p>
          <ns1:p>
            <ns1:r>
              <ns1:t>      "embedded_media": "ppt/media/image74.jpeg",</ns1:t>
            </ns1:r>
          </ns1:p>
          <ns1:p>
            <ns1:r>
              <ns1:t>      "image_sha256": "f7a707322447674a001ae1bc0379ec678731aba70fd089ad27ebb7ceac0db786",</ns1:t>
            </ns1:r>
          </ns1:p>
          <ns1:p>
            <ns1:r>
              <ns1:t>      "asset": "assets/LK_P002_05-interface.jpg"</ns1:t>
            </ns1:r>
          </ns1:p>
          <ns1:p>
            <ns1:r>
              <ns1:t>    },</ns1:t>
            </ns1:r>
          </ns1:p>
          <ns1:p>
            <ns1:r>
              <ns1:t>    "rendering_provenance": {</ns1:t>
            </ns1:r>
          </ns1:p>
          <ns1:p>
            <ns1:r>
              <ns1:t>      "DeltaForge_source_PDB_sha256": "2cdbeaadafb5b0d2c96000faac08312915566af30e7bc4b1c57d5ce84f861e5d",</ns1:t>
            </ns1:r>
          </ns1:p>
          <ns1:p>
            <ns1:r>
              <ns1:t>      "role_ranges_zero_based": {</ns1:t>
            </ns1:r>
          </ns1:p>
          <ns1:p>
            <ns1:r>
              <ns1:t>        "LF": [</ns1:t>
            </ns1:r>
          </ns1:p>
          <ns1:p>
            <ns1:r>
              <ns1:t>          0,</ns1:t>
            </ns1:r>
          </ns1:p>
          <ns1:p>
            <ns1:r>
              <ns1:t>          36</ns1:t>
            </ns1:r>
          </ns1:p>
          <ns1:p>
            <ns1:r>
              <ns1:t>        ],</ns1:t>
            </ns1:r>
          </ns1:p>
          <ns1:p>
            <ns1:r>
              <ns1:t>        "linker": [</ns1:t>
            </ns1:r>
          </ns1:p>
          <ns1:p>
            <ns1:r>
              <ns1:t>          36,</ns1:t>
            </ns1:r>
          </ns1:p>
          <ns1:p>
            <ns1:r>
              <ns1:t>          57</ns1:t>
            </ns1:r>
          </ns1:p>
          <ns1:p>
            <ns1:r>
              <ns1:t>        ],</ns1:t>
            </ns1:r>
          </ns1:p>
          <ns1:p>
            <ns1:r>
              <ns1:t>        "ECD": [</ns1:t>
            </ns1:r>
          </ns1:p>
          <ns1:p>
            <ns1:r>
              <ns1:t>          57,</ns1:t>
            </ns1:r>
          </ns1:p>
          <ns1:p>
            <ns1:r>
              <ns1:t>          104</ns1:t>
            </ns1:r>
          </ns1:p>
          <ns1:p>
            <ns1:r>
              <ns1:t>        ]</ns1:t>
            </ns1:r>
          </ns1:p>
          <ns1:p>
            <ns1:r>
              <ns1:t>      },</ns1:t>
            </ns1:r>
          </ns1:p>
          <ns1:p>
            <ns1:r>
              <ns1:t>      "model_sha256": "b42fd0d87e7deba61c440007ffdbe63e077f7982ac2d552a73dd74fd7a92bd52",</ns1:t>
            </ns1:r>
          </ns1:p>
          <ns1:p>
            <ns1:r>
              <ns1:t>      "source_run": "2026-10-24_pair183-extracellular-exact_001",</ns1:t>
            </ns1:r>
          </ns1:p>
          <ns1:p>
            <ns1:r>
              <ns1:t>      "source_methods": [</ns1:t>
            </ns1:r>
          </ns1:p>
          <ns1:p>
            <ns1:r>
              <ns1:t>        "https://github.com/DunbrackLab/IPSAE",</ns1:t>
            </ns1:r>
          </ns1:p>
          <ns1:p>
            <ns1:r>
              <ns1:t>        "https://github.com/wallnerlab/DockQ",</ns1:t>
            </ns1:r>
          </ns1:p>
          <ns1:p>
            <ns1:r>
              <ns1:t>        "https://zhanggroup.org/TM-score/"</ns1:t>
            </ns1:r>
          </ns1:p>
          <ns1:p>
            <ns1:r>
              <ns1:t>      ],</ns1:t>
            </ns1:r>
          </ns1:p>
          <ns1:p>
            <ns1:r>
              <ns1:t>      "saved_display_appendix": {</ns1:t>
            </ns1:r>
          </ns1:p>
          <ns1:p>
            <ns1:r>
              <ns1:t>        "parent_sources": {</ns1:t>
            </ns1:r>
          </ns1:p>
          <ns1:p>
            <ns1:r>
              <ns1:t>          "ECD-parent": {</ns1:t>
            </ns1:r>
          </ns1:p>
          <ns1:p>
            <ns1:r>
              <ns1:t>            "key": "LK_P002_05-ECD-parent",</ns1:t>
            </ns1:r>
          </ns1:p>
          <ns1:p>
            <ns1:r>
              <ns1:t>            "source_path": "local/2026-10-25_linker-parent-comparison_001/parents/S10_03_014/exact.pdb",</ns1:t>
            </ns1:r>
          </ns1:p>
          <ns1:p>
            <ns1:r>
              <ns1:t>            "source_sha256": "a29d8795d918604fd505028a39cbe0c0a957b1f21303e806fb14da3da6fb71a1",</ns1:t>
            </ns1:r>
          </ns1:p>
          <ns1:p>
            <ns1:r>
              <ns1:t>            "role": "ECD",</ns1:t>
            </ns1:r>
          </ns1:p>
          <ns1:p>
            <ns1:r>
              <ns1:t>            "ranges_zero_based": {</ns1:t>
            </ns1:r>
          </ns1:p>
          <ns1:p>
            <ns1:r>
              <ns1:t>              "ECD": [</ns1:t>
            </ns1:r>
          </ns1:p>
          <ns1:p>
            <ns1:r>
              <ns1:t>                0,</ns1:t>
            </ns1:r>
          </ns1:p>
          <ns1:p>
            <ns1:r>
              <ns1:t>                47</ns1:t>
            </ns1:r>
          </ns1:p>
          <ns1:p>
            <ns1:r>
              <ns1:t>              ]</ns1:t>
            </ns1:r>
          </ns1:p>
          <ns1:p>
            <ns1:r>
              <ns1:t>            },</ns1:t>
            </ns1:r>
          </ns1:p>
          <ns1:p>
            <ns1:r>
              <ns1:t>            "sequence": "MLPQLFLTHMLSVMVGTGSLDSGLVSAFRGSPLVSEAILGFLKQYLS",</ns1:t>
            </ns1:r>
          </ns1:p>
          <ns1:p>
            <ns1:r>
              <ns1:t>            "rotation": [</ns1:t>
            </ns1:r>
          </ns1:p>
          <ns1:p>
            <ns1:r>
              <ns1:t>              [</ns1:t>
            </ns1:r>
          </ns1:p>
          <ns1:p>
            <ns1:r>
              <ns1:t>                0.5132657303712289,</ns1:t>
            </ns1:r>
          </ns1:p>
          <ns1:p>
            <ns1:r>
              <ns1:t>                0.802348200493987,</ns1:t>
            </ns1:r>
          </ns1:p>
          <ns1:p>
            <ns1:r>
              <ns1:t>                0.3046238559445271</ns1:t>
            </ns1:r>
          </ns1:p>
          <ns1:p>
            <ns1:r>
              <ns1:t>              ],</ns1:t>
            </ns1:r>
          </ns1:p>
          <ns1:p>
            <ns1:r>
              <ns1:t>              [</ns1:t>
            </ns1:r>
          </ns1:p>
          <ns1:p>
            <ns1:r>
              <ns1:t>                0.27356394832520525,</ns1:t>
            </ns1:r>
          </ns1:p>
          <ns1:p>
            <ns1:r>
              <ns1:t>                0.1834770465965434,</ns1:t>
            </ns1:r>
          </ns1:p>
          <ns1:p>
            <ns1:r>
              <ns1:t>                -0.9441922167657513</ns1:t>
            </ns1:r>
          </ns1:p>
          <ns1:p>
            <ns1:r>
              <ns1:t>              ],</ns1:t>
            </ns1:r>
          </ns1:p>
          <ns1:p>
            <ns1:r>
              <ns1:t>              [</ns1:t>
            </ns1:r>
          </ns1:p>
          <ns1:p>
            <ns1:r>
              <ns1:t>                -0.813462381674996,</ns1:t>
            </ns1:r>
          </ns1:p>
          <ns1:p>
            <ns1:r>
              <ns1:t>                0.5679556118857318,</ns1:t>
            </ns1:r>
          </ns1:p>
          <ns1:p>
            <ns1:r>
              <ns1:t>                -0.12532104650128595</ns1:t>
            </ns1:r>
          </ns1:p>
          <ns1:p>
            <ns1:r>
              <ns1:t>              ]</ns1:t>
            </ns1:r>
          </ns1:p>
          <ns1:p>
            <ns1:r>
              <ns1:t>            ],</ns1:t>
            </ns1:r>
          </ns1:p>
          <ns1:p>
            <ns1:r>
              <ns1:t>            "translation": [</ns1:t>
            </ns1:r>
          </ns1:p>
          <ns1:p>
            <ns1:r>
              <ns1:t>              5.798520956491389,</ns1:t>
            </ns1:r>
          </ns1:p>
          <ns1:p>
            <ns1:r>
              <ns1:t>              1.9183349698289165,</ns1:t>
            </ns1:r>
          </ns1:p>
          <ns1:p>
            <ns1:r>
              <ns1:t>              -2.2144394768574935</ns1:t>
            </ns1:r>
          </ns1:p>
          <ns1:p>
            <ns1:r>
              <ns1:t>            ],</ns1:t>
            </ns1:r>
          </ns1:p>
          <ns1:p>
            <ns1:r>
              <ns1:t>            "core_fit_CA_RMSD_A": 1.321877300575366,</ns1:t>
            </ns1:r>
          </ns1:p>
          <ns1:p>
            <ns1:r>
              <ns1:t>            "output": "local/2026-10-25_linker-parent-views_001/build/renders-v2/LK_P002_05-ECD-parent.jpg",</ns1:t>
            </ns1:r>
          </ns1:p>
          <ns1:p>
            <ns1:r>
              <ns1:t>            "parent_or_fusion_id": "S10_03_014",</ns1:t>
            </ns1:r>
          </ns1:p>
          <ns1:p>
            <ns1:r>
              <ns1:t>            "design_id": "LK_P002_05",</ns1:t>
            </ns1:r>
          </ns1:p>
          <ns1:p>
            <ns1:r>
              <ns1:t>            "panel": "ECD-parent",</ns1:t>
            </ns1:r>
          </ns1:p>
          <ns1:p>
            <ns1:r>
              <ns1:t>            "view": [</ns1:t>
            </ns1:r>
          </ns1:p>
          <ns1:p>
            <ns1:r>
              <ns1:t>              1,</ns1:t>
            </ns1:r>
          </ns1:p>
          <ns1:p>
            <ns1:r>
              <ns1:t>              0,</ns1:t>
            </ns1:r>
          </ns1:p>
          <ns1:p>
            <ns1:r>
              <ns1:t>              0,</ns1:t>
            </ns1:r>
          </ns1:p>
          <ns1:p>
            <ns1:r>
              <ns1:t>              0,</ns1:t>
            </ns1:r>
          </ns1:p>
          <ns1:p>
            <ns1:r>
              <ns1:t>              1,</ns1:t>
            </ns1:r>
          </ns1:p>
          <ns1:p>
            <ns1:r>
              <ns1:t>              0,</ns1:t>
            </ns1:r>
          </ns1:p>
          <ns1:p>
            <ns1:r>
              <ns1:t>              0,</ns1:t>
            </ns1:r>
          </ns1:p>
          <ns1:p>
            <ns1:r>
              <ns1:t>              0,</ns1:t>
            </ns1:r>
          </ns1:p>
          <ns1:p>
            <ns1:r>
              <ns1:t>              1,</ns1:t>
            </ns1:r>
          </ns1:p>
          <ns1:p>
            <ns1:r>
              <ns1:t>              0,</ns1:t>
            </ns1:r>
          </ns1:p>
          <ns1:p>
            <ns1:r>
              <ns1:t>              0,</ns1:t>
            </ns1:r>
          </ns1:p>
          <ns1:p>
            <ns1:r>
              <ns1:t>              -391.526075984692,</ns1:t>
            </ns1:r>
          </ns1:p>
          <ns1:p>
            <ns1:r>
              <ns1:t>              -4.100799816898441,</ns1:t>
            </ns1:r>
          </ns1:p>
          <ns1:p>
            <ns1:r>
              <ns1:t>              6.098821556600491,</ns1:t>
            </ns1:r>
          </ns1:p>
          <ns1:p>
            <ns1:r>
              <ns1:t>              -23.716392787073072,</ns1:t>
            </ns1:r>
          </ns1:p>
          <ns1:p>
            <ns1:r>
              <ns1:t>              324.7431677140239,</ns1:t>
            </ns1:r>
          </ns1:p>
          <ns1:p>
            <ns1:r>
              <ns1:t>              458.3089842553601,</ns1:t>
            </ns1:r>
          </ns1:p>
          <ns1:p>
            <ns1:r>
              <ns1:t>              -20</ns1:t>
            </ns1:r>
          </ns1:p>
          <ns1:p>
            <ns1:r>
              <ns1:t>            ],</ns1:t>
            </ns1:r>
          </ns1:p>
          <ns1:p>
            <ns1:r>
              <ns1:t>            "world_height_A": 138.07322169402755,</ns1:t>
            </ns1:r>
          </ns1:p>
          <ns1:p>
            <ns1:r>
              <ns1:t>            "row_bounds_all_atoms_A": [</ns1:t>
            </ns1:r>
          </ns1:p>
          <ns1:p>
            <ns1:r>
              <ns1:t>              [</ns1:t>
            </ns1:r>
          </ns1:p>
          <ns1:p>
            <ns1:r>
              <ns1:t>                -40.24597695663007,</ns1:t>
            </ns1:r>
          </ns1:p>
          <ns1:p>
            <ns1:r>
              <ns1:t>                -55.93778929041328,</ns1:t>
            </ns1:r>
          </ns1:p>
          <ns1:p>
            <ns1:r>
              <ns1:t>                -75.49930105774118</ns1:t>
            </ns1:r>
          </ns1:p>
          <ns1:p>
            <ns1:r>
              <ns1:t>              ],</ns1:t>
            </ns1:r>
          </ns1:p>
          <ns1:p>
            <ns1:r>
              <ns1:t>              [</ns1:t>
            </ns1:r>
          </ns1:p>
          <ns1:p>
            <ns1:r>
              <ns1:t>                32.044377322833185,</ns1:t>
            </ns1:r>
          </ns1:p>
          <ns1:p>
            <ns1:r>
              <ns1:t>                68.13543240361426,</ns1:t>
            </ns1:r>
          </ns1:p>
          <ns1:p>
            <ns1:r>
              <ns1:t>                28.066515483595033</ns1:t>
            </ns1:r>
          </ns1:p>
          <ns1:p>
            <ns1:r>
              <ns1:t>              ]</ns1:t>
            </ns1:r>
          </ns1:p>
          <ns1:p>
            <ns1:r>
              <ns1:t>            ]</ns1:t>
            </ns1:r>
          </ns1:p>
          <ns1:p>
            <ns1:r>
              <ns1:t>          },</ns1:t>
            </ns1:r>
          </ns1:p>
          <ns1:p>
            <ns1:r>
              <ns1:t>          "APNovo": {</ns1:t>
            </ns1:r>
          </ns1:p>
          <ns1:p>
            <ns1:r>
              <ns1:t>            "key": "LK_P002_05-APNovo",</ns1:t>
            </ns1:r>
          </ns1:p>
          <ns1:p>
            <ns1:r>
              <ns1:t>            "source_path": "local/2026-10-25_linker-top100-review_001/build/comparisons/LK_P002_05/reference.pdb",</ns1:t>
            </ns1:r>
          </ns1:p>
          <ns1:p>
            <ns1:r>
              <ns1:t>            "source_sha256": "61aa5bd6d87a50776e8fc7903ba8e96683c2845d9061d15969bcf9153b1201ff",</ns1:t>
            </ns1:r>
          </ns1:p>
          <ns1:p>
            <ns1:r>
              <ns1:t>            "role": "fusion",</ns1:t>
            </ns1:r>
          </ns1:p>
          <ns1:p>
            <ns1:r>
              <ns1:t>            "ranges_zero_based": {</ns1:t>
            </ns1:r>
          </ns1:p>
          <ns1:p>
            <ns1:r>
              <ns1:t>              "LF": [</ns1:t>
            </ns1:r>
          </ns1:p>
          <ns1:p>
            <ns1:r>
              <ns1:t>                0,</ns1:t>
            </ns1:r>
          </ns1:p>
          <ns1:p>
            <ns1:r>
              <ns1:t>                36</ns1:t>
            </ns1:r>
          </ns1:p>
          <ns1:p>
            <ns1:r>
              <ns1:t>              ],</ns1:t>
            </ns1:r>
          </ns1:p>
          <ns1:p>
            <ns1:r>
              <ns1:t>              "linker": [</ns1:t>
            </ns1:r>
          </ns1:p>
          <ns1:p>
            <ns1:r>
              <ns1:t>                36,</ns1:t>
            </ns1:r>
          </ns1:p>
          <ns1:p>
            <ns1:r>
              <ns1:t>                57</ns1:t>
            </ns1:r>
          </ns1:p>
          <ns1:p>
            <ns1:r>
              <ns1:t>              ],</ns1:t>
            </ns1:r>
          </ns1:p>
          <ns1:p>
            <ns1:r>
              <ns1:t>              "ECD": [</ns1:t>
            </ns1:r>
          </ns1:p>
          <ns1:p>
            <ns1:r>
              <ns1:t>                57,</ns1:t>
            </ns1:r>
          </ns1:p>
          <ns1:p>
            <ns1:r>
              <ns1:t>                104</ns1:t>
            </ns1:r>
          </ns1:p>
          <ns1:p>
            <ns1:r>
              <ns1:t>              ]</ns1:t>
            </ns1:r>
          </ns1:p>
          <ns1:p>
            <ns1:r>
              <ns1:t>            },</ns1:t>
            </ns1:r>
          </ns1:p>
          <ns1:p>
            <ns1:r>
              <ns1:t>            "sequence": "NLPRIECSSNKGNVQEDSDVIGGRGSGSGSGSCGIFGKTSTSGPQPVIILPVPVLPGMLPQLFLTHMLSVMVGTGSLDSGLVSAFRGSPLVSEAILGFLKQYLS",</ns1:t>
            </ns1:r>
          </ns1:p>
          <ns1:p>
            <ns1:r>
              <ns1:t>            "rotation": [</ns1:t>
            </ns1:r>
          </ns1:p>
          <ns1:p>
            <ns1:r>
              <ns1:t>              [</ns1:t>
            </ns1:r>
          </ns1:p>
          <ns1:p>
            <ns1:r>
              <ns1:t>                -0.6852813047556858,</ns1:t>
            </ns1:r>
          </ns1:p>
          <ns1:p>
            <ns1:r>
              <ns1:t>                0.7282503294570313,</ns1:t>
            </ns1:r>
          </ns1:p>
          <ns1:p>
            <ns1:r>
              <ns1:t>                -0.006397215930574629</ns1:t>
            </ns1:r>
          </ns1:p>
          <ns1:p>
            <ns1:r>
              <ns1:t>              ],</ns1:t>
            </ns1:r>
          </ns1:p>
          <ns1:p>
            <ns1:r>
              <ns1:t>              [</ns1:t>
            </ns1:r>
          </ns1:p>
          <ns1:p>
            <ns1:r>
              <ns1:t>                -0.6826821305070201,</ns1:t>
            </ns1:r>
          </ns1:p>
          <ns1:p>
            <ns1:r>
              <ns1:t>                -0.6454114223326464,</ns1:t>
            </ns1:r>
          </ns1:p>
          <ns1:p>
            <ns1:r>
              <ns1:t>                -0.3426209885851357</ns1:t>
            </ns1:r>
          </ns1:p>
          <ns1:p>
            <ns1:r>
              <ns1:t>              ],</ns1:t>
            </ns1:r>
          </ns1:p>
          <ns1:p>
            <ns1:r>
              <ns1:t>              [</ns1:t>
            </ns1:r>
          </ns1:p>
          <ns1:p>
            <ns1:r>
              <ns1:t>                -0.25364267691255016,</ns1:t>
            </ns1:r>
          </ns1:p>
          <ns1:p>
            <ns1:r>
              <ns1:t>                -0.23042452354372855,</ns1:t>
            </ns1:r>
          </ns1:p>
          <ns1:p>
            <ns1:r>
              <ns1:t>                0.9394519571930537</ns1:t>
            </ns1:r>
          </ns1:p>
          <ns1:p>
            <ns1:r>
              <ns1:t>              ]</ns1:t>
            </ns1:r>
          </ns1:p>
          <ns1:p>
            <ns1:r>
              <ns1:t>            ],</ns1:t>
            </ns1:r>
          </ns1:p>
          <ns1:p>
            <ns1:r>
              <ns1:t>            "translation": [</ns1:t>
            </ns1:r>
          </ns1:p>
          <ns1:p>
            <ns1:r>
              <ns1:t>              1.5423288290363004,</ns1:t>
            </ns1:r>
          </ns1:p>
          <ns1:p>
            <ns1:r>
              <ns1:t>              2.180468072259787,</ns1:t>
            </ns1:r>
          </ns1:p>
          <ns1:p>
            <ns1:r>
              <ns1:t>              0.5939777841794465</ns1:t>
            </ns1:r>
          </ns1:p>
          <ns1:p>
            <ns1:r>
              <ns1:t>            ],</ns1:t>
            </ns1:r>
          </ns1:p>
          <ns1:p>
            <ns1:r>
              <ns1:t>            "core_fit_CA_RMSD_A": 1.3218535426776041,</ns1:t>
            </ns1:r>
          </ns1:p>
          <ns1:p>
            <ns1:r>
              <ns1:t>            "output": "local/2026-10-25_linker-parent-views_001/build/renders-v2/LK_P002_05-APNovo.jpg",</ns1:t>
            </ns1:r>
          </ns1:p>
          <ns1:p>
            <ns1:r>
              <ns1:t>            "parent_or_fusion_id": "LK_P002_05-APNovo",</ns1:t>
            </ns1:r>
          </ns1:p>
          <ns1:p>
            <ns1:r>
              <ns1:t>            "design_id": "LK_P002_05",</ns1:t>
            </ns1:r>
          </ns1:p>
          <ns1:p>
            <ns1:r>
              <ns1:t>            "panel": "APNovo",</ns1:t>
            </ns1:r>
          </ns1:p>
          <ns1:p>
            <ns1:r>
              <ns1:t>            "view": [</ns1:t>
            </ns1:r>
          </ns1:p>
          <ns1:p>
            <ns1:r>
              <ns1:t>              1,</ns1:t>
            </ns1:r>
          </ns1:p>
          <ns1:p>
            <ns1:r>
              <ns1:t>              0,</ns1:t>
            </ns1:r>
          </ns1:p>
          <ns1:p>
            <ns1:r>
              <ns1:t>              0,</ns1:t>
            </ns1:r>
          </ns1:p>
          <ns1:p>
            <ns1:r>
              <ns1:t>              0,</ns1:t>
            </ns1:r>
          </ns1:p>
          <ns1:p>
            <ns1:r>
              <ns1:t>              1,</ns1:t>
            </ns1:r>
          </ns1:p>
          <ns1:p>
            <ns1:r>
              <ns1:t>              0,</ns1:t>
            </ns1:r>
          </ns1:p>
          <ns1:p>
            <ns1:r>
              <ns1:t>              0,</ns1:t>
            </ns1:r>
          </ns1:p>
          <ns1:p>
            <ns1:r>
              <ns1:t>              0,</ns1:t>
            </ns1:r>
          </ns1:p>
          <ns1:p>
            <ns1:r>
              <ns1:t>              1,</ns1:t>
            </ns1:r>
          </ns1:p>
          <ns1:p>
            <ns1:r>
              <ns1:t>              0,</ns1:t>
            </ns1:r>
          </ns1:p>
          <ns1:p>
            <ns1:r>
              <ns1:t>              0,</ns1:t>
            </ns1:r>
          </ns1:p>
          <ns1:p>
            <ns1:r>
              <ns1:t>              -391.526075984692,</ns1:t>
            </ns1:r>
          </ns1:p>
          <ns1:p>
            <ns1:r>
              <ns1:t>              -4.100799816898441,</ns1:t>
            </ns1:r>
          </ns1:p>
          <ns1:p>
            <ns1:r>
              <ns1:t>              6.098821556600491,</ns1:t>
            </ns1:r>
          </ns1:p>
          <ns1:p>
            <ns1:r>
              <ns1:t>              -23.716392787073072,</ns1:t>
            </ns1:r>
          </ns1:p>
          <ns1:p>
            <ns1:r>
              <ns1:t>              324.7431677140239,</ns1:t>
            </ns1:r>
          </ns1:p>
          <ns1:p>
            <ns1:r>
              <ns1:t>              458.3089842553601,</ns1:t>
            </ns1:r>
          </ns1:p>
          <ns1:p>
            <ns1:r>
              <ns1:t>              -20</ns1:t>
            </ns1:r>
          </ns1:p>
          <ns1:p>
            <ns1:r>
              <ns1:t>            ],</ns1:t>
            </ns1:r>
          </ns1:p>
          <ns1:p>
            <ns1:r>
              <ns1:t>            "world_height_A": 138.07322169402755,</ns1:t>
            </ns1:r>
          </ns1:p>
          <ns1:p>
            <ns1:r>
              <ns1:t>            "row_bounds_all_atoms_A": [</ns1:t>
            </ns1:r>
          </ns1:p>
          <ns1:p>
            <ns1:r>
              <ns1:t>              [</ns1:t>
            </ns1:r>
          </ns1:p>
          <ns1:p>
            <ns1:r>
              <ns1:t>                -40.24597695663007,</ns1:t>
            </ns1:r>
          </ns1:p>
          <ns1:p>
            <ns1:r>
              <ns1:t>                -55.93778929041328,</ns1:t>
            </ns1:r>
          </ns1:p>
          <ns1:p>
            <ns1:r>
              <ns1:t>                -75.49930105774118</ns1:t>
            </ns1:r>
          </ns1:p>
          <ns1:p>
            <ns1:r>
              <ns1:t>              ],</ns1:t>
            </ns1:r>
          </ns1:p>
          <ns1:p>
            <ns1:r>
              <ns1:t>              [</ns1:t>
            </ns1:r>
          </ns1:p>
          <ns1:p>
            <ns1:r>
              <ns1:t>                32.044377322833185,</ns1:t>
            </ns1:r>
          </ns1:p>
          <ns1:p>
            <ns1:r>
              <ns1:t>                68.13543240361426,</ns1:t>
            </ns1:r>
          </ns1:p>
          <ns1:p>
            <ns1:r>
              <ns1:t>                28.066515483595033</ns1:t>
            </ns1:r>
          </ns1:p>
          <ns1:p>
            <ns1:r>
              <ns1:t>              ]</ns1:t>
            </ns1:r>
          </ns1:p>
          <ns1:p>
            <ns1:r>
              <ns1:t>            ]</ns1:t>
            </ns1:r>
          </ns1:p>
          <ns1:p>
            <ns1:r>
              <ns1:t>          },</ns1:t>
            </ns1:r>
          </ns1:p>
          <ns1:p>
            <ns1:r>
              <ns1:t>          "Exact": {</ns1:t>
            </ns1:r>
          </ns1:p>
          <ns1:p>
            <ns1:r>
              <ns1:t>            "key": "LK_P002_05-Exact",</ns1:t>
            </ns1:r>
          </ns1:p>
          <ns1:p>
            <ns1:r>
              <ns1:t>            "source_path": "local/2026-10-25_linker-top100-review_001/models/LK_P002_05/boltz2.cif",</ns1:t>
            </ns1:r>
          </ns1:p>
          <ns1:p>
            <ns1:r>
              <ns1:t>            "source_sha256": "b42fd0d87e7deba61c440007ffdbe63e077f7982ac2d552a73dd74fd7a92bd52",</ns1:t>
            </ns1:r>
          </ns1:p>
          <ns1:p>
            <ns1:r>
              <ns1:t>            "role": "fusion",</ns1:t>
            </ns1:r>
          </ns1:p>
          <ns1:p>
            <ns1:r>
              <ns1:t>            "ranges_zero_based": {</ns1:t>
            </ns1:r>
          </ns1:p>
          <ns1:p>
            <ns1:r>
              <ns1:t>              "LF": [</ns1:t>
            </ns1:r>
          </ns1:p>
          <ns1:p>
            <ns1:r>
              <ns1:t>                0,</ns1:t>
            </ns1:r>
          </ns1:p>
          <ns1:p>
            <ns1:r>
              <ns1:t>                36</ns1:t>
            </ns1:r>
          </ns1:p>
          <ns1:p>
            <ns1:r>
              <ns1:t>              ],</ns1:t>
            </ns1:r>
          </ns1:p>
          <ns1:p>
            <ns1:r>
              <ns1:t>              "linker": [</ns1:t>
            </ns1:r>
          </ns1:p>
          <ns1:p>
            <ns1:r>
              <ns1:t>                36,</ns1:t>
            </ns1:r>
          </ns1:p>
          <ns1:p>
            <ns1:r>
              <ns1:t>                57</ns1:t>
            </ns1:r>
          </ns1:p>
          <ns1:p>
            <ns1:r>
              <ns1:t>              ],</ns1:t>
            </ns1:r>
          </ns1:p>
          <ns1:p>
            <ns1:r>
              <ns1:t>              "ECD": [</ns1:t>
            </ns1:r>
          </ns1:p>
          <ns1:p>
            <ns1:r>
              <ns1:t>                57,</ns1:t>
            </ns1:r>
          </ns1:p>
          <ns1:p>
            <ns1:r>
              <ns1:t>                104</ns1:t>
            </ns1:r>
          </ns1:p>
          <ns1:p>
            <ns1:r>
              <ns1:t>              ]</ns1:t>
            </ns1:r>
          </ns1:p>
          <ns1:p>
            <ns1:r>
              <ns1:t>            },</ns1:t>
            </ns1:r>
          </ns1:p>
          <ns1:p>
            <ns1:r>
              <ns1:t>            "sequence": "NLPRIECSSNKGNVQEDSDVIGGRGSGSGSGSCGIFGKTSTSGPQPVIILPVPVLPGMLPQLFLTHMLSVMVGTGSLDSGLVSAFRGSPLVSEAILGFLKQYLS",</ns1:t>
            </ns1:r>
          </ns1:p>
          <ns1:p>
            <ns1:r>
              <ns1:t>            "rotation": [</ns1:t>
            </ns1:r>
          </ns1:p>
          <ns1:p>
            <ns1:r>
              <ns1:t>              [</ns1:t>
            </ns1:r>
          </ns1:p>
          <ns1:p>
            <ns1:r>
              <ns1:t>                0.5697582971076258,</ns1:t>
            </ns1:r>
          </ns1:p>
          <ns1:p>
            <ns1:r>
              <ns1:t>                -0.5781567109301733,</ns1:t>
            </ns1:r>
          </ns1:p>
          <ns1:p>
            <ns1:r>
              <ns1:t>                0.5840464805417547</ns1:t>
            </ns1:r>
          </ns1:p>
          <ns1:p>
            <ns1:r>
              <ns1:t>              ],</ns1:t>
            </ns1:r>
          </ns1:p>
          <ns1:p>
            <ns1:r>
              <ns1:t>              [</ns1:t>
            </ns1:r>
          </ns1:p>
          <ns1:p>
            <ns1:r>
              <ns1:t>                0.7684283598166612,</ns1:t>
            </ns1:r>
          </ns1:p>
          <ns1:p>
            <ns1:r>
              <ns1:t>                0.6267597409511083,</ns1:t>
            </ns1:r>
          </ns1:p>
          <ns1:p>
            <ns1:r>
              <ns1:t>                -0.12919027641932535</ns1:t>
            </ns1:r>
          </ns1:p>
          <ns1:p>
            <ns1:r>
              <ns1:t>              ],</ns1:t>
            </ns1:r>
          </ns1:p>
          <ns1:p>
            <ns1:r>
              <ns1:t>              [</ns1:t>
            </ns1:r>
          </ns1:p>
          <ns1:p>
            <ns1:r>
              <ns1:t>                -0.2913646093473279,</ns1:t>
            </ns1:r>
          </ns1:p>
          <ns1:p>
            <ns1:r>
              <ns1:t>                0.5224051498735651,</ns1:t>
            </ns1:r>
          </ns1:p>
          <ns1:p>
            <ns1:r>
              <ns1:t>                0.8013735625116354</ns1:t>
            </ns1:r>
          </ns1:p>
          <ns1:p>
            <ns1:r>
              <ns1:t>              ]</ns1:t>
            </ns1:r>
          </ns1:p>
          <ns1:p>
            <ns1:r>
              <ns1:t>            ],</ns1:t>
            </ns1:r>
          </ns1:p>
          <ns1:p>
            <ns1:r>
              <ns1:t>            "translation": [</ns1:t>
            </ns1:r>
          </ns1:p>
          <ns1:p>
            <ns1:r>
              <ns1:t>              1.659781925605781,</ns1:t>
            </ns1:r>
          </ns1:p>
          <ns1:p>
            <ns1:r>
              <ns1:t>              0.764565976879009,</ns1:t>
            </ns1:r>
          </ns1:p>
          <ns1:p>
            <ns1:r>
              <ns1:t>              0.15792056888463235</ns1:t>
            </ns1:r>
          </ns1:p>
          <ns1:p>
            <ns1:r>
              <ns1:t>            ],</ns1:t>
            </ns1:r>
          </ns1:p>
          <ns1:p>
            <ns1:r>
              <ns1:t>            "core_fit_CA_RMSD_A": 1.3583403662805678,</ns1:t>
            </ns1:r>
          </ns1:p>
          <ns1:p>
            <ns1:r>
              <ns1:t>            "output": "local/2026-10-25_linker-parent-views_001/build/renders-v2/LK_P002_05-Exact.jpg",</ns1:t>
            </ns1:r>
          </ns1:p>
          <ns1:p>
            <ns1:r>
              <ns1:t>            "parent_or_fusion_id": "LK_P002_05-Exact",</ns1:t>
            </ns1:r>
          </ns1:p>
          <ns1:p>
            <ns1:r>
              <ns1:t>            "design_id": "LK_P002_05",</ns1:t>
            </ns1:r>
          </ns1:p>
          <ns1:p>
            <ns1:r>
              <ns1:t>            "panel": "Exact",</ns1:t>
            </ns1:r>
          </ns1:p>
          <ns1:p>
            <ns1:r>
              <ns1:t>            "view": [</ns1:t>
            </ns1:r>
          </ns1:p>
          <ns1:p>
            <ns1:r>
              <ns1:t>              1,</ns1:t>
            </ns1:r>
          </ns1:p>
          <ns1:p>
            <ns1:r>
              <ns1:t>              0,</ns1:t>
            </ns1:r>
          </ns1:p>
          <ns1:p>
            <ns1:r>
              <ns1:t>              0,</ns1:t>
            </ns1:r>
          </ns1:p>
          <ns1:p>
            <ns1:r>
              <ns1:t>              0,</ns1:t>
            </ns1:r>
          </ns1:p>
          <ns1:p>
            <ns1:r>
              <ns1:t>              1,</ns1:t>
            </ns1:r>
          </ns1:p>
          <ns1:p>
            <ns1:r>
              <ns1:t>              0,</ns1:t>
            </ns1:r>
          </ns1:p>
          <ns1:p>
            <ns1:r>
              <ns1:t>              0,</ns1:t>
            </ns1:r>
          </ns1:p>
          <ns1:p>
            <ns1:r>
              <ns1:t>              0,</ns1:t>
            </ns1:r>
          </ns1:p>
          <ns1:p>
            <ns1:r>
              <ns1:t>              1,</ns1:t>
            </ns1:r>
          </ns1:p>
          <ns1:p>
            <ns1:r>
              <ns1:t>              0,</ns1:t>
            </ns1:r>
          </ns1:p>
          <ns1:p>
            <ns1:r>
              <ns1:t>              0,</ns1:t>
            </ns1:r>
          </ns1:p>
          <ns1:p>
            <ns1:r>
              <ns1:t>              -391.526075984692,</ns1:t>
            </ns1:r>
          </ns1:p>
          <ns1:p>
            <ns1:r>
              <ns1:t>              -4.100799816898441,</ns1:t>
            </ns1:r>
          </ns1:p>
          <ns1:p>
            <ns1:r>
              <ns1:t>              6.098821556600491,</ns1:t>
            </ns1:r>
          </ns1:p>
          <ns1:p>
            <ns1:r>
              <ns1:t>              -23.716392787073072,</ns1:t>
            </ns1:r>
          </ns1:p>
          <ns1:p>
            <ns1:r>
              <ns1:t>              324.7431677140239,</ns1:t>
            </ns1:r>
          </ns1:p>
          <ns1:p>
            <ns1:r>
              <ns1:t>              458.3089842553601,</ns1:t>
            </ns1:r>
          </ns1:p>
          <ns1:p>
            <ns1:r>
              <ns1:t>              -20</ns1:t>
            </ns1:r>
          </ns1:p>
          <ns1:p>
            <ns1:r>
              <ns1:t>            ],</ns1:t>
            </ns1:r>
          </ns1:p>
          <ns1:p>
            <ns1:r>
              <ns1:t>            "world_height_A": 138.07322169402755,</ns1:t>
            </ns1:r>
          </ns1:p>
          <ns1:p>
            <ns1:r>
              <ns1:t>            "row_bounds_all_atoms_A": [</ns1:t>
            </ns1:r>
          </ns1:p>
          <ns1:p>
            <ns1:r>
              <ns1:t>              [</ns1:t>
            </ns1:r>
          </ns1:p>
          <ns1:p>
            <ns1:r>
              <ns1:t>                -40.24597695663007,</ns1:t>
            </ns1:r>
          </ns1:p>
          <ns1:p>
            <ns1:r>
              <ns1:t>                -55.93778929041328,</ns1:t>
            </ns1:r>
          </ns1:p>
          <ns1:p>
            <ns1:r>
              <ns1:t>                -75.49930105774118</ns1:t>
            </ns1:r>
          </ns1:p>
          <ns1:p>
            <ns1:r>
              <ns1:t>              ],</ns1:t>
            </ns1:r>
          </ns1:p>
          <ns1:p>
            <ns1:r>
              <ns1:t>              [</ns1:t>
            </ns1:r>
          </ns1:p>
          <ns1:p>
            <ns1:r>
              <ns1:t>                32.044377322833185,</ns1:t>
            </ns1:r>
          </ns1:p>
          <ns1:p>
            <ns1:r>
              <ns1:t>                68.13543240361426,</ns1:t>
            </ns1:r>
          </ns1:p>
          <ns1:p>
            <ns1:r>
              <ns1:t>                28.066515483595033</ns1:t>
            </ns1:r>
          </ns1:p>
          <ns1:p>
            <ns1:r>
              <ns1:t>              ]</ns1:t>
            </ns1:r>
          </ns1:p>
          <ns1:p>
            <ns1:r>
              <ns1:t>            ]</ns1:t>
            </ns1:r>
          </ns1:p>
          <ns1:p>
            <ns1:r>
              <ns1:t>          },</ns1:t>
            </ns1:r>
          </ns1:p>
          <ns1:p>
            <ns1:r>
              <ns1:t>          "LF-parent": {</ns1:t>
            </ns1:r>
          </ns1:p>
          <ns1:p>
            <ns1:r>
              <ns1:t>            "key": "LK_P002_05-LF-parent",</ns1:t>
            </ns1:r>
          </ns1:p>
          <ns1:p>
            <ns1:r>
              <ns1:t>            "source_path": "local/2026-10-25_linker-parent-comparison_001/parents/Design_913/exact.pdb",</ns1:t>
            </ns1:r>
          </ns1:p>
          <ns1:p>
            <ns1:r>
              <ns1:t>            "source_sha256": "694e9737dcd0c59ef6ec5edbda6a6b11d8948452bcf32539f69ff2c436e981ad",</ns1:t>
            </ns1:r>
          </ns1:p>
          <ns1:p>
            <ns1:r>
              <ns1:t>            "role": "LF",</ns1:t>
            </ns1:r>
          </ns1:p>
          <ns1:p>
            <ns1:r>
              <ns1:t>            "ranges_zero_based": {</ns1:t>
            </ns1:r>
          </ns1:p>
          <ns1:p>
            <ns1:r>
              <ns1:t>              "LF": [</ns1:t>
            </ns1:r>
          </ns1:p>
          <ns1:p>
            <ns1:r>
              <ns1:t>                0,</ns1:t>
            </ns1:r>
          </ns1:p>
          <ns1:p>
            <ns1:r>
              <ns1:t>                36</ns1:t>
            </ns1:r>
          </ns1:p>
          <ns1:p>
            <ns1:r>
              <ns1:t>              ]</ns1:t>
            </ns1:r>
          </ns1:p>
          <ns1:p>
            <ns1:r>
              <ns1:t>            },</ns1:t>
            </ns1:r>
          </ns1:p>
          <ns1:p>
            <ns1:r>
              <ns1:t>            "sequence": "NLPRIECSSNKGNVQEDSDVIGGRGSGSGSGSCGIF",</ns1:t>
            </ns1:r>
          </ns1:p>
          <ns1:p>
            <ns1:r>
              <ns1:t>            "rotation": [</ns1:t>
            </ns1:r>
          </ns1:p>
          <ns1:p>
            <ns1:r>
              <ns1:t>              [</ns1:t>
            </ns1:r>
          </ns1:p>
          <ns1:p>
            <ns1:r>
              <ns1:t>                0.5023875172333341,</ns1:t>
            </ns1:r>
          </ns1:p>
          <ns1:p>
            <ns1:r>
              <ns1:t>                0.6499866978808164,</ns1:t>
            </ns1:r>
          </ns1:p>
          <ns1:p>
            <ns1:r>
              <ns1:t>                0.5701964908473975</ns1:t>
            </ns1:r>
          </ns1:p>
          <ns1:p>
            <ns1:r>
              <ns1:t>              ],</ns1:t>
            </ns1:r>
          </ns1:p>
          <ns1:p>
            <ns1:r>
              <ns1:t>              [</ns1:t>
            </ns1:r>
          </ns1:p>
          <ns1:p>
            <ns1:r>
              <ns1:t>                0.3859135083431191,</ns1:t>
            </ns1:r>
          </ns1:p>
          <ns1:p>
            <ns1:r>
              <ns1:t>                -0.7586923289173857,</ns1:t>
            </ns1:r>
          </ns1:p>
          <ns1:p>
            <ns1:r>
              <ns1:t>                0.5248397315597675</ns1:t>
            </ns1:r>
          </ns1:p>
          <ns1:p>
            <ns1:r>
              <ns1:t>              ],</ns1:t>
            </ns1:r>
          </ns1:p>
          <ns1:p>
            <ns1:r>
              <ns1:t>              [</ns1:t>
            </ns1:r>
          </ns1:p>
          <ns1:p>
            <ns1:r>
              <ns1:t>                0.773742579125837,</ns1:t>
            </ns1:r>
          </ns1:p>
          <ns1:p>
            <ns1:r>
              <ns1:t>                -0.04362634136124832,</ns1:t>
            </ns1:r>
          </ns1:p>
          <ns1:p>
            <ns1:r>
              <ns1:t>                -0.6319962007027522</ns1:t>
            </ns1:r>
          </ns1:p>
          <ns1:p>
            <ns1:r>
              <ns1:t>              ]</ns1:t>
            </ns1:r>
          </ns1:p>
          <ns1:p>
            <ns1:r>
              <ns1:t>            ],</ns1:t>
            </ns1:r>
          </ns1:p>
          <ns1:p>
            <ns1:r>
              <ns1:t>            "translation": [</ns1:t>
            </ns1:r>
          </ns1:p>
          <ns1:p>
            <ns1:r>
              <ns1:t>              8.096017249115981,</ns1:t>
            </ns1:r>
          </ns1:p>
          <ns1:p>
            <ns1:r>
              <ns1:t>              2.628795246866223,</ns1:t>
            </ns1:r>
          </ns1:p>
          <ns1:p>
            <ns1:r>
              <ns1:t>              1.589326521039868</ns1:t>
            </ns1:r>
          </ns1:p>
          <ns1:p>
            <ns1:r>
              <ns1:t>            ],</ns1:t>
            </ns1:r>
          </ns1:p>
          <ns1:p>
            <ns1:r>
              <ns1:t>            "core_fit_CA_RMSD_A": 1.4255496439705337,</ns1:t>
            </ns1:r>
          </ns1:p>
          <ns1:p>
            <ns1:r>
              <ns1:t>            "output": "local/2026-10-25_linker-parent-views_001/build/renders-v2/LK_P002_05-LF-parent.jpg",</ns1:t>
            </ns1:r>
          </ns1:p>
          <ns1:p>
            <ns1:r>
              <ns1:t>            "parent_or_fusion_id": "Design_913",</ns1:t>
            </ns1:r>
          </ns1:p>
          <ns1:p>
            <ns1:r>
              <ns1:t>            "design_id": "LK_P002_05",</ns1:t>
            </ns1:r>
          </ns1:p>
          <ns1:p>
            <ns1:r>
              <ns1:t>            "panel": "LF-parent",</ns1:t>
            </ns1:r>
          </ns1:p>
          <ns1:p>
            <ns1:r>
              <ns1:t>            "view": [</ns1:t>
            </ns1:r>
          </ns1:p>
          <ns1:p>
            <ns1:r>
              <ns1:t>              1,</ns1:t>
            </ns1:r>
          </ns1:p>
          <ns1:p>
            <ns1:r>
              <ns1:t>              0,</ns1:t>
            </ns1:r>
          </ns1:p>
          <ns1:p>
            <ns1:r>
              <ns1:t>              0,</ns1:t>
            </ns1:r>
          </ns1:p>
          <ns1:p>
            <ns1:r>
              <ns1:t>              0,</ns1:t>
            </ns1:r>
          </ns1:p>
          <ns1:p>
            <ns1:r>
              <ns1:t>              1,</ns1:t>
            </ns1:r>
          </ns1:p>
          <ns1:p>
            <ns1:r>
              <ns1:t>              0,</ns1:t>
            </ns1:r>
          </ns1:p>
          <ns1:p>
            <ns1:r>
              <ns1:t>              0,</ns1:t>
            </ns1:r>
          </ns1:p>
          <ns1:p>
            <ns1:r>
              <ns1:t>              0,</ns1:t>
            </ns1:r>
          </ns1:p>
          <ns1:p>
            <ns1:r>
              <ns1:t>              1,</ns1:t>
            </ns1:r>
          </ns1:p>
          <ns1:p>
            <ns1:r>
              <ns1:t>              0,</ns1:t>
            </ns1:r>
          </ns1:p>
          <ns1:p>
            <ns1:r>
              <ns1:t>              0,</ns1:t>
            </ns1:r>
          </ns1:p>
          <ns1:p>
            <ns1:r>
              <ns1:t>              -391.526075984692,</ns1:t>
            </ns1:r>
          </ns1:p>
          <ns1:p>
            <ns1:r>
              <ns1:t>              -4.100799816898441,</ns1:t>
            </ns1:r>
          </ns1:p>
          <ns1:p>
            <ns1:r>
              <ns1:t>              6.098821556600491,</ns1:t>
            </ns1:r>
          </ns1:p>
          <ns1:p>
            <ns1:r>
              <ns1:t>              -23.716392787073072,</ns1:t>
            </ns1:r>
          </ns1:p>
          <ns1:p>
            <ns1:r>
              <ns1:t>              324.7431677140239,</ns1:t>
            </ns1:r>
          </ns1:p>
          <ns1:p>
            <ns1:r>
              <ns1:t>              458.3089842553601,</ns1:t>
            </ns1:r>
          </ns1:p>
          <ns1:p>
            <ns1:r>
              <ns1:t>              -20</ns1:t>
            </ns1:r>
          </ns1:p>
          <ns1:p>
            <ns1:r>
              <ns1:t>            ],</ns1:t>
            </ns1:r>
          </ns1:p>
          <ns1:p>
            <ns1:r>
              <ns1:t>            "world_height_A": 138.07322169402755,</ns1:t>
            </ns1:r>
          </ns1:p>
          <ns1:p>
            <ns1:r>
              <ns1:t>            "row_bounds_all_atoms_A": [</ns1:t>
            </ns1:r>
          </ns1:p>
          <ns1:p>
            <ns1:r>
              <ns1:t>              [</ns1:t>
            </ns1:r>
          </ns1:p>
          <ns1:p>
            <ns1:r>
              <ns1:t>                -40.24597695663007,</ns1:t>
            </ns1:r>
          </ns1:p>
          <ns1:p>
            <ns1:r>
              <ns1:t>                -55.93778929041328,</ns1:t>
            </ns1:r>
          </ns1:p>
          <ns1:p>
            <ns1:r>
              <ns1:t>                -75.49930105774118</ns1:t>
            </ns1:r>
          </ns1:p>
          <ns1:p>
            <ns1:r>
              <ns1:t>              ],</ns1:t>
            </ns1:r>
          </ns1:p>
          <ns1:p>
            <ns1:r>
              <ns1:t>              [</ns1:t>
            </ns1:r>
          </ns1:p>
          <ns1:p>
            <ns1:r>
              <ns1:t>                32.044377322833185,</ns1:t>
            </ns1:r>
          </ns1:p>
          <ns1:p>
            <ns1:r>
              <ns1:t>                68.13543240361426,</ns1:t>
            </ns1:r>
          </ns1:p>
          <ns1:p>
            <ns1:r>
              <ns1:t>                28.066515483595033</ns1:t>
            </ns1:r>
          </ns1:p>
          <ns1:p>
            <ns1:r>
              <ns1:t>              ]</ns1:t>
            </ns1:r>
          </ns1:p>
          <ns1:p>
            <ns1:r>
              <ns1:t>            ]</ns1:t>
            </ns1:r>
          </ns1:p>
          <ns1:p>
            <ns1:r>
              <ns1:t>          }</ns1:t>
            </ns1:r>
          </ns1:p>
          <ns1:p>
            <ns1:r>
              <ns1:t>        },</ns1:t>
            </ns1:r>
          </ns1:p>
          <ns1:p>
            <ns1:r>
              <ns1:t>        "shared_camera": [</ns1:t>
            </ns1:r>
          </ns1:p>
          <ns1:p>
            <ns1:r>
              <ns1:t>          1,</ns1:t>
            </ns1:r>
          </ns1:p>
          <ns1:p>
            <ns1:r>
              <ns1:t>          0,</ns1:t>
            </ns1:r>
          </ns1:p>
          <ns1:p>
            <ns1:r>
              <ns1:t>          0,</ns1:t>
            </ns1:r>
          </ns1:p>
          <ns1:p>
            <ns1:r>
              <ns1:t>          0,</ns1:t>
            </ns1:r>
          </ns1:p>
          <ns1:p>
            <ns1:r>
              <ns1:t>          1,</ns1:t>
            </ns1:r>
          </ns1:p>
          <ns1:p>
            <ns1:r>
              <ns1:t>          0,</ns1:t>
            </ns1:r>
          </ns1:p>
          <ns1:p>
            <ns1:r>
              <ns1:t>          0,</ns1:t>
            </ns1:r>
          </ns1:p>
          <ns1:p>
            <ns1:r>
              <ns1:t>          0,</ns1:t>
            </ns1:r>
          </ns1:p>
          <ns1:p>
            <ns1:r>
              <ns1:t>          1,</ns1:t>
            </ns1:r>
          </ns1:p>
          <ns1:p>
            <ns1:r>
              <ns1:t>          0,</ns1:t>
            </ns1:r>
          </ns1:p>
          <ns1:p>
            <ns1:r>
              <ns1:t>          0,</ns1:t>
            </ns1:r>
          </ns1:p>
          <ns1:p>
            <ns1:r>
              <ns1:t>          -391.526075984692,</ns1:t>
            </ns1:r>
          </ns1:p>
          <ns1:p>
            <ns1:r>
              <ns1:t>          -4.100799816898441,</ns1:t>
            </ns1:r>
          </ns1:p>
          <ns1:p>
            <ns1:r>
              <ns1:t>          6.098821556600491,</ns1:t>
            </ns1:r>
          </ns1:p>
          <ns1:p>
            <ns1:r>
              <ns1:t>          -23.716392787073072,</ns1:t>
            </ns1:r>
          </ns1:p>
          <ns1:p>
            <ns1:r>
              <ns1:t>          324.7431677140239,</ns1:t>
            </ns1:r>
          </ns1:p>
          <ns1:p>
            <ns1:r>
              <ns1:t>          458.3089842553601,</ns1:t>
            </ns1:r>
          </ns1:p>
          <ns1:p>
            <ns1:r>
              <ns1:t>          -20</ns1:t>
            </ns1:r>
          </ns1:p>
          <ns1:p>
            <ns1:r>
              <ns1:t>        ],</ns1:t>
            </ns1:r>
          </ns1:p>
          <ns1:p>
            <ns1:r>
              <ns1:t>        "reference": "Separate saved Exact parent complexes flank the linked Exact refold; AP Novo linked design comparison remains on the following slide. Rigid display alignment preserves native poses; all native receptor residues shown."</ns1:t>
            </ns1:r>
          </ns1:p>
          <ns1:p>
            <ns1:r>
              <ns1:t>      }</ns1:t>
            </ns1:r>
          </ns1:p>
          <ns1:p>
            <ns1:r>
              <ns1:t>    },</ns1:t>
            </ns1:r>
          </ns1:p>
          <ns1:p>
            <ns1:r>
              <ns1:t>    "display": "unchanged embedded JPEGs extracted from hash-verified delivered25-design PPTX; no resampling, cropping or new coordinate transforms",</ns1:t>
            </ns1:r>
          </ns1:p>
          <ns1:p>
            <ns1:r>
              <ns1:t>    "scale": "full complex and interface have different zooms; no matched-scale claim",</ns1:t>
            </ns1:r>
          </ns1:p>
          <ns1:p>
            <ns1:r>
              <ns1:t>    "hotspots": "black sticks; original27pocket positions for original LigandForge, R40/Q37/E34 annotations for DLD",</ns1:t>
            </ns1:r>
          </ns1:p>
          <ns1:p>
            <ns1:r>
              <ns1:t>    "colors": {</ns1:t>
            </ns1:r>
          </ns1:p>
          <ns1:p>
            <ns1:r>
              <ns1:t>      "LigandForge": "#E69F00",</ns1:t>
            </ns1:r>
          </ns1:p>
          <ns1:p>
            <ns1:r>
              <ns1:t>      "linker": "#AA4499",</ns1:t>
            </ns1:r>
          </ns1:p>
          <ns1:p>
            <ns1:r>
              <ns1:t>      "ECD_binder": "#0072B2",</ns1:t>
            </ns1:r>
          </ns1:p>
          <ns1:p>
            <ns1:r>
              <ns1:t>      "receptor_ECD": "#009E73",</ns1:t>
            </ns1:r>
          </ns1:p>
          <ns1:p>
            <ns1:r>
              <ns1:t>      "receptor_remainder": "#9AA5B1",</ns1:t>
            </ns1:r>
          </ns1:p>
          <ns1:p>
            <ns1:r>
              <ns1:t>      "hotspots": "#000000"</ns1:t>
            </ns1:r>
          </ns1:p>
          <ns1:p>
            <ns1:r>
              <ns1:t>    }</ns1:t>
            </ns1:r>
          </ns1:p>
          <ns1:p>
            <ns1:r>
              <ns1:t>  },</ns1:t>
            </ns1:r>
          </ns1:p>
          <ns1:p>
            <ns1:r>
              <ns1:t>  "source_deck": "local/2026-10-25_affinity-confidence-selection-deck_002/output/GLP1R_Selected_ipSAE_gt0p895_Kd_lt10nM_v3.pptx",</ns1:t>
            </ns1:r>
          </ns1:p>
          <ns1:p>
            <ns1:r>
              <ns1:t>  "source_deck_sha256": "ad9333fdf6c0ce7d6982e2980d6aade78af256710dbc7917f7f39e41d35aa173",</ns1:t>
            </ns1:r>
          </ns1:p>
          <ns1:p>
            <ns1:r>
              <ns1:t>  "domain_labels": "LF A1-36  linker A37-57  ECD A58-104",</ns1:t>
            </ns1:r>
          </ns1:p>
          <ns1:p>
            <ns1:r>
              <ns1:t>  "display_scope": "native Exact complex and saved interface view; same identity colors, independent zooms; no new coordinates or inferred agonism"</ns1:t>
            </ns1:r>
          </ns1:p>
          <ns1:p>
            <ns1:r>
              <ns1:t>}</ns1:t>
            </ns1:r>
          </ns1:p>
        </ns0:txBody>
      </ns0:sp>
      <ns0:sp>
        <ns0:nvSpPr>
          <ns0:cNvPr id="4" name="Slide Number Placeholder 3"/>
          <ns0:cNvSpPr>
            <ns1:spLocks noGrp="1"/>
          </ns0:cNvSpPr>
          <ns0:nvPr>
            <ns0:ph type="sldNum" idx="5"/>
          </ns0:nvPr>
        </ns0:nvSpPr>
        <ns0:spPr/>
        <ns0:txBody>
          <ns1:bodyPr/>
          <ns1:lstStyle/>
          <ns1:p/>
        </ns0:txBody>
      </ns0:sp>
    </ns0:spTree>
  </ns0:cSld>
  <ns0:clrMapOvr>
    <ns1:masterClrMapping/>
  </ns0:clrMapOvr>
</ns0:notes>
</file>

<file path=ppt/notesSlides/notesSlide33.xml><?xml version="1.0" encoding="utf-8"?>
<ns0:notes xmlns:ns0="http://schemas.openxmlformats.org/presentationml/2006/main" xmlns:ns1="http://schemas.openxmlformats.org/drawingml/2006/main">
  <ns0:cSld>
    <ns0:spTree>
      <ns0:nvGrpSpPr>
        <ns0:cNvPr id="1" name=""/>
        <ns0:cNvGrpSpPr/>
        <ns0:nvPr/>
      </ns0:nvGrpSpPr>
      <ns0:grpSpPr>
        <ns1:xfrm/>
      </ns0:grpSpPr>
      <ns0:sp>
        <ns0:nvSpPr>
          <ns0:cNvPr id="2" name="Slide Image Placeholder 1"/>
          <ns0:cNvSpPr>
            <ns1:spLocks noGrp="1"/>
          </ns0:cNvSpPr>
          <ns0:nvPr>
            <ns0:ph type="sldImg" idx="0"/>
          </ns0:nvPr>
        </ns0:nvSpPr>
        <ns0:spPr/>
      </ns0:sp>
      <ns0:sp>
        <ns0:nvSpPr>
          <ns0:cNvPr id="3" name="Notes Placeholder 2"/>
          <ns0:cNvSpPr>
            <ns1:spLocks noGrp="1"/>
          </ns0:cNvSpPr>
          <ns0:nvPr>
            <ns0:ph type="body" idx="1"/>
          </ns0:nvPr>
        </ns0:nvSpPr>
        <ns0:spPr/>
        <ns0:txBody>
          <ns1:bodyPr/>
          <ns1:lstStyle/>
          <ns1:p>
            <ns1:r>
              <ns1:t>{</ns1:t>
            </ns1:r>
          </ns1:p>
          <ns1:p>
            <ns1:r>
              <ns1:t>  "candidate": "LK_P012_04",</ns1:t>
            </ns1:r>
          </ns1:p>
          <ns1:p>
            <ns1:r>
              <ns1:t>  "final_rank": 17,</ns1:t>
            </ns1:r>
          </ns1:p>
          <ns1:p>
            <ns1:r>
              <ns1:t>  "selection": "Exact ipSAE&gt;0.895 and DeltaForge predicted Kd&lt;10nM; first20 by Exact ipSAE descending",</ns1:t>
            </ns1:r>
          </ns1:p>
          <ns1:p>
            <ns1:r>
              <ns1:t>  "sequence_sha256": "dbbc237dccc285527f5d99d62ad5158c233c2b751f987bc25776a166dbf16745",</ns1:t>
            </ns1:r>
          </ns1:p>
          <ns1:p>
            <ns1:r>
              <ns1:t>  "sources": {</ns1:t>
            </ns1:r>
          </ns1:p>
          <ns1:p>
            <ns1:r>
              <ns1:t>    "source_table": {</ns1:t>
            </ns1:r>
          </ns1:p>
          <ns1:p>
            <ns1:r>
              <ns1:t>      "path": "local/2026-10-25_lf50-dld26-50-deltaforge_001/output/GLP1R_DLD_Top50_DeltaForge_Kd_and_Boltz2_Metrics.csv",</ns1:t>
            </ns1:r>
          </ns1:p>
          <ns1:p>
            <ns1:r>
              <ns1:t>      "sha256": "da9569bf0e8b74cce3d6792eb260d6a4b17b35e6f46e0793d49f02c0d3a0e728"</ns1:t>
            </ns1:r>
          </ns1:p>
          <ns1:p>
            <ns1:r>
              <ns1:t>    },</ns1:t>
            </ns1:r>
          </ns1:p>
          <ns1:p>
            <ns1:r>
              <ns1:t>    "native_cif": {</ns1:t>
            </ns1:r>
          </ns1:p>
          <ns1:p>
            <ns1:r>
              <ns1:t>      "path": "local/2026-10-25_linker-top100-review_001/models/LK_P012_04/boltz2.cif",</ns1:t>
            </ns1:r>
          </ns1:p>
          <ns1:p>
            <ns1:r>
              <ns1:t>      "sha256": "1d47cee516c18104b88f5b283af8be679b4a8c5f2c472cbd34a48b119664eacf"</ns1:t>
            </ns1:r>
          </ns1:p>
          <ns1:p>
            <ns1:r>
              <ns1:t>    },</ns1:t>
            </ns1:r>
          </ns1:p>
          <ns1:p>
            <ns1:r>
              <ns1:t>    "scoring_pdb": {</ns1:t>
            </ns1:r>
          </ns1:p>
          <ns1:p>
            <ns1:r>
              <ns1:t>      "path": "local/2026-10-25_dld-top25-deltaforge_001/payload/structures/LK_P012_04.pdb",</ns1:t>
            </ns1:r>
          </ns1:p>
          <ns1:p>
            <ns1:r>
              <ns1:t>      "sha256": "fa1a5cc220f038b3a600579b7d83ec75b07b002432a35db4fdb020eb8d503754"</ns1:t>
            </ns1:r>
          </ns1:p>
          <ns1:p>
            <ns1:r>
              <ns1:t>    },</ns1:t>
            </ns1:r>
          </ns1:p>
          <ns1:p>
            <ns1:r>
              <ns1:t>    "DeltaForge_result": {</ns1:t>
            </ns1:r>
          </ns1:p>
          <ns1:p>
            <ns1:r>
              <ns1:t>      "path": "campaigns/glp1r-r40-design/runs/2026-10-25_dld-top25-deltaforge_001/03_filtering/deltaforge_results/LK_P012_04.json",</ns1:t>
            </ns1:r>
          </ns1:p>
          <ns1:p>
            <ns1:r>
              <ns1:t>      "sha256": "c26ee6aeae2fc63264a153a3580f74326459e90134678c43e07eb5e99218daa0"</ns1:t>
            </ns1:r>
          </ns1:p>
          <ns1:p>
            <ns1:r>
              <ns1:t>    }</ns1:t>
            </ns1:r>
          </ns1:p>
          <ns1:p>
            <ns1:r>
              <ns1:t>  },</ns1:t>
            </ns1:r>
          </ns1:p>
          <ns1:p>
            <ns1:r>
              <ns1:t>  "source_ledger": "campaigns/glp1r-final-writeup/runs/2026-10-25_final20-writeup_001/04_analysis/provenance-ledger.json",</ns1:t>
            </ns1:r>
          </ns1:p>
          <ns1:p>
            <ns1:r>
              <ns1:t>  "scorer": "deltaforge_v10_2_unified_parallel / v10_2_unified_parallel_2026_05_08",</ns1:t>
            </ns1:r>
          </ns1:p>
          <ns1:p>
            <ns1:r>
              <ns1:t>  "calibration": "deltaforge_v10_boltz2_calibrated_gbr / v10_boltz2_gbr_2026_03_29",</ns1:t>
            </ns1:r>
          </ns1:p>
          <ns1:p>
            <ns1:r>
              <ns1:t>  "scope": "one complete candidate A against one receptor B; computational, no experimental Kd or activation"</ns1:t>
            </ns1:r>
          </ns1:p>
          <ns1:p>
            <ns1:r>
              <ns1:t>}</ns1:t>
            </ns1:r>
          </ns1:p>
        </ns0:txBody>
      </ns0:sp>
      <ns0:sp>
        <ns0:nvSpPr>
          <ns0:cNvPr id="4" name="Slide Number Placeholder 3"/>
          <ns0:cNvSpPr>
            <ns1:spLocks noGrp="1"/>
          </ns0:cNvSpPr>
          <ns0:nvPr>
            <ns0:ph type="sldNum" idx="5"/>
          </ns0:nvPr>
        </ns0:nvSpPr>
        <ns0:spPr/>
        <ns0:txBody>
          <ns1:bodyPr/>
          <ns1:lstStyle/>
          <ns1:p/>
        </ns0:txBody>
      </ns0:sp>
    </ns0:spTree>
  </ns0:cSld>
  <ns0:clrMapOvr>
    <ns1:masterClrMapping/>
  </ns0:clrMapOvr>
</ns0:notes>
</file>

<file path=ppt/notesSlides/notesSlide34.xml><?xml version="1.0" encoding="utf-8"?>
<ns0:notes xmlns:ns0="http://schemas.openxmlformats.org/presentationml/2006/main" xmlns:ns1="http://schemas.openxmlformats.org/drawingml/2006/main">
  <ns0:cSld>
    <ns0:spTree>
      <ns0:nvGrpSpPr>
        <ns0:cNvPr id="1" name=""/>
        <ns0:cNvGrpSpPr/>
        <ns0:nvPr/>
      </ns0:nvGrpSpPr>
      <ns0:grpSpPr>
        <ns1:xfrm/>
      </ns0:grpSpPr>
      <ns0:sp>
        <ns0:nvSpPr>
          <ns0:cNvPr id="2" name="Slide Image Placeholder 1"/>
          <ns0:cNvSpPr>
            <ns1:spLocks noGrp="1"/>
          </ns0:cNvSpPr>
          <ns0:nvPr>
            <ns0:ph type="sldImg" idx="0"/>
          </ns0:nvPr>
        </ns0:nvSpPr>
        <ns0:spPr/>
      </ns0:sp>
      <ns0:sp>
        <ns0:nvSpPr>
          <ns0:cNvPr id="3" name="Notes Placeholder 2"/>
          <ns0:cNvSpPr>
            <ns1:spLocks noGrp="1"/>
          </ns0:cNvSpPr>
          <ns0:nvPr>
            <ns0:ph type="body" idx="1"/>
          </ns0:nvPr>
        </ns0:nvSpPr>
        <ns0:spPr/>
        <ns0:txBody>
          <ns1:bodyPr/>
          <ns1:lstStyle/>
          <ns1:p>
            <ns1:r>
              <ns1:t>{</ns1:t>
            </ns1:r>
          </ns1:p>
          <ns1:p>
            <ns1:r>
              <ns1:t>  "candidate": "LK_P012_04",</ns1:t>
            </ns1:r>
          </ns1:p>
          <ns1:p>
            <ns1:r>
              <ns1:t>  "final_rank": 17,</ns1:t>
            </ns1:r>
          </ns1:p>
          <ns1:p>
            <ns1:r>
              <ns1:t>  "native_model_sha256": "1d47cee516c18104b88f5b283af8be679b4a8c5f2c472cbd34a48b119664eacf",</ns1:t>
            </ns1:r>
          </ns1:p>
          <ns1:p>
            <ns1:r>
              <ns1:t>  "structure_views": {</ns1:t>
            </ns1:r>
          </ns1:p>
          <ns1:p>
            <ns1:r>
              <ns1:t>    "final_rank": 17,</ns1:t>
            </ns1:r>
          </ns1:p>
          <ns1:p>
            <ns1:r>
              <ns1:t>    "design_id": "LK_P012_04",</ns1:t>
            </ns1:r>
          </ns1:p>
          <ns1:p>
            <ns1:r>
              <ns1:t>    "sequence_sha256": "dbbc237dccc285527f5d99d62ad5158c233c2b751f987bc25776a166dbf16745",</ns1:t>
            </ns1:r>
          </ns1:p>
          <ns1:p>
            <ns1:r>
              <ns1:t>    "native_model_sha256": "1d47cee516c18104b88f5b283af8be679b4a8c5f2c472cbd34a48b119664eacf",</ns1:t>
            </ns1:r>
          </ns1:p>
          <ns1:p>
            <ns1:r>
              <ns1:t>    "scoring_pdb_sha256": "fa1a5cc220f038b3a600579b7d83ec75b07b002432a35db4fdb020eb8d503754",</ns1:t>
            </ns1:r>
          </ns1:p>
          <ns1:p>
            <ns1:r>
              <ns1:t>    "overview": {</ns1:t>
            </ns1:r>
          </ns1:p>
          <ns1:p>
            <ns1:r>
              <ns1:t>      "source_slide": 67,</ns1:t>
            </ns1:r>
          </ns1:p>
          <ns1:p>
            <ns1:r>
              <ns1:t>      "source_picture_index": 1,</ns1:t>
            </ns1:r>
          </ns1:p>
          <ns1:p>
            <ns1:r>
              <ns1:t>      "embedded_media": "ppt/media/image76.jpeg",</ns1:t>
            </ns1:r>
          </ns1:p>
          <ns1:p>
            <ns1:r>
              <ns1:t>      "image_sha256": "09a7e7132b263f08434ff8d03ad7177864ce9782ae04d9ff659f9994621fcd34",</ns1:t>
            </ns1:r>
          </ns1:p>
          <ns1:p>
            <ns1:r>
              <ns1:t>      "asset": "assets/LK_P012_04-complex.jpg"</ns1:t>
            </ns1:r>
          </ns1:p>
          <ns1:p>
            <ns1:r>
              <ns1:t>    },</ns1:t>
            </ns1:r>
          </ns1:p>
          <ns1:p>
            <ns1:r>
              <ns1:t>    "interface": {</ns1:t>
            </ns1:r>
          </ns1:p>
          <ns1:p>
            <ns1:r>
              <ns1:t>      "source_slide": 68,</ns1:t>
            </ns1:r>
          </ns1:p>
          <ns1:p>
            <ns1:r>
              <ns1:t>      "source_picture_index": 1,</ns1:t>
            </ns1:r>
          </ns1:p>
          <ns1:p>
            <ns1:r>
              <ns1:t>      "embedded_media": "ppt/media/image79.jpeg",</ns1:t>
            </ns1:r>
          </ns1:p>
          <ns1:p>
            <ns1:r>
              <ns1:t>      "image_sha256": "1e791f44a9688ff2cacea43806fe72c19aa1fc21c5285e1c28a9f798baf775d0",</ns1:t>
            </ns1:r>
          </ns1:p>
          <ns1:p>
            <ns1:r>
              <ns1:t>      "asset": "assets/LK_P012_04-interface.jpg"</ns1:t>
            </ns1:r>
          </ns1:p>
          <ns1:p>
            <ns1:r>
              <ns1:t>    },</ns1:t>
            </ns1:r>
          </ns1:p>
          <ns1:p>
            <ns1:r>
              <ns1:t>    "rendering_provenance": {</ns1:t>
            </ns1:r>
          </ns1:p>
          <ns1:p>
            <ns1:r>
              <ns1:t>      "DeltaForge_source_PDB_sha256": "fa1a5cc220f038b3a600579b7d83ec75b07b002432a35db4fdb020eb8d503754",</ns1:t>
            </ns1:r>
          </ns1:p>
          <ns1:p>
            <ns1:r>
              <ns1:t>      "role_ranges_zero_based": {</ns1:t>
            </ns1:r>
          </ns1:p>
          <ns1:p>
            <ns1:r>
              <ns1:t>        "ECD": [</ns1:t>
            </ns1:r>
          </ns1:p>
          <ns1:p>
            <ns1:r>
              <ns1:t>          0,</ns1:t>
            </ns1:r>
          </ns1:p>
          <ns1:p>
            <ns1:r>
              <ns1:t>          39</ns1:t>
            </ns1:r>
          </ns1:p>
          <ns1:p>
            <ns1:r>
              <ns1:t>        ],</ns1:t>
            </ns1:r>
          </ns1:p>
          <ns1:p>
            <ns1:r>
              <ns1:t>        "linker": [</ns1:t>
            </ns1:r>
          </ns1:p>
          <ns1:p>
            <ns1:r>
              <ns1:t>          39,</ns1:t>
            </ns1:r>
          </ns1:p>
          <ns1:p>
            <ns1:r>
              <ns1:t>          65</ns1:t>
            </ns1:r>
          </ns1:p>
          <ns1:p>
            <ns1:r>
              <ns1:t>        ],</ns1:t>
            </ns1:r>
          </ns1:p>
          <ns1:p>
            <ns1:r>
              <ns1:t>        "LF": [</ns1:t>
            </ns1:r>
          </ns1:p>
          <ns1:p>
            <ns1:r>
              <ns1:t>          65,</ns1:t>
            </ns1:r>
          </ns1:p>
          <ns1:p>
            <ns1:r>
              <ns1:t>          130</ns1:t>
            </ns1:r>
          </ns1:p>
          <ns1:p>
            <ns1:r>
              <ns1:t>        ]</ns1:t>
            </ns1:r>
          </ns1:p>
          <ns1:p>
            <ns1:r>
              <ns1:t>      },</ns1:t>
            </ns1:r>
          </ns1:p>
          <ns1:p>
            <ns1:r>
              <ns1:t>      "model_sha256": "1d47cee516c18104b88f5b283af8be679b4a8c5f2c472cbd34a48b119664eacf",</ns1:t>
            </ns1:r>
          </ns1:p>
          <ns1:p>
            <ns1:r>
              <ns1:t>      "source_run": "2026-10-24_pair183-extracellular-exact_001",</ns1:t>
            </ns1:r>
          </ns1:p>
          <ns1:p>
            <ns1:r>
              <ns1:t>      "source_methods": [</ns1:t>
            </ns1:r>
          </ns1:p>
          <ns1:p>
            <ns1:r>
              <ns1:t>        "https://github.com/DunbrackLab/IPSAE",</ns1:t>
            </ns1:r>
          </ns1:p>
          <ns1:p>
            <ns1:r>
              <ns1:t>        "https://github.com/wallnerlab/DockQ",</ns1:t>
            </ns1:r>
          </ns1:p>
          <ns1:p>
            <ns1:r>
              <ns1:t>        "https://zhanggroup.org/TM-score/"</ns1:t>
            </ns1:r>
          </ns1:p>
          <ns1:p>
            <ns1:r>
              <ns1:t>      ],</ns1:t>
            </ns1:r>
          </ns1:p>
          <ns1:p>
            <ns1:r>
              <ns1:t>      "saved_display_appendix": {</ns1:t>
            </ns1:r>
          </ns1:p>
          <ns1:p>
            <ns1:r>
              <ns1:t>        "parent_sources": {</ns1:t>
            </ns1:r>
          </ns1:p>
          <ns1:p>
            <ns1:r>
              <ns1:t>          "ECD-parent": {</ns1:t>
            </ns1:r>
          </ns1:p>
          <ns1:p>
            <ns1:r>
              <ns1:t>            "key": "LK_P012_04-ECD-parent",</ns1:t>
            </ns1:r>
          </ns1:p>
          <ns1:p>
            <ns1:r>
              <ns1:t>            "source_path": "local/2026-10-25_linker-parent-comparison_001/parents/S08_00_042/exact.pdb",</ns1:t>
            </ns1:r>
          </ns1:p>
          <ns1:p>
            <ns1:r>
              <ns1:t>            "source_sha256": "586dbe8949136305e5e0d5d43c665bd5ed5d95548b9f5bc863aed4430cf0b282",</ns1:t>
            </ns1:r>
          </ns1:p>
          <ns1:p>
            <ns1:r>
              <ns1:t>            "role": "ECD",</ns1:t>
            </ns1:r>
          </ns1:p>
          <ns1:p>
            <ns1:r>
              <ns1:t>            "ranges_zero_based": {</ns1:t>
            </ns1:r>
          </ns1:p>
          <ns1:p>
            <ns1:r>
              <ns1:t>              "ECD": [</ns1:t>
            </ns1:r>
          </ns1:p>
          <ns1:p>
            <ns1:r>
              <ns1:t>                0,</ns1:t>
            </ns1:r>
          </ns1:p>
          <ns1:p>
            <ns1:r>
              <ns1:t>                39</ns1:t>
            </ns1:r>
          </ns1:p>
          <ns1:p>
            <ns1:r>
              <ns1:t>              ]</ns1:t>
            </ns1:r>
          </ns1:p>
          <ns1:p>
            <ns1:r>
              <ns1:t>            },</ns1:t>
            </ns1:r>
          </ns1:p>
          <ns1:p>
            <ns1:r>
              <ns1:t>            "sequence": "MADSISEVSEGVHLILAAQALELPPFVVAARLEEARAKR",</ns1:t>
            </ns1:r>
          </ns1:p>
          <ns1:p>
            <ns1:r>
              <ns1:t>            "rotation": [</ns1:t>
            </ns1:r>
          </ns1:p>
          <ns1:p>
            <ns1:r>
              <ns1:t>              [</ns1:t>
            </ns1:r>
          </ns1:p>
          <ns1:p>
            <ns1:r>
              <ns1:t>                -0.1115210831342317,</ns1:t>
            </ns1:r>
          </ns1:p>
          <ns1:p>
            <ns1:r>
              <ns1:t>                0.9835902168408683,</ns1:t>
            </ns1:r>
          </ns1:p>
          <ns1:p>
            <ns1:r>
              <ns1:t>                -0.1418215514822947</ns1:t>
            </ns1:r>
          </ns1:p>
          <ns1:p>
            <ns1:r>
              <ns1:t>              ],</ns1:t>
            </ns1:r>
          </ns1:p>
          <ns1:p>
            <ns1:r>
              <ns1:t>              [</ns1:t>
            </ns1:r>
          </ns1:p>
          <ns1:p>
            <ns1:r>
              <ns1:t>                0.6850233413445608,</ns1:t>
            </ns1:r>
          </ns1:p>
          <ns1:p>
            <ns1:r>
              <ns1:t>                -0.02730086207089444,</ns1:t>
            </ns1:r>
          </ns1:p>
          <ns1:p>
            <ns1:r>
              <ns1:t>                -0.7280093576971334</ns1:t>
            </ns1:r>
          </ns1:p>
          <ns1:p>
            <ns1:r>
              <ns1:t>              ],</ns1:t>
            </ns1:r>
          </ns1:p>
          <ns1:p>
            <ns1:r>
              <ns1:t>              [</ns1:t>
            </ns1:r>
          </ns1:p>
          <ns1:p>
            <ns1:r>
              <ns1:t>                -0.7199347331369061,</ns1:t>
            </ns1:r>
          </ns1:p>
          <ns1:p>
            <ns1:r>
              <ns1:t>                -0.17833945967167697,</ns1:t>
            </ns1:r>
          </ns1:p>
          <ns1:p>
            <ns1:r>
              <ns1:t>                -0.6707376398307572</ns1:t>
            </ns1:r>
          </ns1:p>
          <ns1:p>
            <ns1:r>
              <ns1:t>              ]</ns1:t>
            </ns1:r>
          </ns1:p>
          <ns1:p>
            <ns1:r>
              <ns1:t>            ],</ns1:t>
            </ns1:r>
          </ns1:p>
          <ns1:p>
            <ns1:r>
              <ns1:t>            "translation": [</ns1:t>
            </ns1:r>
          </ns1:p>
          <ns1:p>
            <ns1:r>
              <ns1:t>              3.8607485500063383,</ns1:t>
            </ns1:r>
          </ns1:p>
          <ns1:p>
            <ns1:r>
              <ns1:t>              4.630699048501577,</ns1:t>
            </ns1:r>
          </ns1:p>
          <ns1:p>
            <ns1:r>
              <ns1:t>              -3.485280759986309</ns1:t>
            </ns1:r>
          </ns1:p>
          <ns1:p>
            <ns1:r>
              <ns1:t>            ],</ns1:t>
            </ns1:r>
          </ns1:p>
          <ns1:p>
            <ns1:r>
              <ns1:t>            "core_fit_CA_RMSD_A": 1.029119308080871,</ns1:t>
            </ns1:r>
          </ns1:p>
          <ns1:p>
            <ns1:r>
              <ns1:t>            "output": "local/2026-10-25_linker-parent-views_001/build/renders-v2/LK_P012_04-ECD-parent.jpg",</ns1:t>
            </ns1:r>
          </ns1:p>
          <ns1:p>
            <ns1:r>
              <ns1:t>            "parent_or_fusion_id": "S08_00_042",</ns1:t>
            </ns1:r>
          </ns1:p>
          <ns1:p>
            <ns1:r>
              <ns1:t>            "design_id": "LK_P012_04",</ns1:t>
            </ns1:r>
          </ns1:p>
          <ns1:p>
            <ns1:r>
              <ns1:t>            "panel": "ECD-parent",</ns1:t>
            </ns1:r>
          </ns1:p>
          <ns1:p>
            <ns1:r>
              <ns1:t>            "view": [</ns1:t>
            </ns1:r>
          </ns1:p>
          <ns1:p>
            <ns1:r>
              <ns1:t>              1,</ns1:t>
            </ns1:r>
          </ns1:p>
          <ns1:p>
            <ns1:r>
              <ns1:t>              0,</ns1:t>
            </ns1:r>
          </ns1:p>
          <ns1:p>
            <ns1:r>
              <ns1:t>              0,</ns1:t>
            </ns1:r>
          </ns1:p>
          <ns1:p>
            <ns1:r>
              <ns1:t>              0,</ns1:t>
            </ns1:r>
          </ns1:p>
          <ns1:p>
            <ns1:r>
              <ns1:t>              1,</ns1:t>
            </ns1:r>
          </ns1:p>
          <ns1:p>
            <ns1:r>
              <ns1:t>              0,</ns1:t>
            </ns1:r>
          </ns1:p>
          <ns1:p>
            <ns1:r>
              <ns1:t>              0,</ns1:t>
            </ns1:r>
          </ns1:p>
          <ns1:p>
            <ns1:r>
              <ns1:t>              0,</ns1:t>
            </ns1:r>
          </ns1:p>
          <ns1:p>
            <ns1:r>
              <ns1:t>              1,</ns1:t>
            </ns1:r>
          </ns1:p>
          <ns1:p>
            <ns1:r>
              <ns1:t>              0,</ns1:t>
            </ns1:r>
          </ns1:p>
          <ns1:p>
            <ns1:r>
              <ns1:t>              0,</ns1:t>
            </ns1:r>
          </ns1:p>
          <ns1:p>
            <ns1:r>
              <ns1:t>              -375.1807890577328,</ns1:t>
            </ns1:r>
          </ns1:p>
          <ns1:p>
            <ns1:r>
              <ns1:t>              -5.002128421134614,</ns1:t>
            </ns1:r>
          </ns1:p>
          <ns1:p>
            <ns1:r>
              <ns1:t>              17.833570216119554,</ns1:t>
            </ns1:r>
          </ns1:p>
          <ns1:p>
            <ns1:r>
              <ns1:t>              -17.175677811680774,</ns1:t>
            </ns1:r>
          </ns1:p>
          <ns1:p>
            <ns1:r>
              <ns1:t>              309.8794116896058,</ns1:t>
            </ns1:r>
          </ns1:p>
          <ns1:p>
            <ns1:r>
              <ns1:t>              440.4821664258598,</ns1:t>
            </ns1:r>
          </ns1:p>
          <ns1:p>
            <ns1:r>
              <ns1:t>              -20</ns1:t>
            </ns1:r>
          </ns1:p>
          <ns1:p>
            <ns1:r>
              <ns1:t>            ],</ns1:t>
            </ns1:r>
          </ns1:p>
          <ns1:p>
            <ns1:r>
              <ns1:t>            "world_height_A": 132.30899150873904,</ns1:t>
            </ns1:r>
          </ns1:p>
          <ns1:p>
            <ns1:r>
              <ns1:t>            "row_bounds_all_atoms_A": [</ns1:t>
            </ns1:r>
          </ns1:p>
          <ns1:p>
            <ns1:r>
              <ns1:t>              [</ns1:t>
            </ns1:r>
          </ns1:p>
          <ns1:p>
            <ns1:r>
              <ns1:t>                -43.157771701907166,</ns1:t>
            </ns1:r>
          </ns1:p>
          <ns1:p>
            <ns1:r>
              <ns1:t>                -41.320925538249966,</ns1:t>
            </ns1:r>
          </ns1:p>
          <ns1:p>
            <ns1:r>
              <ns1:t>                -67.47705517980779</ns1:t>
            </ns1:r>
          </ns1:p>
          <ns1:p>
            <ns1:r>
              <ns1:t>              ],</ns1:t>
            </ns1:r>
          </ns1:p>
          <ns1:p>
            <ns1:r>
              <ns1:t>              [</ns1:t>
            </ns1:r>
          </ns1:p>
          <ns1:p>
            <ns1:r>
              <ns1:t>                33.15351485963794,</ns1:t>
            </ns1:r>
          </ns1:p>
          <ns1:p>
            <ns1:r>
              <ns1:t>                76.98806597048907,</ns1:t>
            </ns1:r>
          </ns1:p>
          <ns1:p>
            <ns1:r>
              <ns1:t>                33.12569955644624</ns1:t>
            </ns1:r>
          </ns1:p>
          <ns1:p>
            <ns1:r>
              <ns1:t>              ]</ns1:t>
            </ns1:r>
          </ns1:p>
          <ns1:p>
            <ns1:r>
              <ns1:t>            ]</ns1:t>
            </ns1:r>
          </ns1:p>
          <ns1:p>
            <ns1:r>
              <ns1:t>          },</ns1:t>
            </ns1:r>
          </ns1:p>
          <ns1:p>
            <ns1:r>
              <ns1:t>          "APNovo": {</ns1:t>
            </ns1:r>
          </ns1:p>
          <ns1:p>
            <ns1:r>
              <ns1:t>            "key": "LK_P012_04-APNovo",</ns1:t>
            </ns1:r>
          </ns1:p>
          <ns1:p>
            <ns1:r>
              <ns1:t>            "source_path": "local/2026-10-25_linker-top100-review_001/build/comparisons/LK_P012_04/reference.pdb",</ns1:t>
            </ns1:r>
          </ns1:p>
          <ns1:p>
            <ns1:r>
              <ns1:t>            "source_sha256": "a28114f0471487cfd13ff82f062f86142af68e4070b08c9a7fa5f2ac9aea5286",</ns1:t>
            </ns1:r>
          </ns1:p>
          <ns1:p>
            <ns1:r>
              <ns1:t>            "role": "fusion",</ns1:t>
            </ns1:r>
          </ns1:p>
          <ns1:p>
            <ns1:r>
              <ns1:t>            "ranges_zero_based": {</ns1:t>
            </ns1:r>
          </ns1:p>
          <ns1:p>
            <ns1:r>
              <ns1:t>              "ECD": [</ns1:t>
            </ns1:r>
          </ns1:p>
          <ns1:p>
            <ns1:r>
              <ns1:t>                0,</ns1:t>
            </ns1:r>
          </ns1:p>
          <ns1:p>
            <ns1:r>
              <ns1:t>                39</ns1:t>
            </ns1:r>
          </ns1:p>
          <ns1:p>
            <ns1:r>
              <ns1:t>              ],</ns1:t>
            </ns1:r>
          </ns1:p>
          <ns1:p>
            <ns1:r>
              <ns1:t>              "linker": [</ns1:t>
            </ns1:r>
          </ns1:p>
          <ns1:p>
            <ns1:r>
              <ns1:t>                39,</ns1:t>
            </ns1:r>
          </ns1:p>
          <ns1:p>
            <ns1:r>
              <ns1:t>                65</ns1:t>
            </ns1:r>
          </ns1:p>
          <ns1:p>
            <ns1:r>
              <ns1:t>              ],</ns1:t>
            </ns1:r>
          </ns1:p>
          <ns1:p>
            <ns1:r>
              <ns1:t>              "LF": [</ns1:t>
            </ns1:r>
          </ns1:p>
          <ns1:p>
            <ns1:r>
              <ns1:t>                65,</ns1:t>
            </ns1:r>
          </ns1:p>
          <ns1:p>
            <ns1:r>
              <ns1:t>                130</ns1:t>
            </ns1:r>
          </ns1:p>
          <ns1:p>
            <ns1:r>
              <ns1:t>              ]</ns1:t>
            </ns1:r>
          </ns1:p>
          <ns1:p>
            <ns1:r>
              <ns1:t>            },</ns1:t>
            </ns1:r>
          </ns1:p>
          <ns1:p>
            <ns1:r>
              <ns1:t>            "sequence": "MADSISEVSEGVHLILAAQALELPPFVVAARLEEARAKRPGSSLLPLPEDTSDVASGSISYPGASAFHLTGLAARCGAVWRGVFCQFGNGVKGEGSVTGGSLNTFYILTVAPTSANILTSGSGSGSLEGS",</ns1:t>
            </ns1:r>
          </ns1:p>
          <ns1:p>
            <ns1:r>
              <ns1:t>            "rotation": [</ns1:t>
            </ns1:r>
          </ns1:p>
          <ns1:p>
            <ns1:r>
              <ns1:t>              [</ns1:t>
            </ns1:r>
          </ns1:p>
          <ns1:p>
            <ns1:r>
              <ns1:t>                -0.09915685079725645,</ns1:t>
            </ns1:r>
          </ns1:p>
          <ns1:p>
            <ns1:r>
              <ns1:t>                0.8544598327933244,</ns1:t>
            </ns1:r>
          </ns1:p>
          <ns1:p>
            <ns1:r>
              <ns1:t>                -0.5099669319562379</ns1:t>
            </ns1:r>
          </ns1:p>
          <ns1:p>
            <ns1:r>
              <ns1:t>              ],</ns1:t>
            </ns1:r>
          </ns1:p>
          <ns1:p>
            <ns1:r>
              <ns1:t>              [</ns1:t>
            </ns1:r>
          </ns1:p>
          <ns1:p>
            <ns1:r>
              <ns1:t>                0.8906040883162778,</ns1:t>
            </ns1:r>
          </ns1:p>
          <ns1:p>
            <ns1:r>
              <ns1:t>                0.30479648126498904,</ns1:t>
            </ns1:r>
          </ns1:p>
          <ns1:p>
            <ns1:r>
              <ns1:t>                0.3375254710281015</ns1:t>
            </ns1:r>
          </ns1:p>
          <ns1:p>
            <ns1:r>
              <ns1:t>              ],</ns1:t>
            </ns1:r>
          </ns1:p>
          <ns1:p>
            <ns1:r>
              <ns1:t>              [</ns1:t>
            </ns1:r>
          </ns1:p>
          <ns1:p>
            <ns1:r>
              <ns1:t>                0.4438381234346256,</ns1:t>
            </ns1:r>
          </ns1:p>
          <ns1:p>
            <ns1:r>
              <ns1:t>                -0.4207107406735995,</ns1:t>
            </ns1:r>
          </ns1:p>
          <ns1:p>
            <ns1:r>
              <ns1:t>                -0.7912081101743214</ns1:t>
            </ns1:r>
          </ns1:p>
          <ns1:p>
            <ns1:r>
              <ns1:t>              ]</ns1:t>
            </ns1:r>
          </ns1:p>
          <ns1:p>
            <ns1:r>
              <ns1:t>            ],</ns1:t>
            </ns1:r>
          </ns1:p>
          <ns1:p>
            <ns1:r>
              <ns1:t>            "translation": [</ns1:t>
            </ns1:r>
          </ns1:p>
          <ns1:p>
            <ns1:r>
              <ns1:t>              -13.506788035084089,</ns1:t>
            </ns1:r>
          </ns1:p>
          <ns1:p>
            <ns1:r>
              <ns1:t>              -7.8660219789783525,</ns1:t>
            </ns1:r>
          </ns1:p>
          <ns1:p>
            <ns1:r>
              <ns1:t>              5.680271597502018</ns1:t>
            </ns1:r>
          </ns1:p>
          <ns1:p>
            <ns1:r>
              <ns1:t>            ],</ns1:t>
            </ns1:r>
          </ns1:p>
          <ns1:p>
            <ns1:r>
              <ns1:t>            "core_fit_CA_RMSD_A": 1.0291648057613971,</ns1:t>
            </ns1:r>
          </ns1:p>
          <ns1:p>
            <ns1:r>
              <ns1:t>            "output": "local/2026-10-25_linker-parent-views_001/build/renders-v2/LK_P012_04-APNovo.jpg",</ns1:t>
            </ns1:r>
          </ns1:p>
          <ns1:p>
            <ns1:r>
              <ns1:t>            "parent_or_fusion_id": "LK_P012_04-APNovo",</ns1:t>
            </ns1:r>
          </ns1:p>
          <ns1:p>
            <ns1:r>
              <ns1:t>            "design_id": "LK_P012_04",</ns1:t>
            </ns1:r>
          </ns1:p>
          <ns1:p>
            <ns1:r>
              <ns1:t>            "panel": "APNovo",</ns1:t>
            </ns1:r>
          </ns1:p>
          <ns1:p>
            <ns1:r>
              <ns1:t>            "view": [</ns1:t>
            </ns1:r>
          </ns1:p>
          <ns1:p>
            <ns1:r>
              <ns1:t>              1,</ns1:t>
            </ns1:r>
          </ns1:p>
          <ns1:p>
            <ns1:r>
              <ns1:t>              0,</ns1:t>
            </ns1:r>
          </ns1:p>
          <ns1:p>
            <ns1:r>
              <ns1:t>              0,</ns1:t>
            </ns1:r>
          </ns1:p>
          <ns1:p>
            <ns1:r>
              <ns1:t>              0,</ns1:t>
            </ns1:r>
          </ns1:p>
          <ns1:p>
            <ns1:r>
              <ns1:t>              1,</ns1:t>
            </ns1:r>
          </ns1:p>
          <ns1:p>
            <ns1:r>
              <ns1:t>              0,</ns1:t>
            </ns1:r>
          </ns1:p>
          <ns1:p>
            <ns1:r>
              <ns1:t>              0,</ns1:t>
            </ns1:r>
          </ns1:p>
          <ns1:p>
            <ns1:r>
              <ns1:t>              0,</ns1:t>
            </ns1:r>
          </ns1:p>
          <ns1:p>
            <ns1:r>
              <ns1:t>              1,</ns1:t>
            </ns1:r>
          </ns1:p>
          <ns1:p>
            <ns1:r>
              <ns1:t>              0,</ns1:t>
            </ns1:r>
          </ns1:p>
          <ns1:p>
            <ns1:r>
              <ns1:t>              0,</ns1:t>
            </ns1:r>
          </ns1:p>
          <ns1:p>
            <ns1:r>
              <ns1:t>              -375.1807890577328,</ns1:t>
            </ns1:r>
          </ns1:p>
          <ns1:p>
            <ns1:r>
              <ns1:t>              -5.002128421134614,</ns1:t>
            </ns1:r>
          </ns1:p>
          <ns1:p>
            <ns1:r>
              <ns1:t>              17.833570216119554,</ns1:t>
            </ns1:r>
          </ns1:p>
          <ns1:p>
            <ns1:r>
              <ns1:t>              -17.175677811680774,</ns1:t>
            </ns1:r>
          </ns1:p>
          <ns1:p>
            <ns1:r>
              <ns1:t>              309.8794116896058,</ns1:t>
            </ns1:r>
          </ns1:p>
          <ns1:p>
            <ns1:r>
              <ns1:t>              440.4821664258598,</ns1:t>
            </ns1:r>
          </ns1:p>
          <ns1:p>
            <ns1:r>
              <ns1:t>              -20</ns1:t>
            </ns1:r>
          </ns1:p>
          <ns1:p>
            <ns1:r>
              <ns1:t>            ],</ns1:t>
            </ns1:r>
          </ns1:p>
          <ns1:p>
            <ns1:r>
              <ns1:t>            "world_height_A": 132.30899150873904,</ns1:t>
            </ns1:r>
          </ns1:p>
          <ns1:p>
            <ns1:r>
              <ns1:t>            "row_bounds_all_atoms_A": [</ns1:t>
            </ns1:r>
          </ns1:p>
          <ns1:p>
            <ns1:r>
              <ns1:t>              [</ns1:t>
            </ns1:r>
          </ns1:p>
          <ns1:p>
            <ns1:r>
              <ns1:t>                -43.157771701907166,</ns1:t>
            </ns1:r>
          </ns1:p>
          <ns1:p>
            <ns1:r>
              <ns1:t>                -41.320925538249966,</ns1:t>
            </ns1:r>
          </ns1:p>
          <ns1:p>
            <ns1:r>
              <ns1:t>                -67.47705517980779</ns1:t>
            </ns1:r>
          </ns1:p>
          <ns1:p>
            <ns1:r>
              <ns1:t>              ],</ns1:t>
            </ns1:r>
          </ns1:p>
          <ns1:p>
            <ns1:r>
              <ns1:t>              [</ns1:t>
            </ns1:r>
          </ns1:p>
          <ns1:p>
            <ns1:r>
              <ns1:t>                33.15351485963794,</ns1:t>
            </ns1:r>
          </ns1:p>
          <ns1:p>
            <ns1:r>
              <ns1:t>                76.98806597048907,</ns1:t>
            </ns1:r>
          </ns1:p>
          <ns1:p>
            <ns1:r>
              <ns1:t>                33.12569955644624</ns1:t>
            </ns1:r>
          </ns1:p>
          <ns1:p>
            <ns1:r>
              <ns1:t>              ]</ns1:t>
            </ns1:r>
          </ns1:p>
          <ns1:p>
            <ns1:r>
              <ns1:t>            ]</ns1:t>
            </ns1:r>
          </ns1:p>
          <ns1:p>
            <ns1:r>
              <ns1:t>          },</ns1:t>
            </ns1:r>
          </ns1:p>
          <ns1:p>
            <ns1:r>
              <ns1:t>          "Exact": {</ns1:t>
            </ns1:r>
          </ns1:p>
          <ns1:p>
            <ns1:r>
              <ns1:t>            "key": "LK_P012_04-Exact",</ns1:t>
            </ns1:r>
          </ns1:p>
          <ns1:p>
            <ns1:r>
              <ns1:t>            "source_path": "local/2026-10-25_linker-top100-review_001/models/LK_P012_04/boltz2.cif",</ns1:t>
            </ns1:r>
          </ns1:p>
          <ns1:p>
            <ns1:r>
              <ns1:t>            "source_sha256": "1d47cee516c18104b88f5b283af8be679b4a8c5f2c472cbd34a48b119664eacf",</ns1:t>
            </ns1:r>
          </ns1:p>
          <ns1:p>
            <ns1:r>
              <ns1:t>            "role": "fusion",</ns1:t>
            </ns1:r>
          </ns1:p>
          <ns1:p>
            <ns1:r>
              <ns1:t>            "ranges_zero_based": {</ns1:t>
            </ns1:r>
          </ns1:p>
          <ns1:p>
            <ns1:r>
              <ns1:t>              "ECD": [</ns1:t>
            </ns1:r>
          </ns1:p>
          <ns1:p>
            <ns1:r>
              <ns1:t>                0,</ns1:t>
            </ns1:r>
          </ns1:p>
          <ns1:p>
            <ns1:r>
              <ns1:t>                39</ns1:t>
            </ns1:r>
          </ns1:p>
          <ns1:p>
            <ns1:r>
              <ns1:t>              ],</ns1:t>
            </ns1:r>
          </ns1:p>
          <ns1:p>
            <ns1:r>
              <ns1:t>              "linker": [</ns1:t>
            </ns1:r>
          </ns1:p>
          <ns1:p>
            <ns1:r>
              <ns1:t>                39,</ns1:t>
            </ns1:r>
          </ns1:p>
          <ns1:p>
            <ns1:r>
              <ns1:t>                65</ns1:t>
            </ns1:r>
          </ns1:p>
          <ns1:p>
            <ns1:r>
              <ns1:t>              ],</ns1:t>
            </ns1:r>
          </ns1:p>
          <ns1:p>
            <ns1:r>
              <ns1:t>              "LF": [</ns1:t>
            </ns1:r>
          </ns1:p>
          <ns1:p>
            <ns1:r>
              <ns1:t>                65,</ns1:t>
            </ns1:r>
          </ns1:p>
          <ns1:p>
            <ns1:r>
              <ns1:t>                130</ns1:t>
            </ns1:r>
          </ns1:p>
          <ns1:p>
            <ns1:r>
              <ns1:t>              ]</ns1:t>
            </ns1:r>
          </ns1:p>
          <ns1:p>
            <ns1:r>
              <ns1:t>            },</ns1:t>
            </ns1:r>
          </ns1:p>
          <ns1:p>
            <ns1:r>
              <ns1:t>            "sequence": "MADSISEVSEGVHLILAAQALELPPFVVAARLEEARAKRPGSSLLPLPEDTSDVASGSISYPGASAFHLTGLAARCGAVWRGVFCQFGNGVKGEGSVTGGSLNTFYILTVAPTSANILTSGSGSGSLEGS",</ns1:t>
            </ns1:r>
          </ns1:p>
          <ns1:p>
            <ns1:r>
              <ns1:t>            "rotation": [</ns1:t>
            </ns1:r>
          </ns1:p>
          <ns1:p>
            <ns1:r>
              <ns1:t>              [</ns1:t>
            </ns1:r>
          </ns1:p>
          <ns1:p>
            <ns1:r>
              <ns1:t>                0.5825679708976139,</ns1:t>
            </ns1:r>
          </ns1:p>
          <ns1:p>
            <ns1:r>
              <ns1:t>                0.33114486366381435,</ns1:t>
            </ns1:r>
          </ns1:p>
          <ns1:p>
            <ns1:r>
              <ns1:t>                0.7422651814706942</ns1:t>
            </ns1:r>
          </ns1:p>
          <ns1:p>
            <ns1:r>
              <ns1:t>              ],</ns1:t>
            </ns1:r>
          </ns1:p>
          <ns1:p>
            <ns1:r>
              <ns1:t>              [</ns1:t>
            </ns1:r>
          </ns1:p>
          <ns1:p>
            <ns1:r>
              <ns1:t>                0.5603649116407095,</ns1:t>
            </ns1:r>
          </ns1:p>
          <ns1:p>
            <ns1:r>
              <ns1:t>                0.4978592325664821,</ns1:t>
            </ns1:r>
          </ns1:p>
          <ns1:p>
            <ns1:r>
              <ns1:t>                -0.6619119016330877</ns1:t>
            </ns1:r>
          </ns1:p>
          <ns1:p>
            <ns1:r>
              <ns1:t>              ],</ns1:t>
            </ns1:r>
          </ns1:p>
          <ns1:p>
            <ns1:r>
              <ns1:t>              [</ns1:t>
            </ns1:r>
          </ns1:p>
          <ns1:p>
            <ns1:r>
              <ns1:t>                -0.5887323328260705,</ns1:t>
            </ns1:r>
          </ns1:p>
          <ns1:p>
            <ns1:r>
              <ns1:t>                0.8015480512736581,</ns1:t>
            </ns1:r>
          </ns1:p>
          <ns1:p>
            <ns1:r>
              <ns1:t>                0.10447487055025073</ns1:t>
            </ns1:r>
          </ns1:p>
          <ns1:p>
            <ns1:r>
              <ns1:t>              ]</ns1:t>
            </ns1:r>
          </ns1:p>
          <ns1:p>
            <ns1:r>
              <ns1:t>            ],</ns1:t>
            </ns1:r>
          </ns1:p>
          <ns1:p>
            <ns1:r>
              <ns1:t>            "translation": [</ns1:t>
            </ns1:r>
          </ns1:p>
          <ns1:p>
            <ns1:r>
              <ns1:t>              -0.17376120162587583,</ns1:t>
            </ns1:r>
          </ns1:p>
          <ns1:p>
            <ns1:r>
              <ns1:t>              2.8125459139970967,</ns1:t>
            </ns1:r>
          </ns1:p>
          <ns1:p>
            <ns1:r>
              <ns1:t>              -0.4877737043914099</ns1:t>
            </ns1:r>
          </ns1:p>
          <ns1:p>
            <ns1:r>
              <ns1:t>            ],</ns1:t>
            </ns1:r>
          </ns1:p>
          <ns1:p>
            <ns1:r>
              <ns1:t>            "core_fit_CA_RMSD_A": 1.330883533826814,</ns1:t>
            </ns1:r>
          </ns1:p>
          <ns1:p>
            <ns1:r>
              <ns1:t>            "output": "local/2026-10-25_linker-parent-views_001/build/renders-v2/LK_P012_04-Exact.jpg",</ns1:t>
            </ns1:r>
          </ns1:p>
          <ns1:p>
            <ns1:r>
              <ns1:t>            "parent_or_fusion_id": "LK_P012_04-Exact",</ns1:t>
            </ns1:r>
          </ns1:p>
          <ns1:p>
            <ns1:r>
              <ns1:t>            "design_id": "LK_P012_04",</ns1:t>
            </ns1:r>
          </ns1:p>
          <ns1:p>
            <ns1:r>
              <ns1:t>            "panel": "Exact",</ns1:t>
            </ns1:r>
          </ns1:p>
          <ns1:p>
            <ns1:r>
              <ns1:t>            "view": [</ns1:t>
            </ns1:r>
          </ns1:p>
          <ns1:p>
            <ns1:r>
              <ns1:t>              1,</ns1:t>
            </ns1:r>
          </ns1:p>
          <ns1:p>
            <ns1:r>
              <ns1:t>              0,</ns1:t>
            </ns1:r>
          </ns1:p>
          <ns1:p>
            <ns1:r>
              <ns1:t>              0,</ns1:t>
            </ns1:r>
          </ns1:p>
          <ns1:p>
            <ns1:r>
              <ns1:t>              0,</ns1:t>
            </ns1:r>
          </ns1:p>
          <ns1:p>
            <ns1:r>
              <ns1:t>              1,</ns1:t>
            </ns1:r>
          </ns1:p>
          <ns1:p>
            <ns1:r>
              <ns1:t>              0,</ns1:t>
            </ns1:r>
          </ns1:p>
          <ns1:p>
            <ns1:r>
              <ns1:t>              0,</ns1:t>
            </ns1:r>
          </ns1:p>
          <ns1:p>
            <ns1:r>
              <ns1:t>              0,</ns1:t>
            </ns1:r>
          </ns1:p>
          <ns1:p>
            <ns1:r>
              <ns1:t>              1,</ns1:t>
            </ns1:r>
          </ns1:p>
          <ns1:p>
            <ns1:r>
              <ns1:t>              0,</ns1:t>
            </ns1:r>
          </ns1:p>
          <ns1:p>
            <ns1:r>
              <ns1:t>              0,</ns1:t>
            </ns1:r>
          </ns1:p>
          <ns1:p>
            <ns1:r>
              <ns1:t>              -375.1807890577328,</ns1:t>
            </ns1:r>
          </ns1:p>
          <ns1:p>
            <ns1:r>
              <ns1:t>              -5.002128421134614,</ns1:t>
            </ns1:r>
          </ns1:p>
          <ns1:p>
            <ns1:r>
              <ns1:t>              17.833570216119554,</ns1:t>
            </ns1:r>
          </ns1:p>
          <ns1:p>
            <ns1:r>
              <ns1:t>              -17.175677811680774,</ns1:t>
            </ns1:r>
          </ns1:p>
          <ns1:p>
            <ns1:r>
              <ns1:t>              309.8794116896058,</ns1:t>
            </ns1:r>
          </ns1:p>
          <ns1:p>
            <ns1:r>
              <ns1:t>              440.4821664258598,</ns1:t>
            </ns1:r>
          </ns1:p>
          <ns1:p>
            <ns1:r>
              <ns1:t>              -20</ns1:t>
            </ns1:r>
          </ns1:p>
          <ns1:p>
            <ns1:r>
              <ns1:t>            ],</ns1:t>
            </ns1:r>
          </ns1:p>
          <ns1:p>
            <ns1:r>
              <ns1:t>            "world_height_A": 132.30899150873904,</ns1:t>
            </ns1:r>
          </ns1:p>
          <ns1:p>
            <ns1:r>
              <ns1:t>            "row_bounds_all_atoms_A": [</ns1:t>
            </ns1:r>
          </ns1:p>
          <ns1:p>
            <ns1:r>
              <ns1:t>              [</ns1:t>
            </ns1:r>
          </ns1:p>
          <ns1:p>
            <ns1:r>
              <ns1:t>                -43.157771701907166,</ns1:t>
            </ns1:r>
          </ns1:p>
          <ns1:p>
            <ns1:r>
              <ns1:t>                -41.320925538249966,</ns1:t>
            </ns1:r>
          </ns1:p>
          <ns1:p>
            <ns1:r>
              <ns1:t>                -67.47705517980779</ns1:t>
            </ns1:r>
          </ns1:p>
          <ns1:p>
            <ns1:r>
              <ns1:t>              ],</ns1:t>
            </ns1:r>
          </ns1:p>
          <ns1:p>
            <ns1:r>
              <ns1:t>              [</ns1:t>
            </ns1:r>
          </ns1:p>
          <ns1:p>
            <ns1:r>
              <ns1:t>                33.15351485963794,</ns1:t>
            </ns1:r>
          </ns1:p>
          <ns1:p>
            <ns1:r>
              <ns1:t>                76.98806597048907,</ns1:t>
            </ns1:r>
          </ns1:p>
          <ns1:p>
            <ns1:r>
              <ns1:t>                33.12569955644624</ns1:t>
            </ns1:r>
          </ns1:p>
          <ns1:p>
            <ns1:r>
              <ns1:t>              ]</ns1:t>
            </ns1:r>
          </ns1:p>
          <ns1:p>
            <ns1:r>
              <ns1:t>            ]</ns1:t>
            </ns1:r>
          </ns1:p>
          <ns1:p>
            <ns1:r>
              <ns1:t>          },</ns1:t>
            </ns1:r>
          </ns1:p>
          <ns1:p>
            <ns1:r>
              <ns1:t>          "LF-parent": {</ns1:t>
            </ns1:r>
          </ns1:p>
          <ns1:p>
            <ns1:r>
              <ns1:t>            "key": "LK_P012_04-LF-parent",</ns1:t>
            </ns1:r>
          </ns1:p>
          <ns1:p>
            <ns1:r>
              <ns1:t>            "source_path": "local/2026-10-25_linker-parent-comparison_001/parents/Design_991/exact.pdb",</ns1:t>
            </ns1:r>
          </ns1:p>
          <ns1:p>
            <ns1:r>
              <ns1:t>            "source_sha256": "4f8a662dc2ed593fd5dee32e1629c724986d9aed7a1595f5fe62f82875a40b30",</ns1:t>
            </ns1:r>
          </ns1:p>
          <ns1:p>
            <ns1:r>
              <ns1:t>            "role": "LF",</ns1:t>
            </ns1:r>
          </ns1:p>
          <ns1:p>
            <ns1:r>
              <ns1:t>            "ranges_zero_based": {</ns1:t>
            </ns1:r>
          </ns1:p>
          <ns1:p>
            <ns1:r>
              <ns1:t>              "LF": [</ns1:t>
            </ns1:r>
          </ns1:p>
          <ns1:p>
            <ns1:r>
              <ns1:t>                0,</ns1:t>
            </ns1:r>
          </ns1:p>
          <ns1:p>
            <ns1:r>
              <ns1:t>                65</ns1:t>
            </ns1:r>
          </ns1:p>
          <ns1:p>
            <ns1:r>
              <ns1:t>              ]</ns1:t>
            </ns1:r>
          </ns1:p>
          <ns1:p>
            <ns1:r>
              <ns1:t>            },</ns1:t>
            </ns1:r>
          </ns1:p>
          <ns1:p>
            <ns1:r>
              <ns1:t>            "sequence": "AFHLTGLAARCGAVWRGVFCQFGNGVKGEGSVTGGSLNTFYILTVAPTSANILTSGSGSGSLEGS",</ns1:t>
            </ns1:r>
          </ns1:p>
          <ns1:p>
            <ns1:r>
              <ns1:t>            "rotation": [</ns1:t>
            </ns1:r>
          </ns1:p>
          <ns1:p>
            <ns1:r>
              <ns1:t>              [</ns1:t>
            </ns1:r>
          </ns1:p>
          <ns1:p>
            <ns1:r>
              <ns1:t>                0.18609119756738046,</ns1:t>
            </ns1:r>
          </ns1:p>
          <ns1:p>
            <ns1:r>
              <ns1:t>                0.8911453867842396,</ns1:t>
            </ns1:r>
          </ns1:p>
          <ns1:p>
            <ns1:r>
              <ns1:t>                0.4137994593682368</ns1:t>
            </ns1:r>
          </ns1:p>
          <ns1:p>
            <ns1:r>
              <ns1:t>              ],</ns1:t>
            </ns1:r>
          </ns1:p>
          <ns1:p>
            <ns1:r>
              <ns1:t>              [</ns1:t>
            </ns1:r>
          </ns1:p>
          <ns1:p>
            <ns1:r>
              <ns1:t>                -0.12071599924220555,</ns1:t>
            </ns1:r>
          </ns1:p>
          <ns1:p>
            <ns1:r>
              <ns1:t>                0.4387022197578485,</ns1:t>
            </ns1:r>
          </ns1:p>
          <ns1:p>
            <ns1:r>
              <ns1:t>                -0.8904875356810176</ns1:t>
            </ns1:r>
          </ns1:p>
          <ns1:p>
            <ns1:r>
              <ns1:t>              ],</ns1:t>
            </ns1:r>
          </ns1:p>
          <ns1:p>
            <ns1:r>
              <ns1:t>              [</ns1:t>
            </ns1:r>
          </ns1:p>
          <ns1:p>
            <ns1:r>
              <ns1:t>                -0.975088565786745,</ns1:t>
            </ns1:r>
          </ns1:p>
          <ns1:p>
            <ns1:r>
              <ns1:t>                0.11575964260876503,</ns1:t>
            </ns1:r>
          </ns1:p>
          <ns1:p>
            <ns1:r>
              <ns1:t>                0.18921412162218942</ns1:t>
            </ns1:r>
          </ns1:p>
          <ns1:p>
            <ns1:r>
              <ns1:t>              ]</ns1:t>
            </ns1:r>
          </ns1:p>
          <ns1:p>
            <ns1:r>
              <ns1:t>            ],</ns1:t>
            </ns1:r>
          </ns1:p>
          <ns1:p>
            <ns1:r>
              <ns1:t>            "translation": [</ns1:t>
            </ns1:r>
          </ns1:p>
          <ns1:p>
            <ns1:r>
              <ns1:t>              1.169208298701557,</ns1:t>
            </ns1:r>
          </ns1:p>
          <ns1:p>
            <ns1:r>
              <ns1:t>              -3.634658331489863,</ns1:t>
            </ns1:r>
          </ns1:p>
          <ns1:p>
            <ns1:r>
              <ns1:t>              3.72688275909145</ns1:t>
            </ns1:r>
          </ns1:p>
          <ns1:p>
            <ns1:r>
              <ns1:t>            ],</ns1:t>
            </ns1:r>
          </ns1:p>
          <ns1:p>
            <ns1:r>
              <ns1:t>            "core_fit_CA_RMSD_A": 1.015400445473429,</ns1:t>
            </ns1:r>
          </ns1:p>
          <ns1:p>
            <ns1:r>
              <ns1:t>            "output": "local/2026-10-25_linker-parent-views_001/build/renders-v2/LK_P012_04-LF-parent.jpg",</ns1:t>
            </ns1:r>
          </ns1:p>
          <ns1:p>
            <ns1:r>
              <ns1:t>            "parent_or_fusion_id": "Design_991",</ns1:t>
            </ns1:r>
          </ns1:p>
          <ns1:p>
            <ns1:r>
              <ns1:t>            "design_id": "LK_P012_04",</ns1:t>
            </ns1:r>
          </ns1:p>
          <ns1:p>
            <ns1:r>
              <ns1:t>            "panel": "LF-parent",</ns1:t>
            </ns1:r>
          </ns1:p>
          <ns1:p>
            <ns1:r>
              <ns1:t>            "view": [</ns1:t>
            </ns1:r>
          </ns1:p>
          <ns1:p>
            <ns1:r>
              <ns1:t>              1,</ns1:t>
            </ns1:r>
          </ns1:p>
          <ns1:p>
            <ns1:r>
              <ns1:t>              0,</ns1:t>
            </ns1:r>
          </ns1:p>
          <ns1:p>
            <ns1:r>
              <ns1:t>              0,</ns1:t>
            </ns1:r>
          </ns1:p>
          <ns1:p>
            <ns1:r>
              <ns1:t>              0,</ns1:t>
            </ns1:r>
          </ns1:p>
          <ns1:p>
            <ns1:r>
              <ns1:t>              1,</ns1:t>
            </ns1:r>
          </ns1:p>
          <ns1:p>
            <ns1:r>
              <ns1:t>              0,</ns1:t>
            </ns1:r>
          </ns1:p>
          <ns1:p>
            <ns1:r>
              <ns1:t>              0,</ns1:t>
            </ns1:r>
          </ns1:p>
          <ns1:p>
            <ns1:r>
              <ns1:t>              0,</ns1:t>
            </ns1:r>
          </ns1:p>
          <ns1:p>
            <ns1:r>
              <ns1:t>              1,</ns1:t>
            </ns1:r>
          </ns1:p>
          <ns1:p>
            <ns1:r>
              <ns1:t>              0,</ns1:t>
            </ns1:r>
          </ns1:p>
          <ns1:p>
            <ns1:r>
              <ns1:t>              0,</ns1:t>
            </ns1:r>
          </ns1:p>
          <ns1:p>
            <ns1:r>
              <ns1:t>              -375.1807890577328,</ns1:t>
            </ns1:r>
          </ns1:p>
          <ns1:p>
            <ns1:r>
              <ns1:t>              -5.002128421134614,</ns1:t>
            </ns1:r>
          </ns1:p>
          <ns1:p>
            <ns1:r>
              <ns1:t>              17.833570216119554,</ns1:t>
            </ns1:r>
          </ns1:p>
          <ns1:p>
            <ns1:r>
              <ns1:t>              -17.175677811680774,</ns1:t>
            </ns1:r>
          </ns1:p>
          <ns1:p>
            <ns1:r>
              <ns1:t>              309.8794116896058,</ns1:t>
            </ns1:r>
          </ns1:p>
          <ns1:p>
            <ns1:r>
              <ns1:t>              440.4821664258598,</ns1:t>
            </ns1:r>
          </ns1:p>
          <ns1:p>
            <ns1:r>
              <ns1:t>              -20</ns1:t>
            </ns1:r>
          </ns1:p>
          <ns1:p>
            <ns1:r>
              <ns1:t>            ],</ns1:t>
            </ns1:r>
          </ns1:p>
          <ns1:p>
            <ns1:r>
              <ns1:t>            "world_height_A": 132.30899150873904,</ns1:t>
            </ns1:r>
          </ns1:p>
          <ns1:p>
            <ns1:r>
              <ns1:t>            "row_bounds_all_atoms_A": [</ns1:t>
            </ns1:r>
          </ns1:p>
          <ns1:p>
            <ns1:r>
              <ns1:t>              [</ns1:t>
            </ns1:r>
          </ns1:p>
          <ns1:p>
            <ns1:r>
              <ns1:t>                -43.157771701907166,</ns1:t>
            </ns1:r>
          </ns1:p>
          <ns1:p>
            <ns1:r>
              <ns1:t>                -41.320925538249966,</ns1:t>
            </ns1:r>
          </ns1:p>
          <ns1:p>
            <ns1:r>
              <ns1:t>                -67.47705517980779</ns1:t>
            </ns1:r>
          </ns1:p>
          <ns1:p>
            <ns1:r>
              <ns1:t>              ],</ns1:t>
            </ns1:r>
          </ns1:p>
          <ns1:p>
            <ns1:r>
              <ns1:t>              [</ns1:t>
            </ns1:r>
          </ns1:p>
          <ns1:p>
            <ns1:r>
              <ns1:t>                33.15351485963794,</ns1:t>
            </ns1:r>
          </ns1:p>
          <ns1:p>
            <ns1:r>
              <ns1:t>                76.98806597048907,</ns1:t>
            </ns1:r>
          </ns1:p>
          <ns1:p>
            <ns1:r>
              <ns1:t>                33.12569955644624</ns1:t>
            </ns1:r>
          </ns1:p>
          <ns1:p>
            <ns1:r>
              <ns1:t>              ]</ns1:t>
            </ns1:r>
          </ns1:p>
          <ns1:p>
            <ns1:r>
              <ns1:t>            ]</ns1:t>
            </ns1:r>
          </ns1:p>
          <ns1:p>
            <ns1:r>
              <ns1:t>          }</ns1:t>
            </ns1:r>
          </ns1:p>
          <ns1:p>
            <ns1:r>
              <ns1:t>        },</ns1:t>
            </ns1:r>
          </ns1:p>
          <ns1:p>
            <ns1:r>
              <ns1:t>        "shared_camera": [</ns1:t>
            </ns1:r>
          </ns1:p>
          <ns1:p>
            <ns1:r>
              <ns1:t>          1,</ns1:t>
            </ns1:r>
          </ns1:p>
          <ns1:p>
            <ns1:r>
              <ns1:t>          0,</ns1:t>
            </ns1:r>
          </ns1:p>
          <ns1:p>
            <ns1:r>
              <ns1:t>          0,</ns1:t>
            </ns1:r>
          </ns1:p>
          <ns1:p>
            <ns1:r>
              <ns1:t>          0,</ns1:t>
            </ns1:r>
          </ns1:p>
          <ns1:p>
            <ns1:r>
              <ns1:t>          1,</ns1:t>
            </ns1:r>
          </ns1:p>
          <ns1:p>
            <ns1:r>
              <ns1:t>          0,</ns1:t>
            </ns1:r>
          </ns1:p>
          <ns1:p>
            <ns1:r>
              <ns1:t>          0,</ns1:t>
            </ns1:r>
          </ns1:p>
          <ns1:p>
            <ns1:r>
              <ns1:t>          0,</ns1:t>
            </ns1:r>
          </ns1:p>
          <ns1:p>
            <ns1:r>
              <ns1:t>          1,</ns1:t>
            </ns1:r>
          </ns1:p>
          <ns1:p>
            <ns1:r>
              <ns1:t>          0,</ns1:t>
            </ns1:r>
          </ns1:p>
          <ns1:p>
            <ns1:r>
              <ns1:t>          0,</ns1:t>
            </ns1:r>
          </ns1:p>
          <ns1:p>
            <ns1:r>
              <ns1:t>          -375.1807890577328,</ns1:t>
            </ns1:r>
          </ns1:p>
          <ns1:p>
            <ns1:r>
              <ns1:t>          -5.002128421134614,</ns1:t>
            </ns1:r>
          </ns1:p>
          <ns1:p>
            <ns1:r>
              <ns1:t>          17.833570216119554,</ns1:t>
            </ns1:r>
          </ns1:p>
          <ns1:p>
            <ns1:r>
              <ns1:t>          -17.175677811680774,</ns1:t>
            </ns1:r>
          </ns1:p>
          <ns1:p>
            <ns1:r>
              <ns1:t>          309.8794116896058,</ns1:t>
            </ns1:r>
          </ns1:p>
          <ns1:p>
            <ns1:r>
              <ns1:t>          440.4821664258598,</ns1:t>
            </ns1:r>
          </ns1:p>
          <ns1:p>
            <ns1:r>
              <ns1:t>          -20</ns1:t>
            </ns1:r>
          </ns1:p>
          <ns1:p>
            <ns1:r>
              <ns1:t>        ],</ns1:t>
            </ns1:r>
          </ns1:p>
          <ns1:p>
            <ns1:r>
              <ns1:t>        "reference": "Separate saved Exact parent complexes flank the linked Exact refold; AP Novo linked design comparison remains on the following slide. Rigid display alignment preserves native poses; all native receptor residues shown."</ns1:t>
            </ns1:r>
          </ns1:p>
          <ns1:p>
            <ns1:r>
              <ns1:t>      }</ns1:t>
            </ns1:r>
          </ns1:p>
          <ns1:p>
            <ns1:r>
              <ns1:t>    },</ns1:t>
            </ns1:r>
          </ns1:p>
          <ns1:p>
            <ns1:r>
              <ns1:t>    "display": "unchanged embedded JPEGs extracted from hash-verified delivered25-design PPTX; no resampling, cropping or new coordinate transforms",</ns1:t>
            </ns1:r>
          </ns1:p>
          <ns1:p>
            <ns1:r>
              <ns1:t>    "scale": "full complex and interface have different zooms; no matched-scale claim",</ns1:t>
            </ns1:r>
          </ns1:p>
          <ns1:p>
            <ns1:r>
              <ns1:t>    "hotspots": "black sticks; original27pocket positions for original LigandForge, R40/Q37/E34 annotations for DLD",</ns1:t>
            </ns1:r>
          </ns1:p>
          <ns1:p>
            <ns1:r>
              <ns1:t>    "colors": {</ns1:t>
            </ns1:r>
          </ns1:p>
          <ns1:p>
            <ns1:r>
              <ns1:t>      "LigandForge": "#E69F00",</ns1:t>
            </ns1:r>
          </ns1:p>
          <ns1:p>
            <ns1:r>
              <ns1:t>      "linker": "#AA4499",</ns1:t>
            </ns1:r>
          </ns1:p>
          <ns1:p>
            <ns1:r>
              <ns1:t>      "ECD_binder": "#0072B2",</ns1:t>
            </ns1:r>
          </ns1:p>
          <ns1:p>
            <ns1:r>
              <ns1:t>      "receptor_ECD": "#009E73",</ns1:t>
            </ns1:r>
          </ns1:p>
          <ns1:p>
            <ns1:r>
              <ns1:t>      "receptor_remainder": "#9AA5B1",</ns1:t>
            </ns1:r>
          </ns1:p>
          <ns1:p>
            <ns1:r>
              <ns1:t>      "hotspots": "#000000"</ns1:t>
            </ns1:r>
          </ns1:p>
          <ns1:p>
            <ns1:r>
              <ns1:t>    }</ns1:t>
            </ns1:r>
          </ns1:p>
          <ns1:p>
            <ns1:r>
              <ns1:t>  },</ns1:t>
            </ns1:r>
          </ns1:p>
          <ns1:p>
            <ns1:r>
              <ns1:t>  "source_deck": "local/2026-10-25_affinity-confidence-selection-deck_002/output/GLP1R_Selected_ipSAE_gt0p895_Kd_lt10nM_v3.pptx",</ns1:t>
            </ns1:r>
          </ns1:p>
          <ns1:p>
            <ns1:r>
              <ns1:t>  "source_deck_sha256": "ad9333fdf6c0ce7d6982e2980d6aade78af256710dbc7917f7f39e41d35aa173",</ns1:t>
            </ns1:r>
          </ns1:p>
          <ns1:p>
            <ns1:r>
              <ns1:t>  "domain_labels": "ECD A1-39  linker A40-65  LF A66-130",</ns1:t>
            </ns1:r>
          </ns1:p>
          <ns1:p>
            <ns1:r>
              <ns1:t>  "display_scope": "native Exact complex and saved interface view; same identity colors, independent zooms; no new coordinates or inferred agonism"</ns1:t>
            </ns1:r>
          </ns1:p>
          <ns1:p>
            <ns1:r>
              <ns1:t>}</ns1:t>
            </ns1:r>
          </ns1:p>
        </ns0:txBody>
      </ns0:sp>
      <ns0:sp>
        <ns0:nvSpPr>
          <ns0:cNvPr id="4" name="Slide Number Placeholder 3"/>
          <ns0:cNvSpPr>
            <ns1:spLocks noGrp="1"/>
          </ns0:cNvSpPr>
          <ns0:nvPr>
            <ns0:ph type="sldNum" idx="5"/>
          </ns0:nvPr>
        </ns0:nvSpPr>
        <ns0:spPr/>
        <ns0:txBody>
          <ns1:bodyPr/>
          <ns1:lstStyle/>
          <ns1:p/>
        </ns0:txBody>
      </ns0:sp>
    </ns0:spTree>
  </ns0:cSld>
  <ns0:clrMapOvr>
    <ns1:masterClrMapping/>
  </ns0:clrMapOvr>
</ns0:notes>
</file>

<file path=ppt/notesSlides/notesSlide35.xml><?xml version="1.0" encoding="utf-8"?>
<ns0:notes xmlns:ns0="http://schemas.openxmlformats.org/presentationml/2006/main" xmlns:ns1="http://schemas.openxmlformats.org/drawingml/2006/main">
  <ns0:cSld>
    <ns0:spTree>
      <ns0:nvGrpSpPr>
        <ns0:cNvPr id="1" name=""/>
        <ns0:cNvGrpSpPr/>
        <ns0:nvPr/>
      </ns0:nvGrpSpPr>
      <ns0:grpSpPr>
        <ns1:xfrm/>
      </ns0:grpSpPr>
      <ns0:sp>
        <ns0:nvSpPr>
          <ns0:cNvPr id="2" name="Slide Image Placeholder 1"/>
          <ns0:cNvSpPr>
            <ns1:spLocks noGrp="1"/>
          </ns0:cNvSpPr>
          <ns0:nvPr>
            <ns0:ph type="sldImg" idx="0"/>
          </ns0:nvPr>
        </ns0:nvSpPr>
        <ns0:spPr/>
      </ns0:sp>
      <ns0:sp>
        <ns0:nvSpPr>
          <ns0:cNvPr id="3" name="Notes Placeholder 2"/>
          <ns0:cNvSpPr>
            <ns1:spLocks noGrp="1"/>
          </ns0:cNvSpPr>
          <ns0:nvPr>
            <ns0:ph type="body" idx="1"/>
          </ns0:nvPr>
        </ns0:nvSpPr>
        <ns0:spPr/>
        <ns0:txBody>
          <ns1:bodyPr/>
          <ns1:lstStyle/>
          <ns1:p>
            <ns1:r>
              <ns1:t>{</ns1:t>
            </ns1:r>
          </ns1:p>
          <ns1:p>
            <ns1:r>
              <ns1:t>  "candidate": "Design_787",</ns1:t>
            </ns1:r>
          </ns1:p>
          <ns1:p>
            <ns1:r>
              <ns1:t>  "final_rank": 18,</ns1:t>
            </ns1:r>
          </ns1:p>
          <ns1:p>
            <ns1:r>
              <ns1:t>  "selection": "Exact ipSAE&gt;0.895 and DeltaForge predicted Kd&lt;10nM; first20 by Exact ipSAE descending",</ns1:t>
            </ns1:r>
          </ns1:p>
          <ns1:p>
            <ns1:r>
              <ns1:t>  "sequence_sha256": "e11fb509424a5ca3dd92ee2cacc0e8ae58c837c5042c87262252daca0a0735e6",</ns1:t>
            </ns1:r>
          </ns1:p>
          <ns1:p>
            <ns1:r>
              <ns1:t>  "sources": {</ns1:t>
            </ns1:r>
          </ns1:p>
          <ns1:p>
            <ns1:r>
              <ns1:t>    "source_table": {</ns1:t>
            </ns1:r>
          </ns1:p>
          <ns1:p>
            <ns1:r>
              <ns1:t>      "path": "local/2026-10-25_lf50-dld26-50-deltaforge_001/output/GLP1R_LigandForge_Original_Top50_DeltaForge_Kd.csv",</ns1:t>
            </ns1:r>
          </ns1:p>
          <ns1:p>
            <ns1:r>
              <ns1:t>      "sha256": "da4de8915b1ca76443882c0651920ddd9551839d0d75a5b18b8b1ff4653b0360"</ns1:t>
            </ns1:r>
          </ns1:p>
          <ns1:p>
            <ns1:r>
              <ns1:t>    },</ns1:t>
            </ns1:r>
          </ns1:p>
          <ns1:p>
            <ns1:r>
              <ns1:t>    "native_cif": {</ns1:t>
            </ns1:r>
          </ns1:p>
          <ns1:p>
            <ns1:r>
              <ns1:t>      "path": "campaigns/glp1r-ligandforge-boltz2-exact/runs/2026-10-15_ligandforge-exact_001/02_design/chunks/batch-031/kit_outputs/by_seed/Design_787/s101/Design_787_model_0.cif",</ns1:t>
            </ns1:r>
          </ns1:p>
          <ns1:p>
            <ns1:r>
              <ns1:t>      "sha256": "816d2168df76e72a1b6331b8b6977e40dd10424e3a8b21e45874bfac455c907e"</ns1:t>
            </ns1:r>
          </ns1:p>
          <ns1:p>
            <ns1:r>
              <ns1:t>    },</ns1:t>
            </ns1:r>
          </ns1:p>
          <ns1:p>
            <ns1:r>
              <ns1:t>    "scoring_pdb": {</ns1:t>
            </ns1:r>
          </ns1:p>
          <ns1:p>
            <ns1:r>
              <ns1:t>      "path": "local/2026-10-25_lf50-dld26-50-deltaforge_001/LF_Design_787.pdb",</ns1:t>
            </ns1:r>
          </ns1:p>
          <ns1:p>
            <ns1:r>
              <ns1:t>      "sha256": "18a8ac6f85f1f1a8b05eb12e1356eed1050e50ec10b8a5d10afb50b4c04c0b3d"</ns1:t>
            </ns1:r>
          </ns1:p>
          <ns1:p>
            <ns1:r>
              <ns1:t>    },</ns1:t>
            </ns1:r>
          </ns1:p>
          <ns1:p>
            <ns1:r>
              <ns1:t>    "DeltaForge_result": {</ns1:t>
            </ns1:r>
          </ns1:p>
          <ns1:p>
            <ns1:r>
              <ns1:t>      "path": "campaigns/glp1r-r40-design/runs/2026-10-25_lf50-dld26-50-deltaforge_001/03_filtering/deltaforge_results/LF_Design_787.json",</ns1:t>
            </ns1:r>
          </ns1:p>
          <ns1:p>
            <ns1:r>
              <ns1:t>      "sha256": "89429dc7ef5108a67902a75255a505b600a3953cca075b5f2321c19f0d40605d"</ns1:t>
            </ns1:r>
          </ns1:p>
          <ns1:p>
            <ns1:r>
              <ns1:t>    }</ns1:t>
            </ns1:r>
          </ns1:p>
          <ns1:p>
            <ns1:r>
              <ns1:t>  },</ns1:t>
            </ns1:r>
          </ns1:p>
          <ns1:p>
            <ns1:r>
              <ns1:t>  "source_ledger": "campaigns/glp1r-final-writeup/runs/2026-10-25_final20-writeup_001/04_analysis/provenance-ledger.json",</ns1:t>
            </ns1:r>
          </ns1:p>
          <ns1:p>
            <ns1:r>
              <ns1:t>  "scorer": "deltaforge_v10_2_unified_parallel / v10_2_unified_parallel_2026_05_08",</ns1:t>
            </ns1:r>
          </ns1:p>
          <ns1:p>
            <ns1:r>
              <ns1:t>  "calibration": "deltaforge_v10_boltz2_calibrated_gbr / v10_boltz2_gbr_2026_03_29",</ns1:t>
            </ns1:r>
          </ns1:p>
          <ns1:p>
            <ns1:r>
              <ns1:t>  "scope": "one complete candidate A against one receptor B; computational, no experimental Kd or activation"</ns1:t>
            </ns1:r>
          </ns1:p>
          <ns1:p>
            <ns1:r>
              <ns1:t>}</ns1:t>
            </ns1:r>
          </ns1:p>
        </ns0:txBody>
      </ns0:sp>
      <ns0:sp>
        <ns0:nvSpPr>
          <ns0:cNvPr id="4" name="Slide Number Placeholder 3"/>
          <ns0:cNvSpPr>
            <ns1:spLocks noGrp="1"/>
          </ns0:cNvSpPr>
          <ns0:nvPr>
            <ns0:ph type="sldNum" idx="5"/>
          </ns0:nvPr>
        </ns0:nvSpPr>
        <ns0:spPr/>
        <ns0:txBody>
          <ns1:bodyPr/>
          <ns1:lstStyle/>
          <ns1:p/>
        </ns0:txBody>
      </ns0:sp>
    </ns0:spTree>
  </ns0:cSld>
  <ns0:clrMapOvr>
    <ns1:masterClrMapping/>
  </ns0:clrMapOvr>
</ns0:notes>
</file>

<file path=ppt/notesSlides/notesSlide36.xml><?xml version="1.0" encoding="utf-8"?>
<ns0:notes xmlns:ns0="http://schemas.openxmlformats.org/presentationml/2006/main" xmlns:ns1="http://schemas.openxmlformats.org/drawingml/2006/main">
  <ns0:cSld>
    <ns0:spTree>
      <ns0:nvGrpSpPr>
        <ns0:cNvPr id="1" name=""/>
        <ns0:cNvGrpSpPr/>
        <ns0:nvPr/>
      </ns0:nvGrpSpPr>
      <ns0:grpSpPr>
        <ns1:xfrm/>
      </ns0:grpSpPr>
      <ns0:sp>
        <ns0:nvSpPr>
          <ns0:cNvPr id="2" name="Slide Image Placeholder 1"/>
          <ns0:cNvSpPr>
            <ns1:spLocks noGrp="1"/>
          </ns0:cNvSpPr>
          <ns0:nvPr>
            <ns0:ph type="sldImg" idx="0"/>
          </ns0:nvPr>
        </ns0:nvSpPr>
        <ns0:spPr/>
      </ns0:sp>
      <ns0:sp>
        <ns0:nvSpPr>
          <ns0:cNvPr id="3" name="Notes Placeholder 2"/>
          <ns0:cNvSpPr>
            <ns1:spLocks noGrp="1"/>
          </ns0:cNvSpPr>
          <ns0:nvPr>
            <ns0:ph type="body" idx="1"/>
          </ns0:nvPr>
        </ns0:nvSpPr>
        <ns0:spPr/>
        <ns0:txBody>
          <ns1:bodyPr/>
          <ns1:lstStyle/>
          <ns1:p>
            <ns1:r>
              <ns1:t>{</ns1:t>
            </ns1:r>
          </ns1:p>
          <ns1:p>
            <ns1:r>
              <ns1:t>  "candidate": "Design_787",</ns1:t>
            </ns1:r>
          </ns1:p>
          <ns1:p>
            <ns1:r>
              <ns1:t>  "final_rank": 18,</ns1:t>
            </ns1:r>
          </ns1:p>
          <ns1:p>
            <ns1:r>
              <ns1:t>  "native_model_sha256": "816d2168df76e72a1b6331b8b6977e40dd10424e3a8b21e45874bfac455c907e",</ns1:t>
            </ns1:r>
          </ns1:p>
          <ns1:p>
            <ns1:r>
              <ns1:t>  "structure_views": {</ns1:t>
            </ns1:r>
          </ns1:p>
          <ns1:p>
            <ns1:r>
              <ns1:t>    "final_rank": 18,</ns1:t>
            </ns1:r>
          </ns1:p>
          <ns1:p>
            <ns1:r>
              <ns1:t>    "design_id": "Design_787",</ns1:t>
            </ns1:r>
          </ns1:p>
          <ns1:p>
            <ns1:r>
              <ns1:t>    "sequence_sha256": "e11fb509424a5ca3dd92ee2cacc0e8ae58c837c5042c87262252daca0a0735e6",</ns1:t>
            </ns1:r>
          </ns1:p>
          <ns1:p>
            <ns1:r>
              <ns1:t>    "native_model_sha256": "816d2168df76e72a1b6331b8b6977e40dd10424e3a8b21e45874bfac455c907e",</ns1:t>
            </ns1:r>
          </ns1:p>
          <ns1:p>
            <ns1:r>
              <ns1:t>    "scoring_pdb_sha256": "18a8ac6f85f1f1a8b05eb12e1356eed1050e50ec10b8a5d10afb50b4c04c0b3d",</ns1:t>
            </ns1:r>
          </ns1:p>
          <ns1:p>
            <ns1:r>
              <ns1:t>    "overview": {</ns1:t>
            </ns1:r>
          </ns1:p>
          <ns1:p>
            <ns1:r>
              <ns1:t>      "source_slide": 13,</ns1:t>
            </ns1:r>
          </ns1:p>
          <ns1:p>
            <ns1:r>
              <ns1:t>      "source_picture_index": 0,</ns1:t>
            </ns1:r>
          </ns1:p>
          <ns1:p>
            <ns1:r>
              <ns1:t>      "embedded_media": "ppt/media/image9.jpeg",</ns1:t>
            </ns1:r>
          </ns1:p>
          <ns1:p>
            <ns1:r>
              <ns1:t>      "image_sha256": "668d030a4f77dfbc2c880a17bb8bff410c274af3ea7d30de16834dc7782dc49e",</ns1:t>
            </ns1:r>
          </ns1:p>
          <ns1:p>
            <ns1:r>
              <ns1:t>      "asset": "assets/Design_787-complex.jpg"</ns1:t>
            </ns1:r>
          </ns1:p>
          <ns1:p>
            <ns1:r>
              <ns1:t>    },</ns1:t>
            </ns1:r>
          </ns1:p>
          <ns1:p>
            <ns1:r>
              <ns1:t>    "interface": {</ns1:t>
            </ns1:r>
          </ns1:p>
          <ns1:p>
            <ns1:r>
              <ns1:t>      "source_slide": 13,</ns1:t>
            </ns1:r>
          </ns1:p>
          <ns1:p>
            <ns1:r>
              <ns1:t>      "source_picture_index": 1,</ns1:t>
            </ns1:r>
          </ns1:p>
          <ns1:p>
            <ns1:r>
              <ns1:t>      "embedded_media": "ppt/media/image10.jpeg",</ns1:t>
            </ns1:r>
          </ns1:p>
          <ns1:p>
            <ns1:r>
              <ns1:t>      "image_sha256": "be02593da32e79c3a9144e08f07a2eb135c9b029d971ee2db3674176a4d94caf",</ns1:t>
            </ns1:r>
          </ns1:p>
          <ns1:p>
            <ns1:r>
              <ns1:t>      "asset": "assets/Design_787-interface.jpg"</ns1:t>
            </ns1:r>
          </ns1:p>
          <ns1:p>
            <ns1:r>
              <ns1:t>    },</ns1:t>
            </ns1:r>
          </ns1:p>
          <ns1:p>
            <ns1:r>
              <ns1:t>    "rendering_provenance": {</ns1:t>
            </ns1:r>
          </ns1:p>
          <ns1:p>
            <ns1:r>
              <ns1:t>      "source_PDB": "campaigns/glp1r-ligandforge-affinity/runs/2026-10-15_top100-affinity_001/01_staging/payload/pdb_inputs/Design_787.pdb",</ns1:t>
            </ns1:r>
          </ns1:p>
          <ns1:p>
            <ns1:r>
              <ns1:t>      "PDB_SHA256": "18a8ac6f85f1f1a8b05eb12e1356eed1050e50ec10b8a5d10afb50b4c04c0b3d",</ns1:t>
            </ns1:r>
          </ns1:p>
          <ns1:p>
            <ns1:r>
              <ns1:t>      "model_SHA256": "816d2168df76e72a1b6331b8b6977e40dd10424e3a8b21e45874bfac455c907e",</ns1:t>
            </ns1:r>
          </ns1:p>
          <ns1:p>
            <ns1:r>
              <ns1:t>      "source_render_script": "local/2026-10-25_affinity-confidence-selection-deck_002/render_originals.py",</ns1:t>
            </ns1:r>
          </ns1:p>
          <ns1:p>
            <ns1:r>
              <ns1:t>      "alignment": "rigid core CA B117-400 fitting; original full/interface zooms reused",</ns1:t>
            </ns1:r>
          </ns1:p>
          <ns1:p>
            <ns1:r>
              <ns1:t>      "camera_version": "saved original full and interface frames from final90-slide deck"</ns1:t>
            </ns1:r>
          </ns1:p>
          <ns1:p>
            <ns1:r>
              <ns1:t>    },</ns1:t>
            </ns1:r>
          </ns1:p>
          <ns1:p>
            <ns1:r>
              <ns1:t>    "display": "unchanged embedded JPEGs extracted from hash-verified delivered25-design PPTX; no resampling, cropping or new coordinate transforms",</ns1:t>
            </ns1:r>
          </ns1:p>
          <ns1:p>
            <ns1:r>
              <ns1:t>    "scale": "full complex and interface have different zooms; no matched-scale claim",</ns1:t>
            </ns1:r>
          </ns1:p>
          <ns1:p>
            <ns1:r>
              <ns1:t>    "hotspots": "black sticks; original27pocket positions for original LigandForge, R40/Q37/E34 annotations for DLD",</ns1:t>
            </ns1:r>
          </ns1:p>
          <ns1:p>
            <ns1:r>
              <ns1:t>    "colors": {</ns1:t>
            </ns1:r>
          </ns1:p>
          <ns1:p>
            <ns1:r>
              <ns1:t>      "LigandForge": "#E69F00",</ns1:t>
            </ns1:r>
          </ns1:p>
          <ns1:p>
            <ns1:r>
              <ns1:t>      "linker": "#AA4499",</ns1:t>
            </ns1:r>
          </ns1:p>
          <ns1:p>
            <ns1:r>
              <ns1:t>      "ECD_binder": "#0072B2",</ns1:t>
            </ns1:r>
          </ns1:p>
          <ns1:p>
            <ns1:r>
              <ns1:t>      "receptor_ECD": "#009E73",</ns1:t>
            </ns1:r>
          </ns1:p>
          <ns1:p>
            <ns1:r>
              <ns1:t>      "receptor_remainder": "#9AA5B1",</ns1:t>
            </ns1:r>
          </ns1:p>
          <ns1:p>
            <ns1:r>
              <ns1:t>      "hotspots": "#000000"</ns1:t>
            </ns1:r>
          </ns1:p>
          <ns1:p>
            <ns1:r>
              <ns1:t>    }</ns1:t>
            </ns1:r>
          </ns1:p>
          <ns1:p>
            <ns1:r>
              <ns1:t>  },</ns1:t>
            </ns1:r>
          </ns1:p>
          <ns1:p>
            <ns1:r>
              <ns1:t>  "source_deck": "local/2026-10-25_affinity-confidence-selection-deck_002/output/GLP1R_Selected_ipSAE_gt0p895_Kd_lt10nM_v3.pptx",</ns1:t>
            </ns1:r>
          </ns1:p>
          <ns1:p>
            <ns1:r>
              <ns1:t>  "source_deck_sha256": "ad9333fdf6c0ce7d6982e2980d6aade78af256710dbc7917f7f39e41d35aa173",</ns1:t>
            </ns1:r>
          </ns1:p>
          <ns1:p>
            <ns1:r>
              <ns1:t>  "domain_labels": "LigandForge A1-49",</ns1:t>
            </ns1:r>
          </ns1:p>
          <ns1:p>
            <ns1:r>
              <ns1:t>  "display_scope": "native Exact complex and saved interface view; same identity colors, independent zooms; no new coordinates or inferred agonism"</ns1:t>
            </ns1:r>
          </ns1:p>
          <ns1:p>
            <ns1:r>
              <ns1:t>}</ns1:t>
            </ns1:r>
          </ns1:p>
        </ns0:txBody>
      </ns0:sp>
      <ns0:sp>
        <ns0:nvSpPr>
          <ns0:cNvPr id="4" name="Slide Number Placeholder 3"/>
          <ns0:cNvSpPr>
            <ns1:spLocks noGrp="1"/>
          </ns0:cNvSpPr>
          <ns0:nvPr>
            <ns0:ph type="sldNum" idx="5"/>
          </ns0:nvPr>
        </ns0:nvSpPr>
        <ns0:spPr/>
        <ns0:txBody>
          <ns1:bodyPr/>
          <ns1:lstStyle/>
          <ns1:p/>
        </ns0:txBody>
      </ns0:sp>
    </ns0:spTree>
  </ns0:cSld>
  <ns0:clrMapOvr>
    <ns1:masterClrMapping/>
  </ns0:clrMapOvr>
</ns0:notes>
</file>

<file path=ppt/notesSlides/notesSlide37.xml><?xml version="1.0" encoding="utf-8"?>
<ns0:notes xmlns:ns0="http://schemas.openxmlformats.org/presentationml/2006/main" xmlns:ns1="http://schemas.openxmlformats.org/drawingml/2006/main">
  <ns0:cSld>
    <ns0:spTree>
      <ns0:nvGrpSpPr>
        <ns0:cNvPr id="1" name=""/>
        <ns0:cNvGrpSpPr/>
        <ns0:nvPr/>
      </ns0:nvGrpSpPr>
      <ns0:grpSpPr>
        <ns1:xfrm/>
      </ns0:grpSpPr>
      <ns0:sp>
        <ns0:nvSpPr>
          <ns0:cNvPr id="2" name="Slide Image Placeholder 1"/>
          <ns0:cNvSpPr>
            <ns1:spLocks noGrp="1"/>
          </ns0:cNvSpPr>
          <ns0:nvPr>
            <ns0:ph type="sldImg" idx="0"/>
          </ns0:nvPr>
        </ns0:nvSpPr>
        <ns0:spPr/>
      </ns0:sp>
      <ns0:sp>
        <ns0:nvSpPr>
          <ns0:cNvPr id="3" name="Notes Placeholder 2"/>
          <ns0:cNvSpPr>
            <ns1:spLocks noGrp="1"/>
          </ns0:cNvSpPr>
          <ns0:nvPr>
            <ns0:ph type="body" idx="1"/>
          </ns0:nvPr>
        </ns0:nvSpPr>
        <ns0:spPr/>
        <ns0:txBody>
          <ns1:bodyPr/>
          <ns1:lstStyle/>
          <ns1:p>
            <ns1:r>
              <ns1:t>{</ns1:t>
            </ns1:r>
          </ns1:p>
          <ns1:p>
            <ns1:r>
              <ns1:t>  "candidate": "Design_15",</ns1:t>
            </ns1:r>
          </ns1:p>
          <ns1:p>
            <ns1:r>
              <ns1:t>  "final_rank": 19,</ns1:t>
            </ns1:r>
          </ns1:p>
          <ns1:p>
            <ns1:r>
              <ns1:t>  "selection": "Exact ipSAE&gt;0.895 and DeltaForge predicted Kd&lt;10nM; first20 by Exact ipSAE descending",</ns1:t>
            </ns1:r>
          </ns1:p>
          <ns1:p>
            <ns1:r>
              <ns1:t>  "sequence_sha256": "e7fac62187212f65b2a764763628350b1c757d258eb4147ac26ba5021bebe78e",</ns1:t>
            </ns1:r>
          </ns1:p>
          <ns1:p>
            <ns1:r>
              <ns1:t>  "sources": {</ns1:t>
            </ns1:r>
          </ns1:p>
          <ns1:p>
            <ns1:r>
              <ns1:t>    "source_table": {</ns1:t>
            </ns1:r>
          </ns1:p>
          <ns1:p>
            <ns1:r>
              <ns1:t>      "path": "local/2026-10-25_lf50-dld26-50-deltaforge_001/output/GLP1R_LigandForge_Original_Top50_DeltaForge_Kd.csv",</ns1:t>
            </ns1:r>
          </ns1:p>
          <ns1:p>
            <ns1:r>
              <ns1:t>      "sha256": "da4de8915b1ca76443882c0651920ddd9551839d0d75a5b18b8b1ff4653b0360"</ns1:t>
            </ns1:r>
          </ns1:p>
          <ns1:p>
            <ns1:r>
              <ns1:t>    },</ns1:t>
            </ns1:r>
          </ns1:p>
          <ns1:p>
            <ns1:r>
              <ns1:t>    "native_cif": {</ns1:t>
            </ns1:r>
          </ns1:p>
          <ns1:p>
            <ns1:r>
              <ns1:t>      "path": "campaigns/glp1r-ligandforge-boltz2-exact/runs/2026-10-15_ligandforge-exact_001/02_design/chunks/batch-000/kit_outputs/by_seed/Design_15/s101/Design_15_model_0.cif",</ns1:t>
            </ns1:r>
          </ns1:p>
          <ns1:p>
            <ns1:r>
              <ns1:t>      "sha256": "bcd1d04d8dee32c20c86771c363c15c14fdc4fb96e6e093c512124f54408a169"</ns1:t>
            </ns1:r>
          </ns1:p>
          <ns1:p>
            <ns1:r>
              <ns1:t>    },</ns1:t>
            </ns1:r>
          </ns1:p>
          <ns1:p>
            <ns1:r>
              <ns1:t>    "scoring_pdb": {</ns1:t>
            </ns1:r>
          </ns1:p>
          <ns1:p>
            <ns1:r>
              <ns1:t>      "path": "local/2026-10-25_lf50-dld26-50-deltaforge_001/LF_Design_15.pdb",</ns1:t>
            </ns1:r>
          </ns1:p>
          <ns1:p>
            <ns1:r>
              <ns1:t>      "sha256": "71fa77b7cdcd0a9762fb5d17a3502ae4c828c88fdf0e39cb6050f417908e3409"</ns1:t>
            </ns1:r>
          </ns1:p>
          <ns1:p>
            <ns1:r>
              <ns1:t>    },</ns1:t>
            </ns1:r>
          </ns1:p>
          <ns1:p>
            <ns1:r>
              <ns1:t>    "DeltaForge_result": {</ns1:t>
            </ns1:r>
          </ns1:p>
          <ns1:p>
            <ns1:r>
              <ns1:t>      "path": "campaigns/glp1r-r40-design/runs/2026-10-25_lf50-dld26-50-deltaforge_001/03_filtering/deltaforge_results/LF_Design_15.json",</ns1:t>
            </ns1:r>
          </ns1:p>
          <ns1:p>
            <ns1:r>
              <ns1:t>      "sha256": "7ed4e2cc425b7b1caa05f18d8db808e0c48025d679934871a845d9e338f7e80d"</ns1:t>
            </ns1:r>
          </ns1:p>
          <ns1:p>
            <ns1:r>
              <ns1:t>    }</ns1:t>
            </ns1:r>
          </ns1:p>
          <ns1:p>
            <ns1:r>
              <ns1:t>  },</ns1:t>
            </ns1:r>
          </ns1:p>
          <ns1:p>
            <ns1:r>
              <ns1:t>  "source_ledger": "campaigns/glp1r-final-writeup/runs/2026-10-25_final20-writeup_001/04_analysis/provenance-ledger.json",</ns1:t>
            </ns1:r>
          </ns1:p>
          <ns1:p>
            <ns1:r>
              <ns1:t>  "scorer": "deltaforge_v10_2_unified_parallel / v10_2_unified_parallel_2026_05_08",</ns1:t>
            </ns1:r>
          </ns1:p>
          <ns1:p>
            <ns1:r>
              <ns1:t>  "calibration": "deltaforge_v10_boltz2_calibrated_gbr / v10_boltz2_gbr_2026_03_29",</ns1:t>
            </ns1:r>
          </ns1:p>
          <ns1:p>
            <ns1:r>
              <ns1:t>  "scope": "one complete candidate A against one receptor B; computational, no experimental Kd or activation"</ns1:t>
            </ns1:r>
          </ns1:p>
          <ns1:p>
            <ns1:r>
              <ns1:t>}</ns1:t>
            </ns1:r>
          </ns1:p>
        </ns0:txBody>
      </ns0:sp>
      <ns0:sp>
        <ns0:nvSpPr>
          <ns0:cNvPr id="4" name="Slide Number Placeholder 3"/>
          <ns0:cNvSpPr>
            <ns1:spLocks noGrp="1"/>
          </ns0:cNvSpPr>
          <ns0:nvPr>
            <ns0:ph type="sldNum" idx="5"/>
          </ns0:nvPr>
        </ns0:nvSpPr>
        <ns0:spPr/>
        <ns0:txBody>
          <ns1:bodyPr/>
          <ns1:lstStyle/>
          <ns1:p/>
        </ns0:txBody>
      </ns0:sp>
    </ns0:spTree>
  </ns0:cSld>
  <ns0:clrMapOvr>
    <ns1:masterClrMapping/>
  </ns0:clrMapOvr>
</ns0:notes>
</file>

<file path=ppt/notesSlides/notesSlide38.xml><?xml version="1.0" encoding="utf-8"?>
<ns0:notes xmlns:ns0="http://schemas.openxmlformats.org/presentationml/2006/main" xmlns:ns1="http://schemas.openxmlformats.org/drawingml/2006/main">
  <ns0:cSld>
    <ns0:spTree>
      <ns0:nvGrpSpPr>
        <ns0:cNvPr id="1" name=""/>
        <ns0:cNvGrpSpPr/>
        <ns0:nvPr/>
      </ns0:nvGrpSpPr>
      <ns0:grpSpPr>
        <ns1:xfrm/>
      </ns0:grpSpPr>
      <ns0:sp>
        <ns0:nvSpPr>
          <ns0:cNvPr id="2" name="Slide Image Placeholder 1"/>
          <ns0:cNvSpPr>
            <ns1:spLocks noGrp="1"/>
          </ns0:cNvSpPr>
          <ns0:nvPr>
            <ns0:ph type="sldImg" idx="0"/>
          </ns0:nvPr>
        </ns0:nvSpPr>
        <ns0:spPr/>
      </ns0:sp>
      <ns0:sp>
        <ns0:nvSpPr>
          <ns0:cNvPr id="3" name="Notes Placeholder 2"/>
          <ns0:cNvSpPr>
            <ns1:spLocks noGrp="1"/>
          </ns0:cNvSpPr>
          <ns0:nvPr>
            <ns0:ph type="body" idx="1"/>
          </ns0:nvPr>
        </ns0:nvSpPr>
        <ns0:spPr/>
        <ns0:txBody>
          <ns1:bodyPr/>
          <ns1:lstStyle/>
          <ns1:p>
            <ns1:r>
              <ns1:t>{</ns1:t>
            </ns1:r>
          </ns1:p>
          <ns1:p>
            <ns1:r>
              <ns1:t>  "candidate": "Design_15",</ns1:t>
            </ns1:r>
          </ns1:p>
          <ns1:p>
            <ns1:r>
              <ns1:t>  "final_rank": 19,</ns1:t>
            </ns1:r>
          </ns1:p>
          <ns1:p>
            <ns1:r>
              <ns1:t>  "native_model_sha256": "bcd1d04d8dee32c20c86771c363c15c14fdc4fb96e6e093c512124f54408a169",</ns1:t>
            </ns1:r>
          </ns1:p>
          <ns1:p>
            <ns1:r>
              <ns1:t>  "structure_views": {</ns1:t>
            </ns1:r>
          </ns1:p>
          <ns1:p>
            <ns1:r>
              <ns1:t>    "final_rank": 19,</ns1:t>
            </ns1:r>
          </ns1:p>
          <ns1:p>
            <ns1:r>
              <ns1:t>    "design_id": "Design_15",</ns1:t>
            </ns1:r>
          </ns1:p>
          <ns1:p>
            <ns1:r>
              <ns1:t>    "sequence_sha256": "e7fac62187212f65b2a764763628350b1c757d258eb4147ac26ba5021bebe78e",</ns1:t>
            </ns1:r>
          </ns1:p>
          <ns1:p>
            <ns1:r>
              <ns1:t>    "native_model_sha256": "bcd1d04d8dee32c20c86771c363c15c14fdc4fb96e6e093c512124f54408a169",</ns1:t>
            </ns1:r>
          </ns1:p>
          <ns1:p>
            <ns1:r>
              <ns1:t>    "scoring_pdb_sha256": "71fa77b7cdcd0a9762fb5d17a3502ae4c828c88fdf0e39cb6050f417908e3409",</ns1:t>
            </ns1:r>
          </ns1:p>
          <ns1:p>
            <ns1:r>
              <ns1:t>    "overview": {</ns1:t>
            </ns1:r>
          </ns1:p>
          <ns1:p>
            <ns1:r>
              <ns1:t>      "source_slide": 15,</ns1:t>
            </ns1:r>
          </ns1:p>
          <ns1:p>
            <ns1:r>
              <ns1:t>      "source_picture_index": 0,</ns1:t>
            </ns1:r>
          </ns1:p>
          <ns1:p>
            <ns1:r>
              <ns1:t>      "embedded_media": "ppt/media/image11.jpeg",</ns1:t>
            </ns1:r>
          </ns1:p>
          <ns1:p>
            <ns1:r>
              <ns1:t>      "image_sha256": "49f1adfd8bf832e8f94f1fe1600fb84e181bb5846bedf44d500c77ad533ab7ee",</ns1:t>
            </ns1:r>
          </ns1:p>
          <ns1:p>
            <ns1:r>
              <ns1:t>      "asset": "assets/Design_15-complex.jpg"</ns1:t>
            </ns1:r>
          </ns1:p>
          <ns1:p>
            <ns1:r>
              <ns1:t>    },</ns1:t>
            </ns1:r>
          </ns1:p>
          <ns1:p>
            <ns1:r>
              <ns1:t>    "interface": {</ns1:t>
            </ns1:r>
          </ns1:p>
          <ns1:p>
            <ns1:r>
              <ns1:t>      "source_slide": 15,</ns1:t>
            </ns1:r>
          </ns1:p>
          <ns1:p>
            <ns1:r>
              <ns1:t>      "source_picture_index": 1,</ns1:t>
            </ns1:r>
          </ns1:p>
          <ns1:p>
            <ns1:r>
              <ns1:t>      "embedded_media": "ppt/media/image12.jpeg",</ns1:t>
            </ns1:r>
          </ns1:p>
          <ns1:p>
            <ns1:r>
              <ns1:t>      "image_sha256": "4d8ffcb63674af4bfdd4d8e96495d4fdcc231b4f6dc2bc46c609e711f45294e0",</ns1:t>
            </ns1:r>
          </ns1:p>
          <ns1:p>
            <ns1:r>
              <ns1:t>      "asset": "assets/Design_15-interface.jpg"</ns1:t>
            </ns1:r>
          </ns1:p>
          <ns1:p>
            <ns1:r>
              <ns1:t>    },</ns1:t>
            </ns1:r>
          </ns1:p>
          <ns1:p>
            <ns1:r>
              <ns1:t>    "rendering_provenance": {</ns1:t>
            </ns1:r>
          </ns1:p>
          <ns1:p>
            <ns1:r>
              <ns1:t>      "source_PDB": "campaigns/glp1r-ligandforge-affinity/runs/2026-10-15_top100-affinity_001/01_staging/payload/pdb_inputs/Design_15.pdb",</ns1:t>
            </ns1:r>
          </ns1:p>
          <ns1:p>
            <ns1:r>
              <ns1:t>      "PDB_SHA256": "71fa77b7cdcd0a9762fb5d17a3502ae4c828c88fdf0e39cb6050f417908e3409",</ns1:t>
            </ns1:r>
          </ns1:p>
          <ns1:p>
            <ns1:r>
              <ns1:t>      "model_SHA256": "bcd1d04d8dee32c20c86771c363c15c14fdc4fb96e6e093c512124f54408a169",</ns1:t>
            </ns1:r>
          </ns1:p>
          <ns1:p>
            <ns1:r>
              <ns1:t>      "source_render_script": "local/2026-10-25_affinity-confidence-selection-deck_002/render_originals.py",</ns1:t>
            </ns1:r>
          </ns1:p>
          <ns1:p>
            <ns1:r>
              <ns1:t>      "alignment": "rigid core CA B117-400 fitting; original full/interface zooms reused",</ns1:t>
            </ns1:r>
          </ns1:p>
          <ns1:p>
            <ns1:r>
              <ns1:t>      "camera_version": "saved original full and interface frames from final90-slide deck"</ns1:t>
            </ns1:r>
          </ns1:p>
          <ns1:p>
            <ns1:r>
              <ns1:t>    },</ns1:t>
            </ns1:r>
          </ns1:p>
          <ns1:p>
            <ns1:r>
              <ns1:t>    "display": "unchanged embedded JPEGs extracted from hash-verified delivered25-design PPTX; no resampling, cropping or new coordinate transforms",</ns1:t>
            </ns1:r>
          </ns1:p>
          <ns1:p>
            <ns1:r>
              <ns1:t>    "scale": "full complex and interface have different zooms; no matched-scale claim",</ns1:t>
            </ns1:r>
          </ns1:p>
          <ns1:p>
            <ns1:r>
              <ns1:t>    "hotspots": "black sticks; original27pocket positions for original LigandForge, R40/Q37/E34 annotations for DLD",</ns1:t>
            </ns1:r>
          </ns1:p>
          <ns1:p>
            <ns1:r>
              <ns1:t>    "colors": {</ns1:t>
            </ns1:r>
          </ns1:p>
          <ns1:p>
            <ns1:r>
              <ns1:t>      "LigandForge": "#E69F00",</ns1:t>
            </ns1:r>
          </ns1:p>
          <ns1:p>
            <ns1:r>
              <ns1:t>      "linker": "#AA4499",</ns1:t>
            </ns1:r>
          </ns1:p>
          <ns1:p>
            <ns1:r>
              <ns1:t>      "ECD_binder": "#0072B2",</ns1:t>
            </ns1:r>
          </ns1:p>
          <ns1:p>
            <ns1:r>
              <ns1:t>      "receptor_ECD": "#009E73",</ns1:t>
            </ns1:r>
          </ns1:p>
          <ns1:p>
            <ns1:r>
              <ns1:t>      "receptor_remainder": "#9AA5B1",</ns1:t>
            </ns1:r>
          </ns1:p>
          <ns1:p>
            <ns1:r>
              <ns1:t>      "hotspots": "#000000"</ns1:t>
            </ns1:r>
          </ns1:p>
          <ns1:p>
            <ns1:r>
              <ns1:t>    }</ns1:t>
            </ns1:r>
          </ns1:p>
          <ns1:p>
            <ns1:r>
              <ns1:t>  },</ns1:t>
            </ns1:r>
          </ns1:p>
          <ns1:p>
            <ns1:r>
              <ns1:t>  "source_deck": "local/2026-10-25_affinity-confidence-selection-deck_002/output/GLP1R_Selected_ipSAE_gt0p895_Kd_lt10nM_v3.pptx",</ns1:t>
            </ns1:r>
          </ns1:p>
          <ns1:p>
            <ns1:r>
              <ns1:t>  "source_deck_sha256": "ad9333fdf6c0ce7d6982e2980d6aade78af256710dbc7917f7f39e41d35aa173",</ns1:t>
            </ns1:r>
          </ns1:p>
          <ns1:p>
            <ns1:r>
              <ns1:t>  "domain_labels": "LigandForge A1-50",</ns1:t>
            </ns1:r>
          </ns1:p>
          <ns1:p>
            <ns1:r>
              <ns1:t>  "display_scope": "native Exact complex and saved interface view; same identity colors, independent zooms; no new coordinates or inferred agonism"</ns1:t>
            </ns1:r>
          </ns1:p>
          <ns1:p>
            <ns1:r>
              <ns1:t>}</ns1:t>
            </ns1:r>
          </ns1:p>
        </ns0:txBody>
      </ns0:sp>
      <ns0:sp>
        <ns0:nvSpPr>
          <ns0:cNvPr id="4" name="Slide Number Placeholder 3"/>
          <ns0:cNvSpPr>
            <ns1:spLocks noGrp="1"/>
          </ns0:cNvSpPr>
          <ns0:nvPr>
            <ns0:ph type="sldNum" idx="5"/>
          </ns0:nvPr>
        </ns0:nvSpPr>
        <ns0:spPr/>
        <ns0:txBody>
          <ns1:bodyPr/>
          <ns1:lstStyle/>
          <ns1:p/>
        </ns0:txBody>
      </ns0:sp>
    </ns0:spTree>
  </ns0:cSld>
  <ns0:clrMapOvr>
    <ns1:masterClrMapping/>
  </ns0:clrMapOvr>
</ns0:notes>
</file>

<file path=ppt/notesSlides/notesSlide39.xml><?xml version="1.0" encoding="utf-8"?>
<ns0:notes xmlns:ns0="http://schemas.openxmlformats.org/presentationml/2006/main" xmlns:ns1="http://schemas.openxmlformats.org/drawingml/2006/main">
  <ns0:cSld>
    <ns0:spTree>
      <ns0:nvGrpSpPr>
        <ns0:cNvPr id="1" name=""/>
        <ns0:cNvGrpSpPr/>
        <ns0:nvPr/>
      </ns0:nvGrpSpPr>
      <ns0:grpSpPr>
        <ns1:xfrm/>
      </ns0:grpSpPr>
      <ns0:sp>
        <ns0:nvSpPr>
          <ns0:cNvPr id="2" name="Slide Image Placeholder 1"/>
          <ns0:cNvSpPr>
            <ns1:spLocks noGrp="1"/>
          </ns0:cNvSpPr>
          <ns0:nvPr>
            <ns0:ph type="sldImg" idx="0"/>
          </ns0:nvPr>
        </ns0:nvSpPr>
        <ns0:spPr/>
      </ns0:sp>
      <ns0:sp>
        <ns0:nvSpPr>
          <ns0:cNvPr id="3" name="Notes Placeholder 2"/>
          <ns0:cNvSpPr>
            <ns1:spLocks noGrp="1"/>
          </ns0:cNvSpPr>
          <ns0:nvPr>
            <ns0:ph type="body" idx="1"/>
          </ns0:nvPr>
        </ns0:nvSpPr>
        <ns0:spPr/>
        <ns0:txBody>
          <ns1:bodyPr/>
          <ns1:lstStyle/>
          <ns1:p>
            <ns1:r>
              <ns1:t>{</ns1:t>
            </ns1:r>
          </ns1:p>
          <ns1:p>
            <ns1:r>
              <ns1:t>  "candidate": "LK_P093_03",</ns1:t>
            </ns1:r>
          </ns1:p>
          <ns1:p>
            <ns1:r>
              <ns1:t>  "final_rank": 20,</ns1:t>
            </ns1:r>
          </ns1:p>
          <ns1:p>
            <ns1:r>
              <ns1:t>  "selection": "Exact ipSAE&gt;0.895 and DeltaForge predicted Kd&lt;10nM; first20 by Exact ipSAE descending",</ns1:t>
            </ns1:r>
          </ns1:p>
          <ns1:p>
            <ns1:r>
              <ns1:t>  "sequence_sha256": "ddaad34132315edb9525884bb57cf70c07f16c0b611a51a9dea9902ffba6d6e1",</ns1:t>
            </ns1:r>
          </ns1:p>
          <ns1:p>
            <ns1:r>
              <ns1:t>  "sources": {</ns1:t>
            </ns1:r>
          </ns1:p>
          <ns1:p>
            <ns1:r>
              <ns1:t>    "source_table": {</ns1:t>
            </ns1:r>
          </ns1:p>
          <ns1:p>
            <ns1:r>
              <ns1:t>      "path": "local/2026-10-25_lf50-dld26-50-deltaforge_001/output/GLP1R_DLD_Top50_DeltaForge_Kd_and_Boltz2_Metrics.csv",</ns1:t>
            </ns1:r>
          </ns1:p>
          <ns1:p>
            <ns1:r>
              <ns1:t>      "sha256": "da9569bf0e8b74cce3d6792eb260d6a4b17b35e6f46e0793d49f02c0d3a0e728"</ns1:t>
            </ns1:r>
          </ns1:p>
          <ns1:p>
            <ns1:r>
              <ns1:t>    },</ns1:t>
            </ns1:r>
          </ns1:p>
          <ns1:p>
            <ns1:r>
              <ns1:t>    "native_cif": {</ns1:t>
            </ns1:r>
          </ns1:p>
          <ns1:p>
            <ns1:r>
              <ns1:t>      "path": "local/2026-10-25_linker-top100-review_001/models/LK_P093_03/boltz2.cif",</ns1:t>
            </ns1:r>
          </ns1:p>
          <ns1:p>
            <ns1:r>
              <ns1:t>      "sha256": "ff5831a2a7632820d3e465ce3445e724379a6db0ce217efbba99701e140f8de9"</ns1:t>
            </ns1:r>
          </ns1:p>
          <ns1:p>
            <ns1:r>
              <ns1:t>    },</ns1:t>
            </ns1:r>
          </ns1:p>
          <ns1:p>
            <ns1:r>
              <ns1:t>    "scoring_pdb": {</ns1:t>
            </ns1:r>
          </ns1:p>
          <ns1:p>
            <ns1:r>
              <ns1:t>      "path": "local/2026-10-25_dld-top25-deltaforge_001/payload/structures/LK_P093_03.pdb",</ns1:t>
            </ns1:r>
          </ns1:p>
          <ns1:p>
            <ns1:r>
              <ns1:t>      "sha256": "12df24d378b79870f19f5a6a3bb38a43b4e53f9fd9673d39f9430e91854160c5"</ns1:t>
            </ns1:r>
          </ns1:p>
          <ns1:p>
            <ns1:r>
              <ns1:t>    },</ns1:t>
            </ns1:r>
          </ns1:p>
          <ns1:p>
            <ns1:r>
              <ns1:t>    "DeltaForge_result": {</ns1:t>
            </ns1:r>
          </ns1:p>
          <ns1:p>
            <ns1:r>
              <ns1:t>      "path": "campaigns/glp1r-r40-design/runs/2026-10-25_dld-top25-deltaforge_001/03_filtering/deltaforge_results/LK_P093_03.json",</ns1:t>
            </ns1:r>
          </ns1:p>
          <ns1:p>
            <ns1:r>
              <ns1:t>      "sha256": "619d3310f0b051f66af2870afca14edc32fd10f02dc808ac6e943a406946c6c5"</ns1:t>
            </ns1:r>
          </ns1:p>
          <ns1:p>
            <ns1:r>
              <ns1:t>    }</ns1:t>
            </ns1:r>
          </ns1:p>
          <ns1:p>
            <ns1:r>
              <ns1:t>  },</ns1:t>
            </ns1:r>
          </ns1:p>
          <ns1:p>
            <ns1:r>
              <ns1:t>  "source_ledger": "campaigns/glp1r-final-writeup/runs/2026-10-25_final20-writeup_001/04_analysis/provenance-ledger.json",</ns1:t>
            </ns1:r>
          </ns1:p>
          <ns1:p>
            <ns1:r>
              <ns1:t>  "scorer": "deltaforge_v10_2_unified_parallel / v10_2_unified_parallel_2026_05_08",</ns1:t>
            </ns1:r>
          </ns1:p>
          <ns1:p>
            <ns1:r>
              <ns1:t>  "calibration": "deltaforge_v10_boltz2_calibrated_gbr / v10_boltz2_gbr_2026_03_29",</ns1:t>
            </ns1:r>
          </ns1:p>
          <ns1:p>
            <ns1:r>
              <ns1:t>  "scope": "one complete candidate A against one receptor B; computational, no experimental Kd or activation"</ns1:t>
            </ns1:r>
          </ns1:p>
          <ns1:p>
            <ns1:r>
              <ns1:t>}</ns1:t>
            </ns1:r>
          </ns1:p>
        </ns0:txBody>
      </ns0:sp>
      <ns0:sp>
        <ns0:nvSpPr>
          <ns0:cNvPr id="4" name="Slide Number Placeholder 3"/>
          <ns0:cNvSpPr>
            <ns1:spLocks noGrp="1"/>
          </ns0:cNvSpPr>
          <ns0:nvPr>
            <ns0:ph type="sldNum" idx="5"/>
          </ns0:nvPr>
        </ns0:nvSpPr>
        <ns0:spPr/>
        <ns0:txBody>
          <ns1:bodyPr/>
          <ns1:lstStyle/>
          <ns1:p/>
        </ns0:txBody>
      </ns0:sp>
    </ns0:spTree>
  </ns0:cSld>
  <ns0:clrMapOvr>
    <ns1:masterClrMapping/>
  </ns0:clrMapOvr>
</ns0:notes>
</file>

<file path=ppt/notesSlides/notesSlide40.xml><?xml version="1.0" encoding="utf-8"?>
<ns0:notes xmlns:ns0="http://schemas.openxmlformats.org/presentationml/2006/main" xmlns:ns1="http://schemas.openxmlformats.org/drawingml/2006/main">
  <ns0:cSld>
    <ns0:spTree>
      <ns0:nvGrpSpPr>
        <ns0:cNvPr id="1" name=""/>
        <ns0:cNvGrpSpPr/>
        <ns0:nvPr/>
      </ns0:nvGrpSpPr>
      <ns0:grpSpPr>
        <ns1:xfrm/>
      </ns0:grpSpPr>
      <ns0:sp>
        <ns0:nvSpPr>
          <ns0:cNvPr id="2" name="Slide Image Placeholder 1"/>
          <ns0:cNvSpPr>
            <ns1:spLocks noGrp="1"/>
          </ns0:cNvSpPr>
          <ns0:nvPr>
            <ns0:ph type="sldImg" idx="0"/>
          </ns0:nvPr>
        </ns0:nvSpPr>
        <ns0:spPr/>
      </ns0:sp>
      <ns0:sp>
        <ns0:nvSpPr>
          <ns0:cNvPr id="3" name="Notes Placeholder 2"/>
          <ns0:cNvSpPr>
            <ns1:spLocks noGrp="1"/>
          </ns0:cNvSpPr>
          <ns0:nvPr>
            <ns0:ph type="body" idx="1"/>
          </ns0:nvPr>
        </ns0:nvSpPr>
        <ns0:spPr/>
        <ns0:txBody>
          <ns1:bodyPr/>
          <ns1:lstStyle/>
          <ns1:p>
            <ns1:r>
              <ns1:t>{</ns1:t>
            </ns1:r>
          </ns1:p>
          <ns1:p>
            <ns1:r>
              <ns1:t>  "candidate": "LK_P093_03",</ns1:t>
            </ns1:r>
          </ns1:p>
          <ns1:p>
            <ns1:r>
              <ns1:t>  "final_rank": 20,</ns1:t>
            </ns1:r>
          </ns1:p>
          <ns1:p>
            <ns1:r>
              <ns1:t>  "native_model_sha256": "ff5831a2a7632820d3e465ce3445e724379a6db0ce217efbba99701e140f8de9",</ns1:t>
            </ns1:r>
          </ns1:p>
          <ns1:p>
            <ns1:r>
              <ns1:t>  "structure_views": {</ns1:t>
            </ns1:r>
          </ns1:p>
          <ns1:p>
            <ns1:r>
              <ns1:t>    "final_rank": 20,</ns1:t>
            </ns1:r>
          </ns1:p>
          <ns1:p>
            <ns1:r>
              <ns1:t>    "design_id": "LK_P093_03",</ns1:t>
            </ns1:r>
          </ns1:p>
          <ns1:p>
            <ns1:r>
              <ns1:t>    "sequence_sha256": "ddaad34132315edb9525884bb57cf70c07f16c0b611a51a9dea9902ffba6d6e1",</ns1:t>
            </ns1:r>
          </ns1:p>
          <ns1:p>
            <ns1:r>
              <ns1:t>    "native_model_sha256": "ff5831a2a7632820d3e465ce3445e724379a6db0ce217efbba99701e140f8de9",</ns1:t>
            </ns1:r>
          </ns1:p>
          <ns1:p>
            <ns1:r>
              <ns1:t>    "scoring_pdb_sha256": "12df24d378b79870f19f5a6a3bb38a43b4e53f9fd9673d39f9430e91854160c5",</ns1:t>
            </ns1:r>
          </ns1:p>
          <ns1:p>
            <ns1:r>
              <ns1:t>    "overview": {</ns1:t>
            </ns1:r>
          </ns1:p>
          <ns1:p>
            <ns1:r>
              <ns1:t>      "source_slide": 71,</ns1:t>
            </ns1:r>
          </ns1:p>
          <ns1:p>
            <ns1:r>
              <ns1:t>      "source_picture_index": 1,</ns1:t>
            </ns1:r>
          </ns1:p>
          <ns1:p>
            <ns1:r>
              <ns1:t>      "embedded_media": "ppt/media/image81.jpeg",</ns1:t>
            </ns1:r>
          </ns1:p>
          <ns1:p>
            <ns1:r>
              <ns1:t>      "image_sha256": "6d4c6efeb36f111c559fe5e945b35220d1af8ab2792cdc15ffa7960cd11afac9",</ns1:t>
            </ns1:r>
          </ns1:p>
          <ns1:p>
            <ns1:r>
              <ns1:t>      "asset": "assets/LK_P093_03-complex.jpg"</ns1:t>
            </ns1:r>
          </ns1:p>
          <ns1:p>
            <ns1:r>
              <ns1:t>    },</ns1:t>
            </ns1:r>
          </ns1:p>
          <ns1:p>
            <ns1:r>
              <ns1:t>    "interface": {</ns1:t>
            </ns1:r>
          </ns1:p>
          <ns1:p>
            <ns1:r>
              <ns1:t>      "source_slide": 72,</ns1:t>
            </ns1:r>
          </ns1:p>
          <ns1:p>
            <ns1:r>
              <ns1:t>      "source_picture_index": 1,</ns1:t>
            </ns1:r>
          </ns1:p>
          <ns1:p>
            <ns1:r>
              <ns1:t>      "embedded_media": "ppt/media/image84.jpeg",</ns1:t>
            </ns1:r>
          </ns1:p>
          <ns1:p>
            <ns1:r>
              <ns1:t>      "image_sha256": "dd8a040742f37c3cab84ab7d66b344f21501c9092203b18266cb3a9a0a0ddf5a",</ns1:t>
            </ns1:r>
          </ns1:p>
          <ns1:p>
            <ns1:r>
              <ns1:t>      "asset": "assets/LK_P093_03-interface.jpg"</ns1:t>
            </ns1:r>
          </ns1:p>
          <ns1:p>
            <ns1:r>
              <ns1:t>    },</ns1:t>
            </ns1:r>
          </ns1:p>
          <ns1:p>
            <ns1:r>
              <ns1:t>    "rendering_provenance": {</ns1:t>
            </ns1:r>
          </ns1:p>
          <ns1:p>
            <ns1:r>
              <ns1:t>      "DeltaForge_source_PDB_sha256": "12df24d378b79870f19f5a6a3bb38a43b4e53f9fd9673d39f9430e91854160c5",</ns1:t>
            </ns1:r>
          </ns1:p>
          <ns1:p>
            <ns1:r>
              <ns1:t>      "role_ranges_zero_based": {</ns1:t>
            </ns1:r>
          </ns1:p>
          <ns1:p>
            <ns1:r>
              <ns1:t>        "ECD": [</ns1:t>
            </ns1:r>
          </ns1:p>
          <ns1:p>
            <ns1:r>
              <ns1:t>          0,</ns1:t>
            </ns1:r>
          </ns1:p>
          <ns1:p>
            <ns1:r>
              <ns1:t>          60</ns1:t>
            </ns1:r>
          </ns1:p>
          <ns1:p>
            <ns1:r>
              <ns1:t>        ],</ns1:t>
            </ns1:r>
          </ns1:p>
          <ns1:p>
            <ns1:r>
              <ns1:t>        "linker": [</ns1:t>
            </ns1:r>
          </ns1:p>
          <ns1:p>
            <ns1:r>
              <ns1:t>          60,</ns1:t>
            </ns1:r>
          </ns1:p>
          <ns1:p>
            <ns1:r>
              <ns1:t>          90</ns1:t>
            </ns1:r>
          </ns1:p>
          <ns1:p>
            <ns1:r>
              <ns1:t>        ],</ns1:t>
            </ns1:r>
          </ns1:p>
          <ns1:p>
            <ns1:r>
              <ns1:t>        "LF": [</ns1:t>
            </ns1:r>
          </ns1:p>
          <ns1:p>
            <ns1:r>
              <ns1:t>          90,</ns1:t>
            </ns1:r>
          </ns1:p>
          <ns1:p>
            <ns1:r>
              <ns1:t>          159</ns1:t>
            </ns1:r>
          </ns1:p>
          <ns1:p>
            <ns1:r>
              <ns1:t>        ]</ns1:t>
            </ns1:r>
          </ns1:p>
          <ns1:p>
            <ns1:r>
              <ns1:t>      },</ns1:t>
            </ns1:r>
          </ns1:p>
          <ns1:p>
            <ns1:r>
              <ns1:t>      "model_sha256": "ff5831a2a7632820d3e465ce3445e724379a6db0ce217efbba99701e140f8de9",</ns1:t>
            </ns1:r>
          </ns1:p>
          <ns1:p>
            <ns1:r>
              <ns1:t>      "source_run": "2026-10-24_pair183-extracellular-exact_001",</ns1:t>
            </ns1:r>
          </ns1:p>
          <ns1:p>
            <ns1:r>
              <ns1:t>      "source_methods": [</ns1:t>
            </ns1:r>
          </ns1:p>
          <ns1:p>
            <ns1:r>
              <ns1:t>        "https://github.com/DunbrackLab/IPSAE",</ns1:t>
            </ns1:r>
          </ns1:p>
          <ns1:p>
            <ns1:r>
              <ns1:t>        "https://github.com/wallnerlab/DockQ",</ns1:t>
            </ns1:r>
          </ns1:p>
          <ns1:p>
            <ns1:r>
              <ns1:t>        "https://zhanggroup.org/TM-score/"</ns1:t>
            </ns1:r>
          </ns1:p>
          <ns1:p>
            <ns1:r>
              <ns1:t>      ],</ns1:t>
            </ns1:r>
          </ns1:p>
          <ns1:p>
            <ns1:r>
              <ns1:t>      "saved_display_appendix": {</ns1:t>
            </ns1:r>
          </ns1:p>
          <ns1:p>
            <ns1:r>
              <ns1:t>        "parent_sources": {</ns1:t>
            </ns1:r>
          </ns1:p>
          <ns1:p>
            <ns1:r>
              <ns1:t>          "ECD-parent": {</ns1:t>
            </ns1:r>
          </ns1:p>
          <ns1:p>
            <ns1:r>
              <ns1:t>            "key": "LK_P093_03-ECD-parent",</ns1:t>
            </ns1:r>
          </ns1:p>
          <ns1:p>
            <ns1:r>
              <ns1:t>            "source_path": "local/2026-10-25_linker-parent-comparison_001/parents/S10_02_067/exact.pdb",</ns1:t>
            </ns1:r>
          </ns1:p>
          <ns1:p>
            <ns1:r>
              <ns1:t>            "source_sha256": "5d20357cffb341ad42261fed52bba0fe029c3cfac209f0c18185895d92f793b1",</ns1:t>
            </ns1:r>
          </ns1:p>
          <ns1:p>
            <ns1:r>
              <ns1:t>            "role": "ECD",</ns1:t>
            </ns1:r>
          </ns1:p>
          <ns1:p>
            <ns1:r>
              <ns1:t>            "ranges_zero_based": {</ns1:t>
            </ns1:r>
          </ns1:p>
          <ns1:p>
            <ns1:r>
              <ns1:t>              "ECD": [</ns1:t>
            </ns1:r>
          </ns1:p>
          <ns1:p>
            <ns1:r>
              <ns1:t>                0,</ns1:t>
            </ns1:r>
          </ns1:p>
          <ns1:p>
            <ns1:r>
              <ns1:t>                60</ns1:t>
            </ns1:r>
          </ns1:p>
          <ns1:p>
            <ns1:r>
              <ns1:t>              ]</ns1:t>
            </ns1:r>
          </ns1:p>
          <ns1:p>
            <ns1:r>
              <ns1:t>            },</ns1:t>
            </ns1:r>
          </ns1:p>
          <ns1:p>
            <ns1:r>
              <ns1:t>            "sequence": "SSSSSVPAPSIDYLGAFREHGANAEVAEFLYRYLREIKGKSEKEAILLLTAAASIANLVA",</ns1:t>
            </ns1:r>
          </ns1:p>
          <ns1:p>
            <ns1:r>
              <ns1:t>            "rotation": [</ns1:t>
            </ns1:r>
          </ns1:p>
          <ns1:p>
            <ns1:r>
              <ns1:t>              [</ns1:t>
            </ns1:r>
          </ns1:p>
          <ns1:p>
            <ns1:r>
              <ns1:t>                0.7346910201760881,</ns1:t>
            </ns1:r>
          </ns1:p>
          <ns1:p>
            <ns1:r>
              <ns1:t>                0.6760329209030145,</ns1:t>
            </ns1:r>
          </ns1:p>
          <ns1:p>
            <ns1:r>
              <ns1:t>                0.056644241508141846</ns1:t>
            </ns1:r>
          </ns1:p>
          <ns1:p>
            <ns1:r>
              <ns1:t>              ],</ns1:t>
            </ns1:r>
          </ns1:p>
          <ns1:p>
            <ns1:r>
              <ns1:t>              [</ns1:t>
            </ns1:r>
          </ns1:p>
          <ns1:p>
            <ns1:r>
              <ns1:t>                -0.02230991168992169,</ns1:t>
            </ns1:r>
          </ns1:p>
          <ns1:p>
            <ns1:r>
              <ns1:t>                0.10752802185318266,</ns1:t>
            </ns1:r>
          </ns1:p>
          <ns1:p>
            <ns1:r>
              <ns1:t>                -0.9939517147939192</ns1:t>
            </ns1:r>
          </ns1:p>
          <ns1:p>
            <ns1:r>
              <ns1:t>              ],</ns1:t>
            </ns1:r>
          </ns1:p>
          <ns1:p>
            <ns1:r>
              <ns1:t>              [</ns1:t>
            </ns1:r>
          </ns1:p>
          <ns1:p>
            <ns1:r>
              <ns1:t>                -0.6780349328968671,</ns1:t>
            </ns1:r>
          </ns1:p>
          <ns1:p>
            <ns1:r>
              <ns1:t>                0.7289836524581155,</ns1:t>
            </ns1:r>
          </ns1:p>
          <ns1:p>
            <ns1:r>
              <ns1:t>                0.09408208876612556</ns1:t>
            </ns1:r>
          </ns1:p>
          <ns1:p>
            <ns1:r>
              <ns1:t>              ]</ns1:t>
            </ns1:r>
          </ns1:p>
          <ns1:p>
            <ns1:r>
              <ns1:t>            ],</ns1:t>
            </ns1:r>
          </ns1:p>
          <ns1:p>
            <ns1:r>
              <ns1:t>            "translation": [</ns1:t>
            </ns1:r>
          </ns1:p>
          <ns1:p>
            <ns1:r>
              <ns1:t>              2.4853528433389727,</ns1:t>
            </ns1:r>
          </ns1:p>
          <ns1:p>
            <ns1:r>
              <ns1:t>              3.2831066280470536,</ns1:t>
            </ns1:r>
          </ns1:p>
          <ns1:p>
            <ns1:r>
              <ns1:t>              -1.7593082523946915</ns1:t>
            </ns1:r>
          </ns1:p>
          <ns1:p>
            <ns1:r>
              <ns1:t>            ],</ns1:t>
            </ns1:r>
          </ns1:p>
          <ns1:p>
            <ns1:r>
              <ns1:t>            "core_fit_CA_RMSD_A": 1.1234692372145,</ns1:t>
            </ns1:r>
          </ns1:p>
          <ns1:p>
            <ns1:r>
              <ns1:t>            "output": "local/2026-10-25_linker-parent-views_001/build/renders-v2/LK_P093_03-ECD-parent.jpg",</ns1:t>
            </ns1:r>
          </ns1:p>
          <ns1:p>
            <ns1:r>
              <ns1:t>            "parent_or_fusion_id": "S10_02_067",</ns1:t>
            </ns1:r>
          </ns1:p>
          <ns1:p>
            <ns1:r>
              <ns1:t>            "design_id": "LK_P093_03",</ns1:t>
            </ns1:r>
          </ns1:p>
          <ns1:p>
            <ns1:r>
              <ns1:t>            "panel": "ECD-parent",</ns1:t>
            </ns1:r>
          </ns1:p>
          <ns1:p>
            <ns1:r>
              <ns1:t>            "view": [</ns1:t>
            </ns1:r>
          </ns1:p>
          <ns1:p>
            <ns1:r>
              <ns1:t>              1,</ns1:t>
            </ns1:r>
          </ns1:p>
          <ns1:p>
            <ns1:r>
              <ns1:t>              0,</ns1:t>
            </ns1:r>
          </ns1:p>
          <ns1:p>
            <ns1:r>
              <ns1:t>              0,</ns1:t>
            </ns1:r>
          </ns1:p>
          <ns1:p>
            <ns1:r>
              <ns1:t>              0,</ns1:t>
            </ns1:r>
          </ns1:p>
          <ns1:p>
            <ns1:r>
              <ns1:t>              1,</ns1:t>
            </ns1:r>
          </ns1:p>
          <ns1:p>
            <ns1:r>
              <ns1:t>              0,</ns1:t>
            </ns1:r>
          </ns1:p>
          <ns1:p>
            <ns1:r>
              <ns1:t>              0,</ns1:t>
            </ns1:r>
          </ns1:p>
          <ns1:p>
            <ns1:r>
              <ns1:t>              0,</ns1:t>
            </ns1:r>
          </ns1:p>
          <ns1:p>
            <ns1:r>
              <ns1:t>              1,</ns1:t>
            </ns1:r>
          </ns1:p>
          <ns1:p>
            <ns1:r>
              <ns1:t>              0,</ns1:t>
            </ns1:r>
          </ns1:p>
          <ns1:p>
            <ns1:r>
              <ns1:t>              0,</ns1:t>
            </ns1:r>
          </ns1:p>
          <ns1:p>
            <ns1:r>
              <ns1:t>              -392.8369751174828,</ns1:t>
            </ns1:r>
          </ns1:p>
          <ns1:p>
            <ns1:r>
              <ns1:t>              -9.046398759659198,</ns1:t>
            </ns1:r>
          </ns1:p>
          <ns1:p>
            <ns1:r>
              <ns1:t>              27.499215990529954,</ns1:t>
            </ns1:r>
          </ns1:p>
          <ns1:p>
            <ns1:r>
              <ns1:t>              -12.838164716121653,</ns1:t>
            </ns1:r>
          </ns1:p>
          <ns1:p>
            <ns1:r>
              <ns1:t>              337.64153912521135,</ns1:t>
            </ns1:r>
          </ns1:p>
          <ns1:p>
            <ns1:r>
              <ns1:t>              448.0324111097542,</ns1:t>
            </ns1:r>
          </ns1:p>
          <ns1:p>
            <ns1:r>
              <ns1:t>              -20</ns1:t>
            </ns1:r>
          </ns1:p>
          <ns1:p>
            <ns1:r>
              <ns1:t>            ],</ns1:t>
            </ns1:r>
          </ns1:p>
          <ns1:p>
            <ns1:r>
              <ns1:t>            "world_height_A": 138.53551546622424,</ns1:t>
            </ns1:r>
          </ns1:p>
          <ns1:p>
            <ns1:r>
              <ns1:t>            "row_bounds_all_atoms_A": [</ns1:t>
            </ns1:r>
          </ns1:p>
          <ns1:p>
            <ns1:r>
              <ns1:t>              [</ns1:t>
            </ns1:r>
          </ns1:p>
          <ns1:p>
            <ns1:r>
              <ns1:t>                -50.79037642370106,</ns1:t>
            </ns1:r>
          </ns1:p>
          <ns1:p>
            <ns1:r>
              <ns1:t>                -32.53097942368704,</ns1:t>
            </ns1:r>
          </ns1:p>
          <ns1:p>
            <ns1:r>
              <ns1:t>                -53.03360070839306</ns1:t>
            </ns1:r>
          </ns1:p>
          <ns1:p>
            <ns1:r>
              <ns1:t>              ],</ns1:t>
            </ns1:r>
          </ns1:p>
          <ns1:p>
            <ns1:r>
              <ns1:t>              [</ns1:t>
            </ns1:r>
          </ns1:p>
          <ns1:p>
            <ns1:r>
              <ns1:t>                32.69757890438267,</ns1:t>
            </ns1:r>
          </ns1:p>
          <ns1:p>
            <ns1:r>
              <ns1:t>                87.52941140474695,</ns1:t>
            </ns1:r>
          </ns1:p>
          <ns1:p>
            <ns1:r>
              <ns1:t>                27.357271276149753</ns1:t>
            </ns1:r>
          </ns1:p>
          <ns1:p>
            <ns1:r>
              <ns1:t>              ]</ns1:t>
            </ns1:r>
          </ns1:p>
          <ns1:p>
            <ns1:r>
              <ns1:t>            ]</ns1:t>
            </ns1:r>
          </ns1:p>
          <ns1:p>
            <ns1:r>
              <ns1:t>          },</ns1:t>
            </ns1:r>
          </ns1:p>
          <ns1:p>
            <ns1:r>
              <ns1:t>          "APNovo": {</ns1:t>
            </ns1:r>
          </ns1:p>
          <ns1:p>
            <ns1:r>
              <ns1:t>            "key": "LK_P093_03-APNovo",</ns1:t>
            </ns1:r>
          </ns1:p>
          <ns1:p>
            <ns1:r>
              <ns1:t>            "source_path": "local/2026-10-25_linker-top100-review_001/build/comparisons/LK_P093_03/reference.pdb",</ns1:t>
            </ns1:r>
          </ns1:p>
          <ns1:p>
            <ns1:r>
              <ns1:t>            "source_sha256": "776e6e98ae5d4de8308dba9c9bf07cce03fbc388235b9a0875e27d0103d5028c",</ns1:t>
            </ns1:r>
          </ns1:p>
          <ns1:p>
            <ns1:r>
              <ns1:t>            "role": "fusion",</ns1:t>
            </ns1:r>
          </ns1:p>
          <ns1:p>
            <ns1:r>
              <ns1:t>            "ranges_zero_based": {</ns1:t>
            </ns1:r>
          </ns1:p>
          <ns1:p>
            <ns1:r>
              <ns1:t>              "ECD": [</ns1:t>
            </ns1:r>
          </ns1:p>
          <ns1:p>
            <ns1:r>
              <ns1:t>                0,</ns1:t>
            </ns1:r>
          </ns1:p>
          <ns1:p>
            <ns1:r>
              <ns1:t>                60</ns1:t>
            </ns1:r>
          </ns1:p>
          <ns1:p>
            <ns1:r>
              <ns1:t>              ],</ns1:t>
            </ns1:r>
          </ns1:p>
          <ns1:p>
            <ns1:r>
              <ns1:t>              "linker": [</ns1:t>
            </ns1:r>
          </ns1:p>
          <ns1:p>
            <ns1:r>
              <ns1:t>                60,</ns1:t>
            </ns1:r>
          </ns1:p>
          <ns1:p>
            <ns1:r>
              <ns1:t>                90</ns1:t>
            </ns1:r>
          </ns1:p>
          <ns1:p>
            <ns1:r>
              <ns1:t>              ],</ns1:t>
            </ns1:r>
          </ns1:p>
          <ns1:p>
            <ns1:r>
              <ns1:t>              "LF": [</ns1:t>
            </ns1:r>
          </ns1:p>
          <ns1:p>
            <ns1:r>
              <ns1:t>                90,</ns1:t>
            </ns1:r>
          </ns1:p>
          <ns1:p>
            <ns1:r>
              <ns1:t>                159</ns1:t>
            </ns1:r>
          </ns1:p>
          <ns1:p>
            <ns1:r>
              <ns1:t>              ]</ns1:t>
            </ns1:r>
          </ns1:p>
          <ns1:p>
            <ns1:r>
              <ns1:t>            },</ns1:t>
            </ns1:r>
          </ns1:p>
          <ns1:p>
            <ns1:r>
              <ns1:t>            "sequence": "SSSSSVPAPSIDYLGAFREHGANAEVAEFLYRYLREIKGKSEKEAILLLTAAASIANLVAGISSSVPDPRTPPPPPPPVPVEPLDPSSLTEVSGATIDLRVKTCVDFKQTVNFFKLRNTQLPGSCTKDNTVLFLLEGLKLGYASRYFSIGSGSGSQQFS",</ns1:t>
            </ns1:r>
          </ns1:p>
          <ns1:p>
            <ns1:r>
              <ns1:t>            "rotation": [</ns1:t>
            </ns1:r>
          </ns1:p>
          <ns1:p>
            <ns1:r>
              <ns1:t>              [</ns1:t>
            </ns1:r>
          </ns1:p>
          <ns1:p>
            <ns1:r>
              <ns1:t>                -0.6425835535546871,</ns1:t>
            </ns1:r>
          </ns1:p>
          <ns1:p>
            <ns1:r>
              <ns1:t>                0.07591260590380156,</ns1:t>
            </ns1:r>
          </ns1:p>
          <ns1:p>
            <ns1:r>
              <ns1:t>                -0.7624458014803762</ns1:t>
            </ns1:r>
          </ns1:p>
          <ns1:p>
            <ns1:r>
              <ns1:t>              ],</ns1:t>
            </ns1:r>
          </ns1:p>
          <ns1:p>
            <ns1:r>
              <ns1:t>              [</ns1:t>
            </ns1:r>
          </ns1:p>
          <ns1:p>
            <ns1:r>
              <ns1:t>                -0.7349909841616555,</ns1:t>
            </ns1:r>
          </ns1:p>
          <ns1:p>
            <ns1:r>
              <ns1:t>                0.22010510090817892,</ns1:t>
            </ns1:r>
          </ns1:p>
          <ns1:p>
            <ns1:r>
              <ns1:t>                0.6413595221942319</ns1:t>
            </ns1:r>
          </ns1:p>
          <ns1:p>
            <ns1:r>
              <ns1:t>              ],</ns1:t>
            </ns1:r>
          </ns1:p>
          <ns1:p>
            <ns1:r>
              <ns1:t>              [</ns1:t>
            </ns1:r>
          </ns1:p>
          <ns1:p>
            <ns1:r>
              <ns1:t>                0.21650545742830118,</ns1:t>
            </ns1:r>
          </ns1:p>
          <ns1:p>
            <ns1:r>
              <ns1:t>                0.9725178484249533,</ns1:t>
            </ns1:r>
          </ns1:p>
          <ns1:p>
            <ns1:r>
              <ns1:t>                -0.08564080627943582</ns1:t>
            </ns1:r>
          </ns1:p>
          <ns1:p>
            <ns1:r>
              <ns1:t>              ]</ns1:t>
            </ns1:r>
          </ns1:p>
          <ns1:p>
            <ns1:r>
              <ns1:t>            ],</ns1:t>
            </ns1:r>
          </ns1:p>
          <ns1:p>
            <ns1:r>
              <ns1:t>            "translation": [</ns1:t>
            </ns1:r>
          </ns1:p>
          <ns1:p>
            <ns1:r>
              <ns1:t>              -12.821974904768428,</ns1:t>
            </ns1:r>
          </ns1:p>
          <ns1:p>
            <ns1:r>
              <ns1:t>              -14.15868606391479,</ns1:t>
            </ns1:r>
          </ns1:p>
          <ns1:p>
            <ns1:r>
              <ns1:t>              6.426890187240096</ns1:t>
            </ns1:r>
          </ns1:p>
          <ns1:p>
            <ns1:r>
              <ns1:t>            ],</ns1:t>
            </ns1:r>
          </ns1:p>
          <ns1:p>
            <ns1:r>
              <ns1:t>            "core_fit_CA_RMSD_A": 1.1234868176477835,</ns1:t>
            </ns1:r>
          </ns1:p>
          <ns1:p>
            <ns1:r>
              <ns1:t>            "output": "local/2026-10-25_linker-parent-views_001/build/renders-v2/LK_P093_03-APNovo.jpg",</ns1:t>
            </ns1:r>
          </ns1:p>
          <ns1:p>
            <ns1:r>
              <ns1:t>            "parent_or_fusion_id": "LK_P093_03-APNovo",</ns1:t>
            </ns1:r>
          </ns1:p>
          <ns1:p>
            <ns1:r>
              <ns1:t>            "design_id": "LK_P093_03",</ns1:t>
            </ns1:r>
          </ns1:p>
          <ns1:p>
            <ns1:r>
              <ns1:t>            "panel": "APNovo",</ns1:t>
            </ns1:r>
          </ns1:p>
          <ns1:p>
            <ns1:r>
              <ns1:t>            "view": [</ns1:t>
            </ns1:r>
          </ns1:p>
          <ns1:p>
            <ns1:r>
              <ns1:t>              1,</ns1:t>
            </ns1:r>
          </ns1:p>
          <ns1:p>
            <ns1:r>
              <ns1:t>              0,</ns1:t>
            </ns1:r>
          </ns1:p>
          <ns1:p>
            <ns1:r>
              <ns1:t>              0,</ns1:t>
            </ns1:r>
          </ns1:p>
          <ns1:p>
            <ns1:r>
              <ns1:t>              0,</ns1:t>
            </ns1:r>
          </ns1:p>
          <ns1:p>
            <ns1:r>
              <ns1:t>              1,</ns1:t>
            </ns1:r>
          </ns1:p>
          <ns1:p>
            <ns1:r>
              <ns1:t>              0,</ns1:t>
            </ns1:r>
          </ns1:p>
          <ns1:p>
            <ns1:r>
              <ns1:t>              0,</ns1:t>
            </ns1:r>
          </ns1:p>
          <ns1:p>
            <ns1:r>
              <ns1:t>              0,</ns1:t>
            </ns1:r>
          </ns1:p>
          <ns1:p>
            <ns1:r>
              <ns1:t>              1,</ns1:t>
            </ns1:r>
          </ns1:p>
          <ns1:p>
            <ns1:r>
              <ns1:t>              0,</ns1:t>
            </ns1:r>
          </ns1:p>
          <ns1:p>
            <ns1:r>
              <ns1:t>              0,</ns1:t>
            </ns1:r>
          </ns1:p>
          <ns1:p>
            <ns1:r>
              <ns1:t>              -392.8369751174828,</ns1:t>
            </ns1:r>
          </ns1:p>
          <ns1:p>
            <ns1:r>
              <ns1:t>              -9.046398759659198,</ns1:t>
            </ns1:r>
          </ns1:p>
          <ns1:p>
            <ns1:r>
              <ns1:t>              27.499215990529954,</ns1:t>
            </ns1:r>
          </ns1:p>
          <ns1:p>
            <ns1:r>
              <ns1:t>              -12.838164716121653,</ns1:t>
            </ns1:r>
          </ns1:p>
          <ns1:p>
            <ns1:r>
              <ns1:t>              337.64153912521135,</ns1:t>
            </ns1:r>
          </ns1:p>
          <ns1:p>
            <ns1:r>
              <ns1:t>              448.0324111097542,</ns1:t>
            </ns1:r>
          </ns1:p>
          <ns1:p>
            <ns1:r>
              <ns1:t>              -20</ns1:t>
            </ns1:r>
          </ns1:p>
          <ns1:p>
            <ns1:r>
              <ns1:t>            ],</ns1:t>
            </ns1:r>
          </ns1:p>
          <ns1:p>
            <ns1:r>
              <ns1:t>            "world_height_A": 138.53551546622424,</ns1:t>
            </ns1:r>
          </ns1:p>
          <ns1:p>
            <ns1:r>
              <ns1:t>            "row_bounds_all_atoms_A": [</ns1:t>
            </ns1:r>
          </ns1:p>
          <ns1:p>
            <ns1:r>
              <ns1:t>              [</ns1:t>
            </ns1:r>
          </ns1:p>
          <ns1:p>
            <ns1:r>
              <ns1:t>                -50.79037642370106,</ns1:t>
            </ns1:r>
          </ns1:p>
          <ns1:p>
            <ns1:r>
              <ns1:t>                -32.53097942368704,</ns1:t>
            </ns1:r>
          </ns1:p>
          <ns1:p>
            <ns1:r>
              <ns1:t>                -53.03360070839306</ns1:t>
            </ns1:r>
          </ns1:p>
          <ns1:p>
            <ns1:r>
              <ns1:t>              ],</ns1:t>
            </ns1:r>
          </ns1:p>
          <ns1:p>
            <ns1:r>
              <ns1:t>              [</ns1:t>
            </ns1:r>
          </ns1:p>
          <ns1:p>
            <ns1:r>
              <ns1:t>                32.69757890438267,</ns1:t>
            </ns1:r>
          </ns1:p>
          <ns1:p>
            <ns1:r>
              <ns1:t>                87.52941140474695,</ns1:t>
            </ns1:r>
          </ns1:p>
          <ns1:p>
            <ns1:r>
              <ns1:t>                27.357271276149753</ns1:t>
            </ns1:r>
          </ns1:p>
          <ns1:p>
            <ns1:r>
              <ns1:t>              ]</ns1:t>
            </ns1:r>
          </ns1:p>
          <ns1:p>
            <ns1:r>
              <ns1:t>            ]</ns1:t>
            </ns1:r>
          </ns1:p>
          <ns1:p>
            <ns1:r>
              <ns1:t>          },</ns1:t>
            </ns1:r>
          </ns1:p>
          <ns1:p>
            <ns1:r>
              <ns1:t>          "Exact": {</ns1:t>
            </ns1:r>
          </ns1:p>
          <ns1:p>
            <ns1:r>
              <ns1:t>            "key": "LK_P093_03-Exact",</ns1:t>
            </ns1:r>
          </ns1:p>
          <ns1:p>
            <ns1:r>
              <ns1:t>            "source_path": "local/2026-10-25_linker-top100-review_001/models/LK_P093_03/boltz2.cif",</ns1:t>
            </ns1:r>
          </ns1:p>
          <ns1:p>
            <ns1:r>
              <ns1:t>            "source_sha256": "ff5831a2a7632820d3e465ce3445e724379a6db0ce217efbba99701e140f8de9",</ns1:t>
            </ns1:r>
          </ns1:p>
          <ns1:p>
            <ns1:r>
              <ns1:t>            "role": "fusion",</ns1:t>
            </ns1:r>
          </ns1:p>
          <ns1:p>
            <ns1:r>
              <ns1:t>            "ranges_zero_based": {</ns1:t>
            </ns1:r>
          </ns1:p>
          <ns1:p>
            <ns1:r>
              <ns1:t>              "ECD": [</ns1:t>
            </ns1:r>
          </ns1:p>
          <ns1:p>
            <ns1:r>
              <ns1:t>                0,</ns1:t>
            </ns1:r>
          </ns1:p>
          <ns1:p>
            <ns1:r>
              <ns1:t>                60</ns1:t>
            </ns1:r>
          </ns1:p>
          <ns1:p>
            <ns1:r>
              <ns1:t>              ],</ns1:t>
            </ns1:r>
          </ns1:p>
          <ns1:p>
            <ns1:r>
              <ns1:t>              "linker": [</ns1:t>
            </ns1:r>
          </ns1:p>
          <ns1:p>
            <ns1:r>
              <ns1:t>                60,</ns1:t>
            </ns1:r>
          </ns1:p>
          <ns1:p>
            <ns1:r>
              <ns1:t>                90</ns1:t>
            </ns1:r>
          </ns1:p>
          <ns1:p>
            <ns1:r>
              <ns1:t>              ],</ns1:t>
            </ns1:r>
          </ns1:p>
          <ns1:p>
            <ns1:r>
              <ns1:t>              "LF": [</ns1:t>
            </ns1:r>
          </ns1:p>
          <ns1:p>
            <ns1:r>
              <ns1:t>                90,</ns1:t>
            </ns1:r>
          </ns1:p>
          <ns1:p>
            <ns1:r>
              <ns1:t>                159</ns1:t>
            </ns1:r>
          </ns1:p>
          <ns1:p>
            <ns1:r>
              <ns1:t>              ]</ns1:t>
            </ns1:r>
          </ns1:p>
          <ns1:p>
            <ns1:r>
              <ns1:t>            },</ns1:t>
            </ns1:r>
          </ns1:p>
          <ns1:p>
            <ns1:r>
              <ns1:t>            "sequence": "SSSSSVPAPSIDYLGAFREHGANAEVAEFLYRYLREIKGKSEKEAILLLTAAASIANLVAGISSSVPDPRTPPPPPPPVPVEPLDPSSLTEVSGATIDLRVKTCVDFKQTVNFFKLRNTQLPGSCTKDNTVLFLLEGLKLGYASRYFSIGSGSGSQQFS",</ns1:t>
            </ns1:r>
          </ns1:p>
          <ns1:p>
            <ns1:r>
              <ns1:t>            "rotation": [</ns1:t>
            </ns1:r>
          </ns1:p>
          <ns1:p>
            <ns1:r>
              <ns1:t>              [</ns1:t>
            </ns1:r>
          </ns1:p>
          <ns1:p>
            <ns1:r>
              <ns1:t>                0.6195375947327921,</ns1:t>
            </ns1:r>
          </ns1:p>
          <ns1:p>
            <ns1:r>
              <ns1:t>                0.5687121599852967,</ns1:t>
            </ns1:r>
          </ns1:p>
          <ns1:p>
            <ns1:r>
              <ns1:t>                0.5410542113957062</ns1:t>
            </ns1:r>
          </ns1:p>
          <ns1:p>
            <ns1:r>
              <ns1:t>              ],</ns1:t>
            </ns1:r>
          </ns1:p>
          <ns1:p>
            <ns1:r>
              <ns1:t>              [</ns1:t>
            </ns1:r>
          </ns1:p>
          <ns1:p>
            <ns1:r>
              <ns1:t>                0.44001816267686245,</ns1:t>
            </ns1:r>
          </ns1:p>
          <ns1:p>
            <ns1:r>
              <ns1:t>                0.31918571900864023,</ns1:t>
            </ns1:r>
          </ns1:p>
          <ns1:p>
            <ns1:r>
              <ns1:t>                -0.8393476628132843</ns1:t>
            </ns1:r>
          </ns1:p>
          <ns1:p>
            <ns1:r>
              <ns1:t>              ],</ns1:t>
            </ns1:r>
          </ns1:p>
          <ns1:p>
            <ns1:r>
              <ns1:t>              [</ns1:t>
            </ns1:r>
          </ns1:p>
          <ns1:p>
            <ns1:r>
              <ns1:t>                -0.6500439991265128,</ns1:t>
            </ns1:r>
          </ns1:p>
          <ns1:p>
            <ns1:r>
              <ns1:t>                0.7580811242687195,</ns1:t>
            </ns1:r>
          </ns1:p>
          <ns1:p>
            <ns1:r>
              <ns1:t>                -0.05249611003710475</ns1:t>
            </ns1:r>
          </ns1:p>
          <ns1:p>
            <ns1:r>
              <ns1:t>              ]</ns1:t>
            </ns1:r>
          </ns1:p>
          <ns1:p>
            <ns1:r>
              <ns1:t>            ],</ns1:t>
            </ns1:r>
          </ns1:p>
          <ns1:p>
            <ns1:r>
              <ns1:t>            "translation": [</ns1:t>
            </ns1:r>
          </ns1:p>
          <ns1:p>
            <ns1:r>
              <ns1:t>              -3.839328507008922,</ns1:t>
            </ns1:r>
          </ns1:p>
          <ns1:p>
            <ns1:r>
              <ns1:t>              -1.5386777075261495,</ns1:t>
            </ns1:r>
          </ns1:p>
          <ns1:p>
            <ns1:r>
              <ns1:t>              -2.1375359959929163</ns1:t>
            </ns1:r>
          </ns1:p>
          <ns1:p>
            <ns1:r>
              <ns1:t>            ],</ns1:t>
            </ns1:r>
          </ns1:p>
          <ns1:p>
            <ns1:r>
              <ns1:t>            "core_fit_CA_RMSD_A": 0.9767459015355532,</ns1:t>
            </ns1:r>
          </ns1:p>
          <ns1:p>
            <ns1:r>
              <ns1:t>            "output": "local/2026-10-25_linker-parent-views_001/build/renders-v2/LK_P093_03-Exact.jpg",</ns1:t>
            </ns1:r>
          </ns1:p>
          <ns1:p>
            <ns1:r>
              <ns1:t>            "parent_or_fusion_id": "LK_P093_03-Exact",</ns1:t>
            </ns1:r>
          </ns1:p>
          <ns1:p>
            <ns1:r>
              <ns1:t>            "design_id": "LK_P093_03",</ns1:t>
            </ns1:r>
          </ns1:p>
          <ns1:p>
            <ns1:r>
              <ns1:t>            "panel": "Exact",</ns1:t>
            </ns1:r>
          </ns1:p>
          <ns1:p>
            <ns1:r>
              <ns1:t>            "view": [</ns1:t>
            </ns1:r>
          </ns1:p>
          <ns1:p>
            <ns1:r>
              <ns1:t>              1,</ns1:t>
            </ns1:r>
          </ns1:p>
          <ns1:p>
            <ns1:r>
              <ns1:t>              0,</ns1:t>
            </ns1:r>
          </ns1:p>
          <ns1:p>
            <ns1:r>
              <ns1:t>              0,</ns1:t>
            </ns1:r>
          </ns1:p>
          <ns1:p>
            <ns1:r>
              <ns1:t>              0,</ns1:t>
            </ns1:r>
          </ns1:p>
          <ns1:p>
            <ns1:r>
              <ns1:t>              1,</ns1:t>
            </ns1:r>
          </ns1:p>
          <ns1:p>
            <ns1:r>
              <ns1:t>              0,</ns1:t>
            </ns1:r>
          </ns1:p>
          <ns1:p>
            <ns1:r>
              <ns1:t>              0,</ns1:t>
            </ns1:r>
          </ns1:p>
          <ns1:p>
            <ns1:r>
              <ns1:t>              0,</ns1:t>
            </ns1:r>
          </ns1:p>
          <ns1:p>
            <ns1:r>
              <ns1:t>              1,</ns1:t>
            </ns1:r>
          </ns1:p>
          <ns1:p>
            <ns1:r>
              <ns1:t>              0,</ns1:t>
            </ns1:r>
          </ns1:p>
          <ns1:p>
            <ns1:r>
              <ns1:t>              0,</ns1:t>
            </ns1:r>
          </ns1:p>
          <ns1:p>
            <ns1:r>
              <ns1:t>              -392.8369751174828,</ns1:t>
            </ns1:r>
          </ns1:p>
          <ns1:p>
            <ns1:r>
              <ns1:t>              -9.046398759659198,</ns1:t>
            </ns1:r>
          </ns1:p>
          <ns1:p>
            <ns1:r>
              <ns1:t>              27.499215990529954,</ns1:t>
            </ns1:r>
          </ns1:p>
          <ns1:p>
            <ns1:r>
              <ns1:t>              -12.838164716121653,</ns1:t>
            </ns1:r>
          </ns1:p>
          <ns1:p>
            <ns1:r>
              <ns1:t>              337.64153912521135,</ns1:t>
            </ns1:r>
          </ns1:p>
          <ns1:p>
            <ns1:r>
              <ns1:t>              448.0324111097542,</ns1:t>
            </ns1:r>
          </ns1:p>
          <ns1:p>
            <ns1:r>
              <ns1:t>              -20</ns1:t>
            </ns1:r>
          </ns1:p>
          <ns1:p>
            <ns1:r>
              <ns1:t>            ],</ns1:t>
            </ns1:r>
          </ns1:p>
          <ns1:p>
            <ns1:r>
              <ns1:t>            "world_height_A": 138.53551546622424,</ns1:t>
            </ns1:r>
          </ns1:p>
          <ns1:p>
            <ns1:r>
              <ns1:t>            "row_bounds_all_atoms_A": [</ns1:t>
            </ns1:r>
          </ns1:p>
          <ns1:p>
            <ns1:r>
              <ns1:t>              [</ns1:t>
            </ns1:r>
          </ns1:p>
          <ns1:p>
            <ns1:r>
              <ns1:t>                -50.79037642370106,</ns1:t>
            </ns1:r>
          </ns1:p>
          <ns1:p>
            <ns1:r>
              <ns1:t>                -32.53097942368704,</ns1:t>
            </ns1:r>
          </ns1:p>
          <ns1:p>
            <ns1:r>
              <ns1:t>                -53.03360070839306</ns1:t>
            </ns1:r>
          </ns1:p>
          <ns1:p>
            <ns1:r>
              <ns1:t>              ],</ns1:t>
            </ns1:r>
          </ns1:p>
          <ns1:p>
            <ns1:r>
              <ns1:t>              [</ns1:t>
            </ns1:r>
          </ns1:p>
          <ns1:p>
            <ns1:r>
              <ns1:t>                32.69757890438267,</ns1:t>
            </ns1:r>
          </ns1:p>
          <ns1:p>
            <ns1:r>
              <ns1:t>                87.52941140474695,</ns1:t>
            </ns1:r>
          </ns1:p>
          <ns1:p>
            <ns1:r>
              <ns1:t>                27.357271276149753</ns1:t>
            </ns1:r>
          </ns1:p>
          <ns1:p>
            <ns1:r>
              <ns1:t>              ]</ns1:t>
            </ns1:r>
          </ns1:p>
          <ns1:p>
            <ns1:r>
              <ns1:t>            ]</ns1:t>
            </ns1:r>
          </ns1:p>
          <ns1:p>
            <ns1:r>
              <ns1:t>          },</ns1:t>
            </ns1:r>
          </ns1:p>
          <ns1:p>
            <ns1:r>
              <ns1:t>          "LF-parent": {</ns1:t>
            </ns1:r>
          </ns1:p>
          <ns1:p>
            <ns1:r>
              <ns1:t>            "key": "LK_P093_03-LF-parent",</ns1:t>
            </ns1:r>
          </ns1:p>
          <ns1:p>
            <ns1:r>
              <ns1:t>            "source_path": "local/2026-10-25_linker-parent-comparison_001/parents/Design_280/exact.pdb",</ns1:t>
            </ns1:r>
          </ns1:p>
          <ns1:p>
            <ns1:r>
              <ns1:t>            "source_sha256": "cd01c89fbf40d0e577c10f20c2afa96c3deef09880d6c761314a1c5e9898bd4f",</ns1:t>
            </ns1:r>
          </ns1:p>
          <ns1:p>
            <ns1:r>
              <ns1:t>            "role": "LF",</ns1:t>
            </ns1:r>
          </ns1:p>
          <ns1:p>
            <ns1:r>
              <ns1:t>            "ranges_zero_based": {</ns1:t>
            </ns1:r>
          </ns1:p>
          <ns1:p>
            <ns1:r>
              <ns1:t>              "LF": [</ns1:t>
            </ns1:r>
          </ns1:p>
          <ns1:p>
            <ns1:r>
              <ns1:t>                0,</ns1:t>
            </ns1:r>
          </ns1:p>
          <ns1:p>
            <ns1:r>
              <ns1:t>                69</ns1:t>
            </ns1:r>
          </ns1:p>
          <ns1:p>
            <ns1:r>
              <ns1:t>              ]</ns1:t>
            </ns1:r>
          </ns1:p>
          <ns1:p>
            <ns1:r>
              <ns1:t>            },</ns1:t>
            </ns1:r>
          </ns1:p>
          <ns1:p>
            <ns1:r>
              <ns1:t>            "sequence": "EVSGATIDLRVKTCVDFKQTVNFFKLRNTQLPGSCTKDNTVLFLLEGLKLGYASRYFSIGSGSGSQQFS",</ns1:t>
            </ns1:r>
          </ns1:p>
          <ns1:p>
            <ns1:r>
              <ns1:t>            "rotation": [</ns1:t>
            </ns1:r>
          </ns1:p>
          <ns1:p>
            <ns1:r>
              <ns1:t>              [</ns1:t>
            </ns1:r>
          </ns1:p>
          <ns1:p>
            <ns1:r>
              <ns1:t>                0.9716521520149124,</ns1:t>
            </ns1:r>
          </ns1:p>
          <ns1:p>
            <ns1:r>
              <ns1:t>                0.23640963200020604,</ns1:t>
            </ns1:r>
          </ns1:p>
          <ns1:p>
            <ns1:r>
              <ns1:t>                -0.0015985785293137766</ns1:t>
            </ns1:r>
          </ns1:p>
          <ns1:p>
            <ns1:r>
              <ns1:t>              ],</ns1:t>
            </ns1:r>
          </ns1:p>
          <ns1:p>
            <ns1:r>
              <ns1:t>              [</ns1:t>
            </ns1:r>
          </ns1:p>
          <ns1:p>
            <ns1:r>
              <ns1:t>                -0.232382419508661,</ns1:t>
            </ns1:r>
          </ns1:p>
          <ns1:p>
            <ns1:r>
              <ns1:t>                0.9563002615331773,</ns1:t>
            </ns1:r>
          </ns1:p>
          <ns1:p>
            <ns1:r>
              <ns1:t>                0.17744913387297956</ns1:t>
            </ns1:r>
          </ns1:p>
          <ns1:p>
            <ns1:r>
              <ns1:t>              ],</ns1:t>
            </ns1:r>
          </ns1:p>
          <ns1:p>
            <ns1:r>
              <ns1:t>              [</ns1:t>
            </ns1:r>
          </ns1:p>
          <ns1:p>
            <ns1:r>
              <ns1:t>                0.04347938667791329,</ns1:t>
            </ns1:r>
          </ns1:p>
          <ns1:p>
            <ns1:r>
              <ns1:t>                -0.1720473610249762,</ns1:t>
            </ns1:r>
          </ns1:p>
          <ns1:p>
            <ns1:r>
              <ns1:t>                0.9841286681075418</ns1:t>
            </ns1:r>
          </ns1:p>
          <ns1:p>
            <ns1:r>
              <ns1:t>              ]</ns1:t>
            </ns1:r>
          </ns1:p>
          <ns1:p>
            <ns1:r>
              <ns1:t>            ],</ns1:t>
            </ns1:r>
          </ns1:p>
          <ns1:p>
            <ns1:r>
              <ns1:t>            "translation": [</ns1:t>
            </ns1:r>
          </ns1:p>
          <ns1:p>
            <ns1:r>
              <ns1:t>              3.3985903455718525,</ns1:t>
            </ns1:r>
          </ns1:p>
          <ns1:p>
            <ns1:r>
              <ns1:t>              -6.121573941428423,</ns1:t>
            </ns1:r>
          </ns1:p>
          <ns1:p>
            <ns1:r>
              <ns1:t>              6.014485827651381</ns1:t>
            </ns1:r>
          </ns1:p>
          <ns1:p>
            <ns1:r>
              <ns1:t>            ],</ns1:t>
            </ns1:r>
          </ns1:p>
          <ns1:p>
            <ns1:r>
              <ns1:t>            "core_fit_CA_RMSD_A": 1.3060904572635719,</ns1:t>
            </ns1:r>
          </ns1:p>
          <ns1:p>
            <ns1:r>
              <ns1:t>            "output": "local/2026-10-25_linker-parent-views_001/build/renders-v2/LK_P093_03-LF-parent.jpg",</ns1:t>
            </ns1:r>
          </ns1:p>
          <ns1:p>
            <ns1:r>
              <ns1:t>            "parent_or_fusion_id": "Design_280",</ns1:t>
            </ns1:r>
          </ns1:p>
          <ns1:p>
            <ns1:r>
              <ns1:t>            "design_id": "LK_P093_03",</ns1:t>
            </ns1:r>
          </ns1:p>
          <ns1:p>
            <ns1:r>
              <ns1:t>            "panel": "LF-parent",</ns1:t>
            </ns1:r>
          </ns1:p>
          <ns1:p>
            <ns1:r>
              <ns1:t>            "view": [</ns1:t>
            </ns1:r>
          </ns1:p>
          <ns1:p>
            <ns1:r>
              <ns1:t>              1,</ns1:t>
            </ns1:r>
          </ns1:p>
          <ns1:p>
            <ns1:r>
              <ns1:t>              0,</ns1:t>
            </ns1:r>
          </ns1:p>
          <ns1:p>
            <ns1:r>
              <ns1:t>              0,</ns1:t>
            </ns1:r>
          </ns1:p>
          <ns1:p>
            <ns1:r>
              <ns1:t>              0,</ns1:t>
            </ns1:r>
          </ns1:p>
          <ns1:p>
            <ns1:r>
              <ns1:t>              1,</ns1:t>
            </ns1:r>
          </ns1:p>
          <ns1:p>
            <ns1:r>
              <ns1:t>              0,</ns1:t>
            </ns1:r>
          </ns1:p>
          <ns1:p>
            <ns1:r>
              <ns1:t>              0,</ns1:t>
            </ns1:r>
          </ns1:p>
          <ns1:p>
            <ns1:r>
              <ns1:t>              0,</ns1:t>
            </ns1:r>
          </ns1:p>
          <ns1:p>
            <ns1:r>
              <ns1:t>              1,</ns1:t>
            </ns1:r>
          </ns1:p>
          <ns1:p>
            <ns1:r>
              <ns1:t>              0,</ns1:t>
            </ns1:r>
          </ns1:p>
          <ns1:p>
            <ns1:r>
              <ns1:t>              0,</ns1:t>
            </ns1:r>
          </ns1:p>
          <ns1:p>
            <ns1:r>
              <ns1:t>              -392.8369751174828,</ns1:t>
            </ns1:r>
          </ns1:p>
          <ns1:p>
            <ns1:r>
              <ns1:t>              -9.046398759659198,</ns1:t>
            </ns1:r>
          </ns1:p>
          <ns1:p>
            <ns1:r>
              <ns1:t>              27.499215990529954,</ns1:t>
            </ns1:r>
          </ns1:p>
          <ns1:p>
            <ns1:r>
              <ns1:t>              -12.838164716121653,</ns1:t>
            </ns1:r>
          </ns1:p>
          <ns1:p>
            <ns1:r>
              <ns1:t>              337.64153912521135,</ns1:t>
            </ns1:r>
          </ns1:p>
          <ns1:p>
            <ns1:r>
              <ns1:t>              448.0324111097542,</ns1:t>
            </ns1:r>
          </ns1:p>
          <ns1:p>
            <ns1:r>
              <ns1:t>              -20</ns1:t>
            </ns1:r>
          </ns1:p>
          <ns1:p>
            <ns1:r>
              <ns1:t>            ],</ns1:t>
            </ns1:r>
          </ns1:p>
          <ns1:p>
            <ns1:r>
              <ns1:t>            "world_height_A": 138.53551546622424,</ns1:t>
            </ns1:r>
          </ns1:p>
          <ns1:p>
            <ns1:r>
              <ns1:t>            "row_bounds_all_atoms_A": [</ns1:t>
            </ns1:r>
          </ns1:p>
          <ns1:p>
            <ns1:r>
              <ns1:t>              [</ns1:t>
            </ns1:r>
          </ns1:p>
          <ns1:p>
            <ns1:r>
              <ns1:t>                -50.79037642370106,</ns1:t>
            </ns1:r>
          </ns1:p>
          <ns1:p>
            <ns1:r>
              <ns1:t>                -32.53097942368704,</ns1:t>
            </ns1:r>
          </ns1:p>
          <ns1:p>
            <ns1:r>
              <ns1:t>                -53.03360070839306</ns1:t>
            </ns1:r>
          </ns1:p>
          <ns1:p>
            <ns1:r>
              <ns1:t>              ],</ns1:t>
            </ns1:r>
          </ns1:p>
          <ns1:p>
            <ns1:r>
              <ns1:t>              [</ns1:t>
            </ns1:r>
          </ns1:p>
          <ns1:p>
            <ns1:r>
              <ns1:t>                32.69757890438267,</ns1:t>
            </ns1:r>
          </ns1:p>
          <ns1:p>
            <ns1:r>
              <ns1:t>                87.52941140474695,</ns1:t>
            </ns1:r>
          </ns1:p>
          <ns1:p>
            <ns1:r>
              <ns1:t>                27.357271276149753</ns1:t>
            </ns1:r>
          </ns1:p>
          <ns1:p>
            <ns1:r>
              <ns1:t>              ]</ns1:t>
            </ns1:r>
          </ns1:p>
          <ns1:p>
            <ns1:r>
              <ns1:t>            ]</ns1:t>
            </ns1:r>
          </ns1:p>
          <ns1:p>
            <ns1:r>
              <ns1:t>          }</ns1:t>
            </ns1:r>
          </ns1:p>
          <ns1:p>
            <ns1:r>
              <ns1:t>        },</ns1:t>
            </ns1:r>
          </ns1:p>
          <ns1:p>
            <ns1:r>
              <ns1:t>        "shared_camera": [</ns1:t>
            </ns1:r>
          </ns1:p>
          <ns1:p>
            <ns1:r>
              <ns1:t>          1,</ns1:t>
            </ns1:r>
          </ns1:p>
          <ns1:p>
            <ns1:r>
              <ns1:t>          0,</ns1:t>
            </ns1:r>
          </ns1:p>
          <ns1:p>
            <ns1:r>
              <ns1:t>          0,</ns1:t>
            </ns1:r>
          </ns1:p>
          <ns1:p>
            <ns1:r>
              <ns1:t>          0,</ns1:t>
            </ns1:r>
          </ns1:p>
          <ns1:p>
            <ns1:r>
              <ns1:t>          1,</ns1:t>
            </ns1:r>
          </ns1:p>
          <ns1:p>
            <ns1:r>
              <ns1:t>          0,</ns1:t>
            </ns1:r>
          </ns1:p>
          <ns1:p>
            <ns1:r>
              <ns1:t>          0,</ns1:t>
            </ns1:r>
          </ns1:p>
          <ns1:p>
            <ns1:r>
              <ns1:t>          0,</ns1:t>
            </ns1:r>
          </ns1:p>
          <ns1:p>
            <ns1:r>
              <ns1:t>          1,</ns1:t>
            </ns1:r>
          </ns1:p>
          <ns1:p>
            <ns1:r>
              <ns1:t>          0,</ns1:t>
            </ns1:r>
          </ns1:p>
          <ns1:p>
            <ns1:r>
              <ns1:t>          0,</ns1:t>
            </ns1:r>
          </ns1:p>
          <ns1:p>
            <ns1:r>
              <ns1:t>          -392.8369751174828,</ns1:t>
            </ns1:r>
          </ns1:p>
          <ns1:p>
            <ns1:r>
              <ns1:t>          -9.046398759659198,</ns1:t>
            </ns1:r>
          </ns1:p>
          <ns1:p>
            <ns1:r>
              <ns1:t>          27.499215990529954,</ns1:t>
            </ns1:r>
          </ns1:p>
          <ns1:p>
            <ns1:r>
              <ns1:t>          -12.838164716121653,</ns1:t>
            </ns1:r>
          </ns1:p>
          <ns1:p>
            <ns1:r>
              <ns1:t>          337.64153912521135,</ns1:t>
            </ns1:r>
          </ns1:p>
          <ns1:p>
            <ns1:r>
              <ns1:t>          448.0324111097542,</ns1:t>
            </ns1:r>
          </ns1:p>
          <ns1:p>
            <ns1:r>
              <ns1:t>          -20</ns1:t>
            </ns1:r>
          </ns1:p>
          <ns1:p>
            <ns1:r>
              <ns1:t>        ],</ns1:t>
            </ns1:r>
          </ns1:p>
          <ns1:p>
            <ns1:r>
              <ns1:t>        "reference": "Separate saved Exact parent complexes flank the linked Exact refold; AP Novo linked design comparison remains on the following slide. Rigid display alignment preserves native poses; all native receptor residues shown."</ns1:t>
            </ns1:r>
          </ns1:p>
          <ns1:p>
            <ns1:r>
              <ns1:t>      }</ns1:t>
            </ns1:r>
          </ns1:p>
          <ns1:p>
            <ns1:r>
              <ns1:t>    },</ns1:t>
            </ns1:r>
          </ns1:p>
          <ns1:p>
            <ns1:r>
              <ns1:t>    "display": "unchanged embedded JPEGs extracted from hash-verified delivered25-design PPTX; no resampling, cropping or new coordinate transforms",</ns1:t>
            </ns1:r>
          </ns1:p>
          <ns1:p>
            <ns1:r>
              <ns1:t>    "scale": "full complex and interface have different zooms; no matched-scale claim",</ns1:t>
            </ns1:r>
          </ns1:p>
          <ns1:p>
            <ns1:r>
              <ns1:t>    "hotspots": "black sticks; original27pocket positions for original LigandForge, R40/Q37/E34 annotations for DLD",</ns1:t>
            </ns1:r>
          </ns1:p>
          <ns1:p>
            <ns1:r>
              <ns1:t>    "colors": {</ns1:t>
            </ns1:r>
          </ns1:p>
          <ns1:p>
            <ns1:r>
              <ns1:t>      "LigandForge": "#E69F00",</ns1:t>
            </ns1:r>
          </ns1:p>
          <ns1:p>
            <ns1:r>
              <ns1:t>      "linker": "#AA4499",</ns1:t>
            </ns1:r>
          </ns1:p>
          <ns1:p>
            <ns1:r>
              <ns1:t>      "ECD_binder": "#0072B2",</ns1:t>
            </ns1:r>
          </ns1:p>
          <ns1:p>
            <ns1:r>
              <ns1:t>      "receptor_ECD": "#009E73",</ns1:t>
            </ns1:r>
          </ns1:p>
          <ns1:p>
            <ns1:r>
              <ns1:t>      "receptor_remainder": "#9AA5B1",</ns1:t>
            </ns1:r>
          </ns1:p>
          <ns1:p>
            <ns1:r>
              <ns1:t>      "hotspots": "#000000"</ns1:t>
            </ns1:r>
          </ns1:p>
          <ns1:p>
            <ns1:r>
              <ns1:t>    }</ns1:t>
            </ns1:r>
          </ns1:p>
          <ns1:p>
            <ns1:r>
              <ns1:t>  },</ns1:t>
            </ns1:r>
          </ns1:p>
          <ns1:p>
            <ns1:r>
              <ns1:t>  "source_deck": "local/2026-10-25_affinity-confidence-selection-deck_002/output/GLP1R_Selected_ipSAE_gt0p895_Kd_lt10nM_v3.pptx",</ns1:t>
            </ns1:r>
          </ns1:p>
          <ns1:p>
            <ns1:r>
              <ns1:t>  "source_deck_sha256": "ad9333fdf6c0ce7d6982e2980d6aade78af256710dbc7917f7f39e41d35aa173",</ns1:t>
            </ns1:r>
          </ns1:p>
          <ns1:p>
            <ns1:r>
              <ns1:t>  "domain_labels": "ECD A1-60  linker A61-90  LF A91-159",</ns1:t>
            </ns1:r>
          </ns1:p>
          <ns1:p>
            <ns1:r>
              <ns1:t>  "display_scope": "native Exact complex and saved interface view; same identity colors, independent zooms; no new coordinates or inferred agonism"</ns1:t>
            </ns1:r>
          </ns1:p>
          <ns1:p>
            <ns1:r>
              <ns1:t>}</ns1:t>
            </ns1:r>
          </ns1:p>
        </ns0:txBody>
      </ns0:sp>
      <ns0:sp>
        <ns0:nvSpPr>
          <ns0:cNvPr id="4" name="Slide Number Placeholder 3"/>
          <ns0:cNvSpPr>
            <ns1:spLocks noGrp="1"/>
          </ns0:cNvSpPr>
          <ns0:nvPr>
            <ns0:ph type="sldNum" idx="5"/>
          </ns0:nvPr>
        </ns0:nvSpPr>
        <ns0:spPr/>
        <ns0:txBody>
          <ns1:bodyPr/>
          <ns1:lstStyle/>
          <ns1:p/>
        </ns0:txBody>
      </ns0:sp>
    </ns0:spTree>
  </ns0:cSld>
  <ns0:clrMapOvr>
    <ns1:masterClrMapping/>
  </ns0:clrMapOvr>
</ns0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e6bb6b8cdeb4934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a6fba966cb64a19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09cff70e65d4518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6a96cd6ecf542c5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2da509524eb45ea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c8c2204a81b4f7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E1027523-BE66-4E40-A2D3-4C97B0A3855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524000" y="3238500"/>
            <a:ext cx="121920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72542005-9725-4E02-A56B-7785298E4193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2286000" y="4714875"/>
            <a:ext cx="10668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B3B1CD7C-F097-477B-BCBB-B83E08707B6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524000" y="3571875"/>
            <a:ext cx="12192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FFEE5291-CA93-4AFD-B1F0-0FCF53D9EDD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57250" y="666750"/>
            <a:ext cx="13525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FEA7950E-E077-4CDB-BF2D-F59D0F7601F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57250" y="2381250"/>
            <a:ext cx="13525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66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047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428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09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190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571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952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333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CE263862-B587-4A42-9ACD-9A14B9F2464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57250" y="666750"/>
            <a:ext cx="13525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C6E2030A-C214-4056-A1BE-3653AF4624A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57250" y="2381250"/>
            <a:ext cx="6286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66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047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428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09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190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571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952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333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DCB07466-5407-442A-9522-67E910BF2404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096250" y="2381250"/>
            <a:ext cx="6286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66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047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428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09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190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571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952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333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0ED80DF7-6BBD-4D65-B5E8-9876B3BCB77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57250" y="666750"/>
            <a:ext cx="13525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B787DEB0-6DCC-4FCF-9025-D4152D377AC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57250" y="2381250"/>
            <a:ext cx="6286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66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047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428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09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190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571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952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333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e1f8c4a550f495b" /><Relationship Type="http://schemas.openxmlformats.org/officeDocument/2006/relationships/slideLayout" Target="/ppt/slideLayouts/slideLayout1.xml" Id="Rbb9d6163f839441c" /><Relationship Type="http://schemas.openxmlformats.org/officeDocument/2006/relationships/slideLayout" Target="/ppt/slideLayouts/slideLayout2.xml" Id="Rb33953a427f14f52" /><Relationship Type="http://schemas.openxmlformats.org/officeDocument/2006/relationships/slideLayout" Target="/ppt/slideLayouts/slideLayout3.xml" Id="R13b371ab05c74bc8" /><Relationship Type="http://schemas.openxmlformats.org/officeDocument/2006/relationships/slideLayout" Target="/ppt/slideLayouts/slideLayout4.xml" Id="Raa64033f1ef04cea" /><Relationship Type="http://schemas.openxmlformats.org/officeDocument/2006/relationships/slideLayout" Target="/ppt/slideLayouts/slideLayout5.xml" Id="R141581f0426a4417" /><Relationship Type="http://schemas.openxmlformats.org/officeDocument/2006/relationships/slideLayout" Target="/ppt/slideLayouts/slideLayout6.xml" Id="Ra944d4aa791142c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b9d6163f839441c"/>
    <p:sldLayoutId xmlns:r="http://schemas.openxmlformats.org/officeDocument/2006/relationships" id="2147483650" r:id="Rb33953a427f14f52"/>
    <p:sldLayoutId xmlns:r="http://schemas.openxmlformats.org/officeDocument/2006/relationships" id="2147483651" r:id="R13b371ab05c74bc8"/>
    <p:sldLayoutId xmlns:r="http://schemas.openxmlformats.org/officeDocument/2006/relationships" id="2147483652" r:id="Raa64033f1ef04cea"/>
    <p:sldLayoutId xmlns:r="http://schemas.openxmlformats.org/officeDocument/2006/relationships" id="2147483653" r:id="R141581f0426a4417"/>
    <p:sldLayoutId xmlns:r="http://schemas.openxmlformats.org/officeDocument/2006/relationships" id="2147483654" r:id="Ra944d4aa791142c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DejaVu Sans"/>
        <a:ea typeface=""/>
        <a:cs typeface=""/>
      </a:majorFont>
      <a:minorFont>
        <a:latin typeface="DejaVu San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7870f9803a74672" /><Relationship Type="http://schemas.openxmlformats.org/officeDocument/2006/relationships/notesSlide" Target="/ppt/notesSlides/notesSlide1.xml" Id="R7cd69f3e0b95418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98c488c483a4852" /><Relationship Type="http://schemas.openxmlformats.org/officeDocument/2006/relationships/image" Target="/ppt/media/image.jpeg" Id="R95c799abd9714456" /><Relationship Type="http://schemas.openxmlformats.org/officeDocument/2006/relationships/image" Target="/ppt/media/image2.jpeg" Id="R2b24368169c64e6f" /><Relationship Type="http://schemas.openxmlformats.org/officeDocument/2006/relationships/notesSlide" Target="/ppt/notesSlides/notesSlide2.xml" Id="Rb2241b06a07a4c8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78a3726d4004c9d" /><Relationship Type="http://schemas.openxmlformats.org/officeDocument/2006/relationships/notesSlide" Target="/ppt/notesSlides/notesSlide3.xml" Id="Rf7e43b2b0fbf460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069b6fdd66c4dd1" /><Relationship Type="http://schemas.openxmlformats.org/officeDocument/2006/relationships/image" Target="/ppt/media/image3.jpeg" Id="Rdcc10527c53a400f" /><Relationship Type="http://schemas.openxmlformats.org/officeDocument/2006/relationships/image" Target="/ppt/media/image4.jpeg" Id="R1c40cc0a77cf4186" /><Relationship Type="http://schemas.openxmlformats.org/officeDocument/2006/relationships/notesSlide" Target="/ppt/notesSlides/notesSlide4.xml" Id="Rd50ca4899564474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89b37f397774a08" /><Relationship Type="http://schemas.openxmlformats.org/officeDocument/2006/relationships/notesSlide" Target="/ppt/notesSlides/notesSlide5.xml" Id="R0175259e082f401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2fcd3b0a5b3410b" /><Relationship Type="http://schemas.openxmlformats.org/officeDocument/2006/relationships/image" Target="/ppt/media/image5.jpeg" Id="R5c338af9e26142e2" /><Relationship Type="http://schemas.openxmlformats.org/officeDocument/2006/relationships/image" Target="/ppt/media/image6.jpeg" Id="R0005e59e080e4592" /><Relationship Type="http://schemas.openxmlformats.org/officeDocument/2006/relationships/notesSlide" Target="/ppt/notesSlides/notesSlide6.xml" Id="R366702e0331949c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c96ece124ad4a87" /><Relationship Type="http://schemas.openxmlformats.org/officeDocument/2006/relationships/notesSlide" Target="/ppt/notesSlides/notesSlide7.xml" Id="R9214c36657e94b53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d68cf663c9545f7" /><Relationship Type="http://schemas.openxmlformats.org/officeDocument/2006/relationships/image" Target="/ppt/media/image7.jpeg" Id="Rb62165151b1e4f23" /><Relationship Type="http://schemas.openxmlformats.org/officeDocument/2006/relationships/image" Target="/ppt/media/image8.jpeg" Id="R31de5e1c13ab4123" /><Relationship Type="http://schemas.openxmlformats.org/officeDocument/2006/relationships/notesSlide" Target="/ppt/notesSlides/notesSlide8.xml" Id="R8f5f40ba4aed4ec2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fc86e2d2b2a469a" /><Relationship Type="http://schemas.openxmlformats.org/officeDocument/2006/relationships/notesSlide" Target="/ppt/notesSlides/notesSlide9.xml" Id="R08aa2712f3434ff7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577c4fad4044df6" /><Relationship Type="http://schemas.openxmlformats.org/officeDocument/2006/relationships/image" Target="/ppt/media/image9.jpeg" Id="R0315cb5b1e9d4403" /><Relationship Type="http://schemas.openxmlformats.org/officeDocument/2006/relationships/image" Target="/ppt/media/image10.jpeg" Id="Rfd56501224ea402a" /><Relationship Type="http://schemas.openxmlformats.org/officeDocument/2006/relationships/notesSlide" Target="/ppt/notesSlides/notesSlide10.xml" Id="Rd84b1abe069948ac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878046dc6d94150" /><Relationship Type="http://schemas.openxmlformats.org/officeDocument/2006/relationships/notesSlide" Target="/ppt/notesSlides/notesSlide11.xml" Id="Rb9fdfe29835545ca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61bf26f985b416d" /><Relationship Type="http://schemas.openxmlformats.org/officeDocument/2006/relationships/image" Target="/ppt/media/image11.jpeg" Id="R4a94c9eb76984abd" /><Relationship Type="http://schemas.openxmlformats.org/officeDocument/2006/relationships/image" Target="/ppt/media/image12.jpeg" Id="Rbf0880a8e8ec420d" /><Relationship Type="http://schemas.openxmlformats.org/officeDocument/2006/relationships/notesSlide" Target="/ppt/notesSlides/notesSlide12.xml" Id="Rcde96040362e4685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2fb13bfc95545ef" /><Relationship Type="http://schemas.openxmlformats.org/officeDocument/2006/relationships/notesSlide" Target="/ppt/notesSlides/notesSlide13.xml" Id="R1492d588774343af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94e0ce0ac774f71" /><Relationship Type="http://schemas.openxmlformats.org/officeDocument/2006/relationships/image" Target="/ppt/media/image13.jpeg" Id="R929a5ab97f7a4ab2" /><Relationship Type="http://schemas.openxmlformats.org/officeDocument/2006/relationships/image" Target="/ppt/media/image14.jpeg" Id="R0da1b3be24ee435d" /><Relationship Type="http://schemas.openxmlformats.org/officeDocument/2006/relationships/notesSlide" Target="/ppt/notesSlides/notesSlide14.xml" Id="Rdbe334b8994246d5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efe19d2729045c5" /><Relationship Type="http://schemas.openxmlformats.org/officeDocument/2006/relationships/notesSlide" Target="/ppt/notesSlides/notesSlide15.xml" Id="R485a48170c0140a5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c29266446c44fa2" /><Relationship Type="http://schemas.openxmlformats.org/officeDocument/2006/relationships/image" Target="/ppt/media/image15.jpeg" Id="R807c13c00408485f" /><Relationship Type="http://schemas.openxmlformats.org/officeDocument/2006/relationships/image" Target="/ppt/media/image16.jpeg" Id="Rb9eddf96bbda4454" /><Relationship Type="http://schemas.openxmlformats.org/officeDocument/2006/relationships/notesSlide" Target="/ppt/notesSlides/notesSlide16.xml" Id="Rbfd92e4812a14ef8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08f68c41fe24359" /><Relationship Type="http://schemas.openxmlformats.org/officeDocument/2006/relationships/notesSlide" Target="/ppt/notesSlides/notesSlide17.xml" Id="Rf2675216896d441f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cd2721ed9274ceb" /><Relationship Type="http://schemas.openxmlformats.org/officeDocument/2006/relationships/image" Target="/ppt/media/image17.jpeg" Id="R131c3a3eff374b5b" /><Relationship Type="http://schemas.openxmlformats.org/officeDocument/2006/relationships/image" Target="/ppt/media/image18.jpeg" Id="R83b8776ffbc04089" /><Relationship Type="http://schemas.openxmlformats.org/officeDocument/2006/relationships/notesSlide" Target="/ppt/notesSlides/notesSlide18.xml" Id="R98e5792a05a44fbc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e7605e50827429a" /><Relationship Type="http://schemas.openxmlformats.org/officeDocument/2006/relationships/notesSlide" Target="/ppt/notesSlides/notesSlide19.xml" Id="Rc71808f37107409a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a890a8de3bc445b" /><Relationship Type="http://schemas.openxmlformats.org/officeDocument/2006/relationships/image" Target="/ppt/media/image19.jpeg" Id="R9af84e0b7a024777" /><Relationship Type="http://schemas.openxmlformats.org/officeDocument/2006/relationships/image" Target="/ppt/media/image20.jpeg" Id="Rc73cf29398db46cd" /><Relationship Type="http://schemas.openxmlformats.org/officeDocument/2006/relationships/notesSlide" Target="/ppt/notesSlides/notesSlide20.xml" Id="R2d1780f1884742bb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7c6da5a90864652" /><Relationship Type="http://schemas.openxmlformats.org/officeDocument/2006/relationships/notesSlide" Target="/ppt/notesSlides/notesSlide21.xml" Id="R4ced188c72dc4372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8960e461098430e" /><Relationship Type="http://schemas.openxmlformats.org/officeDocument/2006/relationships/image" Target="/ppt/media/image21.jpeg" Id="Rafbd7ce9b17e4a2b" /><Relationship Type="http://schemas.openxmlformats.org/officeDocument/2006/relationships/image" Target="/ppt/media/image22.jpeg" Id="R7d3b9a9b89694461" /><Relationship Type="http://schemas.openxmlformats.org/officeDocument/2006/relationships/notesSlide" Target="/ppt/notesSlides/notesSlide22.xml" Id="R9b48ce7e1f4f494e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987934e86f4434b" /><Relationship Type="http://schemas.openxmlformats.org/officeDocument/2006/relationships/notesSlide" Target="/ppt/notesSlides/notesSlide23.xml" Id="Rd14594632b8840d3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4932f3def804fa9" /><Relationship Type="http://schemas.openxmlformats.org/officeDocument/2006/relationships/image" Target="/ppt/media/image23.jpeg" Id="Recc44456e5e94ec8" /><Relationship Type="http://schemas.openxmlformats.org/officeDocument/2006/relationships/image" Target="/ppt/media/image24.jpeg" Id="R6d7b5afa8eb04d6d" /><Relationship Type="http://schemas.openxmlformats.org/officeDocument/2006/relationships/notesSlide" Target="/ppt/notesSlides/notesSlide24.xml" Id="R3efd788289c14cf8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78b6b43e3cc4212" /><Relationship Type="http://schemas.openxmlformats.org/officeDocument/2006/relationships/notesSlide" Target="/ppt/notesSlides/notesSlide25.xml" Id="Re20673f579d04fef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d48a3f455c84d9c" /><Relationship Type="http://schemas.openxmlformats.org/officeDocument/2006/relationships/image" Target="/ppt/media/image25.jpeg" Id="Rbc0967a07df14015" /><Relationship Type="http://schemas.openxmlformats.org/officeDocument/2006/relationships/image" Target="/ppt/media/image26.jpeg" Id="R3783011b1bc14a20" /><Relationship Type="http://schemas.openxmlformats.org/officeDocument/2006/relationships/notesSlide" Target="/ppt/notesSlides/notesSlide26.xml" Id="R66c2b074acdb42eb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f153ab5fa3144d6" /><Relationship Type="http://schemas.openxmlformats.org/officeDocument/2006/relationships/notesSlide" Target="/ppt/notesSlides/notesSlide27.xml" Id="R849948c39881481e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fc940085342447d" /><Relationship Type="http://schemas.openxmlformats.org/officeDocument/2006/relationships/image" Target="/ppt/media/image27.jpeg" Id="Redc90ff64bcb41c6" /><Relationship Type="http://schemas.openxmlformats.org/officeDocument/2006/relationships/image" Target="/ppt/media/image28.jpeg" Id="Rb8a1eb7f8ddd4a17" /><Relationship Type="http://schemas.openxmlformats.org/officeDocument/2006/relationships/notesSlide" Target="/ppt/notesSlides/notesSlide28.xml" Id="R30b436d0771c4ec8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1ca1ac828ee45ea" /><Relationship Type="http://schemas.openxmlformats.org/officeDocument/2006/relationships/notesSlide" Target="/ppt/notesSlides/notesSlide29.xml" Id="Rede1af3afb1e42dd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f4573f601bf425f" /><Relationship Type="http://schemas.openxmlformats.org/officeDocument/2006/relationships/image" Target="/ppt/media/image29.jpeg" Id="R85647cf329b34d22" /><Relationship Type="http://schemas.openxmlformats.org/officeDocument/2006/relationships/image" Target="/ppt/media/image30.jpeg" Id="Rca53d935e090455c" /><Relationship Type="http://schemas.openxmlformats.org/officeDocument/2006/relationships/notesSlide" Target="/ppt/notesSlides/notesSlide30.xml" Id="R2b3d06e51f904bee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72828f22df24c07" /><Relationship Type="http://schemas.openxmlformats.org/officeDocument/2006/relationships/notesSlide" Target="/ppt/notesSlides/notesSlide31.xml" Id="Ref6e65e3facc4bdc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06c369160cd49c0" /><Relationship Type="http://schemas.openxmlformats.org/officeDocument/2006/relationships/image" Target="/ppt/media/image31.jpeg" Id="R83adadcee2424718" /><Relationship Type="http://schemas.openxmlformats.org/officeDocument/2006/relationships/image" Target="/ppt/media/image32.jpeg" Id="Rf553853123db478f" /><Relationship Type="http://schemas.openxmlformats.org/officeDocument/2006/relationships/notesSlide" Target="/ppt/notesSlides/notesSlide32.xml" Id="Re45862a2bcc64806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6d499c4227f4843" /><Relationship Type="http://schemas.openxmlformats.org/officeDocument/2006/relationships/notesSlide" Target="/ppt/notesSlides/notesSlide33.xml" Id="Rac4cd01a5fa64a1b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d3e96365cc2401a" /><Relationship Type="http://schemas.openxmlformats.org/officeDocument/2006/relationships/image" Target="/ppt/media/image33.jpeg" Id="Rf7d51ac63d8744fa" /><Relationship Type="http://schemas.openxmlformats.org/officeDocument/2006/relationships/image" Target="/ppt/media/image34.jpeg" Id="Rd74b4f5099b440ae" /><Relationship Type="http://schemas.openxmlformats.org/officeDocument/2006/relationships/notesSlide" Target="/ppt/notesSlides/notesSlide34.xml" Id="R36b9f1c39ff94609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d34ae9e52f04cf8" /><Relationship Type="http://schemas.openxmlformats.org/officeDocument/2006/relationships/notesSlide" Target="/ppt/notesSlides/notesSlide35.xml" Id="Rbb72cf8d73664cd9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27af6374f364b06" /><Relationship Type="http://schemas.openxmlformats.org/officeDocument/2006/relationships/image" Target="/ppt/media/image35.jpeg" Id="R515535ab7e874c2a" /><Relationship Type="http://schemas.openxmlformats.org/officeDocument/2006/relationships/image" Target="/ppt/media/image36.jpeg" Id="R23164cdbc1154114" /><Relationship Type="http://schemas.openxmlformats.org/officeDocument/2006/relationships/notesSlide" Target="/ppt/notesSlides/notesSlide36.xml" Id="R5a87904af8364389" /></Relationships>
</file>

<file path=ppt/slides/_rels/slide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db20b62b26341dd" /><Relationship Type="http://schemas.openxmlformats.org/officeDocument/2006/relationships/notesSlide" Target="/ppt/notesSlides/notesSlide37.xml" Id="R9b422441acac445e" /></Relationships>
</file>

<file path=ppt/slides/_rels/slide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f9756e1ce834d71" /><Relationship Type="http://schemas.openxmlformats.org/officeDocument/2006/relationships/image" Target="/ppt/media/image37.jpeg" Id="R967116c6bb25443f" /><Relationship Type="http://schemas.openxmlformats.org/officeDocument/2006/relationships/image" Target="/ppt/media/image38.jpeg" Id="R4a119c2eb138444b" /><Relationship Type="http://schemas.openxmlformats.org/officeDocument/2006/relationships/notesSlide" Target="/ppt/notesSlides/notesSlide38.xml" Id="R32239138b78a46ba" /></Relationships>
</file>

<file path=ppt/slides/_rels/slide3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aabc92736954bdb" /><Relationship Type="http://schemas.openxmlformats.org/officeDocument/2006/relationships/notesSlide" Target="/ppt/notesSlides/notesSlide39.xml" Id="R043100d788d744d5" /></Relationships>
</file>

<file path=ppt/slides/_rels/slide4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a2eb051b30f4787" /><Relationship Type="http://schemas.openxmlformats.org/officeDocument/2006/relationships/image" Target="/ppt/media/image39.jpeg" Id="R076af4025ff34682" /><Relationship Type="http://schemas.openxmlformats.org/officeDocument/2006/relationships/image" Target="/ppt/media/image40.jpeg" Id="R22b8dacd5e3842d9" /><Relationship Type="http://schemas.openxmlformats.org/officeDocument/2006/relationships/notesSlide" Target="/ppt/notesSlides/notesSlide40.xml" Id="Rd9184b27d91e4b80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5EF9812-C598-403E-95C3-B965C7B4A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76225"/>
            <a:ext cx="1428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22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322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322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322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322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322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322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322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322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322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73747"/>
                </a:solidFill>
                <a:latin typeface="DejaVu Sans"/>
                <a:ea typeface="DejaVu Sans"/>
                <a:cs typeface="DejaVu Sans"/>
              </a:rPr>
              <a:t>01  LK_P050_07  metrics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87E4203-FCBE-4546-9952-341C0EBE0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95350"/>
            <a:ext cx="1428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8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8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8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8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8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8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8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8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8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50616C"/>
                </a:solidFill>
                <a:latin typeface="DejaVu Sans"/>
                <a:ea typeface="DejaVu Sans"/>
                <a:cs typeface="DejaVu Sans"/>
              </a:rPr>
              <a:t>D-L-D fusion   Candidate A: 151 aa   Human GLP1R B: 440 aa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3971052-CAA8-409A-BB91-69BC2F18D716}"/>
              </a:ext>
            </a:extLst>
          </p:cNvPr>
          <p:cNvGraphicFramePr/>
          <p:nvPr/>
        </p:nvGraphicFramePr>
        <p:xfrm>
          <a:off xmlns:a="http://schemas.openxmlformats.org/drawingml/2006/main" x="457200" y="1457325"/>
          <a:ext xmlns:a="http://schemas.openxmlformats.org/drawingml/2006/main" cx="9667875" cy="48006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6791325"/>
                <a:gridCol w="2876550"/>
              </a:tblGrid>
              <a:tr h="34290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Metric and scope</a:t>
                      </a:r>
                    </a:p>
                  </a:txBody>
                  <a:tcPr marL="91440" marR="91440" marT="45720" marB="45720">
                    <a:lnL w="5715">
                      <a:solidFill>
                        <a:srgbClr val="D8E1E5"/>
                      </a:solidFill>
                      <a:prstDash val="solid"/>
                    </a:lnL>
                    <a:lnR w="5715">
                      <a:solidFill>
                        <a:srgbClr val="D8E1E5"/>
                      </a:solidFill>
                      <a:prstDash val="solid"/>
                    </a:lnR>
                    <a:lnT w="5715">
                      <a:solidFill>
                        <a:srgbClr val="D8E1E5"/>
                      </a:solidFill>
                      <a:prstDash val="solid"/>
                    </a:lnT>
                    <a:lnB w="5715">
                      <a:solidFill>
                        <a:srgbClr val="D8E1E5"/>
                      </a:solidFill>
                      <a:prstDash val="solid"/>
                    </a:lnB>
                    <a:solidFill>
                      <a:srgbClr val="245D7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Value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8E1E5"/>
                      </a:solidFill>
                      <a:prstDash val="solid"/>
                    </a:lnR>
                    <a:lnT w="5715">
                      <a:solidFill>
                        <a:srgbClr val="D8E1E5"/>
                      </a:solidFill>
                      <a:prstDash val="solid"/>
                    </a:lnT>
                    <a:lnB w="5715">
                      <a:solidFill>
                        <a:srgbClr val="D8E1E5"/>
                      </a:solidFill>
                      <a:prstDash val="solid"/>
                    </a:lnB>
                    <a:solidFill>
                      <a:srgbClr val="245D73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73747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Boltz2 Exact ipSAE (A/B, Type=max)</a:t>
                      </a:r>
                    </a:p>
                  </a:txBody>
                  <a:tcPr marL="91440" marR="91440" marT="45720" marB="45720">
                    <a:lnL w="5715">
                      <a:solidFill>
                        <a:srgbClr val="D8E1E5"/>
                      </a:solidFill>
                      <a:prstDash val="solid"/>
                    </a:lnL>
                    <a:lnR w="5715">
                      <a:solidFill>
                        <a:srgbClr val="D8E1E5"/>
                      </a:solidFill>
                      <a:prstDash val="solid"/>
                    </a:lnR>
                    <a:lnB w="5715">
                      <a:solidFill>
                        <a:srgbClr val="D8E1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73747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0.919125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8E1E5"/>
                      </a:solidFill>
                      <a:prstDash val="solid"/>
                    </a:lnR>
                    <a:lnB w="5715">
                      <a:solidFill>
                        <a:srgbClr val="D8E1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73747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DeltaForge predicted Kd (nM)</a:t>
                      </a:r>
                    </a:p>
                  </a:txBody>
                  <a:tcPr marL="91440" marR="91440" marT="45720" marB="45720">
                    <a:lnL w="5715">
                      <a:solidFill>
                        <a:srgbClr val="D8E1E5"/>
                      </a:solidFill>
                      <a:prstDash val="solid"/>
                    </a:lnL>
                    <a:lnR w="5715">
                      <a:solidFill>
                        <a:srgbClr val="D8E1E5"/>
                      </a:solidFill>
                      <a:prstDash val="solid"/>
                    </a:lnR>
                    <a:lnB w="5715">
                      <a:solidFill>
                        <a:srgbClr val="D8E1E5"/>
                      </a:solidFill>
                      <a:prstDash val="solid"/>
                    </a:lnB>
                    <a:solidFill>
                      <a:srgbClr val="F1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73747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3.0368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8E1E5"/>
                      </a:solidFill>
                      <a:prstDash val="solid"/>
                    </a:lnR>
                    <a:lnB w="5715">
                      <a:solidFill>
                        <a:srgbClr val="D8E1E5"/>
                      </a:solidFill>
                      <a:prstDash val="solid"/>
                    </a:lnB>
                    <a:solidFill>
                      <a:srgbClr val="F1F5F7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73747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Boltz2 Exact ipTM</a:t>
                      </a:r>
                    </a:p>
                  </a:txBody>
                  <a:tcPr marL="91440" marR="91440" marT="45720" marB="45720">
                    <a:lnL w="5715">
                      <a:solidFill>
                        <a:srgbClr val="D8E1E5"/>
                      </a:solidFill>
                      <a:prstDash val="solid"/>
                    </a:lnL>
                    <a:lnR w="5715">
                      <a:solidFill>
                        <a:srgbClr val="D8E1E5"/>
                      </a:solidFill>
                      <a:prstDash val="solid"/>
                    </a:lnR>
                    <a:lnB w="5715">
                      <a:solidFill>
                        <a:srgbClr val="D8E1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73747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0.9356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8E1E5"/>
                      </a:solidFill>
                      <a:prstDash val="solid"/>
                    </a:lnR>
                    <a:lnB w="5715">
                      <a:solidFill>
                        <a:srgbClr val="D8E1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73747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Original population ipSAE rank</a:t>
                      </a:r>
                    </a:p>
                  </a:txBody>
                  <a:tcPr marL="91440" marR="91440" marT="45720" marB="45720">
                    <a:lnL w="5715">
                      <a:solidFill>
                        <a:srgbClr val="D8E1E5"/>
                      </a:solidFill>
                      <a:prstDash val="solid"/>
                    </a:lnL>
                    <a:lnR w="5715">
                      <a:solidFill>
                        <a:srgbClr val="D8E1E5"/>
                      </a:solidFill>
                      <a:prstDash val="solid"/>
                    </a:lnR>
                    <a:lnB w="5715">
                      <a:solidFill>
                        <a:srgbClr val="D8E1E5"/>
                      </a:solidFill>
                      <a:prstDash val="solid"/>
                    </a:lnB>
                    <a:solidFill>
                      <a:srgbClr val="F1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73747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1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8E1E5"/>
                      </a:solidFill>
                      <a:prstDash val="solid"/>
                    </a:lnR>
                    <a:lnB w="5715">
                      <a:solidFill>
                        <a:srgbClr val="D8E1E5"/>
                      </a:solidFill>
                      <a:prstDash val="solid"/>
                    </a:lnB>
                    <a:solidFill>
                      <a:srgbClr val="F1F5F7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73747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Predicted-Kd rank within population top50</a:t>
                      </a:r>
                    </a:p>
                  </a:txBody>
                  <a:tcPr marL="91440" marR="91440" marT="45720" marB="45720">
                    <a:lnL w="5715">
                      <a:solidFill>
                        <a:srgbClr val="D8E1E5"/>
                      </a:solidFill>
                      <a:prstDash val="solid"/>
                    </a:lnL>
                    <a:lnR w="5715">
                      <a:solidFill>
                        <a:srgbClr val="D8E1E5"/>
                      </a:solidFill>
                      <a:prstDash val="solid"/>
                    </a:lnR>
                    <a:lnB w="5715">
                      <a:solidFill>
                        <a:srgbClr val="D8E1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73747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27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8E1E5"/>
                      </a:solidFill>
                      <a:prstDash val="solid"/>
                    </a:lnR>
                    <a:lnB w="5715">
                      <a:solidFill>
                        <a:srgbClr val="D8E1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73747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Candidate / receptor residues (aa)</a:t>
                      </a:r>
                    </a:p>
                  </a:txBody>
                  <a:tcPr marL="91440" marR="91440" marT="45720" marB="45720">
                    <a:lnL w="5715">
                      <a:solidFill>
                        <a:srgbClr val="D8E1E5"/>
                      </a:solidFill>
                      <a:prstDash val="solid"/>
                    </a:lnL>
                    <a:lnR w="5715">
                      <a:solidFill>
                        <a:srgbClr val="D8E1E5"/>
                      </a:solidFill>
                      <a:prstDash val="solid"/>
                    </a:lnR>
                    <a:lnB w="5715">
                      <a:solidFill>
                        <a:srgbClr val="D8E1E5"/>
                      </a:solidFill>
                      <a:prstDash val="solid"/>
                    </a:lnB>
                    <a:solidFill>
                      <a:srgbClr val="F1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73747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151 / 440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8E1E5"/>
                      </a:solidFill>
                      <a:prstDash val="solid"/>
                    </a:lnR>
                    <a:lnB w="5715">
                      <a:solidFill>
                        <a:srgbClr val="D8E1E5"/>
                      </a:solidFill>
                      <a:prstDash val="solid"/>
                    </a:lnB>
                    <a:solidFill>
                      <a:srgbClr val="F1F5F7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73747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pDockQ / pDockQ2</a:t>
                      </a:r>
                    </a:p>
                  </a:txBody>
                  <a:tcPr marL="91440" marR="91440" marT="45720" marB="45720">
                    <a:lnL w="5715">
                      <a:solidFill>
                        <a:srgbClr val="D8E1E5"/>
                      </a:solidFill>
                      <a:prstDash val="solid"/>
                    </a:lnL>
                    <a:lnR w="5715">
                      <a:solidFill>
                        <a:srgbClr val="D8E1E5"/>
                      </a:solidFill>
                      <a:prstDash val="solid"/>
                    </a:lnR>
                    <a:lnB w="5715">
                      <a:solidFill>
                        <a:srgbClr val="D8E1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73747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0.3814 / 0.2607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8E1E5"/>
                      </a:solidFill>
                      <a:prstDash val="solid"/>
                    </a:lnR>
                    <a:lnB w="5715">
                      <a:solidFill>
                        <a:srgbClr val="D8E1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73747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Whole fusion / linker pLDDT (0-100)</a:t>
                      </a:r>
                    </a:p>
                  </a:txBody>
                  <a:tcPr marL="91440" marR="91440" marT="45720" marB="45720">
                    <a:lnL w="5715">
                      <a:solidFill>
                        <a:srgbClr val="D8E1E5"/>
                      </a:solidFill>
                      <a:prstDash val="solid"/>
                    </a:lnL>
                    <a:lnR w="5715">
                      <a:solidFill>
                        <a:srgbClr val="D8E1E5"/>
                      </a:solidFill>
                      <a:prstDash val="solid"/>
                    </a:lnR>
                    <a:lnB w="5715">
                      <a:solidFill>
                        <a:srgbClr val="D8E1E5"/>
                      </a:solidFill>
                      <a:prstDash val="solid"/>
                    </a:lnB>
                    <a:solidFill>
                      <a:srgbClr val="F1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73747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49.8 / 40.4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8E1E5"/>
                      </a:solidFill>
                      <a:prstDash val="solid"/>
                    </a:lnR>
                    <a:lnB w="5715">
                      <a:solidFill>
                        <a:srgbClr val="D8E1E5"/>
                      </a:solidFill>
                      <a:prstDash val="solid"/>
                    </a:lnB>
                    <a:solidFill>
                      <a:srgbClr val="F1F5F7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73747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ECD / LigandForge pLDDT (0-100)</a:t>
                      </a:r>
                    </a:p>
                  </a:txBody>
                  <a:tcPr marL="91440" marR="91440" marT="45720" marB="45720">
                    <a:lnL w="5715">
                      <a:solidFill>
                        <a:srgbClr val="D8E1E5"/>
                      </a:solidFill>
                      <a:prstDash val="solid"/>
                    </a:lnL>
                    <a:lnR w="5715">
                      <a:solidFill>
                        <a:srgbClr val="D8E1E5"/>
                      </a:solidFill>
                      <a:prstDash val="solid"/>
                    </a:lnR>
                    <a:lnB w="5715">
                      <a:solidFill>
                        <a:srgbClr val="D8E1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73747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66.6 / 40.8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8E1E5"/>
                      </a:solidFill>
                      <a:prstDash val="solid"/>
                    </a:lnR>
                    <a:lnB w="5715">
                      <a:solidFill>
                        <a:srgbClr val="D8E1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73747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Fusion design-to-refold DockQ</a:t>
                      </a:r>
                    </a:p>
                  </a:txBody>
                  <a:tcPr marL="91440" marR="91440" marT="45720" marB="45720">
                    <a:lnL w="5715">
                      <a:solidFill>
                        <a:srgbClr val="D8E1E5"/>
                      </a:solidFill>
                      <a:prstDash val="solid"/>
                    </a:lnL>
                    <a:lnR w="5715">
                      <a:solidFill>
                        <a:srgbClr val="D8E1E5"/>
                      </a:solidFill>
                      <a:prstDash val="solid"/>
                    </a:lnR>
                    <a:lnB w="5715">
                      <a:solidFill>
                        <a:srgbClr val="D8E1E5"/>
                      </a:solidFill>
                      <a:prstDash val="solid"/>
                    </a:lnB>
                    <a:solidFill>
                      <a:srgbClr val="F1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73747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0.1901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8E1E5"/>
                      </a:solidFill>
                      <a:prstDash val="solid"/>
                    </a:lnR>
                    <a:lnB w="5715">
                      <a:solidFill>
                        <a:srgbClr val="D8E1E5"/>
                      </a:solidFill>
                      <a:prstDash val="solid"/>
                    </a:lnB>
                    <a:solidFill>
                      <a:srgbClr val="F1F5F7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73747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Free C-terminal OPM z (A)</a:t>
                      </a:r>
                    </a:p>
                  </a:txBody>
                  <a:tcPr marL="91440" marR="91440" marT="45720" marB="45720">
                    <a:lnL w="5715">
                      <a:solidFill>
                        <a:srgbClr val="D8E1E5"/>
                      </a:solidFill>
                      <a:prstDash val="solid"/>
                    </a:lnL>
                    <a:lnR w="5715">
                      <a:solidFill>
                        <a:srgbClr val="D8E1E5"/>
                      </a:solidFill>
                      <a:prstDash val="solid"/>
                    </a:lnR>
                    <a:lnB w="5715">
                      <a:solidFill>
                        <a:srgbClr val="D8E1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73747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42.39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8E1E5"/>
                      </a:solidFill>
                      <a:prstDash val="solid"/>
                    </a:lnR>
                    <a:lnB w="5715">
                      <a:solidFill>
                        <a:srgbClr val="D8E1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73747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Extracellular free C-terminal screen</a:t>
                      </a:r>
                    </a:p>
                  </a:txBody>
                  <a:tcPr marL="91440" marR="91440" marT="45720" marB="45720">
                    <a:lnL w="5715">
                      <a:solidFill>
                        <a:srgbClr val="D8E1E5"/>
                      </a:solidFill>
                      <a:prstDash val="solid"/>
                    </a:lnL>
                    <a:lnR w="5715">
                      <a:solidFill>
                        <a:srgbClr val="D8E1E5"/>
                      </a:solidFill>
                      <a:prstDash val="solid"/>
                    </a:lnR>
                    <a:lnB w="5715">
                      <a:solidFill>
                        <a:srgbClr val="D8E1E5"/>
                      </a:solidFill>
                      <a:prstDash val="solid"/>
                    </a:lnB>
                    <a:solidFill>
                      <a:srgbClr val="F1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73747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Pass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8E1E5"/>
                      </a:solidFill>
                      <a:prstDash val="solid"/>
                    </a:lnR>
                    <a:lnB w="5715">
                      <a:solidFill>
                        <a:srgbClr val="D8E1E5"/>
                      </a:solidFill>
                      <a:prstDash val="solid"/>
                    </a:lnB>
                    <a:solidFill>
                      <a:srgbClr val="F1F5F7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73747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DeltaForge length scope</a:t>
                      </a:r>
                    </a:p>
                  </a:txBody>
                  <a:tcPr marL="91440" marR="91440" marT="45720" marB="45720">
                    <a:lnL w="5715">
                      <a:solidFill>
                        <a:srgbClr val="D8E1E5"/>
                      </a:solidFill>
                      <a:prstDash val="solid"/>
                    </a:lnL>
                    <a:lnR w="5715">
                      <a:solidFill>
                        <a:srgbClr val="D8E1E5"/>
                      </a:solidFill>
                      <a:prstDash val="solid"/>
                    </a:lnR>
                    <a:lnB w="5715">
                      <a:solidFill>
                        <a:srgbClr val="D8E1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73747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long_gt_140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8E1E5"/>
                      </a:solidFill>
                      <a:prstDash val="solid"/>
                    </a:lnR>
                    <a:lnB w="5715">
                      <a:solidFill>
                        <a:srgbClr val="D8E1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E81D270-05C0-4FF8-90C4-0C9CB881F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1457325"/>
            <a:ext cx="4095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950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950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950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950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950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950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950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950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950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950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173747"/>
                </a:solidFill>
                <a:latin typeface="DejaVu Sans"/>
                <a:ea typeface="DejaVu Sans"/>
                <a:cs typeface="DejaVu Sans"/>
              </a:rPr>
              <a:t>Origin and prediction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458E5C7-D43A-4108-BF0E-3120A7BB0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1952625"/>
            <a:ext cx="4095750" cy="390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725" b="0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725" b="0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725" b="0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725" b="0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725" b="0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725" b="0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725" b="0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725" b="0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725" b="0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725" b="0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173747"/>
                </a:solidFill>
                <a:latin typeface="DejaVu Sans"/>
                <a:ea typeface="DejaVu Sans"/>
                <a:cs typeface="DejaVu Sans"/>
              </a:rPr>
              <a:t>ECD parent S11_02_089</a:t>
            </a:r>
          </a:p>
          <a:p xmlns:a="http://schemas.openxmlformats.org/drawingml/2006/main">
            <a:pPr>
              <a:defRPr sz="1725" b="0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173747"/>
                </a:solidFill>
                <a:latin typeface="DejaVu Sans"/>
                <a:ea typeface="DejaVu Sans"/>
                <a:cs typeface="DejaVu Sans"/>
              </a:rPr>
              <a:t>LigandForge parent Design_280</a:t>
            </a:r>
          </a:p>
          <a:p xmlns:a="http://schemas.openxmlformats.org/drawingml/2006/main">
            <a:pPr>
              <a:defRPr sz="1725" b="0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173747"/>
                </a:solidFill>
                <a:latin typeface="DejaVu Sans"/>
                <a:ea typeface="DejaVu Sans"/>
                <a:cs typeface="DejaVu Sans"/>
              </a:rPr>
              <a:t>Pair P050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725" b="0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173747"/>
                </a:solidFill>
                <a:latin typeface="DejaVu Sans"/>
                <a:ea typeface="DejaVu Sans"/>
                <a:cs typeface="DejaVu Sans"/>
              </a:rPr>
              <a:t>AP Novo seed 608</a:t>
            </a:r>
          </a:p>
          <a:p xmlns:a="http://schemas.openxmlformats.org/drawingml/2006/main">
            <a:pPr>
              <a:defRPr sz="1725" b="0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173747"/>
                </a:solidFill>
                <a:latin typeface="DejaVu Sans"/>
                <a:ea typeface="DejaVu Sans"/>
                <a:cs typeface="DejaVu Sans"/>
              </a:rPr>
              <a:t>Exact seed 101</a:t>
            </a:r>
          </a:p>
          <a:p xmlns:a="http://schemas.openxmlformats.org/drawingml/2006/main">
            <a:pPr>
              <a:defRPr sz="1725" b="0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173747"/>
                </a:solidFill>
                <a:latin typeface="DejaVu Sans"/>
                <a:ea typeface="DejaVu Sans"/>
                <a:cs typeface="DejaVu Sans"/>
              </a:rPr>
              <a:t>3 recycles, 200 steps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725" b="0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173747"/>
                </a:solidFill>
                <a:latin typeface="DejaVu Sans"/>
                <a:ea typeface="DejaVu Sans"/>
                <a:cs typeface="DejaVu Sans"/>
              </a:rPr>
              <a:t>ECD A1-53  linker A54-82  LF A83-151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F308645-EC42-4F04-BBD5-FAE7E3BD7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81750"/>
            <a:ext cx="14192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650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650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650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650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650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650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650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650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650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650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50616C"/>
                </a:solidFill>
                <a:latin typeface="DejaVu Sans"/>
                <a:ea typeface="DejaVu Sans"/>
                <a:cs typeface="DejaVu Sans"/>
              </a:rPr>
              <a:t>Whole-fusion pLDDT remains modest. High interface confidence does not establish activation.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38BC2B5-D30D-47B9-A482-063C5817E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115175"/>
            <a:ext cx="14192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57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57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57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57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57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57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57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57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57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57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57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pPr>
            <a:r>
              <a:rPr sz="1575" b="1">
                <a:solidFill>
                  <a:srgbClr val="173747"/>
                </a:solidFill>
                <a:latin typeface="DejaVu Sans"/>
                <a:ea typeface="DejaVu Sans"/>
                <a:cs typeface="DejaVu Sans"/>
              </a:rPr>
              <a:t>Complete selected sequence, N to C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6A6EAEC-9A52-4280-98DD-C8666C70A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410450"/>
            <a:ext cx="141922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500" b="0">
                <a:solidFill>
                  <a:srgbClr val="173747"/>
                </a:solidFill>
                <a:latin typeface="DejaVu Sans Mono"/>
                <a:ea typeface="DejaVu Sans Mono"/>
                <a:cs typeface="DejaVu Sans Mono"/>
              </a:defRPr>
            </a:defPPr>
            <a:lvl1pPr>
              <a:defRPr sz="1500" b="0">
                <a:solidFill>
                  <a:srgbClr val="173747"/>
                </a:solidFill>
                <a:latin typeface="DejaVu Sans Mono"/>
                <a:ea typeface="DejaVu Sans Mono"/>
                <a:cs typeface="DejaVu Sans Mono"/>
              </a:defRPr>
            </a:lvl1pPr>
            <a:lvl2pPr>
              <a:defRPr sz="1500" b="0">
                <a:solidFill>
                  <a:srgbClr val="173747"/>
                </a:solidFill>
                <a:latin typeface="DejaVu Sans Mono"/>
                <a:ea typeface="DejaVu Sans Mono"/>
                <a:cs typeface="DejaVu Sans Mono"/>
              </a:defRPr>
            </a:lvl2pPr>
            <a:lvl3pPr>
              <a:defRPr sz="1500" b="0">
                <a:solidFill>
                  <a:srgbClr val="173747"/>
                </a:solidFill>
                <a:latin typeface="DejaVu Sans Mono"/>
                <a:ea typeface="DejaVu Sans Mono"/>
                <a:cs typeface="DejaVu Sans Mono"/>
              </a:defRPr>
            </a:lvl3pPr>
            <a:lvl4pPr>
              <a:defRPr sz="1500" b="0">
                <a:solidFill>
                  <a:srgbClr val="173747"/>
                </a:solidFill>
                <a:latin typeface="DejaVu Sans Mono"/>
                <a:ea typeface="DejaVu Sans Mono"/>
                <a:cs typeface="DejaVu Sans Mono"/>
              </a:defRPr>
            </a:lvl4pPr>
            <a:lvl5pPr>
              <a:defRPr sz="1500" b="0">
                <a:solidFill>
                  <a:srgbClr val="173747"/>
                </a:solidFill>
                <a:latin typeface="DejaVu Sans Mono"/>
                <a:ea typeface="DejaVu Sans Mono"/>
                <a:cs typeface="DejaVu Sans Mono"/>
              </a:defRPr>
            </a:lvl5pPr>
            <a:lvl6pPr>
              <a:defRPr sz="1500" b="0">
                <a:solidFill>
                  <a:srgbClr val="173747"/>
                </a:solidFill>
                <a:latin typeface="DejaVu Sans Mono"/>
                <a:ea typeface="DejaVu Sans Mono"/>
                <a:cs typeface="DejaVu Sans Mono"/>
              </a:defRPr>
            </a:lvl6pPr>
            <a:lvl7pPr>
              <a:defRPr sz="1500" b="0">
                <a:solidFill>
                  <a:srgbClr val="173747"/>
                </a:solidFill>
                <a:latin typeface="DejaVu Sans Mono"/>
                <a:ea typeface="DejaVu Sans Mono"/>
                <a:cs typeface="DejaVu Sans Mono"/>
              </a:defRPr>
            </a:lvl7pPr>
            <a:lvl8pPr>
              <a:defRPr sz="1500" b="0">
                <a:solidFill>
                  <a:srgbClr val="173747"/>
                </a:solidFill>
                <a:latin typeface="DejaVu Sans Mono"/>
                <a:ea typeface="DejaVu Sans Mono"/>
                <a:cs typeface="DejaVu Sans Mono"/>
              </a:defRPr>
            </a:lvl8pPr>
            <a:lvl9pPr>
              <a:defRPr sz="1500" b="0">
                <a:solidFill>
                  <a:srgbClr val="173747"/>
                </a:solidFill>
                <a:latin typeface="DejaVu Sans Mono"/>
                <a:ea typeface="DejaVu Sans Mono"/>
                <a:cs typeface="DejaVu Sans Mono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173747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00" b="0">
                <a:solidFill>
                  <a:srgbClr val="173747"/>
                </a:solidFill>
                <a:latin typeface="DejaVu Sans Mono"/>
                <a:ea typeface="DejaVu Sans Mono"/>
                <a:cs typeface="DejaVu Sans Mono"/>
              </a:rPr>
              <a:t>MGISALEEFDRLRRASILLSLIRSGSTGSGFDAFLEKSGVKGAPAFLAVPSSNAFSPTSSEVAPDLPFVVLPYP</a:t>
            </a:r>
          </a:p>
          <a:p xmlns:a="http://schemas.openxmlformats.org/drawingml/2006/main">
            <a:pPr>
              <a:defRPr sz="1500" b="0">
                <a:solidFill>
                  <a:srgbClr val="173747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00" b="0">
                <a:solidFill>
                  <a:srgbClr val="173747"/>
                </a:solidFill>
                <a:latin typeface="DejaVu Sans Mono"/>
                <a:ea typeface="DejaVu Sans Mono"/>
                <a:cs typeface="DejaVu Sans Mono"/>
              </a:rPr>
              <a:t>PPPSSSVIEVSGATIDLRVKTCVDFKQTVNFFKLRNTQLPGSCTKDNTVLFLLEGLKLGYASRYFSIGSGSGSQ</a:t>
            </a:r>
          </a:p>
          <a:p xmlns:a="http://schemas.openxmlformats.org/drawingml/2006/main">
            <a:pPr>
              <a:defRPr sz="1500" b="0">
                <a:solidFill>
                  <a:srgbClr val="173747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00" b="0">
                <a:solidFill>
                  <a:srgbClr val="173747"/>
                </a:solidFill>
                <a:latin typeface="DejaVu Sans Mono"/>
                <a:ea typeface="DejaVu Sans Mono"/>
                <a:cs typeface="DejaVu Sans Mono"/>
              </a:rPr>
              <a:t>QFS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9BC0D11-43D1-4EA0-8EB0-4ED5B7720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248650"/>
            <a:ext cx="1304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2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2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2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2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2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2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2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2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2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2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50616C"/>
                </a:solidFill>
                <a:latin typeface="DejaVu Sans"/>
                <a:ea typeface="DejaVu Sans"/>
                <a:cs typeface="DejaVu Sans"/>
              </a:rPr>
              <a:t>Human GLP1R     Boltz2 Exact     Computational predictions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F8CFF09-B80D-40C0-AAEB-A22AA25F6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0" y="82486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2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2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2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2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2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2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2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2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2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2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50616C"/>
                </a:solidFill>
                <a:latin typeface="DejaVu Sans"/>
                <a:ea typeface="DejaVu Sans"/>
                <a:cs typeface="DejaVu Sans"/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128413859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60C1C20-2F04-4E7C-ACD6-9E7A67725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76225"/>
            <a:ext cx="1428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22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322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322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322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322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322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322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322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322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322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73747"/>
                </a:solidFill>
                <a:latin typeface="DejaVu Sans"/>
                <a:ea typeface="DejaVu Sans"/>
                <a:cs typeface="DejaVu Sans"/>
              </a:rPr>
              <a:t>01  LK_P050_07  structure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AF5C94D-C712-46D8-A5A0-4AEA55C9E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95350"/>
            <a:ext cx="1428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8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8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8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8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8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8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8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8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8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50616C"/>
                </a:solidFill>
                <a:latin typeface="DejaVu Sans"/>
                <a:ea typeface="DejaVu Sans"/>
                <a:cs typeface="DejaVu Sans"/>
              </a:rPr>
              <a:t>D-L-D fusion   Candidate A: 151 aa   Human GLP1R B: 440 aa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3856578-02C4-482A-B1C1-2BB13679D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362075"/>
            <a:ext cx="619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7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87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87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87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87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87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87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87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87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87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173747"/>
                </a:solidFill>
                <a:latin typeface="DejaVu Sans"/>
                <a:ea typeface="DejaVu Sans"/>
                <a:cs typeface="DejaVu Sans"/>
              </a:rPr>
              <a:t>Boltz2 Exact receptor complex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5EAA685-EFC6-41BF-9886-7CD1CB513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362075"/>
            <a:ext cx="619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7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87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87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87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87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87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87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87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87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87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173747"/>
                </a:solidFill>
                <a:latin typeface="DejaVu Sans"/>
                <a:ea typeface="DejaVu Sans"/>
                <a:cs typeface="DejaVu Sans"/>
              </a:rPr>
              <a:t>Boltz2 Exact interface detail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F21E4F1-C1C1-409B-8554-5361B6349C4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5c799abd9714456"/>
          <a:stretch xmlns:a="http://schemas.openxmlformats.org/drawingml/2006/main"/>
        </p:blipFill>
        <p:spPr>
          <a:xfrm xmlns:a="http://schemas.openxmlformats.org/drawingml/2006/main">
            <a:off x="2344208" y="1724025"/>
            <a:ext cx="3217333" cy="4572000"/>
          </a:xfrm>
          <a:prstGeom xmlns:a="http://schemas.openxmlformats.org/drawingml/2006/main" prst="rect">
            <a:avLst/>
          </a:prstGeom>
        </p:spPr>
      </p:pic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1F01345-A3CF-4FA4-88C9-549DFC36A3A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b24368169c64e6f"/>
          <a:stretch xmlns:a="http://schemas.openxmlformats.org/drawingml/2006/main"/>
        </p:blipFill>
        <p:spPr>
          <a:xfrm xmlns:a="http://schemas.openxmlformats.org/drawingml/2006/main">
            <a:off x="9296093" y="1724025"/>
            <a:ext cx="3982065" cy="457200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CD2B135-B09A-467A-9196-710DFB82E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579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650" b="1">
                <a:solidFill>
                  <a:srgbClr val="E69F00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650" b="1">
                <a:solidFill>
                  <a:srgbClr val="E69F00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650" b="1">
                <a:solidFill>
                  <a:srgbClr val="E69F00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650" b="1">
                <a:solidFill>
                  <a:srgbClr val="E69F00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650" b="1">
                <a:solidFill>
                  <a:srgbClr val="E69F00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650" b="1">
                <a:solidFill>
                  <a:srgbClr val="E69F00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650" b="1">
                <a:solidFill>
                  <a:srgbClr val="E69F00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650" b="1">
                <a:solidFill>
                  <a:srgbClr val="E69F00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650" b="1">
                <a:solidFill>
                  <a:srgbClr val="E69F00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650" b="1">
                <a:solidFill>
                  <a:srgbClr val="E69F00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E69F00"/>
                </a:solidFill>
                <a:latin typeface="DejaVu Sans"/>
                <a:ea typeface="DejaVu Sans"/>
                <a:cs typeface="DejaVu Sans"/>
              </a:defRPr>
            </a:pPr>
            <a:r>
              <a:rPr sz="1650" b="1">
                <a:solidFill>
                  <a:srgbClr val="E69F00"/>
                </a:solidFill>
                <a:latin typeface="DejaVu Sans"/>
                <a:ea typeface="DejaVu Sans"/>
                <a:cs typeface="DejaVu Sans"/>
              </a:rPr>
              <a:t>LigandForge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E88A141-C897-4365-881F-3FE226354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64579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650" b="1">
                <a:solidFill>
                  <a:srgbClr val="AA4499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650" b="1">
                <a:solidFill>
                  <a:srgbClr val="AA4499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650" b="1">
                <a:solidFill>
                  <a:srgbClr val="AA4499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650" b="1">
                <a:solidFill>
                  <a:srgbClr val="AA4499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650" b="1">
                <a:solidFill>
                  <a:srgbClr val="AA4499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650" b="1">
                <a:solidFill>
                  <a:srgbClr val="AA4499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650" b="1">
                <a:solidFill>
                  <a:srgbClr val="AA4499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650" b="1">
                <a:solidFill>
                  <a:srgbClr val="AA4499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650" b="1">
                <a:solidFill>
                  <a:srgbClr val="AA4499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650" b="1">
                <a:solidFill>
                  <a:srgbClr val="AA4499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AA4499"/>
                </a:solidFill>
                <a:latin typeface="DejaVu Sans"/>
                <a:ea typeface="DejaVu Sans"/>
                <a:cs typeface="DejaVu Sans"/>
              </a:defRPr>
            </a:pPr>
            <a:r>
              <a:rPr sz="1650" b="1">
                <a:solidFill>
                  <a:srgbClr val="AA4499"/>
                </a:solidFill>
                <a:latin typeface="DejaVu Sans"/>
                <a:ea typeface="DejaVu Sans"/>
                <a:cs typeface="DejaVu Sans"/>
              </a:rPr>
              <a:t>Linker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1DCE094-5BFB-4589-B562-93D4B58EB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64579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650" b="1">
                <a:solidFill>
                  <a:srgbClr val="0072B2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650" b="1">
                <a:solidFill>
                  <a:srgbClr val="0072B2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650" b="1">
                <a:solidFill>
                  <a:srgbClr val="0072B2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650" b="1">
                <a:solidFill>
                  <a:srgbClr val="0072B2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650" b="1">
                <a:solidFill>
                  <a:srgbClr val="0072B2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650" b="1">
                <a:solidFill>
                  <a:srgbClr val="0072B2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650" b="1">
                <a:solidFill>
                  <a:srgbClr val="0072B2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650" b="1">
                <a:solidFill>
                  <a:srgbClr val="0072B2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650" b="1">
                <a:solidFill>
                  <a:srgbClr val="0072B2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650" b="1">
                <a:solidFill>
                  <a:srgbClr val="0072B2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0072B2"/>
                </a:solidFill>
                <a:latin typeface="DejaVu Sans"/>
                <a:ea typeface="DejaVu Sans"/>
                <a:cs typeface="DejaVu Sans"/>
              </a:defRPr>
            </a:pPr>
            <a:r>
              <a:rPr sz="1650" b="1">
                <a:solidFill>
                  <a:srgbClr val="0072B2"/>
                </a:solidFill>
                <a:latin typeface="DejaVu Sans"/>
                <a:ea typeface="DejaVu Sans"/>
                <a:cs typeface="DejaVu Sans"/>
              </a:rPr>
              <a:t>ECD binder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92D5F2B-9F19-4CDA-966C-E816A86B9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64579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650" b="1">
                <a:solidFill>
                  <a:srgbClr val="009E73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650" b="1">
                <a:solidFill>
                  <a:srgbClr val="009E73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650" b="1">
                <a:solidFill>
                  <a:srgbClr val="009E73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650" b="1">
                <a:solidFill>
                  <a:srgbClr val="009E73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650" b="1">
                <a:solidFill>
                  <a:srgbClr val="009E73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650" b="1">
                <a:solidFill>
                  <a:srgbClr val="009E73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650" b="1">
                <a:solidFill>
                  <a:srgbClr val="009E73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650" b="1">
                <a:solidFill>
                  <a:srgbClr val="009E73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650" b="1">
                <a:solidFill>
                  <a:srgbClr val="009E73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650" b="1">
                <a:solidFill>
                  <a:srgbClr val="009E73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009E73"/>
                </a:solidFill>
                <a:latin typeface="DejaVu Sans"/>
                <a:ea typeface="DejaVu Sans"/>
                <a:cs typeface="DejaVu Sans"/>
              </a:defRPr>
            </a:pPr>
            <a:r>
              <a:rPr sz="1650" b="1">
                <a:solidFill>
                  <a:srgbClr val="009E73"/>
                </a:solidFill>
                <a:latin typeface="DejaVu Sans"/>
                <a:ea typeface="DejaVu Sans"/>
                <a:cs typeface="DejaVu Sans"/>
              </a:rPr>
              <a:t>Receptor ECD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BABE317-7207-422A-A7C1-D29E7EA24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64579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650" b="1">
                <a:solidFill>
                  <a:srgbClr val="7B8794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650" b="1">
                <a:solidFill>
                  <a:srgbClr val="7B8794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650" b="1">
                <a:solidFill>
                  <a:srgbClr val="7B8794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650" b="1">
                <a:solidFill>
                  <a:srgbClr val="7B8794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650" b="1">
                <a:solidFill>
                  <a:srgbClr val="7B8794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650" b="1">
                <a:solidFill>
                  <a:srgbClr val="7B8794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650" b="1">
                <a:solidFill>
                  <a:srgbClr val="7B8794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650" b="1">
                <a:solidFill>
                  <a:srgbClr val="7B8794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650" b="1">
                <a:solidFill>
                  <a:srgbClr val="7B8794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650" b="1">
                <a:solidFill>
                  <a:srgbClr val="7B8794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7B8794"/>
                </a:solidFill>
                <a:latin typeface="DejaVu Sans"/>
                <a:ea typeface="DejaVu Sans"/>
                <a:cs typeface="DejaVu Sans"/>
              </a:defRPr>
            </a:pPr>
            <a:r>
              <a:rPr sz="1650" b="1">
                <a:solidFill>
                  <a:srgbClr val="7B8794"/>
                </a:solidFill>
                <a:latin typeface="DejaVu Sans"/>
                <a:ea typeface="DejaVu Sans"/>
                <a:cs typeface="DejaVu Sans"/>
              </a:rPr>
              <a:t>Remaining receptor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5BA50A4-2DB3-4A23-B05A-59EEC04C3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0" y="64579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650" b="1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650" b="1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650" b="1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650" b="1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650" b="1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650" b="1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650" b="1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650" b="1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650" b="1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650" b="1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1650" b="1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Hotspots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205472E-6FAE-41FE-8717-3B01C6AB3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800850"/>
            <a:ext cx="1428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42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42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42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42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42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42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42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42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42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42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>
                <a:solidFill>
                  <a:srgbClr val="50616C"/>
                </a:solidFill>
                <a:latin typeface="DejaVu Sans"/>
                <a:ea typeface="DejaVu Sans"/>
                <a:cs typeface="DejaVu Sans"/>
              </a:rPr>
              <a:t>Receptor ECD B1–105 (UniProt 24–128). Black sticks: E34, Q37 and R40. View-specific zoom.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0C31FB6-716B-44BE-AA54-14D5AE95B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134225"/>
            <a:ext cx="14192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57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57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57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57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57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57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57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57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57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57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57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pPr>
            <a:r>
              <a:rPr sz="1575" b="1">
                <a:solidFill>
                  <a:srgbClr val="173747"/>
                </a:solidFill>
                <a:latin typeface="DejaVu Sans"/>
                <a:ea typeface="DejaVu Sans"/>
                <a:cs typeface="DejaVu Sans"/>
              </a:rPr>
              <a:t>Complete selected sequence, N to C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A046983-5070-4C7C-893E-062F1C356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429500"/>
            <a:ext cx="141922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500" b="0">
                <a:solidFill>
                  <a:srgbClr val="173747"/>
                </a:solidFill>
                <a:latin typeface="DejaVu Sans Mono"/>
                <a:ea typeface="DejaVu Sans Mono"/>
                <a:cs typeface="DejaVu Sans Mono"/>
              </a:defRPr>
            </a:defPPr>
            <a:lvl1pPr>
              <a:defRPr sz="1500" b="0">
                <a:solidFill>
                  <a:srgbClr val="173747"/>
                </a:solidFill>
                <a:latin typeface="DejaVu Sans Mono"/>
                <a:ea typeface="DejaVu Sans Mono"/>
                <a:cs typeface="DejaVu Sans Mono"/>
              </a:defRPr>
            </a:lvl1pPr>
            <a:lvl2pPr>
              <a:defRPr sz="1500" b="0">
                <a:solidFill>
                  <a:srgbClr val="173747"/>
                </a:solidFill>
                <a:latin typeface="DejaVu Sans Mono"/>
                <a:ea typeface="DejaVu Sans Mono"/>
                <a:cs typeface="DejaVu Sans Mono"/>
              </a:defRPr>
            </a:lvl2pPr>
            <a:lvl3pPr>
              <a:defRPr sz="1500" b="0">
                <a:solidFill>
                  <a:srgbClr val="173747"/>
                </a:solidFill>
                <a:latin typeface="DejaVu Sans Mono"/>
                <a:ea typeface="DejaVu Sans Mono"/>
                <a:cs typeface="DejaVu Sans Mono"/>
              </a:defRPr>
            </a:lvl3pPr>
            <a:lvl4pPr>
              <a:defRPr sz="1500" b="0">
                <a:solidFill>
                  <a:srgbClr val="173747"/>
                </a:solidFill>
                <a:latin typeface="DejaVu Sans Mono"/>
                <a:ea typeface="DejaVu Sans Mono"/>
                <a:cs typeface="DejaVu Sans Mono"/>
              </a:defRPr>
            </a:lvl4pPr>
            <a:lvl5pPr>
              <a:defRPr sz="1500" b="0">
                <a:solidFill>
                  <a:srgbClr val="173747"/>
                </a:solidFill>
                <a:latin typeface="DejaVu Sans Mono"/>
                <a:ea typeface="DejaVu Sans Mono"/>
                <a:cs typeface="DejaVu Sans Mono"/>
              </a:defRPr>
            </a:lvl5pPr>
            <a:lvl6pPr>
              <a:defRPr sz="1500" b="0">
                <a:solidFill>
                  <a:srgbClr val="173747"/>
                </a:solidFill>
                <a:latin typeface="DejaVu Sans Mono"/>
                <a:ea typeface="DejaVu Sans Mono"/>
                <a:cs typeface="DejaVu Sans Mono"/>
              </a:defRPr>
            </a:lvl6pPr>
            <a:lvl7pPr>
              <a:defRPr sz="1500" b="0">
                <a:solidFill>
                  <a:srgbClr val="173747"/>
                </a:solidFill>
                <a:latin typeface="DejaVu Sans Mono"/>
                <a:ea typeface="DejaVu Sans Mono"/>
                <a:cs typeface="DejaVu Sans Mono"/>
              </a:defRPr>
            </a:lvl7pPr>
            <a:lvl8pPr>
              <a:defRPr sz="1500" b="0">
                <a:solidFill>
                  <a:srgbClr val="173747"/>
                </a:solidFill>
                <a:latin typeface="DejaVu Sans Mono"/>
                <a:ea typeface="DejaVu Sans Mono"/>
                <a:cs typeface="DejaVu Sans Mono"/>
              </a:defRPr>
            </a:lvl8pPr>
            <a:lvl9pPr>
              <a:defRPr sz="1500" b="0">
                <a:solidFill>
                  <a:srgbClr val="173747"/>
                </a:solidFill>
                <a:latin typeface="DejaVu Sans Mono"/>
                <a:ea typeface="DejaVu Sans Mono"/>
                <a:cs typeface="DejaVu Sans Mono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173747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00" b="0">
                <a:solidFill>
                  <a:srgbClr val="173747"/>
                </a:solidFill>
                <a:latin typeface="DejaVu Sans Mono"/>
                <a:ea typeface="DejaVu Sans Mono"/>
                <a:cs typeface="DejaVu Sans Mono"/>
              </a:rPr>
              <a:t>MGISALEEFDRLRRASILLSLIRSGSTGSGFDAFLEKSGVKGAPAFLAVPSSNAFSPTSSEVAPDLPFVVLPYP</a:t>
            </a:r>
          </a:p>
          <a:p xmlns:a="http://schemas.openxmlformats.org/drawingml/2006/main">
            <a:pPr>
              <a:defRPr sz="1500" b="0">
                <a:solidFill>
                  <a:srgbClr val="173747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00" b="0">
                <a:solidFill>
                  <a:srgbClr val="173747"/>
                </a:solidFill>
                <a:latin typeface="DejaVu Sans Mono"/>
                <a:ea typeface="DejaVu Sans Mono"/>
                <a:cs typeface="DejaVu Sans Mono"/>
              </a:rPr>
              <a:t>PPPSSSVIEVSGATIDLRVKTCVDFKQTVNFFKLRNTQLPGSCTKDNTVLFLLEGLKLGYASRYFSIGSGSGSQ</a:t>
            </a:r>
          </a:p>
          <a:p xmlns:a="http://schemas.openxmlformats.org/drawingml/2006/main">
            <a:pPr>
              <a:defRPr sz="1500" b="0">
                <a:solidFill>
                  <a:srgbClr val="173747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00" b="0">
                <a:solidFill>
                  <a:srgbClr val="173747"/>
                </a:solidFill>
                <a:latin typeface="DejaVu Sans Mono"/>
                <a:ea typeface="DejaVu Sans Mono"/>
                <a:cs typeface="DejaVu Sans Mono"/>
              </a:rPr>
              <a:t>QFS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23420F8-381C-46B2-93D7-1F81257D7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248650"/>
            <a:ext cx="1304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2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2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2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2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2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2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2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2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2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2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50616C"/>
                </a:solidFill>
                <a:latin typeface="DejaVu Sans"/>
                <a:ea typeface="DejaVu Sans"/>
                <a:cs typeface="DejaVu Sans"/>
              </a:rPr>
              <a:t>Human GLP1R     Boltz2 Exact     Computational predictions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8E188F3-D173-4EDA-86FA-49536E33E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0" y="82486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2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2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2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2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2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2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2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2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2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2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50616C"/>
                </a:solidFill>
                <a:latin typeface="DejaVu Sans"/>
                <a:ea typeface="DejaVu Sans"/>
                <a:cs typeface="DejaVu Sans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95466909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F380BBB-3905-40FB-AF6F-93590DB03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76225"/>
            <a:ext cx="1428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22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322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322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322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322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322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322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322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322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322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73747"/>
                </a:solidFill>
                <a:latin typeface="DejaVu Sans"/>
                <a:ea typeface="DejaVu Sans"/>
                <a:cs typeface="DejaVu Sans"/>
              </a:rPr>
              <a:t>02  LK_P063_07  metrics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310FFA4-ED15-4F22-9610-4DAD84FC4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95350"/>
            <a:ext cx="1428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8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8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8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8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8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8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8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8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8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50616C"/>
                </a:solidFill>
                <a:latin typeface="DejaVu Sans"/>
                <a:ea typeface="DejaVu Sans"/>
                <a:cs typeface="DejaVu Sans"/>
              </a:rPr>
              <a:t>D-L-D fusion   Candidate A: 140 aa   Human GLP1R B: 440 aa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AAF84B7-2FBD-4DFC-AA08-96E854A02568}"/>
              </a:ext>
            </a:extLst>
          </p:cNvPr>
          <p:cNvGraphicFramePr/>
          <p:nvPr/>
        </p:nvGraphicFramePr>
        <p:xfrm>
          <a:off xmlns:a="http://schemas.openxmlformats.org/drawingml/2006/main" x="457200" y="1457325"/>
          <a:ext xmlns:a="http://schemas.openxmlformats.org/drawingml/2006/main" cx="9667875" cy="48006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6791325"/>
                <a:gridCol w="2876550"/>
              </a:tblGrid>
              <a:tr h="34290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Metric and scope</a:t>
                      </a:r>
                    </a:p>
                  </a:txBody>
                  <a:tcPr marL="91440" marR="91440" marT="45720" marB="45720">
                    <a:lnL w="5715">
                      <a:solidFill>
                        <a:srgbClr val="D8E1E5"/>
                      </a:solidFill>
                      <a:prstDash val="solid"/>
                    </a:lnL>
                    <a:lnR w="5715">
                      <a:solidFill>
                        <a:srgbClr val="D8E1E5"/>
                      </a:solidFill>
                      <a:prstDash val="solid"/>
                    </a:lnR>
                    <a:lnT w="5715">
                      <a:solidFill>
                        <a:srgbClr val="D8E1E5"/>
                      </a:solidFill>
                      <a:prstDash val="solid"/>
                    </a:lnT>
                    <a:lnB w="5715">
                      <a:solidFill>
                        <a:srgbClr val="D8E1E5"/>
                      </a:solidFill>
                      <a:prstDash val="solid"/>
                    </a:lnB>
                    <a:solidFill>
                      <a:srgbClr val="245D7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Value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8E1E5"/>
                      </a:solidFill>
                      <a:prstDash val="solid"/>
                    </a:lnR>
                    <a:lnT w="5715">
                      <a:solidFill>
                        <a:srgbClr val="D8E1E5"/>
                      </a:solidFill>
                      <a:prstDash val="solid"/>
                    </a:lnT>
                    <a:lnB w="5715">
                      <a:solidFill>
                        <a:srgbClr val="D8E1E5"/>
                      </a:solidFill>
                      <a:prstDash val="solid"/>
                    </a:lnB>
                    <a:solidFill>
                      <a:srgbClr val="245D73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73747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Boltz2 Exact ipSAE (A/B, Type=max)</a:t>
                      </a:r>
                    </a:p>
                  </a:txBody>
                  <a:tcPr marL="91440" marR="91440" marT="45720" marB="45720">
                    <a:lnL w="5715">
                      <a:solidFill>
                        <a:srgbClr val="D8E1E5"/>
                      </a:solidFill>
                      <a:prstDash val="solid"/>
                    </a:lnL>
                    <a:lnR w="5715">
                      <a:solidFill>
                        <a:srgbClr val="D8E1E5"/>
                      </a:solidFill>
                      <a:prstDash val="solid"/>
                    </a:lnR>
                    <a:lnB w="5715">
                      <a:solidFill>
                        <a:srgbClr val="D8E1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73747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0.911264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8E1E5"/>
                      </a:solidFill>
                      <a:prstDash val="solid"/>
                    </a:lnR>
                    <a:lnB w="5715">
                      <a:solidFill>
                        <a:srgbClr val="D8E1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73747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DeltaForge predicted Kd (nM)</a:t>
                      </a:r>
                    </a:p>
                  </a:txBody>
                  <a:tcPr marL="91440" marR="91440" marT="45720" marB="45720">
                    <a:lnL w="5715">
                      <a:solidFill>
                        <a:srgbClr val="D8E1E5"/>
                      </a:solidFill>
                      <a:prstDash val="solid"/>
                    </a:lnL>
                    <a:lnR w="5715">
                      <a:solidFill>
                        <a:srgbClr val="D8E1E5"/>
                      </a:solidFill>
                      <a:prstDash val="solid"/>
                    </a:lnR>
                    <a:lnB w="5715">
                      <a:solidFill>
                        <a:srgbClr val="D8E1E5"/>
                      </a:solidFill>
                      <a:prstDash val="solid"/>
                    </a:lnB>
                    <a:solidFill>
                      <a:srgbClr val="F1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73747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1.3426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8E1E5"/>
                      </a:solidFill>
                      <a:prstDash val="solid"/>
                    </a:lnR>
                    <a:lnB w="5715">
                      <a:solidFill>
                        <a:srgbClr val="D8E1E5"/>
                      </a:solidFill>
                      <a:prstDash val="solid"/>
                    </a:lnB>
                    <a:solidFill>
                      <a:srgbClr val="F1F5F7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73747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Boltz2 Exact ipTM</a:t>
                      </a:r>
                    </a:p>
                  </a:txBody>
                  <a:tcPr marL="91440" marR="91440" marT="45720" marB="45720">
                    <a:lnL w="5715">
                      <a:solidFill>
                        <a:srgbClr val="D8E1E5"/>
                      </a:solidFill>
                      <a:prstDash val="solid"/>
                    </a:lnL>
                    <a:lnR w="5715">
                      <a:solidFill>
                        <a:srgbClr val="D8E1E5"/>
                      </a:solidFill>
                      <a:prstDash val="solid"/>
                    </a:lnR>
                    <a:lnB w="5715">
                      <a:solidFill>
                        <a:srgbClr val="D8E1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73747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0.8885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8E1E5"/>
                      </a:solidFill>
                      <a:prstDash val="solid"/>
                    </a:lnR>
                    <a:lnB w="5715">
                      <a:solidFill>
                        <a:srgbClr val="D8E1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73747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Original population ipSAE rank</a:t>
                      </a:r>
                    </a:p>
                  </a:txBody>
                  <a:tcPr marL="91440" marR="91440" marT="45720" marB="45720">
                    <a:lnL w="5715">
                      <a:solidFill>
                        <a:srgbClr val="D8E1E5"/>
                      </a:solidFill>
                      <a:prstDash val="solid"/>
                    </a:lnL>
                    <a:lnR w="5715">
                      <a:solidFill>
                        <a:srgbClr val="D8E1E5"/>
                      </a:solidFill>
                      <a:prstDash val="solid"/>
                    </a:lnR>
                    <a:lnB w="5715">
                      <a:solidFill>
                        <a:srgbClr val="D8E1E5"/>
                      </a:solidFill>
                      <a:prstDash val="solid"/>
                    </a:lnB>
                    <a:solidFill>
                      <a:srgbClr val="F1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73747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3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8E1E5"/>
                      </a:solidFill>
                      <a:prstDash val="solid"/>
                    </a:lnR>
                    <a:lnB w="5715">
                      <a:solidFill>
                        <a:srgbClr val="D8E1E5"/>
                      </a:solidFill>
                      <a:prstDash val="solid"/>
                    </a:lnB>
                    <a:solidFill>
                      <a:srgbClr val="F1F5F7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73747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Predicted-Kd rank within population top50</a:t>
                      </a:r>
                    </a:p>
                  </a:txBody>
                  <a:tcPr marL="91440" marR="91440" marT="45720" marB="45720">
                    <a:lnL w="5715">
                      <a:solidFill>
                        <a:srgbClr val="D8E1E5"/>
                      </a:solidFill>
                      <a:prstDash val="solid"/>
                    </a:lnL>
                    <a:lnR w="5715">
                      <a:solidFill>
                        <a:srgbClr val="D8E1E5"/>
                      </a:solidFill>
                      <a:prstDash val="solid"/>
                    </a:lnR>
                    <a:lnB w="5715">
                      <a:solidFill>
                        <a:srgbClr val="D8E1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73747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13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8E1E5"/>
                      </a:solidFill>
                      <a:prstDash val="solid"/>
                    </a:lnR>
                    <a:lnB w="5715">
                      <a:solidFill>
                        <a:srgbClr val="D8E1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73747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Candidate / receptor residues (aa)</a:t>
                      </a:r>
                    </a:p>
                  </a:txBody>
                  <a:tcPr marL="91440" marR="91440" marT="45720" marB="45720">
                    <a:lnL w="5715">
                      <a:solidFill>
                        <a:srgbClr val="D8E1E5"/>
                      </a:solidFill>
                      <a:prstDash val="solid"/>
                    </a:lnL>
                    <a:lnR w="5715">
                      <a:solidFill>
                        <a:srgbClr val="D8E1E5"/>
                      </a:solidFill>
                      <a:prstDash val="solid"/>
                    </a:lnR>
                    <a:lnB w="5715">
                      <a:solidFill>
                        <a:srgbClr val="D8E1E5"/>
                      </a:solidFill>
                      <a:prstDash val="solid"/>
                    </a:lnB>
                    <a:solidFill>
                      <a:srgbClr val="F1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73747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140 / 440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8E1E5"/>
                      </a:solidFill>
                      <a:prstDash val="solid"/>
                    </a:lnR>
                    <a:lnB w="5715">
                      <a:solidFill>
                        <a:srgbClr val="D8E1E5"/>
                      </a:solidFill>
                      <a:prstDash val="solid"/>
                    </a:lnB>
                    <a:solidFill>
                      <a:srgbClr val="F1F5F7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73747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pDockQ / pDockQ2</a:t>
                      </a:r>
                    </a:p>
                  </a:txBody>
                  <a:tcPr marL="91440" marR="91440" marT="45720" marB="45720">
                    <a:lnL w="5715">
                      <a:solidFill>
                        <a:srgbClr val="D8E1E5"/>
                      </a:solidFill>
                      <a:prstDash val="solid"/>
                    </a:lnL>
                    <a:lnR w="5715">
                      <a:solidFill>
                        <a:srgbClr val="D8E1E5"/>
                      </a:solidFill>
                      <a:prstDash val="solid"/>
                    </a:lnR>
                    <a:lnB w="5715">
                      <a:solidFill>
                        <a:srgbClr val="D8E1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73747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0.3717 / 0.2144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8E1E5"/>
                      </a:solidFill>
                      <a:prstDash val="solid"/>
                    </a:lnR>
                    <a:lnB w="5715">
                      <a:solidFill>
                        <a:srgbClr val="D8E1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73747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Whole fusion / linker pLDDT (0-100)</a:t>
                      </a:r>
                    </a:p>
                  </a:txBody>
                  <a:tcPr marL="91440" marR="91440" marT="45720" marB="45720">
                    <a:lnL w="5715">
                      <a:solidFill>
                        <a:srgbClr val="D8E1E5"/>
                      </a:solidFill>
                      <a:prstDash val="solid"/>
                    </a:lnL>
                    <a:lnR w="5715">
                      <a:solidFill>
                        <a:srgbClr val="D8E1E5"/>
                      </a:solidFill>
                      <a:prstDash val="solid"/>
                    </a:lnR>
                    <a:lnB w="5715">
                      <a:solidFill>
                        <a:srgbClr val="D8E1E5"/>
                      </a:solidFill>
                      <a:prstDash val="solid"/>
                    </a:lnB>
                    <a:solidFill>
                      <a:srgbClr val="F1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73747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48.6 / 43.9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8E1E5"/>
                      </a:solidFill>
                      <a:prstDash val="solid"/>
                    </a:lnR>
                    <a:lnB w="5715">
                      <a:solidFill>
                        <a:srgbClr val="D8E1E5"/>
                      </a:solidFill>
                      <a:prstDash val="solid"/>
                    </a:lnB>
                    <a:solidFill>
                      <a:srgbClr val="F1F5F7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73747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ECD / LigandForge pLDDT (0-100)</a:t>
                      </a:r>
                    </a:p>
                  </a:txBody>
                  <a:tcPr marL="91440" marR="91440" marT="45720" marB="45720">
                    <a:lnL w="5715">
                      <a:solidFill>
                        <a:srgbClr val="D8E1E5"/>
                      </a:solidFill>
                      <a:prstDash val="solid"/>
                    </a:lnL>
                    <a:lnR w="5715">
                      <a:solidFill>
                        <a:srgbClr val="D8E1E5"/>
                      </a:solidFill>
                      <a:prstDash val="solid"/>
                    </a:lnR>
                    <a:lnB w="5715">
                      <a:solidFill>
                        <a:srgbClr val="D8E1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73747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67.0 / 40.1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8E1E5"/>
                      </a:solidFill>
                      <a:prstDash val="solid"/>
                    </a:lnR>
                    <a:lnB w="5715">
                      <a:solidFill>
                        <a:srgbClr val="D8E1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73747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Fusion design-to-refold DockQ</a:t>
                      </a:r>
                    </a:p>
                  </a:txBody>
                  <a:tcPr marL="91440" marR="91440" marT="45720" marB="45720">
                    <a:lnL w="5715">
                      <a:solidFill>
                        <a:srgbClr val="D8E1E5"/>
                      </a:solidFill>
                      <a:prstDash val="solid"/>
                    </a:lnL>
                    <a:lnR w="5715">
                      <a:solidFill>
                        <a:srgbClr val="D8E1E5"/>
                      </a:solidFill>
                      <a:prstDash val="solid"/>
                    </a:lnR>
                    <a:lnB w="5715">
                      <a:solidFill>
                        <a:srgbClr val="D8E1E5"/>
                      </a:solidFill>
                      <a:prstDash val="solid"/>
                    </a:lnB>
                    <a:solidFill>
                      <a:srgbClr val="F1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73747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0.2115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8E1E5"/>
                      </a:solidFill>
                      <a:prstDash val="solid"/>
                    </a:lnR>
                    <a:lnB w="5715">
                      <a:solidFill>
                        <a:srgbClr val="D8E1E5"/>
                      </a:solidFill>
                      <a:prstDash val="solid"/>
                    </a:lnB>
                    <a:solidFill>
                      <a:srgbClr val="F1F5F7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73747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Free C-terminal OPM z (A)</a:t>
                      </a:r>
                    </a:p>
                  </a:txBody>
                  <a:tcPr marL="91440" marR="91440" marT="45720" marB="45720">
                    <a:lnL w="5715">
                      <a:solidFill>
                        <a:srgbClr val="D8E1E5"/>
                      </a:solidFill>
                      <a:prstDash val="solid"/>
                    </a:lnL>
                    <a:lnR w="5715">
                      <a:solidFill>
                        <a:srgbClr val="D8E1E5"/>
                      </a:solidFill>
                      <a:prstDash val="solid"/>
                    </a:lnR>
                    <a:lnB w="5715">
                      <a:solidFill>
                        <a:srgbClr val="D8E1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73747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60.46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8E1E5"/>
                      </a:solidFill>
                      <a:prstDash val="solid"/>
                    </a:lnR>
                    <a:lnB w="5715">
                      <a:solidFill>
                        <a:srgbClr val="D8E1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73747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Extracellular free C-terminal screen</a:t>
                      </a:r>
                    </a:p>
                  </a:txBody>
                  <a:tcPr marL="91440" marR="91440" marT="45720" marB="45720">
                    <a:lnL w="5715">
                      <a:solidFill>
                        <a:srgbClr val="D8E1E5"/>
                      </a:solidFill>
                      <a:prstDash val="solid"/>
                    </a:lnL>
                    <a:lnR w="5715">
                      <a:solidFill>
                        <a:srgbClr val="D8E1E5"/>
                      </a:solidFill>
                      <a:prstDash val="solid"/>
                    </a:lnR>
                    <a:lnB w="5715">
                      <a:solidFill>
                        <a:srgbClr val="D8E1E5"/>
                      </a:solidFill>
                      <a:prstDash val="solid"/>
                    </a:lnB>
                    <a:solidFill>
                      <a:srgbClr val="F1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73747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Pass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8E1E5"/>
                      </a:solidFill>
                      <a:prstDash val="solid"/>
                    </a:lnR>
                    <a:lnB w="5715">
                      <a:solidFill>
                        <a:srgbClr val="D8E1E5"/>
                      </a:solidFill>
                      <a:prstDash val="solid"/>
                    </a:lnB>
                    <a:solidFill>
                      <a:srgbClr val="F1F5F7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73747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DeltaForge length scope</a:t>
                      </a:r>
                    </a:p>
                  </a:txBody>
                  <a:tcPr marL="91440" marR="91440" marT="45720" marB="45720">
                    <a:lnL w="5715">
                      <a:solidFill>
                        <a:srgbClr val="D8E1E5"/>
                      </a:solidFill>
                      <a:prstDash val="solid"/>
                    </a:lnL>
                    <a:lnR w="5715">
                      <a:solidFill>
                        <a:srgbClr val="D8E1E5"/>
                      </a:solidFill>
                      <a:prstDash val="solid"/>
                    </a:lnR>
                    <a:lnB w="5715">
                      <a:solidFill>
                        <a:srgbClr val="D8E1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73747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platform_8_140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8E1E5"/>
                      </a:solidFill>
                      <a:prstDash val="solid"/>
                    </a:lnR>
                    <a:lnB w="5715">
                      <a:solidFill>
                        <a:srgbClr val="D8E1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4B6584E-F6B4-46A8-91BF-511F585BA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1457325"/>
            <a:ext cx="4095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950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950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950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950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950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950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950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950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950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950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173747"/>
                </a:solidFill>
                <a:latin typeface="DejaVu Sans"/>
                <a:ea typeface="DejaVu Sans"/>
                <a:cs typeface="DejaVu Sans"/>
              </a:rPr>
              <a:t>Origin and prediction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BA48766-B497-4F21-BC7D-8FFBDF667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1952625"/>
            <a:ext cx="4095750" cy="390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725" b="0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725" b="0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725" b="0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725" b="0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725" b="0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725" b="0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725" b="0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725" b="0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725" b="0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725" b="0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173747"/>
                </a:solidFill>
                <a:latin typeface="DejaVu Sans"/>
                <a:ea typeface="DejaVu Sans"/>
                <a:cs typeface="DejaVu Sans"/>
              </a:rPr>
              <a:t>ECD parent S08_03_083</a:t>
            </a:r>
          </a:p>
          <a:p xmlns:a="http://schemas.openxmlformats.org/drawingml/2006/main">
            <a:pPr>
              <a:defRPr sz="1725" b="0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173747"/>
                </a:solidFill>
                <a:latin typeface="DejaVu Sans"/>
                <a:ea typeface="DejaVu Sans"/>
                <a:cs typeface="DejaVu Sans"/>
              </a:rPr>
              <a:t>LigandForge parent Design_280</a:t>
            </a:r>
          </a:p>
          <a:p xmlns:a="http://schemas.openxmlformats.org/drawingml/2006/main">
            <a:pPr>
              <a:defRPr sz="1725" b="0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173747"/>
                </a:solidFill>
                <a:latin typeface="DejaVu Sans"/>
                <a:ea typeface="DejaVu Sans"/>
                <a:cs typeface="DejaVu Sans"/>
              </a:rPr>
              <a:t>Pair P063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725" b="0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173747"/>
                </a:solidFill>
                <a:latin typeface="DejaVu Sans"/>
                <a:ea typeface="DejaVu Sans"/>
                <a:cs typeface="DejaVu Sans"/>
              </a:rPr>
              <a:t>AP Novo seed 738</a:t>
            </a:r>
          </a:p>
          <a:p xmlns:a="http://schemas.openxmlformats.org/drawingml/2006/main">
            <a:pPr>
              <a:defRPr sz="1725" b="0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173747"/>
                </a:solidFill>
                <a:latin typeface="DejaVu Sans"/>
                <a:ea typeface="DejaVu Sans"/>
                <a:cs typeface="DejaVu Sans"/>
              </a:rPr>
              <a:t>Exact seed 101</a:t>
            </a:r>
          </a:p>
          <a:p xmlns:a="http://schemas.openxmlformats.org/drawingml/2006/main">
            <a:pPr>
              <a:defRPr sz="1725" b="0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173747"/>
                </a:solidFill>
                <a:latin typeface="DejaVu Sans"/>
                <a:ea typeface="DejaVu Sans"/>
                <a:cs typeface="DejaVu Sans"/>
              </a:rPr>
              <a:t>3 recycles, 200 steps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725" b="0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173747"/>
                </a:solidFill>
                <a:latin typeface="DejaVu Sans"/>
                <a:ea typeface="DejaVu Sans"/>
                <a:cs typeface="DejaVu Sans"/>
              </a:rPr>
              <a:t>ECD A1-40  linker A41-71  LF A72-140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A237316-6A7E-46BE-BE93-1A8A627D8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81750"/>
            <a:ext cx="14192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650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650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650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650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650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650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650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650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650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650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50616C"/>
                </a:solidFill>
                <a:latin typeface="DejaVu Sans"/>
                <a:ea typeface="DejaVu Sans"/>
                <a:cs typeface="DejaVu Sans"/>
              </a:rPr>
              <a:t>Whole-fusion pLDDT remains modest. High interface confidence does not establish activation.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12B4CE2-F170-46C9-83DF-58A1BA97C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115175"/>
            <a:ext cx="14192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57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57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57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57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57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57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57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57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57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57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57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pPr>
            <a:r>
              <a:rPr sz="1575" b="1">
                <a:solidFill>
                  <a:srgbClr val="173747"/>
                </a:solidFill>
                <a:latin typeface="DejaVu Sans"/>
                <a:ea typeface="DejaVu Sans"/>
                <a:cs typeface="DejaVu Sans"/>
              </a:rPr>
              <a:t>Complete selected sequence, N to C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E161C74-7B9C-4F36-B5D1-0673E423E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410450"/>
            <a:ext cx="141922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500" b="0">
                <a:solidFill>
                  <a:srgbClr val="173747"/>
                </a:solidFill>
                <a:latin typeface="DejaVu Sans Mono"/>
                <a:ea typeface="DejaVu Sans Mono"/>
                <a:cs typeface="DejaVu Sans Mono"/>
              </a:defRPr>
            </a:defPPr>
            <a:lvl1pPr>
              <a:defRPr sz="1500" b="0">
                <a:solidFill>
                  <a:srgbClr val="173747"/>
                </a:solidFill>
                <a:latin typeface="DejaVu Sans Mono"/>
                <a:ea typeface="DejaVu Sans Mono"/>
                <a:cs typeface="DejaVu Sans Mono"/>
              </a:defRPr>
            </a:lvl1pPr>
            <a:lvl2pPr>
              <a:defRPr sz="1500" b="0">
                <a:solidFill>
                  <a:srgbClr val="173747"/>
                </a:solidFill>
                <a:latin typeface="DejaVu Sans Mono"/>
                <a:ea typeface="DejaVu Sans Mono"/>
                <a:cs typeface="DejaVu Sans Mono"/>
              </a:defRPr>
            </a:lvl2pPr>
            <a:lvl3pPr>
              <a:defRPr sz="1500" b="0">
                <a:solidFill>
                  <a:srgbClr val="173747"/>
                </a:solidFill>
                <a:latin typeface="DejaVu Sans Mono"/>
                <a:ea typeface="DejaVu Sans Mono"/>
                <a:cs typeface="DejaVu Sans Mono"/>
              </a:defRPr>
            </a:lvl3pPr>
            <a:lvl4pPr>
              <a:defRPr sz="1500" b="0">
                <a:solidFill>
                  <a:srgbClr val="173747"/>
                </a:solidFill>
                <a:latin typeface="DejaVu Sans Mono"/>
                <a:ea typeface="DejaVu Sans Mono"/>
                <a:cs typeface="DejaVu Sans Mono"/>
              </a:defRPr>
            </a:lvl4pPr>
            <a:lvl5pPr>
              <a:defRPr sz="1500" b="0">
                <a:solidFill>
                  <a:srgbClr val="173747"/>
                </a:solidFill>
                <a:latin typeface="DejaVu Sans Mono"/>
                <a:ea typeface="DejaVu Sans Mono"/>
                <a:cs typeface="DejaVu Sans Mono"/>
              </a:defRPr>
            </a:lvl5pPr>
            <a:lvl6pPr>
              <a:defRPr sz="1500" b="0">
                <a:solidFill>
                  <a:srgbClr val="173747"/>
                </a:solidFill>
                <a:latin typeface="DejaVu Sans Mono"/>
                <a:ea typeface="DejaVu Sans Mono"/>
                <a:cs typeface="DejaVu Sans Mono"/>
              </a:defRPr>
            </a:lvl6pPr>
            <a:lvl7pPr>
              <a:defRPr sz="1500" b="0">
                <a:solidFill>
                  <a:srgbClr val="173747"/>
                </a:solidFill>
                <a:latin typeface="DejaVu Sans Mono"/>
                <a:ea typeface="DejaVu Sans Mono"/>
                <a:cs typeface="DejaVu Sans Mono"/>
              </a:defRPr>
            </a:lvl7pPr>
            <a:lvl8pPr>
              <a:defRPr sz="1500" b="0">
                <a:solidFill>
                  <a:srgbClr val="173747"/>
                </a:solidFill>
                <a:latin typeface="DejaVu Sans Mono"/>
                <a:ea typeface="DejaVu Sans Mono"/>
                <a:cs typeface="DejaVu Sans Mono"/>
              </a:defRPr>
            </a:lvl8pPr>
            <a:lvl9pPr>
              <a:defRPr sz="1500" b="0">
                <a:solidFill>
                  <a:srgbClr val="173747"/>
                </a:solidFill>
                <a:latin typeface="DejaVu Sans Mono"/>
                <a:ea typeface="DejaVu Sans Mono"/>
                <a:cs typeface="DejaVu Sans Mono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173747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00" b="0">
                <a:solidFill>
                  <a:srgbClr val="173747"/>
                </a:solidFill>
                <a:latin typeface="DejaVu Sans Mono"/>
                <a:ea typeface="DejaVu Sans Mono"/>
                <a:cs typeface="DejaVu Sans Mono"/>
              </a:rPr>
              <a:t>MEKKREDFKEVLKFRYSRYPSLDRFVLVNTAEESIRHLLIGMFVDPSEVLDPSPPPPPPLSLPPVPATDVVEVS</a:t>
            </a:r>
          </a:p>
          <a:p xmlns:a="http://schemas.openxmlformats.org/drawingml/2006/main">
            <a:pPr>
              <a:defRPr sz="1500" b="0">
                <a:solidFill>
                  <a:srgbClr val="173747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00" b="0">
                <a:solidFill>
                  <a:srgbClr val="173747"/>
                </a:solidFill>
                <a:latin typeface="DejaVu Sans Mono"/>
                <a:ea typeface="DejaVu Sans Mono"/>
                <a:cs typeface="DejaVu Sans Mono"/>
              </a:rPr>
              <a:t>GATIDLRVKTCVDFKQTVNFFKLRNTQLPGSCTKDNTVLFLLEGLKLGYASRYFSIGSGSGSQQFS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79C0765-6D22-4609-A90E-F6B66ECAC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248650"/>
            <a:ext cx="1304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2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2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2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2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2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2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2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2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2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2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50616C"/>
                </a:solidFill>
                <a:latin typeface="DejaVu Sans"/>
                <a:ea typeface="DejaVu Sans"/>
                <a:cs typeface="DejaVu Sans"/>
              </a:rPr>
              <a:t>Human GLP1R     Boltz2 Exact     Computational predictions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C97C0FE-ABA6-4D36-8962-B377D318C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0" y="82486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2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2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2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2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2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2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2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2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2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2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50616C"/>
                </a:solidFill>
                <a:latin typeface="DejaVu Sans"/>
                <a:ea typeface="DejaVu Sans"/>
                <a:cs typeface="DejaVu Sans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2623767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754CFD7-8D3F-448F-8FC7-2755939E7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76225"/>
            <a:ext cx="1428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22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322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322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322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322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322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322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322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322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322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73747"/>
                </a:solidFill>
                <a:latin typeface="DejaVu Sans"/>
                <a:ea typeface="DejaVu Sans"/>
                <a:cs typeface="DejaVu Sans"/>
              </a:rPr>
              <a:t>02  LK_P063_07  structure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5367CA0-13DA-4829-91A6-56DD81737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95350"/>
            <a:ext cx="1428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8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8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8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8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8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8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8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8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8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50616C"/>
                </a:solidFill>
                <a:latin typeface="DejaVu Sans"/>
                <a:ea typeface="DejaVu Sans"/>
                <a:cs typeface="DejaVu Sans"/>
              </a:rPr>
              <a:t>D-L-D fusion   Candidate A: 140 aa   Human GLP1R B: 440 aa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F82D74F-CC23-4230-B33E-EFB511801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362075"/>
            <a:ext cx="619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7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87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87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87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87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87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87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87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87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87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173747"/>
                </a:solidFill>
                <a:latin typeface="DejaVu Sans"/>
                <a:ea typeface="DejaVu Sans"/>
                <a:cs typeface="DejaVu Sans"/>
              </a:rPr>
              <a:t>Boltz2 Exact receptor complex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21AFD27-B431-4C5E-8F94-B2E32AA85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362075"/>
            <a:ext cx="619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7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87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87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87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87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87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87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87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87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87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173747"/>
                </a:solidFill>
                <a:latin typeface="DejaVu Sans"/>
                <a:ea typeface="DejaVu Sans"/>
                <a:cs typeface="DejaVu Sans"/>
              </a:rPr>
              <a:t>Boltz2 Exact interface detail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CCD3A5F-5A76-4899-BB23-A82D15A766F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cc10527c53a400f"/>
          <a:stretch xmlns:a="http://schemas.openxmlformats.org/drawingml/2006/main"/>
        </p:blipFill>
        <p:spPr>
          <a:xfrm xmlns:a="http://schemas.openxmlformats.org/drawingml/2006/main">
            <a:off x="2344208" y="1724025"/>
            <a:ext cx="3217333" cy="4572000"/>
          </a:xfrm>
          <a:prstGeom xmlns:a="http://schemas.openxmlformats.org/drawingml/2006/main" prst="rect">
            <a:avLst/>
          </a:prstGeom>
        </p:spPr>
      </p:pic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209D2FD-C0FC-49E8-B563-FE8A7AD45E4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c40cc0a77cf4186"/>
          <a:stretch xmlns:a="http://schemas.openxmlformats.org/drawingml/2006/main"/>
        </p:blipFill>
        <p:spPr>
          <a:xfrm xmlns:a="http://schemas.openxmlformats.org/drawingml/2006/main">
            <a:off x="9296093" y="1724025"/>
            <a:ext cx="3982065" cy="457200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711A415-8039-4D12-A49D-4987752E4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579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650" b="1">
                <a:solidFill>
                  <a:srgbClr val="E69F00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650" b="1">
                <a:solidFill>
                  <a:srgbClr val="E69F00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650" b="1">
                <a:solidFill>
                  <a:srgbClr val="E69F00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650" b="1">
                <a:solidFill>
                  <a:srgbClr val="E69F00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650" b="1">
                <a:solidFill>
                  <a:srgbClr val="E69F00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650" b="1">
                <a:solidFill>
                  <a:srgbClr val="E69F00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650" b="1">
                <a:solidFill>
                  <a:srgbClr val="E69F00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650" b="1">
                <a:solidFill>
                  <a:srgbClr val="E69F00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650" b="1">
                <a:solidFill>
                  <a:srgbClr val="E69F00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650" b="1">
                <a:solidFill>
                  <a:srgbClr val="E69F00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E69F00"/>
                </a:solidFill>
                <a:latin typeface="DejaVu Sans"/>
                <a:ea typeface="DejaVu Sans"/>
                <a:cs typeface="DejaVu Sans"/>
              </a:defRPr>
            </a:pPr>
            <a:r>
              <a:rPr sz="1650" b="1">
                <a:solidFill>
                  <a:srgbClr val="E69F00"/>
                </a:solidFill>
                <a:latin typeface="DejaVu Sans"/>
                <a:ea typeface="DejaVu Sans"/>
                <a:cs typeface="DejaVu Sans"/>
              </a:rPr>
              <a:t>LigandForge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4836A81-DBD1-40E4-827E-B03E2B5BE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64579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650" b="1">
                <a:solidFill>
                  <a:srgbClr val="AA4499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650" b="1">
                <a:solidFill>
                  <a:srgbClr val="AA4499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650" b="1">
                <a:solidFill>
                  <a:srgbClr val="AA4499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650" b="1">
                <a:solidFill>
                  <a:srgbClr val="AA4499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650" b="1">
                <a:solidFill>
                  <a:srgbClr val="AA4499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650" b="1">
                <a:solidFill>
                  <a:srgbClr val="AA4499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650" b="1">
                <a:solidFill>
                  <a:srgbClr val="AA4499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650" b="1">
                <a:solidFill>
                  <a:srgbClr val="AA4499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650" b="1">
                <a:solidFill>
                  <a:srgbClr val="AA4499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650" b="1">
                <a:solidFill>
                  <a:srgbClr val="AA4499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AA4499"/>
                </a:solidFill>
                <a:latin typeface="DejaVu Sans"/>
                <a:ea typeface="DejaVu Sans"/>
                <a:cs typeface="DejaVu Sans"/>
              </a:defRPr>
            </a:pPr>
            <a:r>
              <a:rPr sz="1650" b="1">
                <a:solidFill>
                  <a:srgbClr val="AA4499"/>
                </a:solidFill>
                <a:latin typeface="DejaVu Sans"/>
                <a:ea typeface="DejaVu Sans"/>
                <a:cs typeface="DejaVu Sans"/>
              </a:rPr>
              <a:t>Linker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D22E393-9866-40F4-927E-908320044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64579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650" b="1">
                <a:solidFill>
                  <a:srgbClr val="0072B2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650" b="1">
                <a:solidFill>
                  <a:srgbClr val="0072B2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650" b="1">
                <a:solidFill>
                  <a:srgbClr val="0072B2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650" b="1">
                <a:solidFill>
                  <a:srgbClr val="0072B2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650" b="1">
                <a:solidFill>
                  <a:srgbClr val="0072B2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650" b="1">
                <a:solidFill>
                  <a:srgbClr val="0072B2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650" b="1">
                <a:solidFill>
                  <a:srgbClr val="0072B2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650" b="1">
                <a:solidFill>
                  <a:srgbClr val="0072B2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650" b="1">
                <a:solidFill>
                  <a:srgbClr val="0072B2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650" b="1">
                <a:solidFill>
                  <a:srgbClr val="0072B2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0072B2"/>
                </a:solidFill>
                <a:latin typeface="DejaVu Sans"/>
                <a:ea typeface="DejaVu Sans"/>
                <a:cs typeface="DejaVu Sans"/>
              </a:defRPr>
            </a:pPr>
            <a:r>
              <a:rPr sz="1650" b="1">
                <a:solidFill>
                  <a:srgbClr val="0072B2"/>
                </a:solidFill>
                <a:latin typeface="DejaVu Sans"/>
                <a:ea typeface="DejaVu Sans"/>
                <a:cs typeface="DejaVu Sans"/>
              </a:rPr>
              <a:t>ECD binder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60DF2BF-328F-4160-9E36-9420B0B73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64579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650" b="1">
                <a:solidFill>
                  <a:srgbClr val="009E73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650" b="1">
                <a:solidFill>
                  <a:srgbClr val="009E73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650" b="1">
                <a:solidFill>
                  <a:srgbClr val="009E73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650" b="1">
                <a:solidFill>
                  <a:srgbClr val="009E73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650" b="1">
                <a:solidFill>
                  <a:srgbClr val="009E73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650" b="1">
                <a:solidFill>
                  <a:srgbClr val="009E73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650" b="1">
                <a:solidFill>
                  <a:srgbClr val="009E73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650" b="1">
                <a:solidFill>
                  <a:srgbClr val="009E73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650" b="1">
                <a:solidFill>
                  <a:srgbClr val="009E73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650" b="1">
                <a:solidFill>
                  <a:srgbClr val="009E73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009E73"/>
                </a:solidFill>
                <a:latin typeface="DejaVu Sans"/>
                <a:ea typeface="DejaVu Sans"/>
                <a:cs typeface="DejaVu Sans"/>
              </a:defRPr>
            </a:pPr>
            <a:r>
              <a:rPr sz="1650" b="1">
                <a:solidFill>
                  <a:srgbClr val="009E73"/>
                </a:solidFill>
                <a:latin typeface="DejaVu Sans"/>
                <a:ea typeface="DejaVu Sans"/>
                <a:cs typeface="DejaVu Sans"/>
              </a:rPr>
              <a:t>Receptor ECD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CD5A6F6-8837-4EE6-AACB-97688E4A5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64579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650" b="1">
                <a:solidFill>
                  <a:srgbClr val="7B8794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650" b="1">
                <a:solidFill>
                  <a:srgbClr val="7B8794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650" b="1">
                <a:solidFill>
                  <a:srgbClr val="7B8794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650" b="1">
                <a:solidFill>
                  <a:srgbClr val="7B8794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650" b="1">
                <a:solidFill>
                  <a:srgbClr val="7B8794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650" b="1">
                <a:solidFill>
                  <a:srgbClr val="7B8794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650" b="1">
                <a:solidFill>
                  <a:srgbClr val="7B8794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650" b="1">
                <a:solidFill>
                  <a:srgbClr val="7B8794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650" b="1">
                <a:solidFill>
                  <a:srgbClr val="7B8794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650" b="1">
                <a:solidFill>
                  <a:srgbClr val="7B8794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7B8794"/>
                </a:solidFill>
                <a:latin typeface="DejaVu Sans"/>
                <a:ea typeface="DejaVu Sans"/>
                <a:cs typeface="DejaVu Sans"/>
              </a:defRPr>
            </a:pPr>
            <a:r>
              <a:rPr sz="1650" b="1">
                <a:solidFill>
                  <a:srgbClr val="7B8794"/>
                </a:solidFill>
                <a:latin typeface="DejaVu Sans"/>
                <a:ea typeface="DejaVu Sans"/>
                <a:cs typeface="DejaVu Sans"/>
              </a:rPr>
              <a:t>Remaining receptor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60FF92D-7303-48C2-A890-995587677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0" y="64579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650" b="1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650" b="1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650" b="1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650" b="1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650" b="1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650" b="1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650" b="1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650" b="1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650" b="1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650" b="1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1650" b="1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Hotspots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D9876A6-CC00-437E-B382-9DA3E7369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800850"/>
            <a:ext cx="1428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42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42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42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42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42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42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42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42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42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42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>
                <a:solidFill>
                  <a:srgbClr val="50616C"/>
                </a:solidFill>
                <a:latin typeface="DejaVu Sans"/>
                <a:ea typeface="DejaVu Sans"/>
                <a:cs typeface="DejaVu Sans"/>
              </a:rPr>
              <a:t>Receptor ECD B1–105 (UniProt 24–128). Black sticks: E34, Q37 and R40. View-specific zoom.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D06FAD8-9C63-4439-BB7D-566628CEE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134225"/>
            <a:ext cx="14192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57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57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57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57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57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57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57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57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57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57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57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pPr>
            <a:r>
              <a:rPr sz="1575" b="1">
                <a:solidFill>
                  <a:srgbClr val="173747"/>
                </a:solidFill>
                <a:latin typeface="DejaVu Sans"/>
                <a:ea typeface="DejaVu Sans"/>
                <a:cs typeface="DejaVu Sans"/>
              </a:rPr>
              <a:t>Complete selected sequence, N to C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5F3EB0B-765E-4E00-8D36-06FFA9BC7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429500"/>
            <a:ext cx="141922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500" b="0">
                <a:solidFill>
                  <a:srgbClr val="173747"/>
                </a:solidFill>
                <a:latin typeface="DejaVu Sans Mono"/>
                <a:ea typeface="DejaVu Sans Mono"/>
                <a:cs typeface="DejaVu Sans Mono"/>
              </a:defRPr>
            </a:defPPr>
            <a:lvl1pPr>
              <a:defRPr sz="1500" b="0">
                <a:solidFill>
                  <a:srgbClr val="173747"/>
                </a:solidFill>
                <a:latin typeface="DejaVu Sans Mono"/>
                <a:ea typeface="DejaVu Sans Mono"/>
                <a:cs typeface="DejaVu Sans Mono"/>
              </a:defRPr>
            </a:lvl1pPr>
            <a:lvl2pPr>
              <a:defRPr sz="1500" b="0">
                <a:solidFill>
                  <a:srgbClr val="173747"/>
                </a:solidFill>
                <a:latin typeface="DejaVu Sans Mono"/>
                <a:ea typeface="DejaVu Sans Mono"/>
                <a:cs typeface="DejaVu Sans Mono"/>
              </a:defRPr>
            </a:lvl2pPr>
            <a:lvl3pPr>
              <a:defRPr sz="1500" b="0">
                <a:solidFill>
                  <a:srgbClr val="173747"/>
                </a:solidFill>
                <a:latin typeface="DejaVu Sans Mono"/>
                <a:ea typeface="DejaVu Sans Mono"/>
                <a:cs typeface="DejaVu Sans Mono"/>
              </a:defRPr>
            </a:lvl3pPr>
            <a:lvl4pPr>
              <a:defRPr sz="1500" b="0">
                <a:solidFill>
                  <a:srgbClr val="173747"/>
                </a:solidFill>
                <a:latin typeface="DejaVu Sans Mono"/>
                <a:ea typeface="DejaVu Sans Mono"/>
                <a:cs typeface="DejaVu Sans Mono"/>
              </a:defRPr>
            </a:lvl4pPr>
            <a:lvl5pPr>
              <a:defRPr sz="1500" b="0">
                <a:solidFill>
                  <a:srgbClr val="173747"/>
                </a:solidFill>
                <a:latin typeface="DejaVu Sans Mono"/>
                <a:ea typeface="DejaVu Sans Mono"/>
                <a:cs typeface="DejaVu Sans Mono"/>
              </a:defRPr>
            </a:lvl5pPr>
            <a:lvl6pPr>
              <a:defRPr sz="1500" b="0">
                <a:solidFill>
                  <a:srgbClr val="173747"/>
                </a:solidFill>
                <a:latin typeface="DejaVu Sans Mono"/>
                <a:ea typeface="DejaVu Sans Mono"/>
                <a:cs typeface="DejaVu Sans Mono"/>
              </a:defRPr>
            </a:lvl6pPr>
            <a:lvl7pPr>
              <a:defRPr sz="1500" b="0">
                <a:solidFill>
                  <a:srgbClr val="173747"/>
                </a:solidFill>
                <a:latin typeface="DejaVu Sans Mono"/>
                <a:ea typeface="DejaVu Sans Mono"/>
                <a:cs typeface="DejaVu Sans Mono"/>
              </a:defRPr>
            </a:lvl7pPr>
            <a:lvl8pPr>
              <a:defRPr sz="1500" b="0">
                <a:solidFill>
                  <a:srgbClr val="173747"/>
                </a:solidFill>
                <a:latin typeface="DejaVu Sans Mono"/>
                <a:ea typeface="DejaVu Sans Mono"/>
                <a:cs typeface="DejaVu Sans Mono"/>
              </a:defRPr>
            </a:lvl8pPr>
            <a:lvl9pPr>
              <a:defRPr sz="1500" b="0">
                <a:solidFill>
                  <a:srgbClr val="173747"/>
                </a:solidFill>
                <a:latin typeface="DejaVu Sans Mono"/>
                <a:ea typeface="DejaVu Sans Mono"/>
                <a:cs typeface="DejaVu Sans Mono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173747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00" b="0">
                <a:solidFill>
                  <a:srgbClr val="173747"/>
                </a:solidFill>
                <a:latin typeface="DejaVu Sans Mono"/>
                <a:ea typeface="DejaVu Sans Mono"/>
                <a:cs typeface="DejaVu Sans Mono"/>
              </a:rPr>
              <a:t>MEKKREDFKEVLKFRYSRYPSLDRFVLVNTAEESIRHLLIGMFVDPSEVLDPSPPPPPPLSLPPVPATDVVEVS</a:t>
            </a:r>
          </a:p>
          <a:p xmlns:a="http://schemas.openxmlformats.org/drawingml/2006/main">
            <a:pPr>
              <a:defRPr sz="1500" b="0">
                <a:solidFill>
                  <a:srgbClr val="173747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00" b="0">
                <a:solidFill>
                  <a:srgbClr val="173747"/>
                </a:solidFill>
                <a:latin typeface="DejaVu Sans Mono"/>
                <a:ea typeface="DejaVu Sans Mono"/>
                <a:cs typeface="DejaVu Sans Mono"/>
              </a:rPr>
              <a:t>GATIDLRVKTCVDFKQTVNFFKLRNTQLPGSCTKDNTVLFLLEGLKLGYASRYFSIGSGSGSQQFS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FC1201A-CFEA-476E-B5DB-5A4510FD1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248650"/>
            <a:ext cx="1304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2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2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2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2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2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2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2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2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2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2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50616C"/>
                </a:solidFill>
                <a:latin typeface="DejaVu Sans"/>
                <a:ea typeface="DejaVu Sans"/>
                <a:cs typeface="DejaVu Sans"/>
              </a:rPr>
              <a:t>Human GLP1R     Boltz2 Exact     Computational predictions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CBFF0BF-3A11-4090-81E5-BBF183836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0" y="82486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2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2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2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2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2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2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2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2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2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2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50616C"/>
                </a:solidFill>
                <a:latin typeface="DejaVu Sans"/>
                <a:ea typeface="DejaVu Sans"/>
                <a:cs typeface="DejaVu Sans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160745722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31FF570-A900-49FF-80CB-409C137D8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76225"/>
            <a:ext cx="1428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22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322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322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322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322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322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322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322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322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322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73747"/>
                </a:solidFill>
                <a:latin typeface="DejaVu Sans"/>
                <a:ea typeface="DejaVu Sans"/>
                <a:cs typeface="DejaVu Sans"/>
              </a:rPr>
              <a:t>03  LK_P109_06  metrics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1C1A666-1864-4948-BBD2-BF9316D42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95350"/>
            <a:ext cx="1428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8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8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8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8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8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8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8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8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8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50616C"/>
                </a:solidFill>
                <a:latin typeface="DejaVu Sans"/>
                <a:ea typeface="DejaVu Sans"/>
                <a:cs typeface="DejaVu Sans"/>
              </a:rPr>
              <a:t>D-L-D fusion   Candidate A: 113 aa   Human GLP1R B: 440 aa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0F0044B-41E8-4C8B-9B41-7422C7426FC7}"/>
              </a:ext>
            </a:extLst>
          </p:cNvPr>
          <p:cNvGraphicFramePr/>
          <p:nvPr/>
        </p:nvGraphicFramePr>
        <p:xfrm>
          <a:off xmlns:a="http://schemas.openxmlformats.org/drawingml/2006/main" x="457200" y="1457325"/>
          <a:ext xmlns:a="http://schemas.openxmlformats.org/drawingml/2006/main" cx="9667875" cy="48006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6791325"/>
                <a:gridCol w="2876550"/>
              </a:tblGrid>
              <a:tr h="34290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Metric and scope</a:t>
                      </a:r>
                    </a:p>
                  </a:txBody>
                  <a:tcPr marL="91440" marR="91440" marT="45720" marB="45720">
                    <a:lnL w="5715">
                      <a:solidFill>
                        <a:srgbClr val="D8E1E5"/>
                      </a:solidFill>
                      <a:prstDash val="solid"/>
                    </a:lnL>
                    <a:lnR w="5715">
                      <a:solidFill>
                        <a:srgbClr val="D8E1E5"/>
                      </a:solidFill>
                      <a:prstDash val="solid"/>
                    </a:lnR>
                    <a:lnT w="5715">
                      <a:solidFill>
                        <a:srgbClr val="D8E1E5"/>
                      </a:solidFill>
                      <a:prstDash val="solid"/>
                    </a:lnT>
                    <a:lnB w="5715">
                      <a:solidFill>
                        <a:srgbClr val="D8E1E5"/>
                      </a:solidFill>
                      <a:prstDash val="solid"/>
                    </a:lnB>
                    <a:solidFill>
                      <a:srgbClr val="245D7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Value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8E1E5"/>
                      </a:solidFill>
                      <a:prstDash val="solid"/>
                    </a:lnR>
                    <a:lnT w="5715">
                      <a:solidFill>
                        <a:srgbClr val="D8E1E5"/>
                      </a:solidFill>
                      <a:prstDash val="solid"/>
                    </a:lnT>
                    <a:lnB w="5715">
                      <a:solidFill>
                        <a:srgbClr val="D8E1E5"/>
                      </a:solidFill>
                      <a:prstDash val="solid"/>
                    </a:lnB>
                    <a:solidFill>
                      <a:srgbClr val="245D73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73747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Boltz2 Exact ipSAE (A/B, Type=max)</a:t>
                      </a:r>
                    </a:p>
                  </a:txBody>
                  <a:tcPr marL="91440" marR="91440" marT="45720" marB="45720">
                    <a:lnL w="5715">
                      <a:solidFill>
                        <a:srgbClr val="D8E1E5"/>
                      </a:solidFill>
                      <a:prstDash val="solid"/>
                    </a:lnL>
                    <a:lnR w="5715">
                      <a:solidFill>
                        <a:srgbClr val="D8E1E5"/>
                      </a:solidFill>
                      <a:prstDash val="solid"/>
                    </a:lnR>
                    <a:lnB w="5715">
                      <a:solidFill>
                        <a:srgbClr val="D8E1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73747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0.910941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8E1E5"/>
                      </a:solidFill>
                      <a:prstDash val="solid"/>
                    </a:lnR>
                    <a:lnB w="5715">
                      <a:solidFill>
                        <a:srgbClr val="D8E1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73747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DeltaForge predicted Kd (nM)</a:t>
                      </a:r>
                    </a:p>
                  </a:txBody>
                  <a:tcPr marL="91440" marR="91440" marT="45720" marB="45720">
                    <a:lnL w="5715">
                      <a:solidFill>
                        <a:srgbClr val="D8E1E5"/>
                      </a:solidFill>
                      <a:prstDash val="solid"/>
                    </a:lnL>
                    <a:lnR w="5715">
                      <a:solidFill>
                        <a:srgbClr val="D8E1E5"/>
                      </a:solidFill>
                      <a:prstDash val="solid"/>
                    </a:lnR>
                    <a:lnB w="5715">
                      <a:solidFill>
                        <a:srgbClr val="D8E1E5"/>
                      </a:solidFill>
                      <a:prstDash val="solid"/>
                    </a:lnB>
                    <a:solidFill>
                      <a:srgbClr val="F1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73747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1.3294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8E1E5"/>
                      </a:solidFill>
                      <a:prstDash val="solid"/>
                    </a:lnR>
                    <a:lnB w="5715">
                      <a:solidFill>
                        <a:srgbClr val="D8E1E5"/>
                      </a:solidFill>
                      <a:prstDash val="solid"/>
                    </a:lnB>
                    <a:solidFill>
                      <a:srgbClr val="F1F5F7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73747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Boltz2 Exact ipTM</a:t>
                      </a:r>
                    </a:p>
                  </a:txBody>
                  <a:tcPr marL="91440" marR="91440" marT="45720" marB="45720">
                    <a:lnL w="5715">
                      <a:solidFill>
                        <a:srgbClr val="D8E1E5"/>
                      </a:solidFill>
                      <a:prstDash val="solid"/>
                    </a:lnL>
                    <a:lnR w="5715">
                      <a:solidFill>
                        <a:srgbClr val="D8E1E5"/>
                      </a:solidFill>
                      <a:prstDash val="solid"/>
                    </a:lnR>
                    <a:lnB w="5715">
                      <a:solidFill>
                        <a:srgbClr val="D8E1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73747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0.8713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8E1E5"/>
                      </a:solidFill>
                      <a:prstDash val="solid"/>
                    </a:lnR>
                    <a:lnB w="5715">
                      <a:solidFill>
                        <a:srgbClr val="D8E1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73747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Original population ipSAE rank</a:t>
                      </a:r>
                    </a:p>
                  </a:txBody>
                  <a:tcPr marL="91440" marR="91440" marT="45720" marB="45720">
                    <a:lnL w="5715">
                      <a:solidFill>
                        <a:srgbClr val="D8E1E5"/>
                      </a:solidFill>
                      <a:prstDash val="solid"/>
                    </a:lnL>
                    <a:lnR w="5715">
                      <a:solidFill>
                        <a:srgbClr val="D8E1E5"/>
                      </a:solidFill>
                      <a:prstDash val="solid"/>
                    </a:lnR>
                    <a:lnB w="5715">
                      <a:solidFill>
                        <a:srgbClr val="D8E1E5"/>
                      </a:solidFill>
                      <a:prstDash val="solid"/>
                    </a:lnB>
                    <a:solidFill>
                      <a:srgbClr val="F1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73747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4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8E1E5"/>
                      </a:solidFill>
                      <a:prstDash val="solid"/>
                    </a:lnR>
                    <a:lnB w="5715">
                      <a:solidFill>
                        <a:srgbClr val="D8E1E5"/>
                      </a:solidFill>
                      <a:prstDash val="solid"/>
                    </a:lnB>
                    <a:solidFill>
                      <a:srgbClr val="F1F5F7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73747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Predicted-Kd rank within population top50</a:t>
                      </a:r>
                    </a:p>
                  </a:txBody>
                  <a:tcPr marL="91440" marR="91440" marT="45720" marB="45720">
                    <a:lnL w="5715">
                      <a:solidFill>
                        <a:srgbClr val="D8E1E5"/>
                      </a:solidFill>
                      <a:prstDash val="solid"/>
                    </a:lnL>
                    <a:lnR w="5715">
                      <a:solidFill>
                        <a:srgbClr val="D8E1E5"/>
                      </a:solidFill>
                      <a:prstDash val="solid"/>
                    </a:lnR>
                    <a:lnB w="5715">
                      <a:solidFill>
                        <a:srgbClr val="D8E1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73747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12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8E1E5"/>
                      </a:solidFill>
                      <a:prstDash val="solid"/>
                    </a:lnR>
                    <a:lnB w="5715">
                      <a:solidFill>
                        <a:srgbClr val="D8E1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73747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Candidate / receptor residues (aa)</a:t>
                      </a:r>
                    </a:p>
                  </a:txBody>
                  <a:tcPr marL="91440" marR="91440" marT="45720" marB="45720">
                    <a:lnL w="5715">
                      <a:solidFill>
                        <a:srgbClr val="D8E1E5"/>
                      </a:solidFill>
                      <a:prstDash val="solid"/>
                    </a:lnL>
                    <a:lnR w="5715">
                      <a:solidFill>
                        <a:srgbClr val="D8E1E5"/>
                      </a:solidFill>
                      <a:prstDash val="solid"/>
                    </a:lnR>
                    <a:lnB w="5715">
                      <a:solidFill>
                        <a:srgbClr val="D8E1E5"/>
                      </a:solidFill>
                      <a:prstDash val="solid"/>
                    </a:lnB>
                    <a:solidFill>
                      <a:srgbClr val="F1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73747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113 / 440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8E1E5"/>
                      </a:solidFill>
                      <a:prstDash val="solid"/>
                    </a:lnR>
                    <a:lnB w="5715">
                      <a:solidFill>
                        <a:srgbClr val="D8E1E5"/>
                      </a:solidFill>
                      <a:prstDash val="solid"/>
                    </a:lnB>
                    <a:solidFill>
                      <a:srgbClr val="F1F5F7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73747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pDockQ / pDockQ2</a:t>
                      </a:r>
                    </a:p>
                  </a:txBody>
                  <a:tcPr marL="91440" marR="91440" marT="45720" marB="45720">
                    <a:lnL w="5715">
                      <a:solidFill>
                        <a:srgbClr val="D8E1E5"/>
                      </a:solidFill>
                      <a:prstDash val="solid"/>
                    </a:lnL>
                    <a:lnR w="5715">
                      <a:solidFill>
                        <a:srgbClr val="D8E1E5"/>
                      </a:solidFill>
                      <a:prstDash val="solid"/>
                    </a:lnR>
                    <a:lnB w="5715">
                      <a:solidFill>
                        <a:srgbClr val="D8E1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73747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0.4192 / 0.2887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8E1E5"/>
                      </a:solidFill>
                      <a:prstDash val="solid"/>
                    </a:lnR>
                    <a:lnB w="5715">
                      <a:solidFill>
                        <a:srgbClr val="D8E1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73747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Whole fusion / linker pLDDT (0-100)</a:t>
                      </a:r>
                    </a:p>
                  </a:txBody>
                  <a:tcPr marL="91440" marR="91440" marT="45720" marB="45720">
                    <a:lnL w="5715">
                      <a:solidFill>
                        <a:srgbClr val="D8E1E5"/>
                      </a:solidFill>
                      <a:prstDash val="solid"/>
                    </a:lnL>
                    <a:lnR w="5715">
                      <a:solidFill>
                        <a:srgbClr val="D8E1E5"/>
                      </a:solidFill>
                      <a:prstDash val="solid"/>
                    </a:lnR>
                    <a:lnB w="5715">
                      <a:solidFill>
                        <a:srgbClr val="D8E1E5"/>
                      </a:solidFill>
                      <a:prstDash val="solid"/>
                    </a:lnB>
                    <a:solidFill>
                      <a:srgbClr val="F1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73747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51.8 / 52.0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8E1E5"/>
                      </a:solidFill>
                      <a:prstDash val="solid"/>
                    </a:lnR>
                    <a:lnB w="5715">
                      <a:solidFill>
                        <a:srgbClr val="D8E1E5"/>
                      </a:solidFill>
                      <a:prstDash val="solid"/>
                    </a:lnB>
                    <a:solidFill>
                      <a:srgbClr val="F1F5F7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73747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ECD / LigandForge pLDDT (0-100)</a:t>
                      </a:r>
                    </a:p>
                  </a:txBody>
                  <a:tcPr marL="91440" marR="91440" marT="45720" marB="45720">
                    <a:lnL w="5715">
                      <a:solidFill>
                        <a:srgbClr val="D8E1E5"/>
                      </a:solidFill>
                      <a:prstDash val="solid"/>
                    </a:lnL>
                    <a:lnR w="5715">
                      <a:solidFill>
                        <a:srgbClr val="D8E1E5"/>
                      </a:solidFill>
                      <a:prstDash val="solid"/>
                    </a:lnR>
                    <a:lnB w="5715">
                      <a:solidFill>
                        <a:srgbClr val="D8E1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73747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78.4 / 44.1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8E1E5"/>
                      </a:solidFill>
                      <a:prstDash val="solid"/>
                    </a:lnR>
                    <a:lnB w="5715">
                      <a:solidFill>
                        <a:srgbClr val="D8E1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73747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Fusion design-to-refold DockQ</a:t>
                      </a:r>
                    </a:p>
                  </a:txBody>
                  <a:tcPr marL="91440" marR="91440" marT="45720" marB="45720">
                    <a:lnL w="5715">
                      <a:solidFill>
                        <a:srgbClr val="D8E1E5"/>
                      </a:solidFill>
                      <a:prstDash val="solid"/>
                    </a:lnL>
                    <a:lnR w="5715">
                      <a:solidFill>
                        <a:srgbClr val="D8E1E5"/>
                      </a:solidFill>
                      <a:prstDash val="solid"/>
                    </a:lnR>
                    <a:lnB w="5715">
                      <a:solidFill>
                        <a:srgbClr val="D8E1E5"/>
                      </a:solidFill>
                      <a:prstDash val="solid"/>
                    </a:lnB>
                    <a:solidFill>
                      <a:srgbClr val="F1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73747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0.2167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8E1E5"/>
                      </a:solidFill>
                      <a:prstDash val="solid"/>
                    </a:lnR>
                    <a:lnB w="5715">
                      <a:solidFill>
                        <a:srgbClr val="D8E1E5"/>
                      </a:solidFill>
                      <a:prstDash val="solid"/>
                    </a:lnB>
                    <a:solidFill>
                      <a:srgbClr val="F1F5F7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73747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Free C-terminal OPM z (A)</a:t>
                      </a:r>
                    </a:p>
                  </a:txBody>
                  <a:tcPr marL="91440" marR="91440" marT="45720" marB="45720">
                    <a:lnL w="5715">
                      <a:solidFill>
                        <a:srgbClr val="D8E1E5"/>
                      </a:solidFill>
                      <a:prstDash val="solid"/>
                    </a:lnL>
                    <a:lnR w="5715">
                      <a:solidFill>
                        <a:srgbClr val="D8E1E5"/>
                      </a:solidFill>
                      <a:prstDash val="solid"/>
                    </a:lnR>
                    <a:lnB w="5715">
                      <a:solidFill>
                        <a:srgbClr val="D8E1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73747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42.10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8E1E5"/>
                      </a:solidFill>
                      <a:prstDash val="solid"/>
                    </a:lnR>
                    <a:lnB w="5715">
                      <a:solidFill>
                        <a:srgbClr val="D8E1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73747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Extracellular free C-terminal screen</a:t>
                      </a:r>
                    </a:p>
                  </a:txBody>
                  <a:tcPr marL="91440" marR="91440" marT="45720" marB="45720">
                    <a:lnL w="5715">
                      <a:solidFill>
                        <a:srgbClr val="D8E1E5"/>
                      </a:solidFill>
                      <a:prstDash val="solid"/>
                    </a:lnL>
                    <a:lnR w="5715">
                      <a:solidFill>
                        <a:srgbClr val="D8E1E5"/>
                      </a:solidFill>
                      <a:prstDash val="solid"/>
                    </a:lnR>
                    <a:lnB w="5715">
                      <a:solidFill>
                        <a:srgbClr val="D8E1E5"/>
                      </a:solidFill>
                      <a:prstDash val="solid"/>
                    </a:lnB>
                    <a:solidFill>
                      <a:srgbClr val="F1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73747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Pass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8E1E5"/>
                      </a:solidFill>
                      <a:prstDash val="solid"/>
                    </a:lnR>
                    <a:lnB w="5715">
                      <a:solidFill>
                        <a:srgbClr val="D8E1E5"/>
                      </a:solidFill>
                      <a:prstDash val="solid"/>
                    </a:lnB>
                    <a:solidFill>
                      <a:srgbClr val="F1F5F7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73747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DeltaForge length scope</a:t>
                      </a:r>
                    </a:p>
                  </a:txBody>
                  <a:tcPr marL="91440" marR="91440" marT="45720" marB="45720">
                    <a:lnL w="5715">
                      <a:solidFill>
                        <a:srgbClr val="D8E1E5"/>
                      </a:solidFill>
                      <a:prstDash val="solid"/>
                    </a:lnL>
                    <a:lnR w="5715">
                      <a:solidFill>
                        <a:srgbClr val="D8E1E5"/>
                      </a:solidFill>
                      <a:prstDash val="solid"/>
                    </a:lnR>
                    <a:lnB w="5715">
                      <a:solidFill>
                        <a:srgbClr val="D8E1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73747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core_40_119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8E1E5"/>
                      </a:solidFill>
                      <a:prstDash val="solid"/>
                    </a:lnR>
                    <a:lnB w="5715">
                      <a:solidFill>
                        <a:srgbClr val="D8E1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27C481E-207A-493B-A9FF-B9A2805A6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1457325"/>
            <a:ext cx="4095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950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950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950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950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950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950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950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950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950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950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173747"/>
                </a:solidFill>
                <a:latin typeface="DejaVu Sans"/>
                <a:ea typeface="DejaVu Sans"/>
                <a:cs typeface="DejaVu Sans"/>
              </a:rPr>
              <a:t>Origin and prediction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854EA68-FE9E-40D2-A0BB-D22C0C07B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1952625"/>
            <a:ext cx="4095750" cy="390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725" b="0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725" b="0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725" b="0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725" b="0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725" b="0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725" b="0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725" b="0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725" b="0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725" b="0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725" b="0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173747"/>
                </a:solidFill>
                <a:latin typeface="DejaVu Sans"/>
                <a:ea typeface="DejaVu Sans"/>
                <a:cs typeface="DejaVu Sans"/>
              </a:rPr>
              <a:t>ECD parent S08_00_099</a:t>
            </a:r>
          </a:p>
          <a:p xmlns:a="http://schemas.openxmlformats.org/drawingml/2006/main">
            <a:pPr>
              <a:defRPr sz="1725" b="0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173747"/>
                </a:solidFill>
                <a:latin typeface="DejaVu Sans"/>
                <a:ea typeface="DejaVu Sans"/>
                <a:cs typeface="DejaVu Sans"/>
              </a:rPr>
              <a:t>LigandForge parent Design_280</a:t>
            </a:r>
          </a:p>
          <a:p xmlns:a="http://schemas.openxmlformats.org/drawingml/2006/main">
            <a:pPr>
              <a:defRPr sz="1725" b="0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173747"/>
                </a:solidFill>
                <a:latin typeface="DejaVu Sans"/>
                <a:ea typeface="DejaVu Sans"/>
                <a:cs typeface="DejaVu Sans"/>
              </a:rPr>
              <a:t>Pair P109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725" b="0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173747"/>
                </a:solidFill>
                <a:latin typeface="DejaVu Sans"/>
                <a:ea typeface="DejaVu Sans"/>
                <a:cs typeface="DejaVu Sans"/>
              </a:rPr>
              <a:t>AP Novo seed 1197</a:t>
            </a:r>
          </a:p>
          <a:p xmlns:a="http://schemas.openxmlformats.org/drawingml/2006/main">
            <a:pPr>
              <a:defRPr sz="1725" b="0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173747"/>
                </a:solidFill>
                <a:latin typeface="DejaVu Sans"/>
                <a:ea typeface="DejaVu Sans"/>
                <a:cs typeface="DejaVu Sans"/>
              </a:rPr>
              <a:t>Exact seed 101</a:t>
            </a:r>
          </a:p>
          <a:p xmlns:a="http://schemas.openxmlformats.org/drawingml/2006/main">
            <a:pPr>
              <a:defRPr sz="1725" b="0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173747"/>
                </a:solidFill>
                <a:latin typeface="DejaVu Sans"/>
                <a:ea typeface="DejaVu Sans"/>
                <a:cs typeface="DejaVu Sans"/>
              </a:rPr>
              <a:t>3 recycles, 200 steps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725" b="0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173747"/>
                </a:solidFill>
                <a:latin typeface="DejaVu Sans"/>
                <a:ea typeface="DejaVu Sans"/>
                <a:cs typeface="DejaVu Sans"/>
              </a:rPr>
              <a:t>ECD A1-20  linker A21-44  LF A45-113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530F6C9-A64D-4943-99E2-216300CBA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81750"/>
            <a:ext cx="14192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650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650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650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650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650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650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650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650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650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650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50616C"/>
                </a:solidFill>
                <a:latin typeface="DejaVu Sans"/>
                <a:ea typeface="DejaVu Sans"/>
                <a:cs typeface="DejaVu Sans"/>
              </a:rPr>
              <a:t>Whole-fusion pLDDT remains modest. High interface confidence does not establish activation.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7F8952E-C1B9-4477-9670-664CBA23E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115175"/>
            <a:ext cx="14192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57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57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57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57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57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57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57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57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57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57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57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pPr>
            <a:r>
              <a:rPr sz="1575" b="1">
                <a:solidFill>
                  <a:srgbClr val="173747"/>
                </a:solidFill>
                <a:latin typeface="DejaVu Sans"/>
                <a:ea typeface="DejaVu Sans"/>
                <a:cs typeface="DejaVu Sans"/>
              </a:rPr>
              <a:t>Complete selected sequence, N to C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C8E0B28-309D-4F29-9B68-B7C300C99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410450"/>
            <a:ext cx="141922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500" b="0">
                <a:solidFill>
                  <a:srgbClr val="173747"/>
                </a:solidFill>
                <a:latin typeface="DejaVu Sans Mono"/>
                <a:ea typeface="DejaVu Sans Mono"/>
                <a:cs typeface="DejaVu Sans Mono"/>
              </a:defRPr>
            </a:defPPr>
            <a:lvl1pPr>
              <a:defRPr sz="1500" b="0">
                <a:solidFill>
                  <a:srgbClr val="173747"/>
                </a:solidFill>
                <a:latin typeface="DejaVu Sans Mono"/>
                <a:ea typeface="DejaVu Sans Mono"/>
                <a:cs typeface="DejaVu Sans Mono"/>
              </a:defRPr>
            </a:lvl1pPr>
            <a:lvl2pPr>
              <a:defRPr sz="1500" b="0">
                <a:solidFill>
                  <a:srgbClr val="173747"/>
                </a:solidFill>
                <a:latin typeface="DejaVu Sans Mono"/>
                <a:ea typeface="DejaVu Sans Mono"/>
                <a:cs typeface="DejaVu Sans Mono"/>
              </a:defRPr>
            </a:lvl2pPr>
            <a:lvl3pPr>
              <a:defRPr sz="1500" b="0">
                <a:solidFill>
                  <a:srgbClr val="173747"/>
                </a:solidFill>
                <a:latin typeface="DejaVu Sans Mono"/>
                <a:ea typeface="DejaVu Sans Mono"/>
                <a:cs typeface="DejaVu Sans Mono"/>
              </a:defRPr>
            </a:lvl3pPr>
            <a:lvl4pPr>
              <a:defRPr sz="1500" b="0">
                <a:solidFill>
                  <a:srgbClr val="173747"/>
                </a:solidFill>
                <a:latin typeface="DejaVu Sans Mono"/>
                <a:ea typeface="DejaVu Sans Mono"/>
                <a:cs typeface="DejaVu Sans Mono"/>
              </a:defRPr>
            </a:lvl4pPr>
            <a:lvl5pPr>
              <a:defRPr sz="1500" b="0">
                <a:solidFill>
                  <a:srgbClr val="173747"/>
                </a:solidFill>
                <a:latin typeface="DejaVu Sans Mono"/>
                <a:ea typeface="DejaVu Sans Mono"/>
                <a:cs typeface="DejaVu Sans Mono"/>
              </a:defRPr>
            </a:lvl5pPr>
            <a:lvl6pPr>
              <a:defRPr sz="1500" b="0">
                <a:solidFill>
                  <a:srgbClr val="173747"/>
                </a:solidFill>
                <a:latin typeface="DejaVu Sans Mono"/>
                <a:ea typeface="DejaVu Sans Mono"/>
                <a:cs typeface="DejaVu Sans Mono"/>
              </a:defRPr>
            </a:lvl6pPr>
            <a:lvl7pPr>
              <a:defRPr sz="1500" b="0">
                <a:solidFill>
                  <a:srgbClr val="173747"/>
                </a:solidFill>
                <a:latin typeface="DejaVu Sans Mono"/>
                <a:ea typeface="DejaVu Sans Mono"/>
                <a:cs typeface="DejaVu Sans Mono"/>
              </a:defRPr>
            </a:lvl7pPr>
            <a:lvl8pPr>
              <a:defRPr sz="1500" b="0">
                <a:solidFill>
                  <a:srgbClr val="173747"/>
                </a:solidFill>
                <a:latin typeface="DejaVu Sans Mono"/>
                <a:ea typeface="DejaVu Sans Mono"/>
                <a:cs typeface="DejaVu Sans Mono"/>
              </a:defRPr>
            </a:lvl8pPr>
            <a:lvl9pPr>
              <a:defRPr sz="1500" b="0">
                <a:solidFill>
                  <a:srgbClr val="173747"/>
                </a:solidFill>
                <a:latin typeface="DejaVu Sans Mono"/>
                <a:ea typeface="DejaVu Sans Mono"/>
                <a:cs typeface="DejaVu Sans Mono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173747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00" b="0">
                <a:solidFill>
                  <a:srgbClr val="173747"/>
                </a:solidFill>
                <a:latin typeface="DejaVu Sans Mono"/>
                <a:ea typeface="DejaVu Sans Mono"/>
                <a:cs typeface="DejaVu Sans Mono"/>
              </a:rPr>
              <a:t>MSFFQKYLKQLYLQECLSFLGGRHRVGSGSSPPPPELAPEEVVKEVSGATIDLRVKTCVDFKQTVNFFKLRNTQ</a:t>
            </a:r>
          </a:p>
          <a:p xmlns:a="http://schemas.openxmlformats.org/drawingml/2006/main">
            <a:pPr>
              <a:defRPr sz="1500" b="0">
                <a:solidFill>
                  <a:srgbClr val="173747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00" b="0">
                <a:solidFill>
                  <a:srgbClr val="173747"/>
                </a:solidFill>
                <a:latin typeface="DejaVu Sans Mono"/>
                <a:ea typeface="DejaVu Sans Mono"/>
                <a:cs typeface="DejaVu Sans Mono"/>
              </a:rPr>
              <a:t>LPGSCTKDNTVLFLLEGLKLGYASRYFSIGSGSGSQQFS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22F328D-9F7F-4BA7-85A3-81B3978EC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248650"/>
            <a:ext cx="1304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2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2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2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2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2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2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2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2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2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2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50616C"/>
                </a:solidFill>
                <a:latin typeface="DejaVu Sans"/>
                <a:ea typeface="DejaVu Sans"/>
                <a:cs typeface="DejaVu Sans"/>
              </a:rPr>
              <a:t>Human GLP1R     Boltz2 Exact     Computational predictions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CEC35BA-486C-4064-BF48-0648E6524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0" y="82486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2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2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2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2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2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2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2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2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2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2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50616C"/>
                </a:solidFill>
                <a:latin typeface="DejaVu Sans"/>
                <a:ea typeface="DejaVu Sans"/>
                <a:cs typeface="DejaVu Sans"/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20598211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635A46D-D855-47A9-AB7F-7FCB9B920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76225"/>
            <a:ext cx="1428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22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322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322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322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322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322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322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322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322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322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73747"/>
                </a:solidFill>
                <a:latin typeface="DejaVu Sans"/>
                <a:ea typeface="DejaVu Sans"/>
                <a:cs typeface="DejaVu Sans"/>
              </a:rPr>
              <a:t>03  LK_P109_06  structure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A057BF9-A57C-4887-BFAA-2EC1C1685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95350"/>
            <a:ext cx="1428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8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8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8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8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8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8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8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8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8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50616C"/>
                </a:solidFill>
                <a:latin typeface="DejaVu Sans"/>
                <a:ea typeface="DejaVu Sans"/>
                <a:cs typeface="DejaVu Sans"/>
              </a:rPr>
              <a:t>D-L-D fusion   Candidate A: 113 aa   Human GLP1R B: 440 aa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39EF952-579B-44A8-8449-134F24229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362075"/>
            <a:ext cx="619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7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87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87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87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87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87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87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87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87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87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173747"/>
                </a:solidFill>
                <a:latin typeface="DejaVu Sans"/>
                <a:ea typeface="DejaVu Sans"/>
                <a:cs typeface="DejaVu Sans"/>
              </a:rPr>
              <a:t>Boltz2 Exact receptor complex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242BED7-EB9E-4C69-9E96-37AF3DF7C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362075"/>
            <a:ext cx="619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7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87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87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87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87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87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87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87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87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87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173747"/>
                </a:solidFill>
                <a:latin typeface="DejaVu Sans"/>
                <a:ea typeface="DejaVu Sans"/>
                <a:cs typeface="DejaVu Sans"/>
              </a:rPr>
              <a:t>Boltz2 Exact interface detail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2FCEA93-6F0A-41E7-AE46-625840789C8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c338af9e26142e2"/>
          <a:stretch xmlns:a="http://schemas.openxmlformats.org/drawingml/2006/main"/>
        </p:blipFill>
        <p:spPr>
          <a:xfrm xmlns:a="http://schemas.openxmlformats.org/drawingml/2006/main">
            <a:off x="2344208" y="1724025"/>
            <a:ext cx="3217333" cy="4572000"/>
          </a:xfrm>
          <a:prstGeom xmlns:a="http://schemas.openxmlformats.org/drawingml/2006/main" prst="rect">
            <a:avLst/>
          </a:prstGeom>
        </p:spPr>
      </p:pic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B5999FA-1D92-479A-A76A-8E7CFE9D377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005e59e080e4592"/>
          <a:stretch xmlns:a="http://schemas.openxmlformats.org/drawingml/2006/main"/>
        </p:blipFill>
        <p:spPr>
          <a:xfrm xmlns:a="http://schemas.openxmlformats.org/drawingml/2006/main">
            <a:off x="9296093" y="1724025"/>
            <a:ext cx="3982065" cy="457200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4C06F1A-CB02-4930-A282-C2285CF41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579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650" b="1">
                <a:solidFill>
                  <a:srgbClr val="E69F00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650" b="1">
                <a:solidFill>
                  <a:srgbClr val="E69F00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650" b="1">
                <a:solidFill>
                  <a:srgbClr val="E69F00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650" b="1">
                <a:solidFill>
                  <a:srgbClr val="E69F00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650" b="1">
                <a:solidFill>
                  <a:srgbClr val="E69F00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650" b="1">
                <a:solidFill>
                  <a:srgbClr val="E69F00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650" b="1">
                <a:solidFill>
                  <a:srgbClr val="E69F00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650" b="1">
                <a:solidFill>
                  <a:srgbClr val="E69F00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650" b="1">
                <a:solidFill>
                  <a:srgbClr val="E69F00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650" b="1">
                <a:solidFill>
                  <a:srgbClr val="E69F00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E69F00"/>
                </a:solidFill>
                <a:latin typeface="DejaVu Sans"/>
                <a:ea typeface="DejaVu Sans"/>
                <a:cs typeface="DejaVu Sans"/>
              </a:defRPr>
            </a:pPr>
            <a:r>
              <a:rPr sz="1650" b="1">
                <a:solidFill>
                  <a:srgbClr val="E69F00"/>
                </a:solidFill>
                <a:latin typeface="DejaVu Sans"/>
                <a:ea typeface="DejaVu Sans"/>
                <a:cs typeface="DejaVu Sans"/>
              </a:rPr>
              <a:t>LigandForge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6636609-8F79-44A6-B759-F970B9718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64579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650" b="1">
                <a:solidFill>
                  <a:srgbClr val="AA4499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650" b="1">
                <a:solidFill>
                  <a:srgbClr val="AA4499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650" b="1">
                <a:solidFill>
                  <a:srgbClr val="AA4499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650" b="1">
                <a:solidFill>
                  <a:srgbClr val="AA4499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650" b="1">
                <a:solidFill>
                  <a:srgbClr val="AA4499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650" b="1">
                <a:solidFill>
                  <a:srgbClr val="AA4499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650" b="1">
                <a:solidFill>
                  <a:srgbClr val="AA4499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650" b="1">
                <a:solidFill>
                  <a:srgbClr val="AA4499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650" b="1">
                <a:solidFill>
                  <a:srgbClr val="AA4499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650" b="1">
                <a:solidFill>
                  <a:srgbClr val="AA4499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AA4499"/>
                </a:solidFill>
                <a:latin typeface="DejaVu Sans"/>
                <a:ea typeface="DejaVu Sans"/>
                <a:cs typeface="DejaVu Sans"/>
              </a:defRPr>
            </a:pPr>
            <a:r>
              <a:rPr sz="1650" b="1">
                <a:solidFill>
                  <a:srgbClr val="AA4499"/>
                </a:solidFill>
                <a:latin typeface="DejaVu Sans"/>
                <a:ea typeface="DejaVu Sans"/>
                <a:cs typeface="DejaVu Sans"/>
              </a:rPr>
              <a:t>Linker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4023099-79EE-4266-97B4-BC9796732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64579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650" b="1">
                <a:solidFill>
                  <a:srgbClr val="0072B2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650" b="1">
                <a:solidFill>
                  <a:srgbClr val="0072B2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650" b="1">
                <a:solidFill>
                  <a:srgbClr val="0072B2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650" b="1">
                <a:solidFill>
                  <a:srgbClr val="0072B2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650" b="1">
                <a:solidFill>
                  <a:srgbClr val="0072B2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650" b="1">
                <a:solidFill>
                  <a:srgbClr val="0072B2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650" b="1">
                <a:solidFill>
                  <a:srgbClr val="0072B2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650" b="1">
                <a:solidFill>
                  <a:srgbClr val="0072B2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650" b="1">
                <a:solidFill>
                  <a:srgbClr val="0072B2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650" b="1">
                <a:solidFill>
                  <a:srgbClr val="0072B2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0072B2"/>
                </a:solidFill>
                <a:latin typeface="DejaVu Sans"/>
                <a:ea typeface="DejaVu Sans"/>
                <a:cs typeface="DejaVu Sans"/>
              </a:defRPr>
            </a:pPr>
            <a:r>
              <a:rPr sz="1650" b="1">
                <a:solidFill>
                  <a:srgbClr val="0072B2"/>
                </a:solidFill>
                <a:latin typeface="DejaVu Sans"/>
                <a:ea typeface="DejaVu Sans"/>
                <a:cs typeface="DejaVu Sans"/>
              </a:rPr>
              <a:t>ECD binder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067AC10-7492-4F25-AC72-BF0D98531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64579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650" b="1">
                <a:solidFill>
                  <a:srgbClr val="009E73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650" b="1">
                <a:solidFill>
                  <a:srgbClr val="009E73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650" b="1">
                <a:solidFill>
                  <a:srgbClr val="009E73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650" b="1">
                <a:solidFill>
                  <a:srgbClr val="009E73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650" b="1">
                <a:solidFill>
                  <a:srgbClr val="009E73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650" b="1">
                <a:solidFill>
                  <a:srgbClr val="009E73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650" b="1">
                <a:solidFill>
                  <a:srgbClr val="009E73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650" b="1">
                <a:solidFill>
                  <a:srgbClr val="009E73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650" b="1">
                <a:solidFill>
                  <a:srgbClr val="009E73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650" b="1">
                <a:solidFill>
                  <a:srgbClr val="009E73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009E73"/>
                </a:solidFill>
                <a:latin typeface="DejaVu Sans"/>
                <a:ea typeface="DejaVu Sans"/>
                <a:cs typeface="DejaVu Sans"/>
              </a:defRPr>
            </a:pPr>
            <a:r>
              <a:rPr sz="1650" b="1">
                <a:solidFill>
                  <a:srgbClr val="009E73"/>
                </a:solidFill>
                <a:latin typeface="DejaVu Sans"/>
                <a:ea typeface="DejaVu Sans"/>
                <a:cs typeface="DejaVu Sans"/>
              </a:rPr>
              <a:t>Receptor ECD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FD93A54-26E3-4A72-8BD0-FC815BF60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64579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650" b="1">
                <a:solidFill>
                  <a:srgbClr val="7B8794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650" b="1">
                <a:solidFill>
                  <a:srgbClr val="7B8794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650" b="1">
                <a:solidFill>
                  <a:srgbClr val="7B8794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650" b="1">
                <a:solidFill>
                  <a:srgbClr val="7B8794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650" b="1">
                <a:solidFill>
                  <a:srgbClr val="7B8794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650" b="1">
                <a:solidFill>
                  <a:srgbClr val="7B8794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650" b="1">
                <a:solidFill>
                  <a:srgbClr val="7B8794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650" b="1">
                <a:solidFill>
                  <a:srgbClr val="7B8794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650" b="1">
                <a:solidFill>
                  <a:srgbClr val="7B8794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650" b="1">
                <a:solidFill>
                  <a:srgbClr val="7B8794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7B8794"/>
                </a:solidFill>
                <a:latin typeface="DejaVu Sans"/>
                <a:ea typeface="DejaVu Sans"/>
                <a:cs typeface="DejaVu Sans"/>
              </a:defRPr>
            </a:pPr>
            <a:r>
              <a:rPr sz="1650" b="1">
                <a:solidFill>
                  <a:srgbClr val="7B8794"/>
                </a:solidFill>
                <a:latin typeface="DejaVu Sans"/>
                <a:ea typeface="DejaVu Sans"/>
                <a:cs typeface="DejaVu Sans"/>
              </a:rPr>
              <a:t>Remaining receptor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C02B10C-D015-46DF-A365-66C384CD8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0" y="64579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650" b="1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650" b="1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650" b="1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650" b="1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650" b="1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650" b="1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650" b="1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650" b="1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650" b="1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650" b="1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1650" b="1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Hotspots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D42A4B5-AFD0-4160-B791-51E90CDB9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800850"/>
            <a:ext cx="1428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42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42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42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42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42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42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42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42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42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42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>
                <a:solidFill>
                  <a:srgbClr val="50616C"/>
                </a:solidFill>
                <a:latin typeface="DejaVu Sans"/>
                <a:ea typeface="DejaVu Sans"/>
                <a:cs typeface="DejaVu Sans"/>
              </a:rPr>
              <a:t>Receptor ECD B1–105 (UniProt 24–128). Black sticks: E34, Q37 and R40. View-specific zoom.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D028EA9-A139-4524-9D26-467832BF2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134225"/>
            <a:ext cx="14192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57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57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57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57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57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57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57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57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57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57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57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pPr>
            <a:r>
              <a:rPr sz="1575" b="1">
                <a:solidFill>
                  <a:srgbClr val="173747"/>
                </a:solidFill>
                <a:latin typeface="DejaVu Sans"/>
                <a:ea typeface="DejaVu Sans"/>
                <a:cs typeface="DejaVu Sans"/>
              </a:rPr>
              <a:t>Complete selected sequence, N to C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779AD7D-762E-4DAC-BEF4-503870425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429500"/>
            <a:ext cx="141922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500" b="0">
                <a:solidFill>
                  <a:srgbClr val="173747"/>
                </a:solidFill>
                <a:latin typeface="DejaVu Sans Mono"/>
                <a:ea typeface="DejaVu Sans Mono"/>
                <a:cs typeface="DejaVu Sans Mono"/>
              </a:defRPr>
            </a:defPPr>
            <a:lvl1pPr>
              <a:defRPr sz="1500" b="0">
                <a:solidFill>
                  <a:srgbClr val="173747"/>
                </a:solidFill>
                <a:latin typeface="DejaVu Sans Mono"/>
                <a:ea typeface="DejaVu Sans Mono"/>
                <a:cs typeface="DejaVu Sans Mono"/>
              </a:defRPr>
            </a:lvl1pPr>
            <a:lvl2pPr>
              <a:defRPr sz="1500" b="0">
                <a:solidFill>
                  <a:srgbClr val="173747"/>
                </a:solidFill>
                <a:latin typeface="DejaVu Sans Mono"/>
                <a:ea typeface="DejaVu Sans Mono"/>
                <a:cs typeface="DejaVu Sans Mono"/>
              </a:defRPr>
            </a:lvl2pPr>
            <a:lvl3pPr>
              <a:defRPr sz="1500" b="0">
                <a:solidFill>
                  <a:srgbClr val="173747"/>
                </a:solidFill>
                <a:latin typeface="DejaVu Sans Mono"/>
                <a:ea typeface="DejaVu Sans Mono"/>
                <a:cs typeface="DejaVu Sans Mono"/>
              </a:defRPr>
            </a:lvl3pPr>
            <a:lvl4pPr>
              <a:defRPr sz="1500" b="0">
                <a:solidFill>
                  <a:srgbClr val="173747"/>
                </a:solidFill>
                <a:latin typeface="DejaVu Sans Mono"/>
                <a:ea typeface="DejaVu Sans Mono"/>
                <a:cs typeface="DejaVu Sans Mono"/>
              </a:defRPr>
            </a:lvl4pPr>
            <a:lvl5pPr>
              <a:defRPr sz="1500" b="0">
                <a:solidFill>
                  <a:srgbClr val="173747"/>
                </a:solidFill>
                <a:latin typeface="DejaVu Sans Mono"/>
                <a:ea typeface="DejaVu Sans Mono"/>
                <a:cs typeface="DejaVu Sans Mono"/>
              </a:defRPr>
            </a:lvl5pPr>
            <a:lvl6pPr>
              <a:defRPr sz="1500" b="0">
                <a:solidFill>
                  <a:srgbClr val="173747"/>
                </a:solidFill>
                <a:latin typeface="DejaVu Sans Mono"/>
                <a:ea typeface="DejaVu Sans Mono"/>
                <a:cs typeface="DejaVu Sans Mono"/>
              </a:defRPr>
            </a:lvl6pPr>
            <a:lvl7pPr>
              <a:defRPr sz="1500" b="0">
                <a:solidFill>
                  <a:srgbClr val="173747"/>
                </a:solidFill>
                <a:latin typeface="DejaVu Sans Mono"/>
                <a:ea typeface="DejaVu Sans Mono"/>
                <a:cs typeface="DejaVu Sans Mono"/>
              </a:defRPr>
            </a:lvl7pPr>
            <a:lvl8pPr>
              <a:defRPr sz="1500" b="0">
                <a:solidFill>
                  <a:srgbClr val="173747"/>
                </a:solidFill>
                <a:latin typeface="DejaVu Sans Mono"/>
                <a:ea typeface="DejaVu Sans Mono"/>
                <a:cs typeface="DejaVu Sans Mono"/>
              </a:defRPr>
            </a:lvl8pPr>
            <a:lvl9pPr>
              <a:defRPr sz="1500" b="0">
                <a:solidFill>
                  <a:srgbClr val="173747"/>
                </a:solidFill>
                <a:latin typeface="DejaVu Sans Mono"/>
                <a:ea typeface="DejaVu Sans Mono"/>
                <a:cs typeface="DejaVu Sans Mono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173747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00" b="0">
                <a:solidFill>
                  <a:srgbClr val="173747"/>
                </a:solidFill>
                <a:latin typeface="DejaVu Sans Mono"/>
                <a:ea typeface="DejaVu Sans Mono"/>
                <a:cs typeface="DejaVu Sans Mono"/>
              </a:rPr>
              <a:t>MSFFQKYLKQLYLQECLSFLGGRHRVGSGSSPPPPELAPEEVVKEVSGATIDLRVKTCVDFKQTVNFFKLRNTQ</a:t>
            </a:r>
          </a:p>
          <a:p xmlns:a="http://schemas.openxmlformats.org/drawingml/2006/main">
            <a:pPr>
              <a:defRPr sz="1500" b="0">
                <a:solidFill>
                  <a:srgbClr val="173747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00" b="0">
                <a:solidFill>
                  <a:srgbClr val="173747"/>
                </a:solidFill>
                <a:latin typeface="DejaVu Sans Mono"/>
                <a:ea typeface="DejaVu Sans Mono"/>
                <a:cs typeface="DejaVu Sans Mono"/>
              </a:rPr>
              <a:t>LPGSCTKDNTVLFLLEGLKLGYASRYFSIGSGSGSQQFS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0FFEEA8-59EB-418F-BB22-66557AE1D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248650"/>
            <a:ext cx="1304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2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2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2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2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2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2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2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2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2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2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50616C"/>
                </a:solidFill>
                <a:latin typeface="DejaVu Sans"/>
                <a:ea typeface="DejaVu Sans"/>
                <a:cs typeface="DejaVu Sans"/>
              </a:rPr>
              <a:t>Human GLP1R     Boltz2 Exact     Computational predictions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9FF8FF1-3E02-4415-A092-EE8DFCE1C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0" y="82486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2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2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2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2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2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2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2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2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2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2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50616C"/>
                </a:solidFill>
                <a:latin typeface="DejaVu Sans"/>
                <a:ea typeface="DejaVu Sans"/>
                <a:cs typeface="DejaVu Sans"/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157435113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71D8866-90AB-406A-B220-2F3E5BE49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76225"/>
            <a:ext cx="1428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22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322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322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322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322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322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322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322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322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322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73747"/>
                </a:solidFill>
                <a:latin typeface="DejaVu Sans"/>
                <a:ea typeface="DejaVu Sans"/>
                <a:cs typeface="DejaVu Sans"/>
              </a:rPr>
              <a:t>04  Design_520  metrics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2E7BF36-266A-4510-B61F-3B10CA203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95350"/>
            <a:ext cx="1428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8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8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8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8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8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8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8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8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8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50616C"/>
                </a:solidFill>
                <a:latin typeface="DejaVu Sans"/>
                <a:ea typeface="DejaVu Sans"/>
                <a:cs typeface="DejaVu Sans"/>
              </a:rPr>
              <a:t>Original LigandForge   Candidate A: 53 aa   Human GLP1R B: 409 aa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AC0DA05-95A8-40FA-8F29-D1884B83D6DD}"/>
              </a:ext>
            </a:extLst>
          </p:cNvPr>
          <p:cNvGraphicFramePr/>
          <p:nvPr/>
        </p:nvGraphicFramePr>
        <p:xfrm>
          <a:off xmlns:a="http://schemas.openxmlformats.org/drawingml/2006/main" x="457200" y="1457325"/>
          <a:ext xmlns:a="http://schemas.openxmlformats.org/drawingml/2006/main" cx="9667875" cy="3429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6791325"/>
                <a:gridCol w="2876550"/>
              </a:tblGrid>
              <a:tr h="34290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Metric and scope</a:t>
                      </a:r>
                    </a:p>
                  </a:txBody>
                  <a:tcPr marL="91440" marR="91440" marT="45720" marB="45720">
                    <a:lnL w="5715">
                      <a:solidFill>
                        <a:srgbClr val="D8E1E5"/>
                      </a:solidFill>
                      <a:prstDash val="solid"/>
                    </a:lnL>
                    <a:lnR w="5715">
                      <a:solidFill>
                        <a:srgbClr val="D8E1E5"/>
                      </a:solidFill>
                      <a:prstDash val="solid"/>
                    </a:lnR>
                    <a:lnT w="5715">
                      <a:solidFill>
                        <a:srgbClr val="D8E1E5"/>
                      </a:solidFill>
                      <a:prstDash val="solid"/>
                    </a:lnT>
                    <a:lnB w="5715">
                      <a:solidFill>
                        <a:srgbClr val="D8E1E5"/>
                      </a:solidFill>
                      <a:prstDash val="solid"/>
                    </a:lnB>
                    <a:solidFill>
                      <a:srgbClr val="245D7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Value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8E1E5"/>
                      </a:solidFill>
                      <a:prstDash val="solid"/>
                    </a:lnR>
                    <a:lnT w="5715">
                      <a:solidFill>
                        <a:srgbClr val="D8E1E5"/>
                      </a:solidFill>
                      <a:prstDash val="solid"/>
                    </a:lnT>
                    <a:lnB w="5715">
                      <a:solidFill>
                        <a:srgbClr val="D8E1E5"/>
                      </a:solidFill>
                      <a:prstDash val="solid"/>
                    </a:lnB>
                    <a:solidFill>
                      <a:srgbClr val="245D73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73747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Boltz2 Exact ipSAE (A/B, Type=max)</a:t>
                      </a:r>
                    </a:p>
                  </a:txBody>
                  <a:tcPr marL="91440" marR="91440" marT="45720" marB="45720">
                    <a:lnL w="5715">
                      <a:solidFill>
                        <a:srgbClr val="D8E1E5"/>
                      </a:solidFill>
                      <a:prstDash val="solid"/>
                    </a:lnL>
                    <a:lnR w="5715">
                      <a:solidFill>
                        <a:srgbClr val="D8E1E5"/>
                      </a:solidFill>
                      <a:prstDash val="solid"/>
                    </a:lnR>
                    <a:lnB w="5715">
                      <a:solidFill>
                        <a:srgbClr val="D8E1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73747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0.910807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8E1E5"/>
                      </a:solidFill>
                      <a:prstDash val="solid"/>
                    </a:lnR>
                    <a:lnB w="5715">
                      <a:solidFill>
                        <a:srgbClr val="D8E1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73747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DeltaForge predicted Kd (nM)</a:t>
                      </a:r>
                    </a:p>
                  </a:txBody>
                  <a:tcPr marL="91440" marR="91440" marT="45720" marB="45720">
                    <a:lnL w="5715">
                      <a:solidFill>
                        <a:srgbClr val="D8E1E5"/>
                      </a:solidFill>
                      <a:prstDash val="solid"/>
                    </a:lnL>
                    <a:lnR w="5715">
                      <a:solidFill>
                        <a:srgbClr val="D8E1E5"/>
                      </a:solidFill>
                      <a:prstDash val="solid"/>
                    </a:lnR>
                    <a:lnB w="5715">
                      <a:solidFill>
                        <a:srgbClr val="D8E1E5"/>
                      </a:solidFill>
                      <a:prstDash val="solid"/>
                    </a:lnB>
                    <a:solidFill>
                      <a:srgbClr val="F1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73747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3.4486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8E1E5"/>
                      </a:solidFill>
                      <a:prstDash val="solid"/>
                    </a:lnR>
                    <a:lnB w="5715">
                      <a:solidFill>
                        <a:srgbClr val="D8E1E5"/>
                      </a:solidFill>
                      <a:prstDash val="solid"/>
                    </a:lnB>
                    <a:solidFill>
                      <a:srgbClr val="F1F5F7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73747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Boltz2 Exact ipTM</a:t>
                      </a:r>
                    </a:p>
                  </a:txBody>
                  <a:tcPr marL="91440" marR="91440" marT="45720" marB="45720">
                    <a:lnL w="5715">
                      <a:solidFill>
                        <a:srgbClr val="D8E1E5"/>
                      </a:solidFill>
                      <a:prstDash val="solid"/>
                    </a:lnL>
                    <a:lnR w="5715">
                      <a:solidFill>
                        <a:srgbClr val="D8E1E5"/>
                      </a:solidFill>
                      <a:prstDash val="solid"/>
                    </a:lnR>
                    <a:lnB w="5715">
                      <a:solidFill>
                        <a:srgbClr val="D8E1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73747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0.9263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8E1E5"/>
                      </a:solidFill>
                      <a:prstDash val="solid"/>
                    </a:lnR>
                    <a:lnB w="5715">
                      <a:solidFill>
                        <a:srgbClr val="D8E1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73747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Original population ipSAE rank</a:t>
                      </a:r>
                    </a:p>
                  </a:txBody>
                  <a:tcPr marL="91440" marR="91440" marT="45720" marB="45720">
                    <a:lnL w="5715">
                      <a:solidFill>
                        <a:srgbClr val="D8E1E5"/>
                      </a:solidFill>
                      <a:prstDash val="solid"/>
                    </a:lnL>
                    <a:lnR w="5715">
                      <a:solidFill>
                        <a:srgbClr val="D8E1E5"/>
                      </a:solidFill>
                      <a:prstDash val="solid"/>
                    </a:lnR>
                    <a:lnB w="5715">
                      <a:solidFill>
                        <a:srgbClr val="D8E1E5"/>
                      </a:solidFill>
                      <a:prstDash val="solid"/>
                    </a:lnB>
                    <a:solidFill>
                      <a:srgbClr val="F1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73747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4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8E1E5"/>
                      </a:solidFill>
                      <a:prstDash val="solid"/>
                    </a:lnR>
                    <a:lnB w="5715">
                      <a:solidFill>
                        <a:srgbClr val="D8E1E5"/>
                      </a:solidFill>
                      <a:prstDash val="solid"/>
                    </a:lnB>
                    <a:solidFill>
                      <a:srgbClr val="F1F5F7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73747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Predicted-Kd rank within population top50</a:t>
                      </a:r>
                    </a:p>
                  </a:txBody>
                  <a:tcPr marL="91440" marR="91440" marT="45720" marB="45720">
                    <a:lnL w="5715">
                      <a:solidFill>
                        <a:srgbClr val="D8E1E5"/>
                      </a:solidFill>
                      <a:prstDash val="solid"/>
                    </a:lnL>
                    <a:lnR w="5715">
                      <a:solidFill>
                        <a:srgbClr val="D8E1E5"/>
                      </a:solidFill>
                      <a:prstDash val="solid"/>
                    </a:lnR>
                    <a:lnB w="5715">
                      <a:solidFill>
                        <a:srgbClr val="D8E1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73747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14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8E1E5"/>
                      </a:solidFill>
                      <a:prstDash val="solid"/>
                    </a:lnR>
                    <a:lnB w="5715">
                      <a:solidFill>
                        <a:srgbClr val="D8E1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73747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Candidate / receptor residues (aa)</a:t>
                      </a:r>
                    </a:p>
                  </a:txBody>
                  <a:tcPr marL="91440" marR="91440" marT="45720" marB="45720">
                    <a:lnL w="5715">
                      <a:solidFill>
                        <a:srgbClr val="D8E1E5"/>
                      </a:solidFill>
                      <a:prstDash val="solid"/>
                    </a:lnL>
                    <a:lnR w="5715">
                      <a:solidFill>
                        <a:srgbClr val="D8E1E5"/>
                      </a:solidFill>
                      <a:prstDash val="solid"/>
                    </a:lnR>
                    <a:lnB w="5715">
                      <a:solidFill>
                        <a:srgbClr val="D8E1E5"/>
                      </a:solidFill>
                      <a:prstDash val="solid"/>
                    </a:lnB>
                    <a:solidFill>
                      <a:srgbClr val="F1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73747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53 / 409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8E1E5"/>
                      </a:solidFill>
                      <a:prstDash val="solid"/>
                    </a:lnR>
                    <a:lnB w="5715">
                      <a:solidFill>
                        <a:srgbClr val="D8E1E5"/>
                      </a:solidFill>
                      <a:prstDash val="solid"/>
                    </a:lnB>
                    <a:solidFill>
                      <a:srgbClr val="F1F5F7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73747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Complex pLDDT (0-100)</a:t>
                      </a:r>
                    </a:p>
                  </a:txBody>
                  <a:tcPr marL="91440" marR="91440" marT="45720" marB="45720">
                    <a:lnL w="5715">
                      <a:solidFill>
                        <a:srgbClr val="D8E1E5"/>
                      </a:solidFill>
                      <a:prstDash val="solid"/>
                    </a:lnL>
                    <a:lnR w="5715">
                      <a:solidFill>
                        <a:srgbClr val="D8E1E5"/>
                      </a:solidFill>
                      <a:prstDash val="solid"/>
                    </a:lnR>
                    <a:lnB w="5715">
                      <a:solidFill>
                        <a:srgbClr val="D8E1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73747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78.9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8E1E5"/>
                      </a:solidFill>
                      <a:prstDash val="solid"/>
                    </a:lnR>
                    <a:lnB w="5715">
                      <a:solidFill>
                        <a:srgbClr val="D8E1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73747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Generator-to-refold DockQ / TM-score</a:t>
                      </a:r>
                    </a:p>
                  </a:txBody>
                  <a:tcPr marL="91440" marR="91440" marT="45720" marB="45720">
                    <a:lnL w="5715">
                      <a:solidFill>
                        <a:srgbClr val="D8E1E5"/>
                      </a:solidFill>
                      <a:prstDash val="solid"/>
                    </a:lnL>
                    <a:lnR w="5715">
                      <a:solidFill>
                        <a:srgbClr val="D8E1E5"/>
                      </a:solidFill>
                      <a:prstDash val="solid"/>
                    </a:lnR>
                    <a:lnB w="5715">
                      <a:solidFill>
                        <a:srgbClr val="D8E1E5"/>
                      </a:solidFill>
                      <a:prstDash val="solid"/>
                    </a:lnB>
                    <a:solidFill>
                      <a:srgbClr val="F1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73747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N/A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8E1E5"/>
                      </a:solidFill>
                      <a:prstDash val="solid"/>
                    </a:lnR>
                    <a:lnB w="5715">
                      <a:solidFill>
                        <a:srgbClr val="D8E1E5"/>
                      </a:solidFill>
                      <a:prstDash val="solid"/>
                    </a:lnB>
                    <a:solidFill>
                      <a:srgbClr val="F1F5F7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73747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DeltaForge length scope</a:t>
                      </a:r>
                    </a:p>
                  </a:txBody>
                  <a:tcPr marL="91440" marR="91440" marT="45720" marB="45720">
                    <a:lnL w="5715">
                      <a:solidFill>
                        <a:srgbClr val="D8E1E5"/>
                      </a:solidFill>
                      <a:prstDash val="solid"/>
                    </a:lnL>
                    <a:lnR w="5715">
                      <a:solidFill>
                        <a:srgbClr val="D8E1E5"/>
                      </a:solidFill>
                      <a:prstDash val="solid"/>
                    </a:lnR>
                    <a:lnB w="5715">
                      <a:solidFill>
                        <a:srgbClr val="D8E1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73747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core_40_119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8E1E5"/>
                      </a:solidFill>
                      <a:prstDash val="solid"/>
                    </a:lnR>
                    <a:lnB w="5715">
                      <a:solidFill>
                        <a:srgbClr val="D8E1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3808287-1554-4B39-9875-7EE8E89A6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1457325"/>
            <a:ext cx="4095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950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950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950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950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950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950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950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950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950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950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173747"/>
                </a:solidFill>
                <a:latin typeface="DejaVu Sans"/>
                <a:ea typeface="DejaVu Sans"/>
                <a:cs typeface="DejaVu Sans"/>
              </a:rPr>
              <a:t>Origin and prediction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994CF83-C6B3-4678-808F-E1E3F50CA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1952625"/>
            <a:ext cx="4095750" cy="390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725" b="0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725" b="0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725" b="0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725" b="0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725" b="0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725" b="0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725" b="0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725" b="0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725" b="0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725" b="0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173747"/>
                </a:solidFill>
                <a:latin typeface="DejaVu Sans"/>
                <a:ea typeface="DejaVu Sans"/>
                <a:cs typeface="DejaVu Sans"/>
              </a:rPr>
              <a:t>Original LigandForge v6.5.21</a:t>
            </a:r>
          </a:p>
          <a:p xmlns:a="http://schemas.openxmlformats.org/drawingml/2006/main">
            <a:pPr>
              <a:defRPr sz="1725" b="0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173747"/>
                </a:solidFill>
                <a:latin typeface="DejaVu Sans"/>
                <a:ea typeface="DejaVu Sans"/>
                <a:cs typeface="DejaVu Sans"/>
              </a:rPr>
              <a:t>Generation 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725" b="0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173747"/>
                </a:solidFill>
                <a:latin typeface="DejaVu Sans"/>
                <a:ea typeface="DejaVu Sans"/>
                <a:cs typeface="DejaVu Sans"/>
              </a:rPr>
              <a:t>Exact seed 101</a:t>
            </a:r>
          </a:p>
          <a:p xmlns:a="http://schemas.openxmlformats.org/drawingml/2006/main">
            <a:pPr>
              <a:defRPr sz="1725" b="0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173747"/>
                </a:solidFill>
                <a:latin typeface="DejaVu Sans"/>
                <a:ea typeface="DejaVu Sans"/>
                <a:cs typeface="DejaVu Sans"/>
              </a:rPr>
              <a:t>3 recycles, 200 steps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725" b="0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173747"/>
                </a:solidFill>
                <a:latin typeface="DejaVu Sans"/>
                <a:ea typeface="DejaVu Sans"/>
                <a:cs typeface="DejaVu Sans"/>
              </a:rPr>
              <a:t>WT GLP1R 24-432</a:t>
            </a:r>
          </a:p>
          <a:p xmlns:a="http://schemas.openxmlformats.org/drawingml/2006/main">
            <a:pPr>
              <a:defRPr sz="1725" b="0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173747"/>
                </a:solidFill>
                <a:latin typeface="DejaVu Sans"/>
                <a:ea typeface="DejaVu Sans"/>
                <a:cs typeface="DejaVu Sans"/>
              </a:rPr>
              <a:t>409 receptor residues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725" b="0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173747"/>
                </a:solidFill>
                <a:latin typeface="DejaVu Sans"/>
                <a:ea typeface="DejaVu Sans"/>
                <a:cs typeface="DejaVu Sans"/>
              </a:rPr>
              <a:t>Original generator coordinates unavailable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EFD5377-B416-49E8-A965-B482DFAE1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81750"/>
            <a:ext cx="14192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650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650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650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650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650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650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650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650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650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650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50616C"/>
                </a:solidFill>
                <a:latin typeface="DejaVu Sans"/>
                <a:ea typeface="DejaVu Sans"/>
                <a:cs typeface="DejaVu Sans"/>
              </a:rPr>
              <a:t>Original generator coordinates are unavailable. This Exact prediction does not establish activation.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D529A55-DA53-42B2-8624-07D011C03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115175"/>
            <a:ext cx="14192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57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57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57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57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57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57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57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57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57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57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57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pPr>
            <a:r>
              <a:rPr sz="1575" b="1">
                <a:solidFill>
                  <a:srgbClr val="173747"/>
                </a:solidFill>
                <a:latin typeface="DejaVu Sans"/>
                <a:ea typeface="DejaVu Sans"/>
                <a:cs typeface="DejaVu Sans"/>
              </a:rPr>
              <a:t>Complete selected sequence, N to C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CD6BC24-9558-41BC-9648-745D318A2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410450"/>
            <a:ext cx="141922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500" b="0">
                <a:solidFill>
                  <a:srgbClr val="173747"/>
                </a:solidFill>
                <a:latin typeface="DejaVu Sans Mono"/>
                <a:ea typeface="DejaVu Sans Mono"/>
                <a:cs typeface="DejaVu Sans Mono"/>
              </a:defRPr>
            </a:defPPr>
            <a:lvl1pPr>
              <a:defRPr sz="1500" b="0">
                <a:solidFill>
                  <a:srgbClr val="173747"/>
                </a:solidFill>
                <a:latin typeface="DejaVu Sans Mono"/>
                <a:ea typeface="DejaVu Sans Mono"/>
                <a:cs typeface="DejaVu Sans Mono"/>
              </a:defRPr>
            </a:lvl1pPr>
            <a:lvl2pPr>
              <a:defRPr sz="1500" b="0">
                <a:solidFill>
                  <a:srgbClr val="173747"/>
                </a:solidFill>
                <a:latin typeface="DejaVu Sans Mono"/>
                <a:ea typeface="DejaVu Sans Mono"/>
                <a:cs typeface="DejaVu Sans Mono"/>
              </a:defRPr>
            </a:lvl2pPr>
            <a:lvl3pPr>
              <a:defRPr sz="1500" b="0">
                <a:solidFill>
                  <a:srgbClr val="173747"/>
                </a:solidFill>
                <a:latin typeface="DejaVu Sans Mono"/>
                <a:ea typeface="DejaVu Sans Mono"/>
                <a:cs typeface="DejaVu Sans Mono"/>
              </a:defRPr>
            </a:lvl3pPr>
            <a:lvl4pPr>
              <a:defRPr sz="1500" b="0">
                <a:solidFill>
                  <a:srgbClr val="173747"/>
                </a:solidFill>
                <a:latin typeface="DejaVu Sans Mono"/>
                <a:ea typeface="DejaVu Sans Mono"/>
                <a:cs typeface="DejaVu Sans Mono"/>
              </a:defRPr>
            </a:lvl4pPr>
            <a:lvl5pPr>
              <a:defRPr sz="1500" b="0">
                <a:solidFill>
                  <a:srgbClr val="173747"/>
                </a:solidFill>
                <a:latin typeface="DejaVu Sans Mono"/>
                <a:ea typeface="DejaVu Sans Mono"/>
                <a:cs typeface="DejaVu Sans Mono"/>
              </a:defRPr>
            </a:lvl5pPr>
            <a:lvl6pPr>
              <a:defRPr sz="1500" b="0">
                <a:solidFill>
                  <a:srgbClr val="173747"/>
                </a:solidFill>
                <a:latin typeface="DejaVu Sans Mono"/>
                <a:ea typeface="DejaVu Sans Mono"/>
                <a:cs typeface="DejaVu Sans Mono"/>
              </a:defRPr>
            </a:lvl6pPr>
            <a:lvl7pPr>
              <a:defRPr sz="1500" b="0">
                <a:solidFill>
                  <a:srgbClr val="173747"/>
                </a:solidFill>
                <a:latin typeface="DejaVu Sans Mono"/>
                <a:ea typeface="DejaVu Sans Mono"/>
                <a:cs typeface="DejaVu Sans Mono"/>
              </a:defRPr>
            </a:lvl7pPr>
            <a:lvl8pPr>
              <a:defRPr sz="1500" b="0">
                <a:solidFill>
                  <a:srgbClr val="173747"/>
                </a:solidFill>
                <a:latin typeface="DejaVu Sans Mono"/>
                <a:ea typeface="DejaVu Sans Mono"/>
                <a:cs typeface="DejaVu Sans Mono"/>
              </a:defRPr>
            </a:lvl8pPr>
            <a:lvl9pPr>
              <a:defRPr sz="1500" b="0">
                <a:solidFill>
                  <a:srgbClr val="173747"/>
                </a:solidFill>
                <a:latin typeface="DejaVu Sans Mono"/>
                <a:ea typeface="DejaVu Sans Mono"/>
                <a:cs typeface="DejaVu Sans Mono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173747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00" b="0">
                <a:solidFill>
                  <a:srgbClr val="173747"/>
                </a:solidFill>
                <a:latin typeface="DejaVu Sans Mono"/>
                <a:ea typeface="DejaVu Sans Mono"/>
                <a:cs typeface="DejaVu Sans Mono"/>
              </a:rPr>
              <a:t>QDVATDQGILTNVEAIFITNALYFTALLGFSDLCEARNAKKCVGSGSGSGLDR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56852F4-8AFD-44D3-A278-903C6C151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248650"/>
            <a:ext cx="1304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2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2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2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2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2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2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2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2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2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2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50616C"/>
                </a:solidFill>
                <a:latin typeface="DejaVu Sans"/>
                <a:ea typeface="DejaVu Sans"/>
                <a:cs typeface="DejaVu Sans"/>
              </a:rPr>
              <a:t>Human GLP1R     Boltz2 Exact     Computational predictions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32D5A2B-0CF7-44DF-81B7-0DF915AA5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0" y="82486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2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2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2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2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2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2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2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2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2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2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50616C"/>
                </a:solidFill>
                <a:latin typeface="DejaVu Sans"/>
                <a:ea typeface="DejaVu Sans"/>
                <a:cs typeface="DejaVu Sans"/>
              </a:rP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29870963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1A47A99-792F-4393-8582-D5A71AB64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76225"/>
            <a:ext cx="1428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22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322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322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322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322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322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322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322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322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322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73747"/>
                </a:solidFill>
                <a:latin typeface="DejaVu Sans"/>
                <a:ea typeface="DejaVu Sans"/>
                <a:cs typeface="DejaVu Sans"/>
              </a:rPr>
              <a:t>04  Design_520  structure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C07462F-14EF-4F80-B701-C2C7631F7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95350"/>
            <a:ext cx="1428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8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8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8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8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8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8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8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8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8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50616C"/>
                </a:solidFill>
                <a:latin typeface="DejaVu Sans"/>
                <a:ea typeface="DejaVu Sans"/>
                <a:cs typeface="DejaVu Sans"/>
              </a:rPr>
              <a:t>Original LigandForge   Candidate A: 53 aa   Human GLP1R B: 409 aa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ACBBF09-A599-4A0F-86B3-9886FB6D1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362075"/>
            <a:ext cx="619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7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87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87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87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87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87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87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87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87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87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173747"/>
                </a:solidFill>
                <a:latin typeface="DejaVu Sans"/>
                <a:ea typeface="DejaVu Sans"/>
                <a:cs typeface="DejaVu Sans"/>
              </a:rPr>
              <a:t>Boltz2 Exact receptor complex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71EC444-0C63-4A68-A7A9-ECC3D52B3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362075"/>
            <a:ext cx="619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7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87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87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87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87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87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87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87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87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87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173747"/>
                </a:solidFill>
                <a:latin typeface="DejaVu Sans"/>
                <a:ea typeface="DejaVu Sans"/>
                <a:cs typeface="DejaVu Sans"/>
              </a:rPr>
              <a:t>Boltz2 Exact interface detail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99B4059-A134-40DB-85E9-8A202D178FD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62165151b1e4f23"/>
          <a:stretch xmlns:a="http://schemas.openxmlformats.org/drawingml/2006/main"/>
        </p:blipFill>
        <p:spPr>
          <a:xfrm xmlns:a="http://schemas.openxmlformats.org/drawingml/2006/main">
            <a:off x="2344208" y="1724025"/>
            <a:ext cx="3217333" cy="4572000"/>
          </a:xfrm>
          <a:prstGeom xmlns:a="http://schemas.openxmlformats.org/drawingml/2006/main" prst="rect">
            <a:avLst/>
          </a:prstGeom>
        </p:spPr>
      </p:pic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2935836-B659-431E-A361-A4B46B22BCF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1de5e1c13ab4123"/>
          <a:stretch xmlns:a="http://schemas.openxmlformats.org/drawingml/2006/main"/>
        </p:blipFill>
        <p:spPr>
          <a:xfrm xmlns:a="http://schemas.openxmlformats.org/drawingml/2006/main">
            <a:off x="9678458" y="1724025"/>
            <a:ext cx="3217333" cy="457200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C74707E-D924-40FA-9BBD-6CEB2021E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579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650" b="1">
                <a:solidFill>
                  <a:srgbClr val="E69F00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650" b="1">
                <a:solidFill>
                  <a:srgbClr val="E69F00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650" b="1">
                <a:solidFill>
                  <a:srgbClr val="E69F00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650" b="1">
                <a:solidFill>
                  <a:srgbClr val="E69F00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650" b="1">
                <a:solidFill>
                  <a:srgbClr val="E69F00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650" b="1">
                <a:solidFill>
                  <a:srgbClr val="E69F00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650" b="1">
                <a:solidFill>
                  <a:srgbClr val="E69F00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650" b="1">
                <a:solidFill>
                  <a:srgbClr val="E69F00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650" b="1">
                <a:solidFill>
                  <a:srgbClr val="E69F00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650" b="1">
                <a:solidFill>
                  <a:srgbClr val="E69F00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E69F00"/>
                </a:solidFill>
                <a:latin typeface="DejaVu Sans"/>
                <a:ea typeface="DejaVu Sans"/>
                <a:cs typeface="DejaVu Sans"/>
              </a:defRPr>
            </a:pPr>
            <a:r>
              <a:rPr sz="1650" b="1">
                <a:solidFill>
                  <a:srgbClr val="E69F00"/>
                </a:solidFill>
                <a:latin typeface="DejaVu Sans"/>
                <a:ea typeface="DejaVu Sans"/>
                <a:cs typeface="DejaVu Sans"/>
              </a:rPr>
              <a:t>LigandForge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B94C8B0-F2D1-4C2D-AC0F-314FB6290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64579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650" b="1">
                <a:solidFill>
                  <a:srgbClr val="009E73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650" b="1">
                <a:solidFill>
                  <a:srgbClr val="009E73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650" b="1">
                <a:solidFill>
                  <a:srgbClr val="009E73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650" b="1">
                <a:solidFill>
                  <a:srgbClr val="009E73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650" b="1">
                <a:solidFill>
                  <a:srgbClr val="009E73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650" b="1">
                <a:solidFill>
                  <a:srgbClr val="009E73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650" b="1">
                <a:solidFill>
                  <a:srgbClr val="009E73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650" b="1">
                <a:solidFill>
                  <a:srgbClr val="009E73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650" b="1">
                <a:solidFill>
                  <a:srgbClr val="009E73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650" b="1">
                <a:solidFill>
                  <a:srgbClr val="009E73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009E73"/>
                </a:solidFill>
                <a:latin typeface="DejaVu Sans"/>
                <a:ea typeface="DejaVu Sans"/>
                <a:cs typeface="DejaVu Sans"/>
              </a:defRPr>
            </a:pPr>
            <a:r>
              <a:rPr sz="1650" b="1">
                <a:solidFill>
                  <a:srgbClr val="009E73"/>
                </a:solidFill>
                <a:latin typeface="DejaVu Sans"/>
                <a:ea typeface="DejaVu Sans"/>
                <a:cs typeface="DejaVu Sans"/>
              </a:rPr>
              <a:t>Receptor ECD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8F3598E-0A12-493E-ABA7-AA86559B7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64579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650" b="1">
                <a:solidFill>
                  <a:srgbClr val="7B8794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650" b="1">
                <a:solidFill>
                  <a:srgbClr val="7B8794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650" b="1">
                <a:solidFill>
                  <a:srgbClr val="7B8794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650" b="1">
                <a:solidFill>
                  <a:srgbClr val="7B8794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650" b="1">
                <a:solidFill>
                  <a:srgbClr val="7B8794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650" b="1">
                <a:solidFill>
                  <a:srgbClr val="7B8794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650" b="1">
                <a:solidFill>
                  <a:srgbClr val="7B8794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650" b="1">
                <a:solidFill>
                  <a:srgbClr val="7B8794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650" b="1">
                <a:solidFill>
                  <a:srgbClr val="7B8794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650" b="1">
                <a:solidFill>
                  <a:srgbClr val="7B8794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7B8794"/>
                </a:solidFill>
                <a:latin typeface="DejaVu Sans"/>
                <a:ea typeface="DejaVu Sans"/>
                <a:cs typeface="DejaVu Sans"/>
              </a:defRPr>
            </a:pPr>
            <a:r>
              <a:rPr sz="1650" b="1">
                <a:solidFill>
                  <a:srgbClr val="7B8794"/>
                </a:solidFill>
                <a:latin typeface="DejaVu Sans"/>
                <a:ea typeface="DejaVu Sans"/>
                <a:cs typeface="DejaVu Sans"/>
              </a:rPr>
              <a:t>Remaining receptor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399A1EE-A167-4447-8B98-8DE7EB1F2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4579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650" b="1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650" b="1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650" b="1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650" b="1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650" b="1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650" b="1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650" b="1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650" b="1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650" b="1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650" b="1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1650" b="1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Hotspots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F129176-2AE9-4E0A-A3A6-8CA1ADB82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800850"/>
            <a:ext cx="1428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42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42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42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42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42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42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42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42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42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42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>
                <a:solidFill>
                  <a:srgbClr val="50616C"/>
                </a:solidFill>
                <a:latin typeface="DejaVu Sans"/>
                <a:ea typeface="DejaVu Sans"/>
                <a:cs typeface="DejaVu Sans"/>
              </a:rPr>
              <a:t>Receptor ECD B1–105 (UniProt 24–128). Black sticks: 27 submitted pocket positions. View-specific zoom.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6EADDE9-3190-4945-8C75-6BA745B88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134225"/>
            <a:ext cx="14192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57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57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57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57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57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57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57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57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57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57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57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pPr>
            <a:r>
              <a:rPr sz="1575" b="1">
                <a:solidFill>
                  <a:srgbClr val="173747"/>
                </a:solidFill>
                <a:latin typeface="DejaVu Sans"/>
                <a:ea typeface="DejaVu Sans"/>
                <a:cs typeface="DejaVu Sans"/>
              </a:rPr>
              <a:t>Complete selected sequence, N to C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6DCCD91-626C-4503-BB85-316DBDE5E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429500"/>
            <a:ext cx="141922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500" b="0">
                <a:solidFill>
                  <a:srgbClr val="173747"/>
                </a:solidFill>
                <a:latin typeface="DejaVu Sans Mono"/>
                <a:ea typeface="DejaVu Sans Mono"/>
                <a:cs typeface="DejaVu Sans Mono"/>
              </a:defRPr>
            </a:defPPr>
            <a:lvl1pPr>
              <a:defRPr sz="1500" b="0">
                <a:solidFill>
                  <a:srgbClr val="173747"/>
                </a:solidFill>
                <a:latin typeface="DejaVu Sans Mono"/>
                <a:ea typeface="DejaVu Sans Mono"/>
                <a:cs typeface="DejaVu Sans Mono"/>
              </a:defRPr>
            </a:lvl1pPr>
            <a:lvl2pPr>
              <a:defRPr sz="1500" b="0">
                <a:solidFill>
                  <a:srgbClr val="173747"/>
                </a:solidFill>
                <a:latin typeface="DejaVu Sans Mono"/>
                <a:ea typeface="DejaVu Sans Mono"/>
                <a:cs typeface="DejaVu Sans Mono"/>
              </a:defRPr>
            </a:lvl2pPr>
            <a:lvl3pPr>
              <a:defRPr sz="1500" b="0">
                <a:solidFill>
                  <a:srgbClr val="173747"/>
                </a:solidFill>
                <a:latin typeface="DejaVu Sans Mono"/>
                <a:ea typeface="DejaVu Sans Mono"/>
                <a:cs typeface="DejaVu Sans Mono"/>
              </a:defRPr>
            </a:lvl3pPr>
            <a:lvl4pPr>
              <a:defRPr sz="1500" b="0">
                <a:solidFill>
                  <a:srgbClr val="173747"/>
                </a:solidFill>
                <a:latin typeface="DejaVu Sans Mono"/>
                <a:ea typeface="DejaVu Sans Mono"/>
                <a:cs typeface="DejaVu Sans Mono"/>
              </a:defRPr>
            </a:lvl4pPr>
            <a:lvl5pPr>
              <a:defRPr sz="1500" b="0">
                <a:solidFill>
                  <a:srgbClr val="173747"/>
                </a:solidFill>
                <a:latin typeface="DejaVu Sans Mono"/>
                <a:ea typeface="DejaVu Sans Mono"/>
                <a:cs typeface="DejaVu Sans Mono"/>
              </a:defRPr>
            </a:lvl5pPr>
            <a:lvl6pPr>
              <a:defRPr sz="1500" b="0">
                <a:solidFill>
                  <a:srgbClr val="173747"/>
                </a:solidFill>
                <a:latin typeface="DejaVu Sans Mono"/>
                <a:ea typeface="DejaVu Sans Mono"/>
                <a:cs typeface="DejaVu Sans Mono"/>
              </a:defRPr>
            </a:lvl6pPr>
            <a:lvl7pPr>
              <a:defRPr sz="1500" b="0">
                <a:solidFill>
                  <a:srgbClr val="173747"/>
                </a:solidFill>
                <a:latin typeface="DejaVu Sans Mono"/>
                <a:ea typeface="DejaVu Sans Mono"/>
                <a:cs typeface="DejaVu Sans Mono"/>
              </a:defRPr>
            </a:lvl7pPr>
            <a:lvl8pPr>
              <a:defRPr sz="1500" b="0">
                <a:solidFill>
                  <a:srgbClr val="173747"/>
                </a:solidFill>
                <a:latin typeface="DejaVu Sans Mono"/>
                <a:ea typeface="DejaVu Sans Mono"/>
                <a:cs typeface="DejaVu Sans Mono"/>
              </a:defRPr>
            </a:lvl8pPr>
            <a:lvl9pPr>
              <a:defRPr sz="1500" b="0">
                <a:solidFill>
                  <a:srgbClr val="173747"/>
                </a:solidFill>
                <a:latin typeface="DejaVu Sans Mono"/>
                <a:ea typeface="DejaVu Sans Mono"/>
                <a:cs typeface="DejaVu Sans Mono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173747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00" b="0">
                <a:solidFill>
                  <a:srgbClr val="173747"/>
                </a:solidFill>
                <a:latin typeface="DejaVu Sans Mono"/>
                <a:ea typeface="DejaVu Sans Mono"/>
                <a:cs typeface="DejaVu Sans Mono"/>
              </a:rPr>
              <a:t>QDVATDQGILTNVEAIFITNALYFTALLGFSDLCEARNAKKCVGSGSGSGLDR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498AA61-3D61-40B6-914E-C163BBC71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248650"/>
            <a:ext cx="1304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2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2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2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2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2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2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2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2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2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2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50616C"/>
                </a:solidFill>
                <a:latin typeface="DejaVu Sans"/>
                <a:ea typeface="DejaVu Sans"/>
                <a:cs typeface="DejaVu Sans"/>
              </a:rPr>
              <a:t>Human GLP1R     Boltz2 Exact     Computational predictions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739041D-A74C-4945-BDD3-4BC704CA3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0" y="82486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2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2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2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2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2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2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2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2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2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2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50616C"/>
                </a:solidFill>
                <a:latin typeface="DejaVu Sans"/>
                <a:ea typeface="DejaVu Sans"/>
                <a:cs typeface="DejaVu Sans"/>
              </a:rPr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101940963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09B91AC-422D-46EA-B8D5-AB18D9AA6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76225"/>
            <a:ext cx="1428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22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322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322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322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322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322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322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322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322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322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73747"/>
                </a:solidFill>
                <a:latin typeface="DejaVu Sans"/>
                <a:ea typeface="DejaVu Sans"/>
                <a:cs typeface="DejaVu Sans"/>
              </a:rPr>
              <a:t>05  LK_P088_08  metrics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FF4B32E-6645-46B4-A0D3-EBE4C31AC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95350"/>
            <a:ext cx="1428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8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8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8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8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8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8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8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8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8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50616C"/>
                </a:solidFill>
                <a:latin typeface="DejaVu Sans"/>
                <a:ea typeface="DejaVu Sans"/>
                <a:cs typeface="DejaVu Sans"/>
              </a:rPr>
              <a:t>D-L-D fusion   Candidate A: 153 aa   Human GLP1R B: 440 aa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FE48BC0-EA86-469E-B2F6-0861092906DB}"/>
              </a:ext>
            </a:extLst>
          </p:cNvPr>
          <p:cNvGraphicFramePr/>
          <p:nvPr/>
        </p:nvGraphicFramePr>
        <p:xfrm>
          <a:off xmlns:a="http://schemas.openxmlformats.org/drawingml/2006/main" x="457200" y="1457325"/>
          <a:ext xmlns:a="http://schemas.openxmlformats.org/drawingml/2006/main" cx="9667875" cy="48006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6791325"/>
                <a:gridCol w="2876550"/>
              </a:tblGrid>
              <a:tr h="34290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Metric and scope</a:t>
                      </a:r>
                    </a:p>
                  </a:txBody>
                  <a:tcPr marL="91440" marR="91440" marT="45720" marB="45720">
                    <a:lnL w="5715">
                      <a:solidFill>
                        <a:srgbClr val="D8E1E5"/>
                      </a:solidFill>
                      <a:prstDash val="solid"/>
                    </a:lnL>
                    <a:lnR w="5715">
                      <a:solidFill>
                        <a:srgbClr val="D8E1E5"/>
                      </a:solidFill>
                      <a:prstDash val="solid"/>
                    </a:lnR>
                    <a:lnT w="5715">
                      <a:solidFill>
                        <a:srgbClr val="D8E1E5"/>
                      </a:solidFill>
                      <a:prstDash val="solid"/>
                    </a:lnT>
                    <a:lnB w="5715">
                      <a:solidFill>
                        <a:srgbClr val="D8E1E5"/>
                      </a:solidFill>
                      <a:prstDash val="solid"/>
                    </a:lnB>
                    <a:solidFill>
                      <a:srgbClr val="245D7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Value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8E1E5"/>
                      </a:solidFill>
                      <a:prstDash val="solid"/>
                    </a:lnR>
                    <a:lnT w="5715">
                      <a:solidFill>
                        <a:srgbClr val="D8E1E5"/>
                      </a:solidFill>
                      <a:prstDash val="solid"/>
                    </a:lnT>
                    <a:lnB w="5715">
                      <a:solidFill>
                        <a:srgbClr val="D8E1E5"/>
                      </a:solidFill>
                      <a:prstDash val="solid"/>
                    </a:lnB>
                    <a:solidFill>
                      <a:srgbClr val="245D73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73747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Boltz2 Exact ipSAE (A/B, Type=max)</a:t>
                      </a:r>
                    </a:p>
                  </a:txBody>
                  <a:tcPr marL="91440" marR="91440" marT="45720" marB="45720">
                    <a:lnL w="5715">
                      <a:solidFill>
                        <a:srgbClr val="D8E1E5"/>
                      </a:solidFill>
                      <a:prstDash val="solid"/>
                    </a:lnL>
                    <a:lnR w="5715">
                      <a:solidFill>
                        <a:srgbClr val="D8E1E5"/>
                      </a:solidFill>
                      <a:prstDash val="solid"/>
                    </a:lnR>
                    <a:lnB w="5715">
                      <a:solidFill>
                        <a:srgbClr val="D8E1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73747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0.907721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8E1E5"/>
                      </a:solidFill>
                      <a:prstDash val="solid"/>
                    </a:lnR>
                    <a:lnB w="5715">
                      <a:solidFill>
                        <a:srgbClr val="D8E1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73747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DeltaForge predicted Kd (nM)</a:t>
                      </a:r>
                    </a:p>
                  </a:txBody>
                  <a:tcPr marL="91440" marR="91440" marT="45720" marB="45720">
                    <a:lnL w="5715">
                      <a:solidFill>
                        <a:srgbClr val="D8E1E5"/>
                      </a:solidFill>
                      <a:prstDash val="solid"/>
                    </a:lnL>
                    <a:lnR w="5715">
                      <a:solidFill>
                        <a:srgbClr val="D8E1E5"/>
                      </a:solidFill>
                      <a:prstDash val="solid"/>
                    </a:lnR>
                    <a:lnB w="5715">
                      <a:solidFill>
                        <a:srgbClr val="D8E1E5"/>
                      </a:solidFill>
                      <a:prstDash val="solid"/>
                    </a:lnB>
                    <a:solidFill>
                      <a:srgbClr val="F1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73747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0.7182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8E1E5"/>
                      </a:solidFill>
                      <a:prstDash val="solid"/>
                    </a:lnR>
                    <a:lnB w="5715">
                      <a:solidFill>
                        <a:srgbClr val="D8E1E5"/>
                      </a:solidFill>
                      <a:prstDash val="solid"/>
                    </a:lnB>
                    <a:solidFill>
                      <a:srgbClr val="F1F5F7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73747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Boltz2 Exact ipTM</a:t>
                      </a:r>
                    </a:p>
                  </a:txBody>
                  <a:tcPr marL="91440" marR="91440" marT="45720" marB="45720">
                    <a:lnL w="5715">
                      <a:solidFill>
                        <a:srgbClr val="D8E1E5"/>
                      </a:solidFill>
                      <a:prstDash val="solid"/>
                    </a:lnL>
                    <a:lnR w="5715">
                      <a:solidFill>
                        <a:srgbClr val="D8E1E5"/>
                      </a:solidFill>
                      <a:prstDash val="solid"/>
                    </a:lnR>
                    <a:lnB w="5715">
                      <a:solidFill>
                        <a:srgbClr val="D8E1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73747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0.8830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8E1E5"/>
                      </a:solidFill>
                      <a:prstDash val="solid"/>
                    </a:lnR>
                    <a:lnB w="5715">
                      <a:solidFill>
                        <a:srgbClr val="D8E1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73747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Original population ipSAE rank</a:t>
                      </a:r>
                    </a:p>
                  </a:txBody>
                  <a:tcPr marL="91440" marR="91440" marT="45720" marB="45720">
                    <a:lnL w="5715">
                      <a:solidFill>
                        <a:srgbClr val="D8E1E5"/>
                      </a:solidFill>
                      <a:prstDash val="solid"/>
                    </a:lnL>
                    <a:lnR w="5715">
                      <a:solidFill>
                        <a:srgbClr val="D8E1E5"/>
                      </a:solidFill>
                      <a:prstDash val="solid"/>
                    </a:lnR>
                    <a:lnB w="5715">
                      <a:solidFill>
                        <a:srgbClr val="D8E1E5"/>
                      </a:solidFill>
                      <a:prstDash val="solid"/>
                    </a:lnB>
                    <a:solidFill>
                      <a:srgbClr val="F1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73747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5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8E1E5"/>
                      </a:solidFill>
                      <a:prstDash val="solid"/>
                    </a:lnR>
                    <a:lnB w="5715">
                      <a:solidFill>
                        <a:srgbClr val="D8E1E5"/>
                      </a:solidFill>
                      <a:prstDash val="solid"/>
                    </a:lnB>
                    <a:solidFill>
                      <a:srgbClr val="F1F5F7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73747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Predicted-Kd rank within population top50</a:t>
                      </a:r>
                    </a:p>
                  </a:txBody>
                  <a:tcPr marL="91440" marR="91440" marT="45720" marB="45720">
                    <a:lnL w="5715">
                      <a:solidFill>
                        <a:srgbClr val="D8E1E5"/>
                      </a:solidFill>
                      <a:prstDash val="solid"/>
                    </a:lnL>
                    <a:lnR w="5715">
                      <a:solidFill>
                        <a:srgbClr val="D8E1E5"/>
                      </a:solidFill>
                      <a:prstDash val="solid"/>
                    </a:lnR>
                    <a:lnB w="5715">
                      <a:solidFill>
                        <a:srgbClr val="D8E1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73747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1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8E1E5"/>
                      </a:solidFill>
                      <a:prstDash val="solid"/>
                    </a:lnR>
                    <a:lnB w="5715">
                      <a:solidFill>
                        <a:srgbClr val="D8E1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73747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Candidate / receptor residues (aa)</a:t>
                      </a:r>
                    </a:p>
                  </a:txBody>
                  <a:tcPr marL="91440" marR="91440" marT="45720" marB="45720">
                    <a:lnL w="5715">
                      <a:solidFill>
                        <a:srgbClr val="D8E1E5"/>
                      </a:solidFill>
                      <a:prstDash val="solid"/>
                    </a:lnL>
                    <a:lnR w="5715">
                      <a:solidFill>
                        <a:srgbClr val="D8E1E5"/>
                      </a:solidFill>
                      <a:prstDash val="solid"/>
                    </a:lnR>
                    <a:lnB w="5715">
                      <a:solidFill>
                        <a:srgbClr val="D8E1E5"/>
                      </a:solidFill>
                      <a:prstDash val="solid"/>
                    </a:lnB>
                    <a:solidFill>
                      <a:srgbClr val="F1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73747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153 / 440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8E1E5"/>
                      </a:solidFill>
                      <a:prstDash val="solid"/>
                    </a:lnR>
                    <a:lnB w="5715">
                      <a:solidFill>
                        <a:srgbClr val="D8E1E5"/>
                      </a:solidFill>
                      <a:prstDash val="solid"/>
                    </a:lnB>
                    <a:solidFill>
                      <a:srgbClr val="F1F5F7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73747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pDockQ / pDockQ2</a:t>
                      </a:r>
                    </a:p>
                  </a:txBody>
                  <a:tcPr marL="91440" marR="91440" marT="45720" marB="45720">
                    <a:lnL w="5715">
                      <a:solidFill>
                        <a:srgbClr val="D8E1E5"/>
                      </a:solidFill>
                      <a:prstDash val="solid"/>
                    </a:lnL>
                    <a:lnR w="5715">
                      <a:solidFill>
                        <a:srgbClr val="D8E1E5"/>
                      </a:solidFill>
                      <a:prstDash val="solid"/>
                    </a:lnR>
                    <a:lnB w="5715">
                      <a:solidFill>
                        <a:srgbClr val="D8E1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73747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0.2252 / 0.1339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8E1E5"/>
                      </a:solidFill>
                      <a:prstDash val="solid"/>
                    </a:lnR>
                    <a:lnB w="5715">
                      <a:solidFill>
                        <a:srgbClr val="D8E1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73747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Whole fusion / linker pLDDT (0-100)</a:t>
                      </a:r>
                    </a:p>
                  </a:txBody>
                  <a:tcPr marL="91440" marR="91440" marT="45720" marB="45720">
                    <a:lnL w="5715">
                      <a:solidFill>
                        <a:srgbClr val="D8E1E5"/>
                      </a:solidFill>
                      <a:prstDash val="solid"/>
                    </a:lnL>
                    <a:lnR w="5715">
                      <a:solidFill>
                        <a:srgbClr val="D8E1E5"/>
                      </a:solidFill>
                      <a:prstDash val="solid"/>
                    </a:lnR>
                    <a:lnB w="5715">
                      <a:solidFill>
                        <a:srgbClr val="D8E1E5"/>
                      </a:solidFill>
                      <a:prstDash val="solid"/>
                    </a:lnB>
                    <a:solidFill>
                      <a:srgbClr val="F1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73747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45.8 / 39.8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8E1E5"/>
                      </a:solidFill>
                      <a:prstDash val="solid"/>
                    </a:lnR>
                    <a:lnB w="5715">
                      <a:solidFill>
                        <a:srgbClr val="D8E1E5"/>
                      </a:solidFill>
                      <a:prstDash val="solid"/>
                    </a:lnB>
                    <a:solidFill>
                      <a:srgbClr val="F1F5F7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73747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ECD / LigandForge pLDDT (0-100)</a:t>
                      </a:r>
                    </a:p>
                  </a:txBody>
                  <a:tcPr marL="91440" marR="91440" marT="45720" marB="45720">
                    <a:lnL w="5715">
                      <a:solidFill>
                        <a:srgbClr val="D8E1E5"/>
                      </a:solidFill>
                      <a:prstDash val="solid"/>
                    </a:lnL>
                    <a:lnR w="5715">
                      <a:solidFill>
                        <a:srgbClr val="D8E1E5"/>
                      </a:solidFill>
                      <a:prstDash val="solid"/>
                    </a:lnR>
                    <a:lnB w="5715">
                      <a:solidFill>
                        <a:srgbClr val="D8E1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73747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56.6 / 40.4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8E1E5"/>
                      </a:solidFill>
                      <a:prstDash val="solid"/>
                    </a:lnR>
                    <a:lnB w="5715">
                      <a:solidFill>
                        <a:srgbClr val="D8E1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73747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Fusion design-to-refold DockQ</a:t>
                      </a:r>
                    </a:p>
                  </a:txBody>
                  <a:tcPr marL="91440" marR="91440" marT="45720" marB="45720">
                    <a:lnL w="5715">
                      <a:solidFill>
                        <a:srgbClr val="D8E1E5"/>
                      </a:solidFill>
                      <a:prstDash val="solid"/>
                    </a:lnL>
                    <a:lnR w="5715">
                      <a:solidFill>
                        <a:srgbClr val="D8E1E5"/>
                      </a:solidFill>
                      <a:prstDash val="solid"/>
                    </a:lnR>
                    <a:lnB w="5715">
                      <a:solidFill>
                        <a:srgbClr val="D8E1E5"/>
                      </a:solidFill>
                      <a:prstDash val="solid"/>
                    </a:lnB>
                    <a:solidFill>
                      <a:srgbClr val="F1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73747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0.1394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8E1E5"/>
                      </a:solidFill>
                      <a:prstDash val="solid"/>
                    </a:lnR>
                    <a:lnB w="5715">
                      <a:solidFill>
                        <a:srgbClr val="D8E1E5"/>
                      </a:solidFill>
                      <a:prstDash val="solid"/>
                    </a:lnB>
                    <a:solidFill>
                      <a:srgbClr val="F1F5F7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73747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Free C-terminal OPM z (A)</a:t>
                      </a:r>
                    </a:p>
                  </a:txBody>
                  <a:tcPr marL="91440" marR="91440" marT="45720" marB="45720">
                    <a:lnL w="5715">
                      <a:solidFill>
                        <a:srgbClr val="D8E1E5"/>
                      </a:solidFill>
                      <a:prstDash val="solid"/>
                    </a:lnL>
                    <a:lnR w="5715">
                      <a:solidFill>
                        <a:srgbClr val="D8E1E5"/>
                      </a:solidFill>
                      <a:prstDash val="solid"/>
                    </a:lnR>
                    <a:lnB w="5715">
                      <a:solidFill>
                        <a:srgbClr val="D8E1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73747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34.03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8E1E5"/>
                      </a:solidFill>
                      <a:prstDash val="solid"/>
                    </a:lnR>
                    <a:lnB w="5715">
                      <a:solidFill>
                        <a:srgbClr val="D8E1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73747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Extracellular free C-terminal screen</a:t>
                      </a:r>
                    </a:p>
                  </a:txBody>
                  <a:tcPr marL="91440" marR="91440" marT="45720" marB="45720">
                    <a:lnL w="5715">
                      <a:solidFill>
                        <a:srgbClr val="D8E1E5"/>
                      </a:solidFill>
                      <a:prstDash val="solid"/>
                    </a:lnL>
                    <a:lnR w="5715">
                      <a:solidFill>
                        <a:srgbClr val="D8E1E5"/>
                      </a:solidFill>
                      <a:prstDash val="solid"/>
                    </a:lnR>
                    <a:lnB w="5715">
                      <a:solidFill>
                        <a:srgbClr val="D8E1E5"/>
                      </a:solidFill>
                      <a:prstDash val="solid"/>
                    </a:lnB>
                    <a:solidFill>
                      <a:srgbClr val="F1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73747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Pass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8E1E5"/>
                      </a:solidFill>
                      <a:prstDash val="solid"/>
                    </a:lnR>
                    <a:lnB w="5715">
                      <a:solidFill>
                        <a:srgbClr val="D8E1E5"/>
                      </a:solidFill>
                      <a:prstDash val="solid"/>
                    </a:lnB>
                    <a:solidFill>
                      <a:srgbClr val="F1F5F7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73747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DeltaForge length scope</a:t>
                      </a:r>
                    </a:p>
                  </a:txBody>
                  <a:tcPr marL="91440" marR="91440" marT="45720" marB="45720">
                    <a:lnL w="5715">
                      <a:solidFill>
                        <a:srgbClr val="D8E1E5"/>
                      </a:solidFill>
                      <a:prstDash val="solid"/>
                    </a:lnL>
                    <a:lnR w="5715">
                      <a:solidFill>
                        <a:srgbClr val="D8E1E5"/>
                      </a:solidFill>
                      <a:prstDash val="solid"/>
                    </a:lnR>
                    <a:lnB w="5715">
                      <a:solidFill>
                        <a:srgbClr val="D8E1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73747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long_gt_140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8E1E5"/>
                      </a:solidFill>
                      <a:prstDash val="solid"/>
                    </a:lnR>
                    <a:lnB w="5715">
                      <a:solidFill>
                        <a:srgbClr val="D8E1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0FC6423-1E4F-49E6-9795-514EC9766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1457325"/>
            <a:ext cx="4095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950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950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950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950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950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950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950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950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950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950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173747"/>
                </a:solidFill>
                <a:latin typeface="DejaVu Sans"/>
                <a:ea typeface="DejaVu Sans"/>
                <a:cs typeface="DejaVu Sans"/>
              </a:rPr>
              <a:t>Origin and prediction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9156660-F3B2-4F8C-90B9-F4C242493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1952625"/>
            <a:ext cx="4095750" cy="390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725" b="0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725" b="0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725" b="0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725" b="0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725" b="0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725" b="0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725" b="0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725" b="0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725" b="0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725" b="0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173747"/>
                </a:solidFill>
                <a:latin typeface="DejaVu Sans"/>
                <a:ea typeface="DejaVu Sans"/>
                <a:cs typeface="DejaVu Sans"/>
              </a:rPr>
              <a:t>ECD parent S11_03_093</a:t>
            </a:r>
          </a:p>
          <a:p xmlns:a="http://schemas.openxmlformats.org/drawingml/2006/main">
            <a:pPr>
              <a:defRPr sz="1725" b="0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173747"/>
                </a:solidFill>
                <a:latin typeface="DejaVu Sans"/>
                <a:ea typeface="DejaVu Sans"/>
                <a:cs typeface="DejaVu Sans"/>
              </a:rPr>
              <a:t>LigandForge parent Design_280</a:t>
            </a:r>
          </a:p>
          <a:p xmlns:a="http://schemas.openxmlformats.org/drawingml/2006/main">
            <a:pPr>
              <a:defRPr sz="1725" b="0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173747"/>
                </a:solidFill>
                <a:latin typeface="DejaVu Sans"/>
                <a:ea typeface="DejaVu Sans"/>
                <a:cs typeface="DejaVu Sans"/>
              </a:rPr>
              <a:t>Pair P088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725" b="0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173747"/>
                </a:solidFill>
                <a:latin typeface="DejaVu Sans"/>
                <a:ea typeface="DejaVu Sans"/>
                <a:cs typeface="DejaVu Sans"/>
              </a:rPr>
              <a:t>AP Novo seed 989</a:t>
            </a:r>
          </a:p>
          <a:p xmlns:a="http://schemas.openxmlformats.org/drawingml/2006/main">
            <a:pPr>
              <a:defRPr sz="1725" b="0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173747"/>
                </a:solidFill>
                <a:latin typeface="DejaVu Sans"/>
                <a:ea typeface="DejaVu Sans"/>
                <a:cs typeface="DejaVu Sans"/>
              </a:rPr>
              <a:t>Exact seed 101</a:t>
            </a:r>
          </a:p>
          <a:p xmlns:a="http://schemas.openxmlformats.org/drawingml/2006/main">
            <a:pPr>
              <a:defRPr sz="1725" b="0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173747"/>
                </a:solidFill>
                <a:latin typeface="DejaVu Sans"/>
                <a:ea typeface="DejaVu Sans"/>
                <a:cs typeface="DejaVu Sans"/>
              </a:rPr>
              <a:t>3 recycles, 200 steps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725" b="0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173747"/>
                </a:solidFill>
                <a:latin typeface="DejaVu Sans"/>
                <a:ea typeface="DejaVu Sans"/>
                <a:cs typeface="DejaVu Sans"/>
              </a:rPr>
              <a:t>LF A1-69  linker A70-101  ECD A102-153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2764F7F-0741-49F7-8F7C-D65084D76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81750"/>
            <a:ext cx="14192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650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650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650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650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650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650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650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650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650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650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50616C"/>
                </a:solidFill>
                <a:latin typeface="DejaVu Sans"/>
                <a:ea typeface="DejaVu Sans"/>
                <a:cs typeface="DejaVu Sans"/>
              </a:rPr>
              <a:t>Whole-fusion pLDDT remains modest. High interface confidence does not establish activation.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7835621-08E2-410C-BBF2-895953BF5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115175"/>
            <a:ext cx="14192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57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57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57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57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57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57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57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57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57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57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57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pPr>
            <a:r>
              <a:rPr sz="1575" b="1">
                <a:solidFill>
                  <a:srgbClr val="173747"/>
                </a:solidFill>
                <a:latin typeface="DejaVu Sans"/>
                <a:ea typeface="DejaVu Sans"/>
                <a:cs typeface="DejaVu Sans"/>
              </a:rPr>
              <a:t>Complete selected sequence, N to C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0EE7541-386B-42C3-BBAF-1F3C989EC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410450"/>
            <a:ext cx="141922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500" b="0">
                <a:solidFill>
                  <a:srgbClr val="173747"/>
                </a:solidFill>
                <a:latin typeface="DejaVu Sans Mono"/>
                <a:ea typeface="DejaVu Sans Mono"/>
                <a:cs typeface="DejaVu Sans Mono"/>
              </a:defRPr>
            </a:defPPr>
            <a:lvl1pPr>
              <a:defRPr sz="1500" b="0">
                <a:solidFill>
                  <a:srgbClr val="173747"/>
                </a:solidFill>
                <a:latin typeface="DejaVu Sans Mono"/>
                <a:ea typeface="DejaVu Sans Mono"/>
                <a:cs typeface="DejaVu Sans Mono"/>
              </a:defRPr>
            </a:lvl1pPr>
            <a:lvl2pPr>
              <a:defRPr sz="1500" b="0">
                <a:solidFill>
                  <a:srgbClr val="173747"/>
                </a:solidFill>
                <a:latin typeface="DejaVu Sans Mono"/>
                <a:ea typeface="DejaVu Sans Mono"/>
                <a:cs typeface="DejaVu Sans Mono"/>
              </a:defRPr>
            </a:lvl2pPr>
            <a:lvl3pPr>
              <a:defRPr sz="1500" b="0">
                <a:solidFill>
                  <a:srgbClr val="173747"/>
                </a:solidFill>
                <a:latin typeface="DejaVu Sans Mono"/>
                <a:ea typeface="DejaVu Sans Mono"/>
                <a:cs typeface="DejaVu Sans Mono"/>
              </a:defRPr>
            </a:lvl3pPr>
            <a:lvl4pPr>
              <a:defRPr sz="1500" b="0">
                <a:solidFill>
                  <a:srgbClr val="173747"/>
                </a:solidFill>
                <a:latin typeface="DejaVu Sans Mono"/>
                <a:ea typeface="DejaVu Sans Mono"/>
                <a:cs typeface="DejaVu Sans Mono"/>
              </a:defRPr>
            </a:lvl4pPr>
            <a:lvl5pPr>
              <a:defRPr sz="1500" b="0">
                <a:solidFill>
                  <a:srgbClr val="173747"/>
                </a:solidFill>
                <a:latin typeface="DejaVu Sans Mono"/>
                <a:ea typeface="DejaVu Sans Mono"/>
                <a:cs typeface="DejaVu Sans Mono"/>
              </a:defRPr>
            </a:lvl5pPr>
            <a:lvl6pPr>
              <a:defRPr sz="1500" b="0">
                <a:solidFill>
                  <a:srgbClr val="173747"/>
                </a:solidFill>
                <a:latin typeface="DejaVu Sans Mono"/>
                <a:ea typeface="DejaVu Sans Mono"/>
                <a:cs typeface="DejaVu Sans Mono"/>
              </a:defRPr>
            </a:lvl6pPr>
            <a:lvl7pPr>
              <a:defRPr sz="1500" b="0">
                <a:solidFill>
                  <a:srgbClr val="173747"/>
                </a:solidFill>
                <a:latin typeface="DejaVu Sans Mono"/>
                <a:ea typeface="DejaVu Sans Mono"/>
                <a:cs typeface="DejaVu Sans Mono"/>
              </a:defRPr>
            </a:lvl7pPr>
            <a:lvl8pPr>
              <a:defRPr sz="1500" b="0">
                <a:solidFill>
                  <a:srgbClr val="173747"/>
                </a:solidFill>
                <a:latin typeface="DejaVu Sans Mono"/>
                <a:ea typeface="DejaVu Sans Mono"/>
                <a:cs typeface="DejaVu Sans Mono"/>
              </a:defRPr>
            </a:lvl8pPr>
            <a:lvl9pPr>
              <a:defRPr sz="1500" b="0">
                <a:solidFill>
                  <a:srgbClr val="173747"/>
                </a:solidFill>
                <a:latin typeface="DejaVu Sans Mono"/>
                <a:ea typeface="DejaVu Sans Mono"/>
                <a:cs typeface="DejaVu Sans Mono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173747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00" b="0">
                <a:solidFill>
                  <a:srgbClr val="173747"/>
                </a:solidFill>
                <a:latin typeface="DejaVu Sans Mono"/>
                <a:ea typeface="DejaVu Sans Mono"/>
                <a:cs typeface="DejaVu Sans Mono"/>
              </a:rPr>
              <a:t>EVSGATIDLRVKTCVDFKQTVNFFKLRNTQLPGSCTKDNTVLFLLEGLKLGYASRYFSIGSGSGSQQFSSSSST</a:t>
            </a:r>
          </a:p>
          <a:p xmlns:a="http://schemas.openxmlformats.org/drawingml/2006/main">
            <a:pPr>
              <a:defRPr sz="1500" b="0">
                <a:solidFill>
                  <a:srgbClr val="173747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00" b="0">
                <a:solidFill>
                  <a:srgbClr val="173747"/>
                </a:solidFill>
                <a:latin typeface="DejaVu Sans Mono"/>
                <a:ea typeface="DejaVu Sans Mono"/>
                <a:cs typeface="DejaVu Sans Mono"/>
              </a:rPr>
              <a:t>VTRRVPPPVNLLPWGPPSGQPFPRGLGMISELQELRRLFESSYPPYFSRLLWSSYLAASVGQSDLSPTIGLGKA</a:t>
            </a:r>
          </a:p>
          <a:p xmlns:a="http://schemas.openxmlformats.org/drawingml/2006/main">
            <a:pPr>
              <a:defRPr sz="1500" b="0">
                <a:solidFill>
                  <a:srgbClr val="173747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00" b="0">
                <a:solidFill>
                  <a:srgbClr val="173747"/>
                </a:solidFill>
                <a:latin typeface="DejaVu Sans Mono"/>
                <a:ea typeface="DejaVu Sans Mono"/>
                <a:cs typeface="DejaVu Sans Mono"/>
              </a:rPr>
              <a:t>LSASK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9C507BB-B509-4359-BC9A-D1A3370E3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248650"/>
            <a:ext cx="1304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2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2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2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2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2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2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2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2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2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2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50616C"/>
                </a:solidFill>
                <a:latin typeface="DejaVu Sans"/>
                <a:ea typeface="DejaVu Sans"/>
                <a:cs typeface="DejaVu Sans"/>
              </a:rPr>
              <a:t>Human GLP1R     Boltz2 Exact     Computational predictions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3A35D6D-75B4-494D-8DD3-6329BF89F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0" y="82486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2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2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2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2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2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2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2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2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2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2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50616C"/>
                </a:solidFill>
                <a:latin typeface="DejaVu Sans"/>
                <a:ea typeface="DejaVu Sans"/>
                <a:cs typeface="DejaVu Sans"/>
              </a:rPr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1750550409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B5504B4-81AF-4DA8-AC5C-4FD187C5A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76225"/>
            <a:ext cx="1428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22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322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322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322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322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322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322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322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322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322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73747"/>
                </a:solidFill>
                <a:latin typeface="DejaVu Sans"/>
                <a:ea typeface="DejaVu Sans"/>
                <a:cs typeface="DejaVu Sans"/>
              </a:rPr>
              <a:t>05  LK_P088_08  structure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F3C92A8-B01E-4DD9-9394-37040CF2F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95350"/>
            <a:ext cx="1428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8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8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8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8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8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8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8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8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8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50616C"/>
                </a:solidFill>
                <a:latin typeface="DejaVu Sans"/>
                <a:ea typeface="DejaVu Sans"/>
                <a:cs typeface="DejaVu Sans"/>
              </a:rPr>
              <a:t>D-L-D fusion   Candidate A: 153 aa   Human GLP1R B: 440 aa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30EEF7C-2F55-4C87-98BD-0A16CC8D7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362075"/>
            <a:ext cx="619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7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87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87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87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87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87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87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87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87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87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173747"/>
                </a:solidFill>
                <a:latin typeface="DejaVu Sans"/>
                <a:ea typeface="DejaVu Sans"/>
                <a:cs typeface="DejaVu Sans"/>
              </a:rPr>
              <a:t>Boltz2 Exact receptor complex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4D471C3-F7E6-4118-8D43-2D50E89F0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362075"/>
            <a:ext cx="619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7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87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87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87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87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87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87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87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87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87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173747"/>
                </a:solidFill>
                <a:latin typeface="DejaVu Sans"/>
                <a:ea typeface="DejaVu Sans"/>
                <a:cs typeface="DejaVu Sans"/>
              </a:rPr>
              <a:t>Boltz2 Exact interface detail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2E91B4F-6CE2-4ED3-AEDD-D57ACCE23C6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315cb5b1e9d4403"/>
          <a:stretch xmlns:a="http://schemas.openxmlformats.org/drawingml/2006/main"/>
        </p:blipFill>
        <p:spPr>
          <a:xfrm xmlns:a="http://schemas.openxmlformats.org/drawingml/2006/main">
            <a:off x="2344208" y="1724025"/>
            <a:ext cx="3217333" cy="4572000"/>
          </a:xfrm>
          <a:prstGeom xmlns:a="http://schemas.openxmlformats.org/drawingml/2006/main" prst="rect">
            <a:avLst/>
          </a:prstGeom>
        </p:spPr>
      </p:pic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5E299B0-E169-4FDB-A522-D9B29DB904C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d56501224ea402a"/>
          <a:stretch xmlns:a="http://schemas.openxmlformats.org/drawingml/2006/main"/>
        </p:blipFill>
        <p:spPr>
          <a:xfrm xmlns:a="http://schemas.openxmlformats.org/drawingml/2006/main">
            <a:off x="9296093" y="1724025"/>
            <a:ext cx="3982065" cy="457200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C9D08C9-6D30-4931-9E51-387366720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579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650" b="1">
                <a:solidFill>
                  <a:srgbClr val="E69F00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650" b="1">
                <a:solidFill>
                  <a:srgbClr val="E69F00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650" b="1">
                <a:solidFill>
                  <a:srgbClr val="E69F00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650" b="1">
                <a:solidFill>
                  <a:srgbClr val="E69F00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650" b="1">
                <a:solidFill>
                  <a:srgbClr val="E69F00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650" b="1">
                <a:solidFill>
                  <a:srgbClr val="E69F00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650" b="1">
                <a:solidFill>
                  <a:srgbClr val="E69F00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650" b="1">
                <a:solidFill>
                  <a:srgbClr val="E69F00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650" b="1">
                <a:solidFill>
                  <a:srgbClr val="E69F00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650" b="1">
                <a:solidFill>
                  <a:srgbClr val="E69F00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E69F00"/>
                </a:solidFill>
                <a:latin typeface="DejaVu Sans"/>
                <a:ea typeface="DejaVu Sans"/>
                <a:cs typeface="DejaVu Sans"/>
              </a:defRPr>
            </a:pPr>
            <a:r>
              <a:rPr sz="1650" b="1">
                <a:solidFill>
                  <a:srgbClr val="E69F00"/>
                </a:solidFill>
                <a:latin typeface="DejaVu Sans"/>
                <a:ea typeface="DejaVu Sans"/>
                <a:cs typeface="DejaVu Sans"/>
              </a:rPr>
              <a:t>LigandForge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D04CA71-CD02-44AB-AE8C-296F127AE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64579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650" b="1">
                <a:solidFill>
                  <a:srgbClr val="AA4499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650" b="1">
                <a:solidFill>
                  <a:srgbClr val="AA4499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650" b="1">
                <a:solidFill>
                  <a:srgbClr val="AA4499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650" b="1">
                <a:solidFill>
                  <a:srgbClr val="AA4499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650" b="1">
                <a:solidFill>
                  <a:srgbClr val="AA4499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650" b="1">
                <a:solidFill>
                  <a:srgbClr val="AA4499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650" b="1">
                <a:solidFill>
                  <a:srgbClr val="AA4499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650" b="1">
                <a:solidFill>
                  <a:srgbClr val="AA4499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650" b="1">
                <a:solidFill>
                  <a:srgbClr val="AA4499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650" b="1">
                <a:solidFill>
                  <a:srgbClr val="AA4499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AA4499"/>
                </a:solidFill>
                <a:latin typeface="DejaVu Sans"/>
                <a:ea typeface="DejaVu Sans"/>
                <a:cs typeface="DejaVu Sans"/>
              </a:defRPr>
            </a:pPr>
            <a:r>
              <a:rPr sz="1650" b="1">
                <a:solidFill>
                  <a:srgbClr val="AA4499"/>
                </a:solidFill>
                <a:latin typeface="DejaVu Sans"/>
                <a:ea typeface="DejaVu Sans"/>
                <a:cs typeface="DejaVu Sans"/>
              </a:rPr>
              <a:t>Linker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0650752-C7F0-4AAC-BA99-5B1AC4F41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64579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650" b="1">
                <a:solidFill>
                  <a:srgbClr val="0072B2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650" b="1">
                <a:solidFill>
                  <a:srgbClr val="0072B2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650" b="1">
                <a:solidFill>
                  <a:srgbClr val="0072B2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650" b="1">
                <a:solidFill>
                  <a:srgbClr val="0072B2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650" b="1">
                <a:solidFill>
                  <a:srgbClr val="0072B2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650" b="1">
                <a:solidFill>
                  <a:srgbClr val="0072B2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650" b="1">
                <a:solidFill>
                  <a:srgbClr val="0072B2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650" b="1">
                <a:solidFill>
                  <a:srgbClr val="0072B2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650" b="1">
                <a:solidFill>
                  <a:srgbClr val="0072B2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650" b="1">
                <a:solidFill>
                  <a:srgbClr val="0072B2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0072B2"/>
                </a:solidFill>
                <a:latin typeface="DejaVu Sans"/>
                <a:ea typeface="DejaVu Sans"/>
                <a:cs typeface="DejaVu Sans"/>
              </a:defRPr>
            </a:pPr>
            <a:r>
              <a:rPr sz="1650" b="1">
                <a:solidFill>
                  <a:srgbClr val="0072B2"/>
                </a:solidFill>
                <a:latin typeface="DejaVu Sans"/>
                <a:ea typeface="DejaVu Sans"/>
                <a:cs typeface="DejaVu Sans"/>
              </a:rPr>
              <a:t>ECD binder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192EBDA-A757-454D-A4EF-60DCB6ADD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64579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650" b="1">
                <a:solidFill>
                  <a:srgbClr val="009E73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650" b="1">
                <a:solidFill>
                  <a:srgbClr val="009E73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650" b="1">
                <a:solidFill>
                  <a:srgbClr val="009E73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650" b="1">
                <a:solidFill>
                  <a:srgbClr val="009E73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650" b="1">
                <a:solidFill>
                  <a:srgbClr val="009E73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650" b="1">
                <a:solidFill>
                  <a:srgbClr val="009E73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650" b="1">
                <a:solidFill>
                  <a:srgbClr val="009E73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650" b="1">
                <a:solidFill>
                  <a:srgbClr val="009E73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650" b="1">
                <a:solidFill>
                  <a:srgbClr val="009E73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650" b="1">
                <a:solidFill>
                  <a:srgbClr val="009E73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009E73"/>
                </a:solidFill>
                <a:latin typeface="DejaVu Sans"/>
                <a:ea typeface="DejaVu Sans"/>
                <a:cs typeface="DejaVu Sans"/>
              </a:defRPr>
            </a:pPr>
            <a:r>
              <a:rPr sz="1650" b="1">
                <a:solidFill>
                  <a:srgbClr val="009E73"/>
                </a:solidFill>
                <a:latin typeface="DejaVu Sans"/>
                <a:ea typeface="DejaVu Sans"/>
                <a:cs typeface="DejaVu Sans"/>
              </a:rPr>
              <a:t>Receptor ECD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9E7AC66-B049-44AF-B145-8129488AF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64579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650" b="1">
                <a:solidFill>
                  <a:srgbClr val="7B8794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650" b="1">
                <a:solidFill>
                  <a:srgbClr val="7B8794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650" b="1">
                <a:solidFill>
                  <a:srgbClr val="7B8794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650" b="1">
                <a:solidFill>
                  <a:srgbClr val="7B8794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650" b="1">
                <a:solidFill>
                  <a:srgbClr val="7B8794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650" b="1">
                <a:solidFill>
                  <a:srgbClr val="7B8794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650" b="1">
                <a:solidFill>
                  <a:srgbClr val="7B8794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650" b="1">
                <a:solidFill>
                  <a:srgbClr val="7B8794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650" b="1">
                <a:solidFill>
                  <a:srgbClr val="7B8794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650" b="1">
                <a:solidFill>
                  <a:srgbClr val="7B8794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7B8794"/>
                </a:solidFill>
                <a:latin typeface="DejaVu Sans"/>
                <a:ea typeface="DejaVu Sans"/>
                <a:cs typeface="DejaVu Sans"/>
              </a:defRPr>
            </a:pPr>
            <a:r>
              <a:rPr sz="1650" b="1">
                <a:solidFill>
                  <a:srgbClr val="7B8794"/>
                </a:solidFill>
                <a:latin typeface="DejaVu Sans"/>
                <a:ea typeface="DejaVu Sans"/>
                <a:cs typeface="DejaVu Sans"/>
              </a:rPr>
              <a:t>Remaining receptor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5364CC8-006A-4D9D-85CB-411FAC919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0" y="64579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650" b="1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650" b="1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650" b="1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650" b="1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650" b="1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650" b="1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650" b="1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650" b="1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650" b="1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650" b="1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1650" b="1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Hotspots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4A910C3-F389-4D71-A05B-904027754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800850"/>
            <a:ext cx="1428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42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42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42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42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42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42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42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42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42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42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>
                <a:solidFill>
                  <a:srgbClr val="50616C"/>
                </a:solidFill>
                <a:latin typeface="DejaVu Sans"/>
                <a:ea typeface="DejaVu Sans"/>
                <a:cs typeface="DejaVu Sans"/>
              </a:rPr>
              <a:t>Receptor ECD B1–105 (UniProt 24–128). Black sticks: E34, Q37 and R40. View-specific zoom.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9058185-3330-4E02-BE1C-851112E10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134225"/>
            <a:ext cx="14192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57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57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57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57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57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57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57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57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57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57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57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pPr>
            <a:r>
              <a:rPr sz="1575" b="1">
                <a:solidFill>
                  <a:srgbClr val="173747"/>
                </a:solidFill>
                <a:latin typeface="DejaVu Sans"/>
                <a:ea typeface="DejaVu Sans"/>
                <a:cs typeface="DejaVu Sans"/>
              </a:rPr>
              <a:t>Complete selected sequence, N to C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F4799A4-1D5D-4404-8840-972FFF9B8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429500"/>
            <a:ext cx="141922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500" b="0">
                <a:solidFill>
                  <a:srgbClr val="173747"/>
                </a:solidFill>
                <a:latin typeface="DejaVu Sans Mono"/>
                <a:ea typeface="DejaVu Sans Mono"/>
                <a:cs typeface="DejaVu Sans Mono"/>
              </a:defRPr>
            </a:defPPr>
            <a:lvl1pPr>
              <a:defRPr sz="1500" b="0">
                <a:solidFill>
                  <a:srgbClr val="173747"/>
                </a:solidFill>
                <a:latin typeface="DejaVu Sans Mono"/>
                <a:ea typeface="DejaVu Sans Mono"/>
                <a:cs typeface="DejaVu Sans Mono"/>
              </a:defRPr>
            </a:lvl1pPr>
            <a:lvl2pPr>
              <a:defRPr sz="1500" b="0">
                <a:solidFill>
                  <a:srgbClr val="173747"/>
                </a:solidFill>
                <a:latin typeface="DejaVu Sans Mono"/>
                <a:ea typeface="DejaVu Sans Mono"/>
                <a:cs typeface="DejaVu Sans Mono"/>
              </a:defRPr>
            </a:lvl2pPr>
            <a:lvl3pPr>
              <a:defRPr sz="1500" b="0">
                <a:solidFill>
                  <a:srgbClr val="173747"/>
                </a:solidFill>
                <a:latin typeface="DejaVu Sans Mono"/>
                <a:ea typeface="DejaVu Sans Mono"/>
                <a:cs typeface="DejaVu Sans Mono"/>
              </a:defRPr>
            </a:lvl3pPr>
            <a:lvl4pPr>
              <a:defRPr sz="1500" b="0">
                <a:solidFill>
                  <a:srgbClr val="173747"/>
                </a:solidFill>
                <a:latin typeface="DejaVu Sans Mono"/>
                <a:ea typeface="DejaVu Sans Mono"/>
                <a:cs typeface="DejaVu Sans Mono"/>
              </a:defRPr>
            </a:lvl4pPr>
            <a:lvl5pPr>
              <a:defRPr sz="1500" b="0">
                <a:solidFill>
                  <a:srgbClr val="173747"/>
                </a:solidFill>
                <a:latin typeface="DejaVu Sans Mono"/>
                <a:ea typeface="DejaVu Sans Mono"/>
                <a:cs typeface="DejaVu Sans Mono"/>
              </a:defRPr>
            </a:lvl5pPr>
            <a:lvl6pPr>
              <a:defRPr sz="1500" b="0">
                <a:solidFill>
                  <a:srgbClr val="173747"/>
                </a:solidFill>
                <a:latin typeface="DejaVu Sans Mono"/>
                <a:ea typeface="DejaVu Sans Mono"/>
                <a:cs typeface="DejaVu Sans Mono"/>
              </a:defRPr>
            </a:lvl6pPr>
            <a:lvl7pPr>
              <a:defRPr sz="1500" b="0">
                <a:solidFill>
                  <a:srgbClr val="173747"/>
                </a:solidFill>
                <a:latin typeface="DejaVu Sans Mono"/>
                <a:ea typeface="DejaVu Sans Mono"/>
                <a:cs typeface="DejaVu Sans Mono"/>
              </a:defRPr>
            </a:lvl7pPr>
            <a:lvl8pPr>
              <a:defRPr sz="1500" b="0">
                <a:solidFill>
                  <a:srgbClr val="173747"/>
                </a:solidFill>
                <a:latin typeface="DejaVu Sans Mono"/>
                <a:ea typeface="DejaVu Sans Mono"/>
                <a:cs typeface="DejaVu Sans Mono"/>
              </a:defRPr>
            </a:lvl8pPr>
            <a:lvl9pPr>
              <a:defRPr sz="1500" b="0">
                <a:solidFill>
                  <a:srgbClr val="173747"/>
                </a:solidFill>
                <a:latin typeface="DejaVu Sans Mono"/>
                <a:ea typeface="DejaVu Sans Mono"/>
                <a:cs typeface="DejaVu Sans Mono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173747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00" b="0">
                <a:solidFill>
                  <a:srgbClr val="173747"/>
                </a:solidFill>
                <a:latin typeface="DejaVu Sans Mono"/>
                <a:ea typeface="DejaVu Sans Mono"/>
                <a:cs typeface="DejaVu Sans Mono"/>
              </a:rPr>
              <a:t>EVSGATIDLRVKTCVDFKQTVNFFKLRNTQLPGSCTKDNTVLFLLEGLKLGYASRYFSIGSGSGSQQFSSSSST</a:t>
            </a:r>
          </a:p>
          <a:p xmlns:a="http://schemas.openxmlformats.org/drawingml/2006/main">
            <a:pPr>
              <a:defRPr sz="1500" b="0">
                <a:solidFill>
                  <a:srgbClr val="173747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00" b="0">
                <a:solidFill>
                  <a:srgbClr val="173747"/>
                </a:solidFill>
                <a:latin typeface="DejaVu Sans Mono"/>
                <a:ea typeface="DejaVu Sans Mono"/>
                <a:cs typeface="DejaVu Sans Mono"/>
              </a:rPr>
              <a:t>VTRRVPPPVNLLPWGPPSGQPFPRGLGMISELQELRRLFESSYPPYFSRLLWSSYLAASVGQSDLSPTIGLGKA</a:t>
            </a:r>
          </a:p>
          <a:p xmlns:a="http://schemas.openxmlformats.org/drawingml/2006/main">
            <a:pPr>
              <a:defRPr sz="1500" b="0">
                <a:solidFill>
                  <a:srgbClr val="173747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00" b="0">
                <a:solidFill>
                  <a:srgbClr val="173747"/>
                </a:solidFill>
                <a:latin typeface="DejaVu Sans Mono"/>
                <a:ea typeface="DejaVu Sans Mono"/>
                <a:cs typeface="DejaVu Sans Mono"/>
              </a:rPr>
              <a:t>LSASK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CE63774-1AC2-453A-BC18-6EF0AA844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248650"/>
            <a:ext cx="1304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2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2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2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2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2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2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2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2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2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2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50616C"/>
                </a:solidFill>
                <a:latin typeface="DejaVu Sans"/>
                <a:ea typeface="DejaVu Sans"/>
                <a:cs typeface="DejaVu Sans"/>
              </a:rPr>
              <a:t>Human GLP1R     Boltz2 Exact     Computational predictions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D010914-35F0-4963-A7C9-A3B397706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0" y="82486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2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2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2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2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2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2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2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2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2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2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50616C"/>
                </a:solidFill>
                <a:latin typeface="DejaVu Sans"/>
                <a:ea typeface="DejaVu Sans"/>
                <a:cs typeface="DejaVu Sans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093753130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F2E4647-FDC3-4A42-BD8E-C592FFB7B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76225"/>
            <a:ext cx="1428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22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322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322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322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322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322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322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322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322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322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73747"/>
                </a:solidFill>
                <a:latin typeface="DejaVu Sans"/>
                <a:ea typeface="DejaVu Sans"/>
                <a:cs typeface="DejaVu Sans"/>
              </a:rPr>
              <a:t>06  LK_P050_03  metrics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A9392EF-A0B6-41A7-B586-B51A06D50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95350"/>
            <a:ext cx="1428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8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8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8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8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8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8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8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8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8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50616C"/>
                </a:solidFill>
                <a:latin typeface="DejaVu Sans"/>
                <a:ea typeface="DejaVu Sans"/>
                <a:cs typeface="DejaVu Sans"/>
              </a:rPr>
              <a:t>D-L-D fusion   Candidate A: 149 aa   Human GLP1R B: 440 aa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698351A-2DEE-440C-81B8-6FBA4DC051B5}"/>
              </a:ext>
            </a:extLst>
          </p:cNvPr>
          <p:cNvGraphicFramePr/>
          <p:nvPr/>
        </p:nvGraphicFramePr>
        <p:xfrm>
          <a:off xmlns:a="http://schemas.openxmlformats.org/drawingml/2006/main" x="457200" y="1457325"/>
          <a:ext xmlns:a="http://schemas.openxmlformats.org/drawingml/2006/main" cx="9667875" cy="48006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6791325"/>
                <a:gridCol w="2876550"/>
              </a:tblGrid>
              <a:tr h="34290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Metric and scope</a:t>
                      </a:r>
                    </a:p>
                  </a:txBody>
                  <a:tcPr marL="91440" marR="91440" marT="45720" marB="45720">
                    <a:lnL w="5715">
                      <a:solidFill>
                        <a:srgbClr val="D8E1E5"/>
                      </a:solidFill>
                      <a:prstDash val="solid"/>
                    </a:lnL>
                    <a:lnR w="5715">
                      <a:solidFill>
                        <a:srgbClr val="D8E1E5"/>
                      </a:solidFill>
                      <a:prstDash val="solid"/>
                    </a:lnR>
                    <a:lnT w="5715">
                      <a:solidFill>
                        <a:srgbClr val="D8E1E5"/>
                      </a:solidFill>
                      <a:prstDash val="solid"/>
                    </a:lnT>
                    <a:lnB w="5715">
                      <a:solidFill>
                        <a:srgbClr val="D8E1E5"/>
                      </a:solidFill>
                      <a:prstDash val="solid"/>
                    </a:lnB>
                    <a:solidFill>
                      <a:srgbClr val="245D7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Value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8E1E5"/>
                      </a:solidFill>
                      <a:prstDash val="solid"/>
                    </a:lnR>
                    <a:lnT w="5715">
                      <a:solidFill>
                        <a:srgbClr val="D8E1E5"/>
                      </a:solidFill>
                      <a:prstDash val="solid"/>
                    </a:lnT>
                    <a:lnB w="5715">
                      <a:solidFill>
                        <a:srgbClr val="D8E1E5"/>
                      </a:solidFill>
                      <a:prstDash val="solid"/>
                    </a:lnB>
                    <a:solidFill>
                      <a:srgbClr val="245D73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73747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Boltz2 Exact ipSAE (A/B, Type=max)</a:t>
                      </a:r>
                    </a:p>
                  </a:txBody>
                  <a:tcPr marL="91440" marR="91440" marT="45720" marB="45720">
                    <a:lnL w="5715">
                      <a:solidFill>
                        <a:srgbClr val="D8E1E5"/>
                      </a:solidFill>
                      <a:prstDash val="solid"/>
                    </a:lnL>
                    <a:lnR w="5715">
                      <a:solidFill>
                        <a:srgbClr val="D8E1E5"/>
                      </a:solidFill>
                      <a:prstDash val="solid"/>
                    </a:lnR>
                    <a:lnB w="5715">
                      <a:solidFill>
                        <a:srgbClr val="D8E1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73747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0.905966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8E1E5"/>
                      </a:solidFill>
                      <a:prstDash val="solid"/>
                    </a:lnR>
                    <a:lnB w="5715">
                      <a:solidFill>
                        <a:srgbClr val="D8E1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73747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DeltaForge predicted Kd (nM)</a:t>
                      </a:r>
                    </a:p>
                  </a:txBody>
                  <a:tcPr marL="91440" marR="91440" marT="45720" marB="45720">
                    <a:lnL w="5715">
                      <a:solidFill>
                        <a:srgbClr val="D8E1E5"/>
                      </a:solidFill>
                      <a:prstDash val="solid"/>
                    </a:lnL>
                    <a:lnR w="5715">
                      <a:solidFill>
                        <a:srgbClr val="D8E1E5"/>
                      </a:solidFill>
                      <a:prstDash val="solid"/>
                    </a:lnR>
                    <a:lnB w="5715">
                      <a:solidFill>
                        <a:srgbClr val="D8E1E5"/>
                      </a:solidFill>
                      <a:prstDash val="solid"/>
                    </a:lnB>
                    <a:solidFill>
                      <a:srgbClr val="F1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73747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3.2797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8E1E5"/>
                      </a:solidFill>
                      <a:prstDash val="solid"/>
                    </a:lnR>
                    <a:lnB w="5715">
                      <a:solidFill>
                        <a:srgbClr val="D8E1E5"/>
                      </a:solidFill>
                      <a:prstDash val="solid"/>
                    </a:lnB>
                    <a:solidFill>
                      <a:srgbClr val="F1F5F7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73747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Boltz2 Exact ipTM</a:t>
                      </a:r>
                    </a:p>
                  </a:txBody>
                  <a:tcPr marL="91440" marR="91440" marT="45720" marB="45720">
                    <a:lnL w="5715">
                      <a:solidFill>
                        <a:srgbClr val="D8E1E5"/>
                      </a:solidFill>
                      <a:prstDash val="solid"/>
                    </a:lnL>
                    <a:lnR w="5715">
                      <a:solidFill>
                        <a:srgbClr val="D8E1E5"/>
                      </a:solidFill>
                      <a:prstDash val="solid"/>
                    </a:lnR>
                    <a:lnB w="5715">
                      <a:solidFill>
                        <a:srgbClr val="D8E1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73747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0.9204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8E1E5"/>
                      </a:solidFill>
                      <a:prstDash val="solid"/>
                    </a:lnR>
                    <a:lnB w="5715">
                      <a:solidFill>
                        <a:srgbClr val="D8E1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73747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Original population ipSAE rank</a:t>
                      </a:r>
                    </a:p>
                  </a:txBody>
                  <a:tcPr marL="91440" marR="91440" marT="45720" marB="45720">
                    <a:lnL w="5715">
                      <a:solidFill>
                        <a:srgbClr val="D8E1E5"/>
                      </a:solidFill>
                      <a:prstDash val="solid"/>
                    </a:lnL>
                    <a:lnR w="5715">
                      <a:solidFill>
                        <a:srgbClr val="D8E1E5"/>
                      </a:solidFill>
                      <a:prstDash val="solid"/>
                    </a:lnR>
                    <a:lnB w="5715">
                      <a:solidFill>
                        <a:srgbClr val="D8E1E5"/>
                      </a:solidFill>
                      <a:prstDash val="solid"/>
                    </a:lnB>
                    <a:solidFill>
                      <a:srgbClr val="F1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73747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6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8E1E5"/>
                      </a:solidFill>
                      <a:prstDash val="solid"/>
                    </a:lnR>
                    <a:lnB w="5715">
                      <a:solidFill>
                        <a:srgbClr val="D8E1E5"/>
                      </a:solidFill>
                      <a:prstDash val="solid"/>
                    </a:lnB>
                    <a:solidFill>
                      <a:srgbClr val="F1F5F7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73747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Predicted-Kd rank within population top50</a:t>
                      </a:r>
                    </a:p>
                  </a:txBody>
                  <a:tcPr marL="91440" marR="91440" marT="45720" marB="45720">
                    <a:lnL w="5715">
                      <a:solidFill>
                        <a:srgbClr val="D8E1E5"/>
                      </a:solidFill>
                      <a:prstDash val="solid"/>
                    </a:lnL>
                    <a:lnR w="5715">
                      <a:solidFill>
                        <a:srgbClr val="D8E1E5"/>
                      </a:solidFill>
                      <a:prstDash val="solid"/>
                    </a:lnR>
                    <a:lnB w="5715">
                      <a:solidFill>
                        <a:srgbClr val="D8E1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73747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31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8E1E5"/>
                      </a:solidFill>
                      <a:prstDash val="solid"/>
                    </a:lnR>
                    <a:lnB w="5715">
                      <a:solidFill>
                        <a:srgbClr val="D8E1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73747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Candidate / receptor residues (aa)</a:t>
                      </a:r>
                    </a:p>
                  </a:txBody>
                  <a:tcPr marL="91440" marR="91440" marT="45720" marB="45720">
                    <a:lnL w="5715">
                      <a:solidFill>
                        <a:srgbClr val="D8E1E5"/>
                      </a:solidFill>
                      <a:prstDash val="solid"/>
                    </a:lnL>
                    <a:lnR w="5715">
                      <a:solidFill>
                        <a:srgbClr val="D8E1E5"/>
                      </a:solidFill>
                      <a:prstDash val="solid"/>
                    </a:lnR>
                    <a:lnB w="5715">
                      <a:solidFill>
                        <a:srgbClr val="D8E1E5"/>
                      </a:solidFill>
                      <a:prstDash val="solid"/>
                    </a:lnB>
                    <a:solidFill>
                      <a:srgbClr val="F1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73747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149 / 440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8E1E5"/>
                      </a:solidFill>
                      <a:prstDash val="solid"/>
                    </a:lnR>
                    <a:lnB w="5715">
                      <a:solidFill>
                        <a:srgbClr val="D8E1E5"/>
                      </a:solidFill>
                      <a:prstDash val="solid"/>
                    </a:lnB>
                    <a:solidFill>
                      <a:srgbClr val="F1F5F7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73747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pDockQ / pDockQ2</a:t>
                      </a:r>
                    </a:p>
                  </a:txBody>
                  <a:tcPr marL="91440" marR="91440" marT="45720" marB="45720">
                    <a:lnL w="5715">
                      <a:solidFill>
                        <a:srgbClr val="D8E1E5"/>
                      </a:solidFill>
                      <a:prstDash val="solid"/>
                    </a:lnL>
                    <a:lnR w="5715">
                      <a:solidFill>
                        <a:srgbClr val="D8E1E5"/>
                      </a:solidFill>
                      <a:prstDash val="solid"/>
                    </a:lnR>
                    <a:lnB w="5715">
                      <a:solidFill>
                        <a:srgbClr val="D8E1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73747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0.4071 / 0.2529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8E1E5"/>
                      </a:solidFill>
                      <a:prstDash val="solid"/>
                    </a:lnR>
                    <a:lnB w="5715">
                      <a:solidFill>
                        <a:srgbClr val="D8E1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73747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Whole fusion / linker pLDDT (0-100)</a:t>
                      </a:r>
                    </a:p>
                  </a:txBody>
                  <a:tcPr marL="91440" marR="91440" marT="45720" marB="45720">
                    <a:lnL w="5715">
                      <a:solidFill>
                        <a:srgbClr val="D8E1E5"/>
                      </a:solidFill>
                      <a:prstDash val="solid"/>
                    </a:lnL>
                    <a:lnR w="5715">
                      <a:solidFill>
                        <a:srgbClr val="D8E1E5"/>
                      </a:solidFill>
                      <a:prstDash val="solid"/>
                    </a:lnR>
                    <a:lnB w="5715">
                      <a:solidFill>
                        <a:srgbClr val="D8E1E5"/>
                      </a:solidFill>
                      <a:prstDash val="solid"/>
                    </a:lnB>
                    <a:solidFill>
                      <a:srgbClr val="F1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73747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52.0 / 41.1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8E1E5"/>
                      </a:solidFill>
                      <a:prstDash val="solid"/>
                    </a:lnR>
                    <a:lnB w="5715">
                      <a:solidFill>
                        <a:srgbClr val="D8E1E5"/>
                      </a:solidFill>
                      <a:prstDash val="solid"/>
                    </a:lnB>
                    <a:solidFill>
                      <a:srgbClr val="F1F5F7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73747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ECD / LigandForge pLDDT (0-100)</a:t>
                      </a:r>
                    </a:p>
                  </a:txBody>
                  <a:tcPr marL="91440" marR="91440" marT="45720" marB="45720">
                    <a:lnL w="5715">
                      <a:solidFill>
                        <a:srgbClr val="D8E1E5"/>
                      </a:solidFill>
                      <a:prstDash val="solid"/>
                    </a:lnL>
                    <a:lnR w="5715">
                      <a:solidFill>
                        <a:srgbClr val="D8E1E5"/>
                      </a:solidFill>
                      <a:prstDash val="solid"/>
                    </a:lnR>
                    <a:lnB w="5715">
                      <a:solidFill>
                        <a:srgbClr val="D8E1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73747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67.1 / 44.7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8E1E5"/>
                      </a:solidFill>
                      <a:prstDash val="solid"/>
                    </a:lnR>
                    <a:lnB w="5715">
                      <a:solidFill>
                        <a:srgbClr val="D8E1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73747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Fusion design-to-refold DockQ</a:t>
                      </a:r>
                    </a:p>
                  </a:txBody>
                  <a:tcPr marL="91440" marR="91440" marT="45720" marB="45720">
                    <a:lnL w="5715">
                      <a:solidFill>
                        <a:srgbClr val="D8E1E5"/>
                      </a:solidFill>
                      <a:prstDash val="solid"/>
                    </a:lnL>
                    <a:lnR w="5715">
                      <a:solidFill>
                        <a:srgbClr val="D8E1E5"/>
                      </a:solidFill>
                      <a:prstDash val="solid"/>
                    </a:lnR>
                    <a:lnB w="5715">
                      <a:solidFill>
                        <a:srgbClr val="D8E1E5"/>
                      </a:solidFill>
                      <a:prstDash val="solid"/>
                    </a:lnB>
                    <a:solidFill>
                      <a:srgbClr val="F1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73747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0.2066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8E1E5"/>
                      </a:solidFill>
                      <a:prstDash val="solid"/>
                    </a:lnR>
                    <a:lnB w="5715">
                      <a:solidFill>
                        <a:srgbClr val="D8E1E5"/>
                      </a:solidFill>
                      <a:prstDash val="solid"/>
                    </a:lnB>
                    <a:solidFill>
                      <a:srgbClr val="F1F5F7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73747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Free C-terminal OPM z (A)</a:t>
                      </a:r>
                    </a:p>
                  </a:txBody>
                  <a:tcPr marL="91440" marR="91440" marT="45720" marB="45720">
                    <a:lnL w="5715">
                      <a:solidFill>
                        <a:srgbClr val="D8E1E5"/>
                      </a:solidFill>
                      <a:prstDash val="solid"/>
                    </a:lnL>
                    <a:lnR w="5715">
                      <a:solidFill>
                        <a:srgbClr val="D8E1E5"/>
                      </a:solidFill>
                      <a:prstDash val="solid"/>
                    </a:lnR>
                    <a:lnB w="5715">
                      <a:solidFill>
                        <a:srgbClr val="D8E1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73747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38.34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8E1E5"/>
                      </a:solidFill>
                      <a:prstDash val="solid"/>
                    </a:lnR>
                    <a:lnB w="5715">
                      <a:solidFill>
                        <a:srgbClr val="D8E1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73747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Extracellular free C-terminal screen</a:t>
                      </a:r>
                    </a:p>
                  </a:txBody>
                  <a:tcPr marL="91440" marR="91440" marT="45720" marB="45720">
                    <a:lnL w="5715">
                      <a:solidFill>
                        <a:srgbClr val="D8E1E5"/>
                      </a:solidFill>
                      <a:prstDash val="solid"/>
                    </a:lnL>
                    <a:lnR w="5715">
                      <a:solidFill>
                        <a:srgbClr val="D8E1E5"/>
                      </a:solidFill>
                      <a:prstDash val="solid"/>
                    </a:lnR>
                    <a:lnB w="5715">
                      <a:solidFill>
                        <a:srgbClr val="D8E1E5"/>
                      </a:solidFill>
                      <a:prstDash val="solid"/>
                    </a:lnB>
                    <a:solidFill>
                      <a:srgbClr val="F1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73747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Pass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8E1E5"/>
                      </a:solidFill>
                      <a:prstDash val="solid"/>
                    </a:lnR>
                    <a:lnB w="5715">
                      <a:solidFill>
                        <a:srgbClr val="D8E1E5"/>
                      </a:solidFill>
                      <a:prstDash val="solid"/>
                    </a:lnB>
                    <a:solidFill>
                      <a:srgbClr val="F1F5F7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73747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DeltaForge length scope</a:t>
                      </a:r>
                    </a:p>
                  </a:txBody>
                  <a:tcPr marL="91440" marR="91440" marT="45720" marB="45720">
                    <a:lnL w="5715">
                      <a:solidFill>
                        <a:srgbClr val="D8E1E5"/>
                      </a:solidFill>
                      <a:prstDash val="solid"/>
                    </a:lnL>
                    <a:lnR w="5715">
                      <a:solidFill>
                        <a:srgbClr val="D8E1E5"/>
                      </a:solidFill>
                      <a:prstDash val="solid"/>
                    </a:lnR>
                    <a:lnB w="5715">
                      <a:solidFill>
                        <a:srgbClr val="D8E1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73747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long_gt_140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8E1E5"/>
                      </a:solidFill>
                      <a:prstDash val="solid"/>
                    </a:lnR>
                    <a:lnB w="5715">
                      <a:solidFill>
                        <a:srgbClr val="D8E1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CC6ABA3-AB1D-414E-8B56-36F1DF1D7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1457325"/>
            <a:ext cx="4095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950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950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950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950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950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950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950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950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950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950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173747"/>
                </a:solidFill>
                <a:latin typeface="DejaVu Sans"/>
                <a:ea typeface="DejaVu Sans"/>
                <a:cs typeface="DejaVu Sans"/>
              </a:rPr>
              <a:t>Origin and prediction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504F59F-8D74-461C-AC4F-01FC00AD4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1952625"/>
            <a:ext cx="4095750" cy="390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725" b="0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725" b="0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725" b="0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725" b="0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725" b="0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725" b="0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725" b="0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725" b="0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725" b="0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725" b="0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173747"/>
                </a:solidFill>
                <a:latin typeface="DejaVu Sans"/>
                <a:ea typeface="DejaVu Sans"/>
                <a:cs typeface="DejaVu Sans"/>
              </a:rPr>
              <a:t>ECD parent S11_02_089</a:t>
            </a:r>
          </a:p>
          <a:p xmlns:a="http://schemas.openxmlformats.org/drawingml/2006/main">
            <a:pPr>
              <a:defRPr sz="1725" b="0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173747"/>
                </a:solidFill>
                <a:latin typeface="DejaVu Sans"/>
                <a:ea typeface="DejaVu Sans"/>
                <a:cs typeface="DejaVu Sans"/>
              </a:rPr>
              <a:t>LigandForge parent Design_280</a:t>
            </a:r>
          </a:p>
          <a:p xmlns:a="http://schemas.openxmlformats.org/drawingml/2006/main">
            <a:pPr>
              <a:defRPr sz="1725" b="0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173747"/>
                </a:solidFill>
                <a:latin typeface="DejaVu Sans"/>
                <a:ea typeface="DejaVu Sans"/>
                <a:cs typeface="DejaVu Sans"/>
              </a:rPr>
              <a:t>Pair P050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725" b="0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173747"/>
                </a:solidFill>
                <a:latin typeface="DejaVu Sans"/>
                <a:ea typeface="DejaVu Sans"/>
                <a:cs typeface="DejaVu Sans"/>
              </a:rPr>
              <a:t>AP Novo seed 604</a:t>
            </a:r>
          </a:p>
          <a:p xmlns:a="http://schemas.openxmlformats.org/drawingml/2006/main">
            <a:pPr>
              <a:defRPr sz="1725" b="0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173747"/>
                </a:solidFill>
                <a:latin typeface="DejaVu Sans"/>
                <a:ea typeface="DejaVu Sans"/>
                <a:cs typeface="DejaVu Sans"/>
              </a:rPr>
              <a:t>Exact seed 101</a:t>
            </a:r>
          </a:p>
          <a:p xmlns:a="http://schemas.openxmlformats.org/drawingml/2006/main">
            <a:pPr>
              <a:defRPr sz="1725" b="0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173747"/>
                </a:solidFill>
                <a:latin typeface="DejaVu Sans"/>
                <a:ea typeface="DejaVu Sans"/>
                <a:cs typeface="DejaVu Sans"/>
              </a:rPr>
              <a:t>3 recycles, 200 steps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725" b="0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173747"/>
                </a:solidFill>
                <a:latin typeface="DejaVu Sans"/>
                <a:ea typeface="DejaVu Sans"/>
                <a:cs typeface="DejaVu Sans"/>
              </a:rPr>
              <a:t>ECD A1-53  linker A54-80  LF A81-149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35B78F7-8889-462D-A068-F21BE3DD0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81750"/>
            <a:ext cx="14192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650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650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650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650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650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650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650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650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650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650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50616C"/>
                </a:solidFill>
                <a:latin typeface="DejaVu Sans"/>
                <a:ea typeface="DejaVu Sans"/>
                <a:cs typeface="DejaVu Sans"/>
              </a:rPr>
              <a:t>Whole-fusion pLDDT remains modest. High interface confidence does not establish activation.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3E1E0DE-FBED-482E-A14B-82C01E0DF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115175"/>
            <a:ext cx="14192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57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57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57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57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57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57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57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57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57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57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57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pPr>
            <a:r>
              <a:rPr sz="1575" b="1">
                <a:solidFill>
                  <a:srgbClr val="173747"/>
                </a:solidFill>
                <a:latin typeface="DejaVu Sans"/>
                <a:ea typeface="DejaVu Sans"/>
                <a:cs typeface="DejaVu Sans"/>
              </a:rPr>
              <a:t>Complete selected sequence, N to C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7EAC5F0-D032-4189-B7CA-05EB073E2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410450"/>
            <a:ext cx="141922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500" b="0">
                <a:solidFill>
                  <a:srgbClr val="173747"/>
                </a:solidFill>
                <a:latin typeface="DejaVu Sans Mono"/>
                <a:ea typeface="DejaVu Sans Mono"/>
                <a:cs typeface="DejaVu Sans Mono"/>
              </a:defRPr>
            </a:defPPr>
            <a:lvl1pPr>
              <a:defRPr sz="1500" b="0">
                <a:solidFill>
                  <a:srgbClr val="173747"/>
                </a:solidFill>
                <a:latin typeface="DejaVu Sans Mono"/>
                <a:ea typeface="DejaVu Sans Mono"/>
                <a:cs typeface="DejaVu Sans Mono"/>
              </a:defRPr>
            </a:lvl1pPr>
            <a:lvl2pPr>
              <a:defRPr sz="1500" b="0">
                <a:solidFill>
                  <a:srgbClr val="173747"/>
                </a:solidFill>
                <a:latin typeface="DejaVu Sans Mono"/>
                <a:ea typeface="DejaVu Sans Mono"/>
                <a:cs typeface="DejaVu Sans Mono"/>
              </a:defRPr>
            </a:lvl2pPr>
            <a:lvl3pPr>
              <a:defRPr sz="1500" b="0">
                <a:solidFill>
                  <a:srgbClr val="173747"/>
                </a:solidFill>
                <a:latin typeface="DejaVu Sans Mono"/>
                <a:ea typeface="DejaVu Sans Mono"/>
                <a:cs typeface="DejaVu Sans Mono"/>
              </a:defRPr>
            </a:lvl3pPr>
            <a:lvl4pPr>
              <a:defRPr sz="1500" b="0">
                <a:solidFill>
                  <a:srgbClr val="173747"/>
                </a:solidFill>
                <a:latin typeface="DejaVu Sans Mono"/>
                <a:ea typeface="DejaVu Sans Mono"/>
                <a:cs typeface="DejaVu Sans Mono"/>
              </a:defRPr>
            </a:lvl4pPr>
            <a:lvl5pPr>
              <a:defRPr sz="1500" b="0">
                <a:solidFill>
                  <a:srgbClr val="173747"/>
                </a:solidFill>
                <a:latin typeface="DejaVu Sans Mono"/>
                <a:ea typeface="DejaVu Sans Mono"/>
                <a:cs typeface="DejaVu Sans Mono"/>
              </a:defRPr>
            </a:lvl5pPr>
            <a:lvl6pPr>
              <a:defRPr sz="1500" b="0">
                <a:solidFill>
                  <a:srgbClr val="173747"/>
                </a:solidFill>
                <a:latin typeface="DejaVu Sans Mono"/>
                <a:ea typeface="DejaVu Sans Mono"/>
                <a:cs typeface="DejaVu Sans Mono"/>
              </a:defRPr>
            </a:lvl6pPr>
            <a:lvl7pPr>
              <a:defRPr sz="1500" b="0">
                <a:solidFill>
                  <a:srgbClr val="173747"/>
                </a:solidFill>
                <a:latin typeface="DejaVu Sans Mono"/>
                <a:ea typeface="DejaVu Sans Mono"/>
                <a:cs typeface="DejaVu Sans Mono"/>
              </a:defRPr>
            </a:lvl7pPr>
            <a:lvl8pPr>
              <a:defRPr sz="1500" b="0">
                <a:solidFill>
                  <a:srgbClr val="173747"/>
                </a:solidFill>
                <a:latin typeface="DejaVu Sans Mono"/>
                <a:ea typeface="DejaVu Sans Mono"/>
                <a:cs typeface="DejaVu Sans Mono"/>
              </a:defRPr>
            </a:lvl8pPr>
            <a:lvl9pPr>
              <a:defRPr sz="1500" b="0">
                <a:solidFill>
                  <a:srgbClr val="173747"/>
                </a:solidFill>
                <a:latin typeface="DejaVu Sans Mono"/>
                <a:ea typeface="DejaVu Sans Mono"/>
                <a:cs typeface="DejaVu Sans Mono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173747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00" b="0">
                <a:solidFill>
                  <a:srgbClr val="173747"/>
                </a:solidFill>
                <a:latin typeface="DejaVu Sans Mono"/>
                <a:ea typeface="DejaVu Sans Mono"/>
                <a:cs typeface="DejaVu Sans Mono"/>
              </a:rPr>
              <a:t>MGISALEEFDRLRRASILLSLIRSGSTGSGFDAFLEKSGVKGAPAFLAVPSSNGFDFVPSPTSSAPPLLCQGTE</a:t>
            </a:r>
          </a:p>
          <a:p xmlns:a="http://schemas.openxmlformats.org/drawingml/2006/main">
            <a:pPr>
              <a:defRPr sz="1500" b="0">
                <a:solidFill>
                  <a:srgbClr val="173747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00" b="0">
                <a:solidFill>
                  <a:srgbClr val="173747"/>
                </a:solidFill>
                <a:latin typeface="DejaVu Sans Mono"/>
                <a:ea typeface="DejaVu Sans Mono"/>
                <a:cs typeface="DejaVu Sans Mono"/>
              </a:rPr>
              <a:t>PAENTREVSGATIDLRVKTCVDFKQTVNFFKLRNTQLPGSCTKDNTVLFLLEGLKLGYASRYFSIGSGSGSQQF</a:t>
            </a:r>
          </a:p>
          <a:p xmlns:a="http://schemas.openxmlformats.org/drawingml/2006/main">
            <a:pPr>
              <a:defRPr sz="1500" b="0">
                <a:solidFill>
                  <a:srgbClr val="173747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00" b="0">
                <a:solidFill>
                  <a:srgbClr val="173747"/>
                </a:solidFill>
                <a:latin typeface="DejaVu Sans Mono"/>
                <a:ea typeface="DejaVu Sans Mono"/>
                <a:cs typeface="DejaVu Sans Mono"/>
              </a:rPr>
              <a:t>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DE3C7B6-70CD-48D9-BDE9-B5573BC3A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248650"/>
            <a:ext cx="1304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2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2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2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2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2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2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2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2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2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2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50616C"/>
                </a:solidFill>
                <a:latin typeface="DejaVu Sans"/>
                <a:ea typeface="DejaVu Sans"/>
                <a:cs typeface="DejaVu Sans"/>
              </a:rPr>
              <a:t>Human GLP1R     Boltz2 Exact     Computational predictions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4334979-1EEA-446B-B613-25FC68852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0" y="82486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2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2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2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2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2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2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2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2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2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2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50616C"/>
                </a:solidFill>
                <a:latin typeface="DejaVu Sans"/>
                <a:ea typeface="DejaVu Sans"/>
                <a:cs typeface="DejaVu Sans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431172855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6747BFA-06AB-46D2-A5CF-CDB0A0B6B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76225"/>
            <a:ext cx="1428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22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322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322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322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322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322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322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322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322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322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73747"/>
                </a:solidFill>
                <a:latin typeface="DejaVu Sans"/>
                <a:ea typeface="DejaVu Sans"/>
                <a:cs typeface="DejaVu Sans"/>
              </a:rPr>
              <a:t>06  LK_P050_03  structure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41C6ABD-625E-4778-8ED6-8C288BBFA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95350"/>
            <a:ext cx="1428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8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8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8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8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8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8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8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8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8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50616C"/>
                </a:solidFill>
                <a:latin typeface="DejaVu Sans"/>
                <a:ea typeface="DejaVu Sans"/>
                <a:cs typeface="DejaVu Sans"/>
              </a:rPr>
              <a:t>D-L-D fusion   Candidate A: 149 aa   Human GLP1R B: 440 aa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0B990B8-1570-47CD-9DC0-19A28B7A5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362075"/>
            <a:ext cx="619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7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87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87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87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87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87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87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87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87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87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173747"/>
                </a:solidFill>
                <a:latin typeface="DejaVu Sans"/>
                <a:ea typeface="DejaVu Sans"/>
                <a:cs typeface="DejaVu Sans"/>
              </a:rPr>
              <a:t>Boltz2 Exact receptor complex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9ADAA3B-9B4E-4CC9-BEEA-D02A855C2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362075"/>
            <a:ext cx="619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7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87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87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87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87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87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87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87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87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87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173747"/>
                </a:solidFill>
                <a:latin typeface="DejaVu Sans"/>
                <a:ea typeface="DejaVu Sans"/>
                <a:cs typeface="DejaVu Sans"/>
              </a:rPr>
              <a:t>Boltz2 Exact interface detail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F247705-D7F7-4E68-927E-107C21AB5C7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a94c9eb76984abd"/>
          <a:stretch xmlns:a="http://schemas.openxmlformats.org/drawingml/2006/main"/>
        </p:blipFill>
        <p:spPr>
          <a:xfrm xmlns:a="http://schemas.openxmlformats.org/drawingml/2006/main">
            <a:off x="2344208" y="1724025"/>
            <a:ext cx="3217333" cy="4572000"/>
          </a:xfrm>
          <a:prstGeom xmlns:a="http://schemas.openxmlformats.org/drawingml/2006/main" prst="rect">
            <a:avLst/>
          </a:prstGeom>
        </p:spPr>
      </p:pic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0C8344A-D87D-452D-950A-0EAE5B353F2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f0880a8e8ec420d"/>
          <a:stretch xmlns:a="http://schemas.openxmlformats.org/drawingml/2006/main"/>
        </p:blipFill>
        <p:spPr>
          <a:xfrm xmlns:a="http://schemas.openxmlformats.org/drawingml/2006/main">
            <a:off x="9296093" y="1724025"/>
            <a:ext cx="3982065" cy="457200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AB54D17-E46D-4669-9CA3-C8FD71FAB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579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650" b="1">
                <a:solidFill>
                  <a:srgbClr val="E69F00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650" b="1">
                <a:solidFill>
                  <a:srgbClr val="E69F00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650" b="1">
                <a:solidFill>
                  <a:srgbClr val="E69F00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650" b="1">
                <a:solidFill>
                  <a:srgbClr val="E69F00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650" b="1">
                <a:solidFill>
                  <a:srgbClr val="E69F00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650" b="1">
                <a:solidFill>
                  <a:srgbClr val="E69F00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650" b="1">
                <a:solidFill>
                  <a:srgbClr val="E69F00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650" b="1">
                <a:solidFill>
                  <a:srgbClr val="E69F00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650" b="1">
                <a:solidFill>
                  <a:srgbClr val="E69F00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650" b="1">
                <a:solidFill>
                  <a:srgbClr val="E69F00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E69F00"/>
                </a:solidFill>
                <a:latin typeface="DejaVu Sans"/>
                <a:ea typeface="DejaVu Sans"/>
                <a:cs typeface="DejaVu Sans"/>
              </a:defRPr>
            </a:pPr>
            <a:r>
              <a:rPr sz="1650" b="1">
                <a:solidFill>
                  <a:srgbClr val="E69F00"/>
                </a:solidFill>
                <a:latin typeface="DejaVu Sans"/>
                <a:ea typeface="DejaVu Sans"/>
                <a:cs typeface="DejaVu Sans"/>
              </a:rPr>
              <a:t>LigandForge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F52B923-66C1-4056-9C14-8FCBC0F05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64579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650" b="1">
                <a:solidFill>
                  <a:srgbClr val="AA4499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650" b="1">
                <a:solidFill>
                  <a:srgbClr val="AA4499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650" b="1">
                <a:solidFill>
                  <a:srgbClr val="AA4499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650" b="1">
                <a:solidFill>
                  <a:srgbClr val="AA4499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650" b="1">
                <a:solidFill>
                  <a:srgbClr val="AA4499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650" b="1">
                <a:solidFill>
                  <a:srgbClr val="AA4499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650" b="1">
                <a:solidFill>
                  <a:srgbClr val="AA4499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650" b="1">
                <a:solidFill>
                  <a:srgbClr val="AA4499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650" b="1">
                <a:solidFill>
                  <a:srgbClr val="AA4499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650" b="1">
                <a:solidFill>
                  <a:srgbClr val="AA4499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AA4499"/>
                </a:solidFill>
                <a:latin typeface="DejaVu Sans"/>
                <a:ea typeface="DejaVu Sans"/>
                <a:cs typeface="DejaVu Sans"/>
              </a:defRPr>
            </a:pPr>
            <a:r>
              <a:rPr sz="1650" b="1">
                <a:solidFill>
                  <a:srgbClr val="AA4499"/>
                </a:solidFill>
                <a:latin typeface="DejaVu Sans"/>
                <a:ea typeface="DejaVu Sans"/>
                <a:cs typeface="DejaVu Sans"/>
              </a:rPr>
              <a:t>Linker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486EFD1-A9D4-4722-8BF5-7AEBA8CFC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64579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650" b="1">
                <a:solidFill>
                  <a:srgbClr val="0072B2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650" b="1">
                <a:solidFill>
                  <a:srgbClr val="0072B2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650" b="1">
                <a:solidFill>
                  <a:srgbClr val="0072B2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650" b="1">
                <a:solidFill>
                  <a:srgbClr val="0072B2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650" b="1">
                <a:solidFill>
                  <a:srgbClr val="0072B2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650" b="1">
                <a:solidFill>
                  <a:srgbClr val="0072B2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650" b="1">
                <a:solidFill>
                  <a:srgbClr val="0072B2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650" b="1">
                <a:solidFill>
                  <a:srgbClr val="0072B2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650" b="1">
                <a:solidFill>
                  <a:srgbClr val="0072B2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650" b="1">
                <a:solidFill>
                  <a:srgbClr val="0072B2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0072B2"/>
                </a:solidFill>
                <a:latin typeface="DejaVu Sans"/>
                <a:ea typeface="DejaVu Sans"/>
                <a:cs typeface="DejaVu Sans"/>
              </a:defRPr>
            </a:pPr>
            <a:r>
              <a:rPr sz="1650" b="1">
                <a:solidFill>
                  <a:srgbClr val="0072B2"/>
                </a:solidFill>
                <a:latin typeface="DejaVu Sans"/>
                <a:ea typeface="DejaVu Sans"/>
                <a:cs typeface="DejaVu Sans"/>
              </a:rPr>
              <a:t>ECD binder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EE165BE-FB58-485A-9FE9-687E1F25D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64579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650" b="1">
                <a:solidFill>
                  <a:srgbClr val="009E73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650" b="1">
                <a:solidFill>
                  <a:srgbClr val="009E73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650" b="1">
                <a:solidFill>
                  <a:srgbClr val="009E73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650" b="1">
                <a:solidFill>
                  <a:srgbClr val="009E73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650" b="1">
                <a:solidFill>
                  <a:srgbClr val="009E73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650" b="1">
                <a:solidFill>
                  <a:srgbClr val="009E73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650" b="1">
                <a:solidFill>
                  <a:srgbClr val="009E73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650" b="1">
                <a:solidFill>
                  <a:srgbClr val="009E73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650" b="1">
                <a:solidFill>
                  <a:srgbClr val="009E73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650" b="1">
                <a:solidFill>
                  <a:srgbClr val="009E73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009E73"/>
                </a:solidFill>
                <a:latin typeface="DejaVu Sans"/>
                <a:ea typeface="DejaVu Sans"/>
                <a:cs typeface="DejaVu Sans"/>
              </a:defRPr>
            </a:pPr>
            <a:r>
              <a:rPr sz="1650" b="1">
                <a:solidFill>
                  <a:srgbClr val="009E73"/>
                </a:solidFill>
                <a:latin typeface="DejaVu Sans"/>
                <a:ea typeface="DejaVu Sans"/>
                <a:cs typeface="DejaVu Sans"/>
              </a:rPr>
              <a:t>Receptor ECD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D4B6927-9CC2-4437-ABC5-D3AB2C0ED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64579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650" b="1">
                <a:solidFill>
                  <a:srgbClr val="7B8794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650" b="1">
                <a:solidFill>
                  <a:srgbClr val="7B8794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650" b="1">
                <a:solidFill>
                  <a:srgbClr val="7B8794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650" b="1">
                <a:solidFill>
                  <a:srgbClr val="7B8794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650" b="1">
                <a:solidFill>
                  <a:srgbClr val="7B8794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650" b="1">
                <a:solidFill>
                  <a:srgbClr val="7B8794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650" b="1">
                <a:solidFill>
                  <a:srgbClr val="7B8794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650" b="1">
                <a:solidFill>
                  <a:srgbClr val="7B8794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650" b="1">
                <a:solidFill>
                  <a:srgbClr val="7B8794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650" b="1">
                <a:solidFill>
                  <a:srgbClr val="7B8794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7B8794"/>
                </a:solidFill>
                <a:latin typeface="DejaVu Sans"/>
                <a:ea typeface="DejaVu Sans"/>
                <a:cs typeface="DejaVu Sans"/>
              </a:defRPr>
            </a:pPr>
            <a:r>
              <a:rPr sz="1650" b="1">
                <a:solidFill>
                  <a:srgbClr val="7B8794"/>
                </a:solidFill>
                <a:latin typeface="DejaVu Sans"/>
                <a:ea typeface="DejaVu Sans"/>
                <a:cs typeface="DejaVu Sans"/>
              </a:rPr>
              <a:t>Remaining receptor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4EB4280-E507-4F51-9D6A-9179E95B0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0" y="64579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650" b="1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650" b="1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650" b="1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650" b="1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650" b="1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650" b="1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650" b="1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650" b="1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650" b="1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650" b="1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1650" b="1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Hotspots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2908BC5-AA8D-45A4-9C4C-92D6EB80C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800850"/>
            <a:ext cx="1428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42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42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42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42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42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42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42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42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42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42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>
                <a:solidFill>
                  <a:srgbClr val="50616C"/>
                </a:solidFill>
                <a:latin typeface="DejaVu Sans"/>
                <a:ea typeface="DejaVu Sans"/>
                <a:cs typeface="DejaVu Sans"/>
              </a:rPr>
              <a:t>Receptor ECD B1–105 (UniProt 24–128). Black sticks: E34, Q37 and R40. View-specific zoom.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EB57A9E-B9DE-487F-80BE-2A3F22B43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134225"/>
            <a:ext cx="14192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57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57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57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57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57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57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57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57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57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57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57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pPr>
            <a:r>
              <a:rPr sz="1575" b="1">
                <a:solidFill>
                  <a:srgbClr val="173747"/>
                </a:solidFill>
                <a:latin typeface="DejaVu Sans"/>
                <a:ea typeface="DejaVu Sans"/>
                <a:cs typeface="DejaVu Sans"/>
              </a:rPr>
              <a:t>Complete selected sequence, N to C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A0AE374-9EBF-4D4D-BF70-DB5DA9CB0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429500"/>
            <a:ext cx="141922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500" b="0">
                <a:solidFill>
                  <a:srgbClr val="173747"/>
                </a:solidFill>
                <a:latin typeface="DejaVu Sans Mono"/>
                <a:ea typeface="DejaVu Sans Mono"/>
                <a:cs typeface="DejaVu Sans Mono"/>
              </a:defRPr>
            </a:defPPr>
            <a:lvl1pPr>
              <a:defRPr sz="1500" b="0">
                <a:solidFill>
                  <a:srgbClr val="173747"/>
                </a:solidFill>
                <a:latin typeface="DejaVu Sans Mono"/>
                <a:ea typeface="DejaVu Sans Mono"/>
                <a:cs typeface="DejaVu Sans Mono"/>
              </a:defRPr>
            </a:lvl1pPr>
            <a:lvl2pPr>
              <a:defRPr sz="1500" b="0">
                <a:solidFill>
                  <a:srgbClr val="173747"/>
                </a:solidFill>
                <a:latin typeface="DejaVu Sans Mono"/>
                <a:ea typeface="DejaVu Sans Mono"/>
                <a:cs typeface="DejaVu Sans Mono"/>
              </a:defRPr>
            </a:lvl2pPr>
            <a:lvl3pPr>
              <a:defRPr sz="1500" b="0">
                <a:solidFill>
                  <a:srgbClr val="173747"/>
                </a:solidFill>
                <a:latin typeface="DejaVu Sans Mono"/>
                <a:ea typeface="DejaVu Sans Mono"/>
                <a:cs typeface="DejaVu Sans Mono"/>
              </a:defRPr>
            </a:lvl3pPr>
            <a:lvl4pPr>
              <a:defRPr sz="1500" b="0">
                <a:solidFill>
                  <a:srgbClr val="173747"/>
                </a:solidFill>
                <a:latin typeface="DejaVu Sans Mono"/>
                <a:ea typeface="DejaVu Sans Mono"/>
                <a:cs typeface="DejaVu Sans Mono"/>
              </a:defRPr>
            </a:lvl4pPr>
            <a:lvl5pPr>
              <a:defRPr sz="1500" b="0">
                <a:solidFill>
                  <a:srgbClr val="173747"/>
                </a:solidFill>
                <a:latin typeface="DejaVu Sans Mono"/>
                <a:ea typeface="DejaVu Sans Mono"/>
                <a:cs typeface="DejaVu Sans Mono"/>
              </a:defRPr>
            </a:lvl5pPr>
            <a:lvl6pPr>
              <a:defRPr sz="1500" b="0">
                <a:solidFill>
                  <a:srgbClr val="173747"/>
                </a:solidFill>
                <a:latin typeface="DejaVu Sans Mono"/>
                <a:ea typeface="DejaVu Sans Mono"/>
                <a:cs typeface="DejaVu Sans Mono"/>
              </a:defRPr>
            </a:lvl6pPr>
            <a:lvl7pPr>
              <a:defRPr sz="1500" b="0">
                <a:solidFill>
                  <a:srgbClr val="173747"/>
                </a:solidFill>
                <a:latin typeface="DejaVu Sans Mono"/>
                <a:ea typeface="DejaVu Sans Mono"/>
                <a:cs typeface="DejaVu Sans Mono"/>
              </a:defRPr>
            </a:lvl7pPr>
            <a:lvl8pPr>
              <a:defRPr sz="1500" b="0">
                <a:solidFill>
                  <a:srgbClr val="173747"/>
                </a:solidFill>
                <a:latin typeface="DejaVu Sans Mono"/>
                <a:ea typeface="DejaVu Sans Mono"/>
                <a:cs typeface="DejaVu Sans Mono"/>
              </a:defRPr>
            </a:lvl8pPr>
            <a:lvl9pPr>
              <a:defRPr sz="1500" b="0">
                <a:solidFill>
                  <a:srgbClr val="173747"/>
                </a:solidFill>
                <a:latin typeface="DejaVu Sans Mono"/>
                <a:ea typeface="DejaVu Sans Mono"/>
                <a:cs typeface="DejaVu Sans Mono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173747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00" b="0">
                <a:solidFill>
                  <a:srgbClr val="173747"/>
                </a:solidFill>
                <a:latin typeface="DejaVu Sans Mono"/>
                <a:ea typeface="DejaVu Sans Mono"/>
                <a:cs typeface="DejaVu Sans Mono"/>
              </a:rPr>
              <a:t>MGISALEEFDRLRRASILLSLIRSGSTGSGFDAFLEKSGVKGAPAFLAVPSSNGFDFVPSPTSSAPPLLCQGTE</a:t>
            </a:r>
          </a:p>
          <a:p xmlns:a="http://schemas.openxmlformats.org/drawingml/2006/main">
            <a:pPr>
              <a:defRPr sz="1500" b="0">
                <a:solidFill>
                  <a:srgbClr val="173747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00" b="0">
                <a:solidFill>
                  <a:srgbClr val="173747"/>
                </a:solidFill>
                <a:latin typeface="DejaVu Sans Mono"/>
                <a:ea typeface="DejaVu Sans Mono"/>
                <a:cs typeface="DejaVu Sans Mono"/>
              </a:rPr>
              <a:t>PAENTREVSGATIDLRVKTCVDFKQTVNFFKLRNTQLPGSCTKDNTVLFLLEGLKLGYASRYFSIGSGSGSQQF</a:t>
            </a:r>
          </a:p>
          <a:p xmlns:a="http://schemas.openxmlformats.org/drawingml/2006/main">
            <a:pPr>
              <a:defRPr sz="1500" b="0">
                <a:solidFill>
                  <a:srgbClr val="173747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00" b="0">
                <a:solidFill>
                  <a:srgbClr val="173747"/>
                </a:solidFill>
                <a:latin typeface="DejaVu Sans Mono"/>
                <a:ea typeface="DejaVu Sans Mono"/>
                <a:cs typeface="DejaVu Sans Mono"/>
              </a:rPr>
              <a:t>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B378E7A-8D45-4626-8CD6-5B0BAE256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248650"/>
            <a:ext cx="1304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2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2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2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2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2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2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2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2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2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2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50616C"/>
                </a:solidFill>
                <a:latin typeface="DejaVu Sans"/>
                <a:ea typeface="DejaVu Sans"/>
                <a:cs typeface="DejaVu Sans"/>
              </a:rPr>
              <a:t>Human GLP1R     Boltz2 Exact     Computational predictions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75E3BA3-CCAB-412E-A475-A274421DF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0" y="82486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2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2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2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2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2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2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2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2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2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2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50616C"/>
                </a:solidFill>
                <a:latin typeface="DejaVu Sans"/>
                <a:ea typeface="DejaVu Sans"/>
                <a:cs typeface="DejaVu Sans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1899190729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FE197B7-B03B-4087-8127-4F020396D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76225"/>
            <a:ext cx="1428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22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322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322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322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322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322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322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322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322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322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73747"/>
                </a:solidFill>
                <a:latin typeface="DejaVu Sans"/>
                <a:ea typeface="DejaVu Sans"/>
                <a:cs typeface="DejaVu Sans"/>
              </a:rPr>
              <a:t>07  Design_973  metrics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87E4A4F-1B9A-4E08-A290-3B2C2142C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95350"/>
            <a:ext cx="1428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8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8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8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8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8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8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8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8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8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50616C"/>
                </a:solidFill>
                <a:latin typeface="DejaVu Sans"/>
                <a:ea typeface="DejaVu Sans"/>
                <a:cs typeface="DejaVu Sans"/>
              </a:rPr>
              <a:t>Original LigandForge   Candidate A: 65 aa   Human GLP1R B: 409 aa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7A37163-9F43-4593-8467-9CF759FFC2C3}"/>
              </a:ext>
            </a:extLst>
          </p:cNvPr>
          <p:cNvGraphicFramePr/>
          <p:nvPr/>
        </p:nvGraphicFramePr>
        <p:xfrm>
          <a:off xmlns:a="http://schemas.openxmlformats.org/drawingml/2006/main" x="457200" y="1457325"/>
          <a:ext xmlns:a="http://schemas.openxmlformats.org/drawingml/2006/main" cx="9667875" cy="3429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6791325"/>
                <a:gridCol w="2876550"/>
              </a:tblGrid>
              <a:tr h="34290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Metric and scope</a:t>
                      </a:r>
                    </a:p>
                  </a:txBody>
                  <a:tcPr marL="91440" marR="91440" marT="45720" marB="45720">
                    <a:lnL w="5715">
                      <a:solidFill>
                        <a:srgbClr val="D8E1E5"/>
                      </a:solidFill>
                      <a:prstDash val="solid"/>
                    </a:lnL>
                    <a:lnR w="5715">
                      <a:solidFill>
                        <a:srgbClr val="D8E1E5"/>
                      </a:solidFill>
                      <a:prstDash val="solid"/>
                    </a:lnR>
                    <a:lnT w="5715">
                      <a:solidFill>
                        <a:srgbClr val="D8E1E5"/>
                      </a:solidFill>
                      <a:prstDash val="solid"/>
                    </a:lnT>
                    <a:lnB w="5715">
                      <a:solidFill>
                        <a:srgbClr val="D8E1E5"/>
                      </a:solidFill>
                      <a:prstDash val="solid"/>
                    </a:lnB>
                    <a:solidFill>
                      <a:srgbClr val="245D7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Value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8E1E5"/>
                      </a:solidFill>
                      <a:prstDash val="solid"/>
                    </a:lnR>
                    <a:lnT w="5715">
                      <a:solidFill>
                        <a:srgbClr val="D8E1E5"/>
                      </a:solidFill>
                      <a:prstDash val="solid"/>
                    </a:lnT>
                    <a:lnB w="5715">
                      <a:solidFill>
                        <a:srgbClr val="D8E1E5"/>
                      </a:solidFill>
                      <a:prstDash val="solid"/>
                    </a:lnB>
                    <a:solidFill>
                      <a:srgbClr val="245D73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73747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Boltz2 Exact ipSAE (A/B, Type=max)</a:t>
                      </a:r>
                    </a:p>
                  </a:txBody>
                  <a:tcPr marL="91440" marR="91440" marT="45720" marB="45720">
                    <a:lnL w="5715">
                      <a:solidFill>
                        <a:srgbClr val="D8E1E5"/>
                      </a:solidFill>
                      <a:prstDash val="solid"/>
                    </a:lnL>
                    <a:lnR w="5715">
                      <a:solidFill>
                        <a:srgbClr val="D8E1E5"/>
                      </a:solidFill>
                      <a:prstDash val="solid"/>
                    </a:lnR>
                    <a:lnB w="5715">
                      <a:solidFill>
                        <a:srgbClr val="D8E1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73747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0.903800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8E1E5"/>
                      </a:solidFill>
                      <a:prstDash val="solid"/>
                    </a:lnR>
                    <a:lnB w="5715">
                      <a:solidFill>
                        <a:srgbClr val="D8E1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73747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DeltaForge predicted Kd (nM)</a:t>
                      </a:r>
                    </a:p>
                  </a:txBody>
                  <a:tcPr marL="91440" marR="91440" marT="45720" marB="45720">
                    <a:lnL w="5715">
                      <a:solidFill>
                        <a:srgbClr val="D8E1E5"/>
                      </a:solidFill>
                      <a:prstDash val="solid"/>
                    </a:lnL>
                    <a:lnR w="5715">
                      <a:solidFill>
                        <a:srgbClr val="D8E1E5"/>
                      </a:solidFill>
                      <a:prstDash val="solid"/>
                    </a:lnR>
                    <a:lnB w="5715">
                      <a:solidFill>
                        <a:srgbClr val="D8E1E5"/>
                      </a:solidFill>
                      <a:prstDash val="solid"/>
                    </a:lnB>
                    <a:solidFill>
                      <a:srgbClr val="F1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73747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0.6192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8E1E5"/>
                      </a:solidFill>
                      <a:prstDash val="solid"/>
                    </a:lnR>
                    <a:lnB w="5715">
                      <a:solidFill>
                        <a:srgbClr val="D8E1E5"/>
                      </a:solidFill>
                      <a:prstDash val="solid"/>
                    </a:lnB>
                    <a:solidFill>
                      <a:srgbClr val="F1F5F7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73747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Boltz2 Exact ipTM</a:t>
                      </a:r>
                    </a:p>
                  </a:txBody>
                  <a:tcPr marL="91440" marR="91440" marT="45720" marB="45720">
                    <a:lnL w="5715">
                      <a:solidFill>
                        <a:srgbClr val="D8E1E5"/>
                      </a:solidFill>
                      <a:prstDash val="solid"/>
                    </a:lnL>
                    <a:lnR w="5715">
                      <a:solidFill>
                        <a:srgbClr val="D8E1E5"/>
                      </a:solidFill>
                      <a:prstDash val="solid"/>
                    </a:lnR>
                    <a:lnB w="5715">
                      <a:solidFill>
                        <a:srgbClr val="D8E1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73747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0.9481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8E1E5"/>
                      </a:solidFill>
                      <a:prstDash val="solid"/>
                    </a:lnR>
                    <a:lnB w="5715">
                      <a:solidFill>
                        <a:srgbClr val="D8E1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73747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Original population ipSAE rank</a:t>
                      </a:r>
                    </a:p>
                  </a:txBody>
                  <a:tcPr marL="91440" marR="91440" marT="45720" marB="45720">
                    <a:lnL w="5715">
                      <a:solidFill>
                        <a:srgbClr val="D8E1E5"/>
                      </a:solidFill>
                      <a:prstDash val="solid"/>
                    </a:lnL>
                    <a:lnR w="5715">
                      <a:solidFill>
                        <a:srgbClr val="D8E1E5"/>
                      </a:solidFill>
                      <a:prstDash val="solid"/>
                    </a:lnR>
                    <a:lnB w="5715">
                      <a:solidFill>
                        <a:srgbClr val="D8E1E5"/>
                      </a:solidFill>
                      <a:prstDash val="solid"/>
                    </a:lnB>
                    <a:solidFill>
                      <a:srgbClr val="F1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73747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8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8E1E5"/>
                      </a:solidFill>
                      <a:prstDash val="solid"/>
                    </a:lnR>
                    <a:lnB w="5715">
                      <a:solidFill>
                        <a:srgbClr val="D8E1E5"/>
                      </a:solidFill>
                      <a:prstDash val="solid"/>
                    </a:lnB>
                    <a:solidFill>
                      <a:srgbClr val="F1F5F7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73747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Predicted-Kd rank within population top50</a:t>
                      </a:r>
                    </a:p>
                  </a:txBody>
                  <a:tcPr marL="91440" marR="91440" marT="45720" marB="45720">
                    <a:lnL w="5715">
                      <a:solidFill>
                        <a:srgbClr val="D8E1E5"/>
                      </a:solidFill>
                      <a:prstDash val="solid"/>
                    </a:lnL>
                    <a:lnR w="5715">
                      <a:solidFill>
                        <a:srgbClr val="D8E1E5"/>
                      </a:solidFill>
                      <a:prstDash val="solid"/>
                    </a:lnR>
                    <a:lnB w="5715">
                      <a:solidFill>
                        <a:srgbClr val="D8E1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73747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1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8E1E5"/>
                      </a:solidFill>
                      <a:prstDash val="solid"/>
                    </a:lnR>
                    <a:lnB w="5715">
                      <a:solidFill>
                        <a:srgbClr val="D8E1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73747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Candidate / receptor residues (aa)</a:t>
                      </a:r>
                    </a:p>
                  </a:txBody>
                  <a:tcPr marL="91440" marR="91440" marT="45720" marB="45720">
                    <a:lnL w="5715">
                      <a:solidFill>
                        <a:srgbClr val="D8E1E5"/>
                      </a:solidFill>
                      <a:prstDash val="solid"/>
                    </a:lnL>
                    <a:lnR w="5715">
                      <a:solidFill>
                        <a:srgbClr val="D8E1E5"/>
                      </a:solidFill>
                      <a:prstDash val="solid"/>
                    </a:lnR>
                    <a:lnB w="5715">
                      <a:solidFill>
                        <a:srgbClr val="D8E1E5"/>
                      </a:solidFill>
                      <a:prstDash val="solid"/>
                    </a:lnB>
                    <a:solidFill>
                      <a:srgbClr val="F1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73747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65 / 409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8E1E5"/>
                      </a:solidFill>
                      <a:prstDash val="solid"/>
                    </a:lnR>
                    <a:lnB w="5715">
                      <a:solidFill>
                        <a:srgbClr val="D8E1E5"/>
                      </a:solidFill>
                      <a:prstDash val="solid"/>
                    </a:lnB>
                    <a:solidFill>
                      <a:srgbClr val="F1F5F7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73747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Complex pLDDT (0-100)</a:t>
                      </a:r>
                    </a:p>
                  </a:txBody>
                  <a:tcPr marL="91440" marR="91440" marT="45720" marB="45720">
                    <a:lnL w="5715">
                      <a:solidFill>
                        <a:srgbClr val="D8E1E5"/>
                      </a:solidFill>
                      <a:prstDash val="solid"/>
                    </a:lnL>
                    <a:lnR w="5715">
                      <a:solidFill>
                        <a:srgbClr val="D8E1E5"/>
                      </a:solidFill>
                      <a:prstDash val="solid"/>
                    </a:lnR>
                    <a:lnB w="5715">
                      <a:solidFill>
                        <a:srgbClr val="D8E1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73747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76.8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8E1E5"/>
                      </a:solidFill>
                      <a:prstDash val="solid"/>
                    </a:lnR>
                    <a:lnB w="5715">
                      <a:solidFill>
                        <a:srgbClr val="D8E1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73747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Generator-to-refold DockQ / TM-score</a:t>
                      </a:r>
                    </a:p>
                  </a:txBody>
                  <a:tcPr marL="91440" marR="91440" marT="45720" marB="45720">
                    <a:lnL w="5715">
                      <a:solidFill>
                        <a:srgbClr val="D8E1E5"/>
                      </a:solidFill>
                      <a:prstDash val="solid"/>
                    </a:lnL>
                    <a:lnR w="5715">
                      <a:solidFill>
                        <a:srgbClr val="D8E1E5"/>
                      </a:solidFill>
                      <a:prstDash val="solid"/>
                    </a:lnR>
                    <a:lnB w="5715">
                      <a:solidFill>
                        <a:srgbClr val="D8E1E5"/>
                      </a:solidFill>
                      <a:prstDash val="solid"/>
                    </a:lnB>
                    <a:solidFill>
                      <a:srgbClr val="F1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73747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N/A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8E1E5"/>
                      </a:solidFill>
                      <a:prstDash val="solid"/>
                    </a:lnR>
                    <a:lnB w="5715">
                      <a:solidFill>
                        <a:srgbClr val="D8E1E5"/>
                      </a:solidFill>
                      <a:prstDash val="solid"/>
                    </a:lnB>
                    <a:solidFill>
                      <a:srgbClr val="F1F5F7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73747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DeltaForge length scope</a:t>
                      </a:r>
                    </a:p>
                  </a:txBody>
                  <a:tcPr marL="91440" marR="91440" marT="45720" marB="45720">
                    <a:lnL w="5715">
                      <a:solidFill>
                        <a:srgbClr val="D8E1E5"/>
                      </a:solidFill>
                      <a:prstDash val="solid"/>
                    </a:lnL>
                    <a:lnR w="5715">
                      <a:solidFill>
                        <a:srgbClr val="D8E1E5"/>
                      </a:solidFill>
                      <a:prstDash val="solid"/>
                    </a:lnR>
                    <a:lnB w="5715">
                      <a:solidFill>
                        <a:srgbClr val="D8E1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73747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core_40_119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8E1E5"/>
                      </a:solidFill>
                      <a:prstDash val="solid"/>
                    </a:lnR>
                    <a:lnB w="5715">
                      <a:solidFill>
                        <a:srgbClr val="D8E1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5B48796-5ECF-42EC-A336-265878079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1457325"/>
            <a:ext cx="4095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950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950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950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950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950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950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950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950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950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950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173747"/>
                </a:solidFill>
                <a:latin typeface="DejaVu Sans"/>
                <a:ea typeface="DejaVu Sans"/>
                <a:cs typeface="DejaVu Sans"/>
              </a:rPr>
              <a:t>Origin and prediction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52DA8F2-520F-4555-8A53-D19B3A4C3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1952625"/>
            <a:ext cx="4095750" cy="390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725" b="0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725" b="0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725" b="0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725" b="0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725" b="0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725" b="0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725" b="0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725" b="0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725" b="0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725" b="0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173747"/>
                </a:solidFill>
                <a:latin typeface="DejaVu Sans"/>
                <a:ea typeface="DejaVu Sans"/>
                <a:cs typeface="DejaVu Sans"/>
              </a:rPr>
              <a:t>Original LigandForge v6.5.21</a:t>
            </a:r>
          </a:p>
          <a:p xmlns:a="http://schemas.openxmlformats.org/drawingml/2006/main">
            <a:pPr>
              <a:defRPr sz="1725" b="0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173747"/>
                </a:solidFill>
                <a:latin typeface="DejaVu Sans"/>
                <a:ea typeface="DejaVu Sans"/>
                <a:cs typeface="DejaVu Sans"/>
              </a:rPr>
              <a:t>Generation 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725" b="0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173747"/>
                </a:solidFill>
                <a:latin typeface="DejaVu Sans"/>
                <a:ea typeface="DejaVu Sans"/>
                <a:cs typeface="DejaVu Sans"/>
              </a:rPr>
              <a:t>Exact seed 101</a:t>
            </a:r>
          </a:p>
          <a:p xmlns:a="http://schemas.openxmlformats.org/drawingml/2006/main">
            <a:pPr>
              <a:defRPr sz="1725" b="0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173747"/>
                </a:solidFill>
                <a:latin typeface="DejaVu Sans"/>
                <a:ea typeface="DejaVu Sans"/>
                <a:cs typeface="DejaVu Sans"/>
              </a:rPr>
              <a:t>3 recycles, 200 steps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725" b="0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173747"/>
                </a:solidFill>
                <a:latin typeface="DejaVu Sans"/>
                <a:ea typeface="DejaVu Sans"/>
                <a:cs typeface="DejaVu Sans"/>
              </a:rPr>
              <a:t>WT GLP1R 24-432</a:t>
            </a:r>
          </a:p>
          <a:p xmlns:a="http://schemas.openxmlformats.org/drawingml/2006/main">
            <a:pPr>
              <a:defRPr sz="1725" b="0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173747"/>
                </a:solidFill>
                <a:latin typeface="DejaVu Sans"/>
                <a:ea typeface="DejaVu Sans"/>
                <a:cs typeface="DejaVu Sans"/>
              </a:rPr>
              <a:t>409 receptor residues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725" b="0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173747"/>
                </a:solidFill>
                <a:latin typeface="DejaVu Sans"/>
                <a:ea typeface="DejaVu Sans"/>
                <a:cs typeface="DejaVu Sans"/>
              </a:rPr>
              <a:t>Original generator coordinates unavailable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D5E7C27-99BE-46AD-A038-490D6EAA6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81750"/>
            <a:ext cx="14192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650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650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650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650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650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650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650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650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650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650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50616C"/>
                </a:solidFill>
                <a:latin typeface="DejaVu Sans"/>
                <a:ea typeface="DejaVu Sans"/>
                <a:cs typeface="DejaVu Sans"/>
              </a:rPr>
              <a:t>Original generator coordinates are unavailable. This Exact prediction does not establish activation.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ABF39FD-C4B9-4383-B096-2AFB7027C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115175"/>
            <a:ext cx="14192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57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57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57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57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57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57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57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57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57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57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57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pPr>
            <a:r>
              <a:rPr sz="1575" b="1">
                <a:solidFill>
                  <a:srgbClr val="173747"/>
                </a:solidFill>
                <a:latin typeface="DejaVu Sans"/>
                <a:ea typeface="DejaVu Sans"/>
                <a:cs typeface="DejaVu Sans"/>
              </a:rPr>
              <a:t>Complete selected sequence, N to C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8DC02DD-2BA4-47CD-8B68-056B71D43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410450"/>
            <a:ext cx="141922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500" b="0">
                <a:solidFill>
                  <a:srgbClr val="173747"/>
                </a:solidFill>
                <a:latin typeface="DejaVu Sans Mono"/>
                <a:ea typeface="DejaVu Sans Mono"/>
                <a:cs typeface="DejaVu Sans Mono"/>
              </a:defRPr>
            </a:defPPr>
            <a:lvl1pPr>
              <a:defRPr sz="1500" b="0">
                <a:solidFill>
                  <a:srgbClr val="173747"/>
                </a:solidFill>
                <a:latin typeface="DejaVu Sans Mono"/>
                <a:ea typeface="DejaVu Sans Mono"/>
                <a:cs typeface="DejaVu Sans Mono"/>
              </a:defRPr>
            </a:lvl1pPr>
            <a:lvl2pPr>
              <a:defRPr sz="1500" b="0">
                <a:solidFill>
                  <a:srgbClr val="173747"/>
                </a:solidFill>
                <a:latin typeface="DejaVu Sans Mono"/>
                <a:ea typeface="DejaVu Sans Mono"/>
                <a:cs typeface="DejaVu Sans Mono"/>
              </a:defRPr>
            </a:lvl2pPr>
            <a:lvl3pPr>
              <a:defRPr sz="1500" b="0">
                <a:solidFill>
                  <a:srgbClr val="173747"/>
                </a:solidFill>
                <a:latin typeface="DejaVu Sans Mono"/>
                <a:ea typeface="DejaVu Sans Mono"/>
                <a:cs typeface="DejaVu Sans Mono"/>
              </a:defRPr>
            </a:lvl3pPr>
            <a:lvl4pPr>
              <a:defRPr sz="1500" b="0">
                <a:solidFill>
                  <a:srgbClr val="173747"/>
                </a:solidFill>
                <a:latin typeface="DejaVu Sans Mono"/>
                <a:ea typeface="DejaVu Sans Mono"/>
                <a:cs typeface="DejaVu Sans Mono"/>
              </a:defRPr>
            </a:lvl4pPr>
            <a:lvl5pPr>
              <a:defRPr sz="1500" b="0">
                <a:solidFill>
                  <a:srgbClr val="173747"/>
                </a:solidFill>
                <a:latin typeface="DejaVu Sans Mono"/>
                <a:ea typeface="DejaVu Sans Mono"/>
                <a:cs typeface="DejaVu Sans Mono"/>
              </a:defRPr>
            </a:lvl5pPr>
            <a:lvl6pPr>
              <a:defRPr sz="1500" b="0">
                <a:solidFill>
                  <a:srgbClr val="173747"/>
                </a:solidFill>
                <a:latin typeface="DejaVu Sans Mono"/>
                <a:ea typeface="DejaVu Sans Mono"/>
                <a:cs typeface="DejaVu Sans Mono"/>
              </a:defRPr>
            </a:lvl6pPr>
            <a:lvl7pPr>
              <a:defRPr sz="1500" b="0">
                <a:solidFill>
                  <a:srgbClr val="173747"/>
                </a:solidFill>
                <a:latin typeface="DejaVu Sans Mono"/>
                <a:ea typeface="DejaVu Sans Mono"/>
                <a:cs typeface="DejaVu Sans Mono"/>
              </a:defRPr>
            </a:lvl7pPr>
            <a:lvl8pPr>
              <a:defRPr sz="1500" b="0">
                <a:solidFill>
                  <a:srgbClr val="173747"/>
                </a:solidFill>
                <a:latin typeface="DejaVu Sans Mono"/>
                <a:ea typeface="DejaVu Sans Mono"/>
                <a:cs typeface="DejaVu Sans Mono"/>
              </a:defRPr>
            </a:lvl8pPr>
            <a:lvl9pPr>
              <a:defRPr sz="1500" b="0">
                <a:solidFill>
                  <a:srgbClr val="173747"/>
                </a:solidFill>
                <a:latin typeface="DejaVu Sans Mono"/>
                <a:ea typeface="DejaVu Sans Mono"/>
                <a:cs typeface="DejaVu Sans Mono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173747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00" b="0">
                <a:solidFill>
                  <a:srgbClr val="173747"/>
                </a:solidFill>
                <a:latin typeface="DejaVu Sans Mono"/>
                <a:ea typeface="DejaVu Sans Mono"/>
                <a:cs typeface="DejaVu Sans Mono"/>
              </a:rPr>
              <a:t>SKCTLHALETSFTVDPKGRFKIIAEEFSRTILGCKLLENAKFLYVVGFTEAVNLSGSGSGSPFDR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EE82079-B739-450B-B89E-836FFE6F0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248650"/>
            <a:ext cx="1304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2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2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2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2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2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2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2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2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2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2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50616C"/>
                </a:solidFill>
                <a:latin typeface="DejaVu Sans"/>
                <a:ea typeface="DejaVu Sans"/>
                <a:cs typeface="DejaVu Sans"/>
              </a:rPr>
              <a:t>Human GLP1R     Boltz2 Exact     Computational predictions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1E4FB70-51FE-4D09-BDB0-B9016DB99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0" y="82486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2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2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2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2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2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2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2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2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2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2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50616C"/>
                </a:solidFill>
                <a:latin typeface="DejaVu Sans"/>
                <a:ea typeface="DejaVu Sans"/>
                <a:cs typeface="DejaVu Sans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1866617493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097B6F2-593E-43A5-A59C-6281DC49A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76225"/>
            <a:ext cx="1428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22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322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322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322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322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322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322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322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322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322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73747"/>
                </a:solidFill>
                <a:latin typeface="DejaVu Sans"/>
                <a:ea typeface="DejaVu Sans"/>
                <a:cs typeface="DejaVu Sans"/>
              </a:rPr>
              <a:t>07  Design_973  structure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EC4765B-2435-4E88-B58E-B43BDC42A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95350"/>
            <a:ext cx="1428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8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8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8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8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8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8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8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8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8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50616C"/>
                </a:solidFill>
                <a:latin typeface="DejaVu Sans"/>
                <a:ea typeface="DejaVu Sans"/>
                <a:cs typeface="DejaVu Sans"/>
              </a:rPr>
              <a:t>Original LigandForge   Candidate A: 65 aa   Human GLP1R B: 409 aa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44C65E0-496C-499E-832D-751FA15BD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362075"/>
            <a:ext cx="619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7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87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87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87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87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87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87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87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87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87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173747"/>
                </a:solidFill>
                <a:latin typeface="DejaVu Sans"/>
                <a:ea typeface="DejaVu Sans"/>
                <a:cs typeface="DejaVu Sans"/>
              </a:rPr>
              <a:t>Boltz2 Exact receptor complex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79EA0E0-8CC4-4048-BE14-9BFFF33C9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362075"/>
            <a:ext cx="619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7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87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87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87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87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87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87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87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87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87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173747"/>
                </a:solidFill>
                <a:latin typeface="DejaVu Sans"/>
                <a:ea typeface="DejaVu Sans"/>
                <a:cs typeface="DejaVu Sans"/>
              </a:rPr>
              <a:t>Boltz2 Exact interface detail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AAFD14B-860B-4E15-B7E4-CE685209626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29a5ab97f7a4ab2"/>
          <a:stretch xmlns:a="http://schemas.openxmlformats.org/drawingml/2006/main"/>
        </p:blipFill>
        <p:spPr>
          <a:xfrm xmlns:a="http://schemas.openxmlformats.org/drawingml/2006/main">
            <a:off x="2344208" y="1724025"/>
            <a:ext cx="3217333" cy="4572000"/>
          </a:xfrm>
          <a:prstGeom xmlns:a="http://schemas.openxmlformats.org/drawingml/2006/main" prst="rect">
            <a:avLst/>
          </a:prstGeom>
        </p:spPr>
      </p:pic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BFCABFA-C151-46D8-B0A9-13B2AC1D31A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da1b3be24ee435d"/>
          <a:stretch xmlns:a="http://schemas.openxmlformats.org/drawingml/2006/main"/>
        </p:blipFill>
        <p:spPr>
          <a:xfrm xmlns:a="http://schemas.openxmlformats.org/drawingml/2006/main">
            <a:off x="9678458" y="1724025"/>
            <a:ext cx="3217333" cy="457200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D4E9011-10B0-4BCF-BF73-F85BC6A1B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579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650" b="1">
                <a:solidFill>
                  <a:srgbClr val="E69F00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650" b="1">
                <a:solidFill>
                  <a:srgbClr val="E69F00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650" b="1">
                <a:solidFill>
                  <a:srgbClr val="E69F00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650" b="1">
                <a:solidFill>
                  <a:srgbClr val="E69F00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650" b="1">
                <a:solidFill>
                  <a:srgbClr val="E69F00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650" b="1">
                <a:solidFill>
                  <a:srgbClr val="E69F00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650" b="1">
                <a:solidFill>
                  <a:srgbClr val="E69F00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650" b="1">
                <a:solidFill>
                  <a:srgbClr val="E69F00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650" b="1">
                <a:solidFill>
                  <a:srgbClr val="E69F00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650" b="1">
                <a:solidFill>
                  <a:srgbClr val="E69F00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E69F00"/>
                </a:solidFill>
                <a:latin typeface="DejaVu Sans"/>
                <a:ea typeface="DejaVu Sans"/>
                <a:cs typeface="DejaVu Sans"/>
              </a:defRPr>
            </a:pPr>
            <a:r>
              <a:rPr sz="1650" b="1">
                <a:solidFill>
                  <a:srgbClr val="E69F00"/>
                </a:solidFill>
                <a:latin typeface="DejaVu Sans"/>
                <a:ea typeface="DejaVu Sans"/>
                <a:cs typeface="DejaVu Sans"/>
              </a:rPr>
              <a:t>LigandForge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38FC102-781B-42E9-A463-717A05369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64579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650" b="1">
                <a:solidFill>
                  <a:srgbClr val="009E73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650" b="1">
                <a:solidFill>
                  <a:srgbClr val="009E73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650" b="1">
                <a:solidFill>
                  <a:srgbClr val="009E73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650" b="1">
                <a:solidFill>
                  <a:srgbClr val="009E73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650" b="1">
                <a:solidFill>
                  <a:srgbClr val="009E73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650" b="1">
                <a:solidFill>
                  <a:srgbClr val="009E73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650" b="1">
                <a:solidFill>
                  <a:srgbClr val="009E73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650" b="1">
                <a:solidFill>
                  <a:srgbClr val="009E73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650" b="1">
                <a:solidFill>
                  <a:srgbClr val="009E73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650" b="1">
                <a:solidFill>
                  <a:srgbClr val="009E73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009E73"/>
                </a:solidFill>
                <a:latin typeface="DejaVu Sans"/>
                <a:ea typeface="DejaVu Sans"/>
                <a:cs typeface="DejaVu Sans"/>
              </a:defRPr>
            </a:pPr>
            <a:r>
              <a:rPr sz="1650" b="1">
                <a:solidFill>
                  <a:srgbClr val="009E73"/>
                </a:solidFill>
                <a:latin typeface="DejaVu Sans"/>
                <a:ea typeface="DejaVu Sans"/>
                <a:cs typeface="DejaVu Sans"/>
              </a:rPr>
              <a:t>Receptor ECD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3B13A7B-3D2A-4478-9ACE-1265E6FAD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64579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650" b="1">
                <a:solidFill>
                  <a:srgbClr val="7B8794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650" b="1">
                <a:solidFill>
                  <a:srgbClr val="7B8794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650" b="1">
                <a:solidFill>
                  <a:srgbClr val="7B8794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650" b="1">
                <a:solidFill>
                  <a:srgbClr val="7B8794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650" b="1">
                <a:solidFill>
                  <a:srgbClr val="7B8794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650" b="1">
                <a:solidFill>
                  <a:srgbClr val="7B8794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650" b="1">
                <a:solidFill>
                  <a:srgbClr val="7B8794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650" b="1">
                <a:solidFill>
                  <a:srgbClr val="7B8794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650" b="1">
                <a:solidFill>
                  <a:srgbClr val="7B8794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650" b="1">
                <a:solidFill>
                  <a:srgbClr val="7B8794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7B8794"/>
                </a:solidFill>
                <a:latin typeface="DejaVu Sans"/>
                <a:ea typeface="DejaVu Sans"/>
                <a:cs typeface="DejaVu Sans"/>
              </a:defRPr>
            </a:pPr>
            <a:r>
              <a:rPr sz="1650" b="1">
                <a:solidFill>
                  <a:srgbClr val="7B8794"/>
                </a:solidFill>
                <a:latin typeface="DejaVu Sans"/>
                <a:ea typeface="DejaVu Sans"/>
                <a:cs typeface="DejaVu Sans"/>
              </a:rPr>
              <a:t>Remaining receptor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54AA566-B48F-4EE2-A243-7CC5C7F7A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4579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650" b="1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650" b="1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650" b="1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650" b="1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650" b="1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650" b="1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650" b="1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650" b="1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650" b="1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650" b="1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1650" b="1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Hotspots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3E86382-BB60-43DF-9898-ECB21EB05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800850"/>
            <a:ext cx="1428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42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42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42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42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42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42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42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42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42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42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>
                <a:solidFill>
                  <a:srgbClr val="50616C"/>
                </a:solidFill>
                <a:latin typeface="DejaVu Sans"/>
                <a:ea typeface="DejaVu Sans"/>
                <a:cs typeface="DejaVu Sans"/>
              </a:rPr>
              <a:t>Receptor ECD B1–105 (UniProt 24–128). Black sticks: 27 submitted pocket positions. View-specific zoom.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1C53772-0B35-4489-A164-B24BB9C92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134225"/>
            <a:ext cx="14192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57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57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57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57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57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57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57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57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57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57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57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pPr>
            <a:r>
              <a:rPr sz="1575" b="1">
                <a:solidFill>
                  <a:srgbClr val="173747"/>
                </a:solidFill>
                <a:latin typeface="DejaVu Sans"/>
                <a:ea typeface="DejaVu Sans"/>
                <a:cs typeface="DejaVu Sans"/>
              </a:rPr>
              <a:t>Complete selected sequence, N to C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1F8082B-7408-4A46-BA45-51F596881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429500"/>
            <a:ext cx="141922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500" b="0">
                <a:solidFill>
                  <a:srgbClr val="173747"/>
                </a:solidFill>
                <a:latin typeface="DejaVu Sans Mono"/>
                <a:ea typeface="DejaVu Sans Mono"/>
                <a:cs typeface="DejaVu Sans Mono"/>
              </a:defRPr>
            </a:defPPr>
            <a:lvl1pPr>
              <a:defRPr sz="1500" b="0">
                <a:solidFill>
                  <a:srgbClr val="173747"/>
                </a:solidFill>
                <a:latin typeface="DejaVu Sans Mono"/>
                <a:ea typeface="DejaVu Sans Mono"/>
                <a:cs typeface="DejaVu Sans Mono"/>
              </a:defRPr>
            </a:lvl1pPr>
            <a:lvl2pPr>
              <a:defRPr sz="1500" b="0">
                <a:solidFill>
                  <a:srgbClr val="173747"/>
                </a:solidFill>
                <a:latin typeface="DejaVu Sans Mono"/>
                <a:ea typeface="DejaVu Sans Mono"/>
                <a:cs typeface="DejaVu Sans Mono"/>
              </a:defRPr>
            </a:lvl2pPr>
            <a:lvl3pPr>
              <a:defRPr sz="1500" b="0">
                <a:solidFill>
                  <a:srgbClr val="173747"/>
                </a:solidFill>
                <a:latin typeface="DejaVu Sans Mono"/>
                <a:ea typeface="DejaVu Sans Mono"/>
                <a:cs typeface="DejaVu Sans Mono"/>
              </a:defRPr>
            </a:lvl3pPr>
            <a:lvl4pPr>
              <a:defRPr sz="1500" b="0">
                <a:solidFill>
                  <a:srgbClr val="173747"/>
                </a:solidFill>
                <a:latin typeface="DejaVu Sans Mono"/>
                <a:ea typeface="DejaVu Sans Mono"/>
                <a:cs typeface="DejaVu Sans Mono"/>
              </a:defRPr>
            </a:lvl4pPr>
            <a:lvl5pPr>
              <a:defRPr sz="1500" b="0">
                <a:solidFill>
                  <a:srgbClr val="173747"/>
                </a:solidFill>
                <a:latin typeface="DejaVu Sans Mono"/>
                <a:ea typeface="DejaVu Sans Mono"/>
                <a:cs typeface="DejaVu Sans Mono"/>
              </a:defRPr>
            </a:lvl5pPr>
            <a:lvl6pPr>
              <a:defRPr sz="1500" b="0">
                <a:solidFill>
                  <a:srgbClr val="173747"/>
                </a:solidFill>
                <a:latin typeface="DejaVu Sans Mono"/>
                <a:ea typeface="DejaVu Sans Mono"/>
                <a:cs typeface="DejaVu Sans Mono"/>
              </a:defRPr>
            </a:lvl6pPr>
            <a:lvl7pPr>
              <a:defRPr sz="1500" b="0">
                <a:solidFill>
                  <a:srgbClr val="173747"/>
                </a:solidFill>
                <a:latin typeface="DejaVu Sans Mono"/>
                <a:ea typeface="DejaVu Sans Mono"/>
                <a:cs typeface="DejaVu Sans Mono"/>
              </a:defRPr>
            </a:lvl7pPr>
            <a:lvl8pPr>
              <a:defRPr sz="1500" b="0">
                <a:solidFill>
                  <a:srgbClr val="173747"/>
                </a:solidFill>
                <a:latin typeface="DejaVu Sans Mono"/>
                <a:ea typeface="DejaVu Sans Mono"/>
                <a:cs typeface="DejaVu Sans Mono"/>
              </a:defRPr>
            </a:lvl8pPr>
            <a:lvl9pPr>
              <a:defRPr sz="1500" b="0">
                <a:solidFill>
                  <a:srgbClr val="173747"/>
                </a:solidFill>
                <a:latin typeface="DejaVu Sans Mono"/>
                <a:ea typeface="DejaVu Sans Mono"/>
                <a:cs typeface="DejaVu Sans Mono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173747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00" b="0">
                <a:solidFill>
                  <a:srgbClr val="173747"/>
                </a:solidFill>
                <a:latin typeface="DejaVu Sans Mono"/>
                <a:ea typeface="DejaVu Sans Mono"/>
                <a:cs typeface="DejaVu Sans Mono"/>
              </a:rPr>
              <a:t>SKCTLHALETSFTVDPKGRFKIIAEEFSRTILGCKLLENAKFLYVVGFTEAVNLSGSGSGSPFDR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87FB3CF-DE46-4C8D-AB1A-40C48B634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248650"/>
            <a:ext cx="1304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2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2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2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2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2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2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2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2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2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2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50616C"/>
                </a:solidFill>
                <a:latin typeface="DejaVu Sans"/>
                <a:ea typeface="DejaVu Sans"/>
                <a:cs typeface="DejaVu Sans"/>
              </a:rPr>
              <a:t>Human GLP1R     Boltz2 Exact     Computational predictions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9C75E08-A6B0-45E9-A45F-81031176F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0" y="82486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2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2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2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2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2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2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2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2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2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2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50616C"/>
                </a:solidFill>
                <a:latin typeface="DejaVu Sans"/>
                <a:ea typeface="DejaVu Sans"/>
                <a:cs typeface="DejaVu Sans"/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617382517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53784EC-DB01-4205-BC57-B264EE946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76225"/>
            <a:ext cx="1428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22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322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322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322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322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322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322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322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322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322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73747"/>
                </a:solidFill>
                <a:latin typeface="DejaVu Sans"/>
                <a:ea typeface="DejaVu Sans"/>
                <a:cs typeface="DejaVu Sans"/>
              </a:rPr>
              <a:t>08  LK_P157_08  metrics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D400B73-797D-41DF-B5C1-C3D503EE4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95350"/>
            <a:ext cx="1428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8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8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8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8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8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8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8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8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8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50616C"/>
                </a:solidFill>
                <a:latin typeface="DejaVu Sans"/>
                <a:ea typeface="DejaVu Sans"/>
                <a:cs typeface="DejaVu Sans"/>
              </a:rPr>
              <a:t>D-L-D fusion   Candidate A: 139 aa   Human GLP1R B: 440 aa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557A2E4-681B-413D-8C9A-47959A223BCD}"/>
              </a:ext>
            </a:extLst>
          </p:cNvPr>
          <p:cNvGraphicFramePr/>
          <p:nvPr/>
        </p:nvGraphicFramePr>
        <p:xfrm>
          <a:off xmlns:a="http://schemas.openxmlformats.org/drawingml/2006/main" x="457200" y="1457325"/>
          <a:ext xmlns:a="http://schemas.openxmlformats.org/drawingml/2006/main" cx="9667875" cy="48006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6791325"/>
                <a:gridCol w="2876550"/>
              </a:tblGrid>
              <a:tr h="34290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Metric and scope</a:t>
                      </a:r>
                    </a:p>
                  </a:txBody>
                  <a:tcPr marL="91440" marR="91440" marT="45720" marB="45720">
                    <a:lnL w="5715">
                      <a:solidFill>
                        <a:srgbClr val="D8E1E5"/>
                      </a:solidFill>
                      <a:prstDash val="solid"/>
                    </a:lnL>
                    <a:lnR w="5715">
                      <a:solidFill>
                        <a:srgbClr val="D8E1E5"/>
                      </a:solidFill>
                      <a:prstDash val="solid"/>
                    </a:lnR>
                    <a:lnT w="5715">
                      <a:solidFill>
                        <a:srgbClr val="D8E1E5"/>
                      </a:solidFill>
                      <a:prstDash val="solid"/>
                    </a:lnT>
                    <a:lnB w="5715">
                      <a:solidFill>
                        <a:srgbClr val="D8E1E5"/>
                      </a:solidFill>
                      <a:prstDash val="solid"/>
                    </a:lnB>
                    <a:solidFill>
                      <a:srgbClr val="245D7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Value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8E1E5"/>
                      </a:solidFill>
                      <a:prstDash val="solid"/>
                    </a:lnR>
                    <a:lnT w="5715">
                      <a:solidFill>
                        <a:srgbClr val="D8E1E5"/>
                      </a:solidFill>
                      <a:prstDash val="solid"/>
                    </a:lnT>
                    <a:lnB w="5715">
                      <a:solidFill>
                        <a:srgbClr val="D8E1E5"/>
                      </a:solidFill>
                      <a:prstDash val="solid"/>
                    </a:lnB>
                    <a:solidFill>
                      <a:srgbClr val="245D73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73747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Boltz2 Exact ipSAE (A/B, Type=max)</a:t>
                      </a:r>
                    </a:p>
                  </a:txBody>
                  <a:tcPr marL="91440" marR="91440" marT="45720" marB="45720">
                    <a:lnL w="5715">
                      <a:solidFill>
                        <a:srgbClr val="D8E1E5"/>
                      </a:solidFill>
                      <a:prstDash val="solid"/>
                    </a:lnL>
                    <a:lnR w="5715">
                      <a:solidFill>
                        <a:srgbClr val="D8E1E5"/>
                      </a:solidFill>
                      <a:prstDash val="solid"/>
                    </a:lnR>
                    <a:lnB w="5715">
                      <a:solidFill>
                        <a:srgbClr val="D8E1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73747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0.902451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8E1E5"/>
                      </a:solidFill>
                      <a:prstDash val="solid"/>
                    </a:lnR>
                    <a:lnB w="5715">
                      <a:solidFill>
                        <a:srgbClr val="D8E1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73747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DeltaForge predicted Kd (nM)</a:t>
                      </a:r>
                    </a:p>
                  </a:txBody>
                  <a:tcPr marL="91440" marR="91440" marT="45720" marB="45720">
                    <a:lnL w="5715">
                      <a:solidFill>
                        <a:srgbClr val="D8E1E5"/>
                      </a:solidFill>
                      <a:prstDash val="solid"/>
                    </a:lnL>
                    <a:lnR w="5715">
                      <a:solidFill>
                        <a:srgbClr val="D8E1E5"/>
                      </a:solidFill>
                      <a:prstDash val="solid"/>
                    </a:lnR>
                    <a:lnB w="5715">
                      <a:solidFill>
                        <a:srgbClr val="D8E1E5"/>
                      </a:solidFill>
                      <a:prstDash val="solid"/>
                    </a:lnB>
                    <a:solidFill>
                      <a:srgbClr val="F1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73747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3.2426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8E1E5"/>
                      </a:solidFill>
                      <a:prstDash val="solid"/>
                    </a:lnR>
                    <a:lnB w="5715">
                      <a:solidFill>
                        <a:srgbClr val="D8E1E5"/>
                      </a:solidFill>
                      <a:prstDash val="solid"/>
                    </a:lnB>
                    <a:solidFill>
                      <a:srgbClr val="F1F5F7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73747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Boltz2 Exact ipTM</a:t>
                      </a:r>
                    </a:p>
                  </a:txBody>
                  <a:tcPr marL="91440" marR="91440" marT="45720" marB="45720">
                    <a:lnL w="5715">
                      <a:solidFill>
                        <a:srgbClr val="D8E1E5"/>
                      </a:solidFill>
                      <a:prstDash val="solid"/>
                    </a:lnL>
                    <a:lnR w="5715">
                      <a:solidFill>
                        <a:srgbClr val="D8E1E5"/>
                      </a:solidFill>
                      <a:prstDash val="solid"/>
                    </a:lnR>
                    <a:lnB w="5715">
                      <a:solidFill>
                        <a:srgbClr val="D8E1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73747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0.8879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8E1E5"/>
                      </a:solidFill>
                      <a:prstDash val="solid"/>
                    </a:lnR>
                    <a:lnB w="5715">
                      <a:solidFill>
                        <a:srgbClr val="D8E1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73747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Original population ipSAE rank</a:t>
                      </a:r>
                    </a:p>
                  </a:txBody>
                  <a:tcPr marL="91440" marR="91440" marT="45720" marB="45720">
                    <a:lnL w="5715">
                      <a:solidFill>
                        <a:srgbClr val="D8E1E5"/>
                      </a:solidFill>
                      <a:prstDash val="solid"/>
                    </a:lnL>
                    <a:lnR w="5715">
                      <a:solidFill>
                        <a:srgbClr val="D8E1E5"/>
                      </a:solidFill>
                      <a:prstDash val="solid"/>
                    </a:lnR>
                    <a:lnB w="5715">
                      <a:solidFill>
                        <a:srgbClr val="D8E1E5"/>
                      </a:solidFill>
                      <a:prstDash val="solid"/>
                    </a:lnB>
                    <a:solidFill>
                      <a:srgbClr val="F1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73747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7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8E1E5"/>
                      </a:solidFill>
                      <a:prstDash val="solid"/>
                    </a:lnR>
                    <a:lnB w="5715">
                      <a:solidFill>
                        <a:srgbClr val="D8E1E5"/>
                      </a:solidFill>
                      <a:prstDash val="solid"/>
                    </a:lnB>
                    <a:solidFill>
                      <a:srgbClr val="F1F5F7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73747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Predicted-Kd rank within population top50</a:t>
                      </a:r>
                    </a:p>
                  </a:txBody>
                  <a:tcPr marL="91440" marR="91440" marT="45720" marB="45720">
                    <a:lnL w="5715">
                      <a:solidFill>
                        <a:srgbClr val="D8E1E5"/>
                      </a:solidFill>
                      <a:prstDash val="solid"/>
                    </a:lnL>
                    <a:lnR w="5715">
                      <a:solidFill>
                        <a:srgbClr val="D8E1E5"/>
                      </a:solidFill>
                      <a:prstDash val="solid"/>
                    </a:lnR>
                    <a:lnB w="5715">
                      <a:solidFill>
                        <a:srgbClr val="D8E1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73747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30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8E1E5"/>
                      </a:solidFill>
                      <a:prstDash val="solid"/>
                    </a:lnR>
                    <a:lnB w="5715">
                      <a:solidFill>
                        <a:srgbClr val="D8E1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73747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Candidate / receptor residues (aa)</a:t>
                      </a:r>
                    </a:p>
                  </a:txBody>
                  <a:tcPr marL="91440" marR="91440" marT="45720" marB="45720">
                    <a:lnL w="5715">
                      <a:solidFill>
                        <a:srgbClr val="D8E1E5"/>
                      </a:solidFill>
                      <a:prstDash val="solid"/>
                    </a:lnL>
                    <a:lnR w="5715">
                      <a:solidFill>
                        <a:srgbClr val="D8E1E5"/>
                      </a:solidFill>
                      <a:prstDash val="solid"/>
                    </a:lnR>
                    <a:lnB w="5715">
                      <a:solidFill>
                        <a:srgbClr val="D8E1E5"/>
                      </a:solidFill>
                      <a:prstDash val="solid"/>
                    </a:lnB>
                    <a:solidFill>
                      <a:srgbClr val="F1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73747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139 / 440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8E1E5"/>
                      </a:solidFill>
                      <a:prstDash val="solid"/>
                    </a:lnR>
                    <a:lnB w="5715">
                      <a:solidFill>
                        <a:srgbClr val="D8E1E5"/>
                      </a:solidFill>
                      <a:prstDash val="solid"/>
                    </a:lnB>
                    <a:solidFill>
                      <a:srgbClr val="F1F5F7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73747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pDockQ / pDockQ2</a:t>
                      </a:r>
                    </a:p>
                  </a:txBody>
                  <a:tcPr marL="91440" marR="91440" marT="45720" marB="45720">
                    <a:lnL w="5715">
                      <a:solidFill>
                        <a:srgbClr val="D8E1E5"/>
                      </a:solidFill>
                      <a:prstDash val="solid"/>
                    </a:lnL>
                    <a:lnR w="5715">
                      <a:solidFill>
                        <a:srgbClr val="D8E1E5"/>
                      </a:solidFill>
                      <a:prstDash val="solid"/>
                    </a:lnR>
                    <a:lnB w="5715">
                      <a:solidFill>
                        <a:srgbClr val="D8E1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73747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0.3145 / 0.1314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8E1E5"/>
                      </a:solidFill>
                      <a:prstDash val="solid"/>
                    </a:lnR>
                    <a:lnB w="5715">
                      <a:solidFill>
                        <a:srgbClr val="D8E1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73747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Whole fusion / linker pLDDT (0-100)</a:t>
                      </a:r>
                    </a:p>
                  </a:txBody>
                  <a:tcPr marL="91440" marR="91440" marT="45720" marB="45720">
                    <a:lnL w="5715">
                      <a:solidFill>
                        <a:srgbClr val="D8E1E5"/>
                      </a:solidFill>
                      <a:prstDash val="solid"/>
                    </a:lnL>
                    <a:lnR w="5715">
                      <a:solidFill>
                        <a:srgbClr val="D8E1E5"/>
                      </a:solidFill>
                      <a:prstDash val="solid"/>
                    </a:lnR>
                    <a:lnB w="5715">
                      <a:solidFill>
                        <a:srgbClr val="D8E1E5"/>
                      </a:solidFill>
                      <a:prstDash val="solid"/>
                    </a:lnB>
                    <a:solidFill>
                      <a:srgbClr val="F1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73747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54.2 / 46.3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8E1E5"/>
                      </a:solidFill>
                      <a:prstDash val="solid"/>
                    </a:lnR>
                    <a:lnB w="5715">
                      <a:solidFill>
                        <a:srgbClr val="D8E1E5"/>
                      </a:solidFill>
                      <a:prstDash val="solid"/>
                    </a:lnB>
                    <a:solidFill>
                      <a:srgbClr val="F1F5F7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73747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ECD / LigandForge pLDDT (0-100)</a:t>
                      </a:r>
                    </a:p>
                  </a:txBody>
                  <a:tcPr marL="91440" marR="91440" marT="45720" marB="45720">
                    <a:lnL w="5715">
                      <a:solidFill>
                        <a:srgbClr val="D8E1E5"/>
                      </a:solidFill>
                      <a:prstDash val="solid"/>
                    </a:lnL>
                    <a:lnR w="5715">
                      <a:solidFill>
                        <a:srgbClr val="D8E1E5"/>
                      </a:solidFill>
                      <a:prstDash val="solid"/>
                    </a:lnR>
                    <a:lnB w="5715">
                      <a:solidFill>
                        <a:srgbClr val="D8E1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73747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57.5 / 56.2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8E1E5"/>
                      </a:solidFill>
                      <a:prstDash val="solid"/>
                    </a:lnR>
                    <a:lnB w="5715">
                      <a:solidFill>
                        <a:srgbClr val="D8E1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73747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Fusion design-to-refold DockQ</a:t>
                      </a:r>
                    </a:p>
                  </a:txBody>
                  <a:tcPr marL="91440" marR="91440" marT="45720" marB="45720">
                    <a:lnL w="5715">
                      <a:solidFill>
                        <a:srgbClr val="D8E1E5"/>
                      </a:solidFill>
                      <a:prstDash val="solid"/>
                    </a:lnL>
                    <a:lnR w="5715">
                      <a:solidFill>
                        <a:srgbClr val="D8E1E5"/>
                      </a:solidFill>
                      <a:prstDash val="solid"/>
                    </a:lnR>
                    <a:lnB w="5715">
                      <a:solidFill>
                        <a:srgbClr val="D8E1E5"/>
                      </a:solidFill>
                      <a:prstDash val="solid"/>
                    </a:lnB>
                    <a:solidFill>
                      <a:srgbClr val="F1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73747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0.1548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8E1E5"/>
                      </a:solidFill>
                      <a:prstDash val="solid"/>
                    </a:lnR>
                    <a:lnB w="5715">
                      <a:solidFill>
                        <a:srgbClr val="D8E1E5"/>
                      </a:solidFill>
                      <a:prstDash val="solid"/>
                    </a:lnB>
                    <a:solidFill>
                      <a:srgbClr val="F1F5F7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73747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Free C-terminal OPM z (A)</a:t>
                      </a:r>
                    </a:p>
                  </a:txBody>
                  <a:tcPr marL="91440" marR="91440" marT="45720" marB="45720">
                    <a:lnL w="5715">
                      <a:solidFill>
                        <a:srgbClr val="D8E1E5"/>
                      </a:solidFill>
                      <a:prstDash val="solid"/>
                    </a:lnL>
                    <a:lnR w="5715">
                      <a:solidFill>
                        <a:srgbClr val="D8E1E5"/>
                      </a:solidFill>
                      <a:prstDash val="solid"/>
                    </a:lnR>
                    <a:lnB w="5715">
                      <a:solidFill>
                        <a:srgbClr val="D8E1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73747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76.82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8E1E5"/>
                      </a:solidFill>
                      <a:prstDash val="solid"/>
                    </a:lnR>
                    <a:lnB w="5715">
                      <a:solidFill>
                        <a:srgbClr val="D8E1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73747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Extracellular free C-terminal screen</a:t>
                      </a:r>
                    </a:p>
                  </a:txBody>
                  <a:tcPr marL="91440" marR="91440" marT="45720" marB="45720">
                    <a:lnL w="5715">
                      <a:solidFill>
                        <a:srgbClr val="D8E1E5"/>
                      </a:solidFill>
                      <a:prstDash val="solid"/>
                    </a:lnL>
                    <a:lnR w="5715">
                      <a:solidFill>
                        <a:srgbClr val="D8E1E5"/>
                      </a:solidFill>
                      <a:prstDash val="solid"/>
                    </a:lnR>
                    <a:lnB w="5715">
                      <a:solidFill>
                        <a:srgbClr val="D8E1E5"/>
                      </a:solidFill>
                      <a:prstDash val="solid"/>
                    </a:lnB>
                    <a:solidFill>
                      <a:srgbClr val="F1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73747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Pass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8E1E5"/>
                      </a:solidFill>
                      <a:prstDash val="solid"/>
                    </a:lnR>
                    <a:lnB w="5715">
                      <a:solidFill>
                        <a:srgbClr val="D8E1E5"/>
                      </a:solidFill>
                      <a:prstDash val="solid"/>
                    </a:lnB>
                    <a:solidFill>
                      <a:srgbClr val="F1F5F7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73747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DeltaForge length scope</a:t>
                      </a:r>
                    </a:p>
                  </a:txBody>
                  <a:tcPr marL="91440" marR="91440" marT="45720" marB="45720">
                    <a:lnL w="5715">
                      <a:solidFill>
                        <a:srgbClr val="D8E1E5"/>
                      </a:solidFill>
                      <a:prstDash val="solid"/>
                    </a:lnL>
                    <a:lnR w="5715">
                      <a:solidFill>
                        <a:srgbClr val="D8E1E5"/>
                      </a:solidFill>
                      <a:prstDash val="solid"/>
                    </a:lnR>
                    <a:lnB w="5715">
                      <a:solidFill>
                        <a:srgbClr val="D8E1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73747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platform_8_140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8E1E5"/>
                      </a:solidFill>
                      <a:prstDash val="solid"/>
                    </a:lnR>
                    <a:lnB w="5715">
                      <a:solidFill>
                        <a:srgbClr val="D8E1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CFADA2C-8745-43CA-9FDF-2A9D4EF46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1457325"/>
            <a:ext cx="4095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950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950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950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950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950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950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950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950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950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950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173747"/>
                </a:solidFill>
                <a:latin typeface="DejaVu Sans"/>
                <a:ea typeface="DejaVu Sans"/>
                <a:cs typeface="DejaVu Sans"/>
              </a:rPr>
              <a:t>Origin and prediction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A587E6B-5520-459C-B449-2D9BAD947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1952625"/>
            <a:ext cx="4095750" cy="390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725" b="0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725" b="0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725" b="0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725" b="0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725" b="0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725" b="0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725" b="0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725" b="0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725" b="0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725" b="0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173747"/>
                </a:solidFill>
                <a:latin typeface="DejaVu Sans"/>
                <a:ea typeface="DejaVu Sans"/>
                <a:cs typeface="DejaVu Sans"/>
              </a:rPr>
              <a:t>ECD parent S10_02_023</a:t>
            </a:r>
          </a:p>
          <a:p xmlns:a="http://schemas.openxmlformats.org/drawingml/2006/main">
            <a:pPr>
              <a:defRPr sz="1725" b="0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173747"/>
                </a:solidFill>
                <a:latin typeface="DejaVu Sans"/>
                <a:ea typeface="DejaVu Sans"/>
                <a:cs typeface="DejaVu Sans"/>
              </a:rPr>
              <a:t>LigandForge parent Design_414</a:t>
            </a:r>
          </a:p>
          <a:p xmlns:a="http://schemas.openxmlformats.org/drawingml/2006/main">
            <a:pPr>
              <a:defRPr sz="1725" b="0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173747"/>
                </a:solidFill>
                <a:latin typeface="DejaVu Sans"/>
                <a:ea typeface="DejaVu Sans"/>
                <a:cs typeface="DejaVu Sans"/>
              </a:rPr>
              <a:t>Pair P157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725" b="0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173747"/>
                </a:solidFill>
                <a:latin typeface="DejaVu Sans"/>
                <a:ea typeface="DejaVu Sans"/>
                <a:cs typeface="DejaVu Sans"/>
              </a:rPr>
              <a:t>AP Novo seed 1679</a:t>
            </a:r>
          </a:p>
          <a:p xmlns:a="http://schemas.openxmlformats.org/drawingml/2006/main">
            <a:pPr>
              <a:defRPr sz="1725" b="0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173747"/>
                </a:solidFill>
                <a:latin typeface="DejaVu Sans"/>
                <a:ea typeface="DejaVu Sans"/>
                <a:cs typeface="DejaVu Sans"/>
              </a:rPr>
              <a:t>Exact seed 101</a:t>
            </a:r>
          </a:p>
          <a:p xmlns:a="http://schemas.openxmlformats.org/drawingml/2006/main">
            <a:pPr>
              <a:defRPr sz="1725" b="0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173747"/>
                </a:solidFill>
                <a:latin typeface="DejaVu Sans"/>
                <a:ea typeface="DejaVu Sans"/>
                <a:cs typeface="DejaVu Sans"/>
              </a:rPr>
              <a:t>3 recycles, 200 steps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725" b="0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173747"/>
                </a:solidFill>
                <a:latin typeface="DejaVu Sans"/>
                <a:ea typeface="DejaVu Sans"/>
                <a:cs typeface="DejaVu Sans"/>
              </a:rPr>
              <a:t>ECD A1-50  linker A51-85  LF A86-139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23ED11E-1A9E-410D-A5B7-1ECE843AD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81750"/>
            <a:ext cx="14192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650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650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650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650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650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650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650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650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650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650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50616C"/>
                </a:solidFill>
                <a:latin typeface="DejaVu Sans"/>
                <a:ea typeface="DejaVu Sans"/>
                <a:cs typeface="DejaVu Sans"/>
              </a:rPr>
              <a:t>Whole-fusion pLDDT remains modest. High interface confidence does not establish activation.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3DA96DC-B8F9-4AFA-A3E6-6E574324D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115175"/>
            <a:ext cx="14192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57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57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57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57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57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57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57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57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57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57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57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pPr>
            <a:r>
              <a:rPr sz="1575" b="1">
                <a:solidFill>
                  <a:srgbClr val="173747"/>
                </a:solidFill>
                <a:latin typeface="DejaVu Sans"/>
                <a:ea typeface="DejaVu Sans"/>
                <a:cs typeface="DejaVu Sans"/>
              </a:rPr>
              <a:t>Complete selected sequence, N to C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DEC3AD8-C1E8-466E-B56F-B3478FDFF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410450"/>
            <a:ext cx="141922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500" b="0">
                <a:solidFill>
                  <a:srgbClr val="173747"/>
                </a:solidFill>
                <a:latin typeface="DejaVu Sans Mono"/>
                <a:ea typeface="DejaVu Sans Mono"/>
                <a:cs typeface="DejaVu Sans Mono"/>
              </a:defRPr>
            </a:defPPr>
            <a:lvl1pPr>
              <a:defRPr sz="1500" b="0">
                <a:solidFill>
                  <a:srgbClr val="173747"/>
                </a:solidFill>
                <a:latin typeface="DejaVu Sans Mono"/>
                <a:ea typeface="DejaVu Sans Mono"/>
                <a:cs typeface="DejaVu Sans Mono"/>
              </a:defRPr>
            </a:lvl1pPr>
            <a:lvl2pPr>
              <a:defRPr sz="1500" b="0">
                <a:solidFill>
                  <a:srgbClr val="173747"/>
                </a:solidFill>
                <a:latin typeface="DejaVu Sans Mono"/>
                <a:ea typeface="DejaVu Sans Mono"/>
                <a:cs typeface="DejaVu Sans Mono"/>
              </a:defRPr>
            </a:lvl2pPr>
            <a:lvl3pPr>
              <a:defRPr sz="1500" b="0">
                <a:solidFill>
                  <a:srgbClr val="173747"/>
                </a:solidFill>
                <a:latin typeface="DejaVu Sans Mono"/>
                <a:ea typeface="DejaVu Sans Mono"/>
                <a:cs typeface="DejaVu Sans Mono"/>
              </a:defRPr>
            </a:lvl3pPr>
            <a:lvl4pPr>
              <a:defRPr sz="1500" b="0">
                <a:solidFill>
                  <a:srgbClr val="173747"/>
                </a:solidFill>
                <a:latin typeface="DejaVu Sans Mono"/>
                <a:ea typeface="DejaVu Sans Mono"/>
                <a:cs typeface="DejaVu Sans Mono"/>
              </a:defRPr>
            </a:lvl4pPr>
            <a:lvl5pPr>
              <a:defRPr sz="1500" b="0">
                <a:solidFill>
                  <a:srgbClr val="173747"/>
                </a:solidFill>
                <a:latin typeface="DejaVu Sans Mono"/>
                <a:ea typeface="DejaVu Sans Mono"/>
                <a:cs typeface="DejaVu Sans Mono"/>
              </a:defRPr>
            </a:lvl5pPr>
            <a:lvl6pPr>
              <a:defRPr sz="1500" b="0">
                <a:solidFill>
                  <a:srgbClr val="173747"/>
                </a:solidFill>
                <a:latin typeface="DejaVu Sans Mono"/>
                <a:ea typeface="DejaVu Sans Mono"/>
                <a:cs typeface="DejaVu Sans Mono"/>
              </a:defRPr>
            </a:lvl6pPr>
            <a:lvl7pPr>
              <a:defRPr sz="1500" b="0">
                <a:solidFill>
                  <a:srgbClr val="173747"/>
                </a:solidFill>
                <a:latin typeface="DejaVu Sans Mono"/>
                <a:ea typeface="DejaVu Sans Mono"/>
                <a:cs typeface="DejaVu Sans Mono"/>
              </a:defRPr>
            </a:lvl7pPr>
            <a:lvl8pPr>
              <a:defRPr sz="1500" b="0">
                <a:solidFill>
                  <a:srgbClr val="173747"/>
                </a:solidFill>
                <a:latin typeface="DejaVu Sans Mono"/>
                <a:ea typeface="DejaVu Sans Mono"/>
                <a:cs typeface="DejaVu Sans Mono"/>
              </a:defRPr>
            </a:lvl8pPr>
            <a:lvl9pPr>
              <a:defRPr sz="1500" b="0">
                <a:solidFill>
                  <a:srgbClr val="173747"/>
                </a:solidFill>
                <a:latin typeface="DejaVu Sans Mono"/>
                <a:ea typeface="DejaVu Sans Mono"/>
                <a:cs typeface="DejaVu Sans Mono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173747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00" b="0">
                <a:solidFill>
                  <a:srgbClr val="173747"/>
                </a:solidFill>
                <a:latin typeface="DejaVu Sans Mono"/>
                <a:ea typeface="DejaVu Sans Mono"/>
                <a:cs typeface="DejaVu Sans Mono"/>
              </a:rPr>
              <a:t>MSIDYSSLVTHSPTGVAEATEFLYRYYQLREIPLETFIAVASALYHSSLLGGTDSLGKGSYDDKLNALPFSPEA</a:t>
            </a:r>
          </a:p>
          <a:p xmlns:a="http://schemas.openxmlformats.org/drawingml/2006/main">
            <a:pPr>
              <a:defRPr sz="1500" b="0">
                <a:solidFill>
                  <a:srgbClr val="173747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00" b="0">
                <a:solidFill>
                  <a:srgbClr val="173747"/>
                </a:solidFill>
                <a:latin typeface="DejaVu Sans Mono"/>
                <a:ea typeface="DejaVu Sans Mono"/>
                <a:cs typeface="DejaVu Sans Mono"/>
              </a:rPr>
              <a:t>EAAAQKDVEAGKTKEGSSCVRGGSRTELFSKEPDKGVSFVSGSGVEYVCFAFFVVGSGSGSTYVS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8B6CC46-D6D7-41E6-A7B3-A39459F3B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248650"/>
            <a:ext cx="1304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2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2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2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2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2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2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2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2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2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2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50616C"/>
                </a:solidFill>
                <a:latin typeface="DejaVu Sans"/>
                <a:ea typeface="DejaVu Sans"/>
                <a:cs typeface="DejaVu Sans"/>
              </a:rPr>
              <a:t>Human GLP1R     Boltz2 Exact     Computational predictions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C7BC050-77EA-46CD-AB7F-511D75A11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0" y="82486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2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2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2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2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2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2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2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2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2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2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50616C"/>
                </a:solidFill>
                <a:latin typeface="DejaVu Sans"/>
                <a:ea typeface="DejaVu Sans"/>
                <a:cs typeface="DejaVu Sans"/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363218876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40C6A68-3AE1-4101-9029-4F88497E2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76225"/>
            <a:ext cx="1428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22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322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322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322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322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322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322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322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322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322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73747"/>
                </a:solidFill>
                <a:latin typeface="DejaVu Sans"/>
                <a:ea typeface="DejaVu Sans"/>
                <a:cs typeface="DejaVu Sans"/>
              </a:rPr>
              <a:t>08  LK_P157_08  structure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9D71EBA-B9B1-433B-9B69-56E90C807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95350"/>
            <a:ext cx="1428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8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8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8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8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8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8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8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8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8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50616C"/>
                </a:solidFill>
                <a:latin typeface="DejaVu Sans"/>
                <a:ea typeface="DejaVu Sans"/>
                <a:cs typeface="DejaVu Sans"/>
              </a:rPr>
              <a:t>D-L-D fusion   Candidate A: 139 aa   Human GLP1R B: 440 aa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4C0B863-A345-45CA-BD0F-C0DCA92AB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362075"/>
            <a:ext cx="619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7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87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87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87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87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87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87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87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87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87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173747"/>
                </a:solidFill>
                <a:latin typeface="DejaVu Sans"/>
                <a:ea typeface="DejaVu Sans"/>
                <a:cs typeface="DejaVu Sans"/>
              </a:rPr>
              <a:t>Boltz2 Exact receptor complex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011793A-EBD0-41AA-ACB6-60C01B485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362075"/>
            <a:ext cx="619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7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87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87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87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87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87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87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87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87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87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173747"/>
                </a:solidFill>
                <a:latin typeface="DejaVu Sans"/>
                <a:ea typeface="DejaVu Sans"/>
                <a:cs typeface="DejaVu Sans"/>
              </a:rPr>
              <a:t>Boltz2 Exact interface detail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5C04F0B-2E37-4C43-A131-E9AFD9D963A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07c13c00408485f"/>
          <a:stretch xmlns:a="http://schemas.openxmlformats.org/drawingml/2006/main"/>
        </p:blipFill>
        <p:spPr>
          <a:xfrm xmlns:a="http://schemas.openxmlformats.org/drawingml/2006/main">
            <a:off x="2344208" y="1724025"/>
            <a:ext cx="3217333" cy="4572000"/>
          </a:xfrm>
          <a:prstGeom xmlns:a="http://schemas.openxmlformats.org/drawingml/2006/main" prst="rect">
            <a:avLst/>
          </a:prstGeom>
        </p:spPr>
      </p:pic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C6A70A5-047B-479D-8037-47D67191EDC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9eddf96bbda4454"/>
          <a:stretch xmlns:a="http://schemas.openxmlformats.org/drawingml/2006/main"/>
        </p:blipFill>
        <p:spPr>
          <a:xfrm xmlns:a="http://schemas.openxmlformats.org/drawingml/2006/main">
            <a:off x="9296093" y="1724025"/>
            <a:ext cx="3982065" cy="457200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7D221E6-9F17-44BD-9C0F-D12FDA0AE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579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650" b="1">
                <a:solidFill>
                  <a:srgbClr val="E69F00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650" b="1">
                <a:solidFill>
                  <a:srgbClr val="E69F00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650" b="1">
                <a:solidFill>
                  <a:srgbClr val="E69F00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650" b="1">
                <a:solidFill>
                  <a:srgbClr val="E69F00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650" b="1">
                <a:solidFill>
                  <a:srgbClr val="E69F00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650" b="1">
                <a:solidFill>
                  <a:srgbClr val="E69F00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650" b="1">
                <a:solidFill>
                  <a:srgbClr val="E69F00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650" b="1">
                <a:solidFill>
                  <a:srgbClr val="E69F00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650" b="1">
                <a:solidFill>
                  <a:srgbClr val="E69F00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650" b="1">
                <a:solidFill>
                  <a:srgbClr val="E69F00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E69F00"/>
                </a:solidFill>
                <a:latin typeface="DejaVu Sans"/>
                <a:ea typeface="DejaVu Sans"/>
                <a:cs typeface="DejaVu Sans"/>
              </a:defRPr>
            </a:pPr>
            <a:r>
              <a:rPr sz="1650" b="1">
                <a:solidFill>
                  <a:srgbClr val="E69F00"/>
                </a:solidFill>
                <a:latin typeface="DejaVu Sans"/>
                <a:ea typeface="DejaVu Sans"/>
                <a:cs typeface="DejaVu Sans"/>
              </a:rPr>
              <a:t>LigandForge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B74D133-1B46-4EE9-9FF4-FF9223BE3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64579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650" b="1">
                <a:solidFill>
                  <a:srgbClr val="AA4499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650" b="1">
                <a:solidFill>
                  <a:srgbClr val="AA4499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650" b="1">
                <a:solidFill>
                  <a:srgbClr val="AA4499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650" b="1">
                <a:solidFill>
                  <a:srgbClr val="AA4499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650" b="1">
                <a:solidFill>
                  <a:srgbClr val="AA4499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650" b="1">
                <a:solidFill>
                  <a:srgbClr val="AA4499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650" b="1">
                <a:solidFill>
                  <a:srgbClr val="AA4499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650" b="1">
                <a:solidFill>
                  <a:srgbClr val="AA4499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650" b="1">
                <a:solidFill>
                  <a:srgbClr val="AA4499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650" b="1">
                <a:solidFill>
                  <a:srgbClr val="AA4499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AA4499"/>
                </a:solidFill>
                <a:latin typeface="DejaVu Sans"/>
                <a:ea typeface="DejaVu Sans"/>
                <a:cs typeface="DejaVu Sans"/>
              </a:defRPr>
            </a:pPr>
            <a:r>
              <a:rPr sz="1650" b="1">
                <a:solidFill>
                  <a:srgbClr val="AA4499"/>
                </a:solidFill>
                <a:latin typeface="DejaVu Sans"/>
                <a:ea typeface="DejaVu Sans"/>
                <a:cs typeface="DejaVu Sans"/>
              </a:rPr>
              <a:t>Linker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4477A52-F515-4572-BD77-6694A2BEC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64579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650" b="1">
                <a:solidFill>
                  <a:srgbClr val="0072B2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650" b="1">
                <a:solidFill>
                  <a:srgbClr val="0072B2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650" b="1">
                <a:solidFill>
                  <a:srgbClr val="0072B2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650" b="1">
                <a:solidFill>
                  <a:srgbClr val="0072B2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650" b="1">
                <a:solidFill>
                  <a:srgbClr val="0072B2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650" b="1">
                <a:solidFill>
                  <a:srgbClr val="0072B2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650" b="1">
                <a:solidFill>
                  <a:srgbClr val="0072B2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650" b="1">
                <a:solidFill>
                  <a:srgbClr val="0072B2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650" b="1">
                <a:solidFill>
                  <a:srgbClr val="0072B2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650" b="1">
                <a:solidFill>
                  <a:srgbClr val="0072B2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0072B2"/>
                </a:solidFill>
                <a:latin typeface="DejaVu Sans"/>
                <a:ea typeface="DejaVu Sans"/>
                <a:cs typeface="DejaVu Sans"/>
              </a:defRPr>
            </a:pPr>
            <a:r>
              <a:rPr sz="1650" b="1">
                <a:solidFill>
                  <a:srgbClr val="0072B2"/>
                </a:solidFill>
                <a:latin typeface="DejaVu Sans"/>
                <a:ea typeface="DejaVu Sans"/>
                <a:cs typeface="DejaVu Sans"/>
              </a:rPr>
              <a:t>ECD binder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6CE327E-0FAA-4E2B-B584-300406CED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64579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650" b="1">
                <a:solidFill>
                  <a:srgbClr val="009E73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650" b="1">
                <a:solidFill>
                  <a:srgbClr val="009E73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650" b="1">
                <a:solidFill>
                  <a:srgbClr val="009E73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650" b="1">
                <a:solidFill>
                  <a:srgbClr val="009E73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650" b="1">
                <a:solidFill>
                  <a:srgbClr val="009E73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650" b="1">
                <a:solidFill>
                  <a:srgbClr val="009E73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650" b="1">
                <a:solidFill>
                  <a:srgbClr val="009E73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650" b="1">
                <a:solidFill>
                  <a:srgbClr val="009E73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650" b="1">
                <a:solidFill>
                  <a:srgbClr val="009E73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650" b="1">
                <a:solidFill>
                  <a:srgbClr val="009E73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009E73"/>
                </a:solidFill>
                <a:latin typeface="DejaVu Sans"/>
                <a:ea typeface="DejaVu Sans"/>
                <a:cs typeface="DejaVu Sans"/>
              </a:defRPr>
            </a:pPr>
            <a:r>
              <a:rPr sz="1650" b="1">
                <a:solidFill>
                  <a:srgbClr val="009E73"/>
                </a:solidFill>
                <a:latin typeface="DejaVu Sans"/>
                <a:ea typeface="DejaVu Sans"/>
                <a:cs typeface="DejaVu Sans"/>
              </a:rPr>
              <a:t>Receptor ECD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F65D1CF-C3CC-4F95-B8BE-217348A59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64579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650" b="1">
                <a:solidFill>
                  <a:srgbClr val="7B8794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650" b="1">
                <a:solidFill>
                  <a:srgbClr val="7B8794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650" b="1">
                <a:solidFill>
                  <a:srgbClr val="7B8794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650" b="1">
                <a:solidFill>
                  <a:srgbClr val="7B8794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650" b="1">
                <a:solidFill>
                  <a:srgbClr val="7B8794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650" b="1">
                <a:solidFill>
                  <a:srgbClr val="7B8794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650" b="1">
                <a:solidFill>
                  <a:srgbClr val="7B8794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650" b="1">
                <a:solidFill>
                  <a:srgbClr val="7B8794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650" b="1">
                <a:solidFill>
                  <a:srgbClr val="7B8794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650" b="1">
                <a:solidFill>
                  <a:srgbClr val="7B8794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7B8794"/>
                </a:solidFill>
                <a:latin typeface="DejaVu Sans"/>
                <a:ea typeface="DejaVu Sans"/>
                <a:cs typeface="DejaVu Sans"/>
              </a:defRPr>
            </a:pPr>
            <a:r>
              <a:rPr sz="1650" b="1">
                <a:solidFill>
                  <a:srgbClr val="7B8794"/>
                </a:solidFill>
                <a:latin typeface="DejaVu Sans"/>
                <a:ea typeface="DejaVu Sans"/>
                <a:cs typeface="DejaVu Sans"/>
              </a:rPr>
              <a:t>Remaining receptor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2132DF7-D8C8-4BC4-8D5A-17344B326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0" y="64579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650" b="1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650" b="1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650" b="1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650" b="1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650" b="1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650" b="1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650" b="1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650" b="1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650" b="1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650" b="1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1650" b="1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Hotspots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09F78E3-C6B5-4A52-9676-E4A4E93F1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800850"/>
            <a:ext cx="1428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42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42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42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42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42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42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42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42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42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42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>
                <a:solidFill>
                  <a:srgbClr val="50616C"/>
                </a:solidFill>
                <a:latin typeface="DejaVu Sans"/>
                <a:ea typeface="DejaVu Sans"/>
                <a:cs typeface="DejaVu Sans"/>
              </a:rPr>
              <a:t>Receptor ECD B1–105 (UniProt 24–128). Black sticks: E34, Q37 and R40. View-specific zoom.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550FC44-EDF3-4F08-8D7C-03B562FB3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134225"/>
            <a:ext cx="14192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57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57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57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57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57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57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57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57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57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57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57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pPr>
            <a:r>
              <a:rPr sz="1575" b="1">
                <a:solidFill>
                  <a:srgbClr val="173747"/>
                </a:solidFill>
                <a:latin typeface="DejaVu Sans"/>
                <a:ea typeface="DejaVu Sans"/>
                <a:cs typeface="DejaVu Sans"/>
              </a:rPr>
              <a:t>Complete selected sequence, N to C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BE41701-0B4B-4375-A963-063EA14EF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429500"/>
            <a:ext cx="141922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500" b="0">
                <a:solidFill>
                  <a:srgbClr val="173747"/>
                </a:solidFill>
                <a:latin typeface="DejaVu Sans Mono"/>
                <a:ea typeface="DejaVu Sans Mono"/>
                <a:cs typeface="DejaVu Sans Mono"/>
              </a:defRPr>
            </a:defPPr>
            <a:lvl1pPr>
              <a:defRPr sz="1500" b="0">
                <a:solidFill>
                  <a:srgbClr val="173747"/>
                </a:solidFill>
                <a:latin typeface="DejaVu Sans Mono"/>
                <a:ea typeface="DejaVu Sans Mono"/>
                <a:cs typeface="DejaVu Sans Mono"/>
              </a:defRPr>
            </a:lvl1pPr>
            <a:lvl2pPr>
              <a:defRPr sz="1500" b="0">
                <a:solidFill>
                  <a:srgbClr val="173747"/>
                </a:solidFill>
                <a:latin typeface="DejaVu Sans Mono"/>
                <a:ea typeface="DejaVu Sans Mono"/>
                <a:cs typeface="DejaVu Sans Mono"/>
              </a:defRPr>
            </a:lvl2pPr>
            <a:lvl3pPr>
              <a:defRPr sz="1500" b="0">
                <a:solidFill>
                  <a:srgbClr val="173747"/>
                </a:solidFill>
                <a:latin typeface="DejaVu Sans Mono"/>
                <a:ea typeface="DejaVu Sans Mono"/>
                <a:cs typeface="DejaVu Sans Mono"/>
              </a:defRPr>
            </a:lvl3pPr>
            <a:lvl4pPr>
              <a:defRPr sz="1500" b="0">
                <a:solidFill>
                  <a:srgbClr val="173747"/>
                </a:solidFill>
                <a:latin typeface="DejaVu Sans Mono"/>
                <a:ea typeface="DejaVu Sans Mono"/>
                <a:cs typeface="DejaVu Sans Mono"/>
              </a:defRPr>
            </a:lvl4pPr>
            <a:lvl5pPr>
              <a:defRPr sz="1500" b="0">
                <a:solidFill>
                  <a:srgbClr val="173747"/>
                </a:solidFill>
                <a:latin typeface="DejaVu Sans Mono"/>
                <a:ea typeface="DejaVu Sans Mono"/>
                <a:cs typeface="DejaVu Sans Mono"/>
              </a:defRPr>
            </a:lvl5pPr>
            <a:lvl6pPr>
              <a:defRPr sz="1500" b="0">
                <a:solidFill>
                  <a:srgbClr val="173747"/>
                </a:solidFill>
                <a:latin typeface="DejaVu Sans Mono"/>
                <a:ea typeface="DejaVu Sans Mono"/>
                <a:cs typeface="DejaVu Sans Mono"/>
              </a:defRPr>
            </a:lvl6pPr>
            <a:lvl7pPr>
              <a:defRPr sz="1500" b="0">
                <a:solidFill>
                  <a:srgbClr val="173747"/>
                </a:solidFill>
                <a:latin typeface="DejaVu Sans Mono"/>
                <a:ea typeface="DejaVu Sans Mono"/>
                <a:cs typeface="DejaVu Sans Mono"/>
              </a:defRPr>
            </a:lvl7pPr>
            <a:lvl8pPr>
              <a:defRPr sz="1500" b="0">
                <a:solidFill>
                  <a:srgbClr val="173747"/>
                </a:solidFill>
                <a:latin typeface="DejaVu Sans Mono"/>
                <a:ea typeface="DejaVu Sans Mono"/>
                <a:cs typeface="DejaVu Sans Mono"/>
              </a:defRPr>
            </a:lvl8pPr>
            <a:lvl9pPr>
              <a:defRPr sz="1500" b="0">
                <a:solidFill>
                  <a:srgbClr val="173747"/>
                </a:solidFill>
                <a:latin typeface="DejaVu Sans Mono"/>
                <a:ea typeface="DejaVu Sans Mono"/>
                <a:cs typeface="DejaVu Sans Mono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173747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00" b="0">
                <a:solidFill>
                  <a:srgbClr val="173747"/>
                </a:solidFill>
                <a:latin typeface="DejaVu Sans Mono"/>
                <a:ea typeface="DejaVu Sans Mono"/>
                <a:cs typeface="DejaVu Sans Mono"/>
              </a:rPr>
              <a:t>MSIDYSSLVTHSPTGVAEATEFLYRYYQLREIPLETFIAVASALYHSSLLGGTDSLGKGSYDDKLNALPFSPEA</a:t>
            </a:r>
          </a:p>
          <a:p xmlns:a="http://schemas.openxmlformats.org/drawingml/2006/main">
            <a:pPr>
              <a:defRPr sz="1500" b="0">
                <a:solidFill>
                  <a:srgbClr val="173747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00" b="0">
                <a:solidFill>
                  <a:srgbClr val="173747"/>
                </a:solidFill>
                <a:latin typeface="DejaVu Sans Mono"/>
                <a:ea typeface="DejaVu Sans Mono"/>
                <a:cs typeface="DejaVu Sans Mono"/>
              </a:rPr>
              <a:t>EAAAQKDVEAGKTKEGSSCVRGGSRTELFSKEPDKGVSFVSGSGVEYVCFAFFVVGSGSGSTYVS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1118B1D-EE94-41DC-90D4-2813AF4AC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248650"/>
            <a:ext cx="1304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2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2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2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2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2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2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2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2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2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2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50616C"/>
                </a:solidFill>
                <a:latin typeface="DejaVu Sans"/>
                <a:ea typeface="DejaVu Sans"/>
                <a:cs typeface="DejaVu Sans"/>
              </a:rPr>
              <a:t>Human GLP1R     Boltz2 Exact     Computational predictions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61AE0A5-6AC3-4C50-A525-CB649A986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0" y="82486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2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2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2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2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2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2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2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2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2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2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50616C"/>
                </a:solidFill>
                <a:latin typeface="DejaVu Sans"/>
                <a:ea typeface="DejaVu Sans"/>
                <a:cs typeface="DejaVu Sans"/>
              </a:rPr>
              <a:t>16</a:t>
            </a:r>
          </a:p>
        </p:txBody>
      </p:sp>
    </p:spTree>
    <p:extLst>
      <p:ext uri="{BB962C8B-B14F-4D97-AF65-F5344CB8AC3E}">
        <p14:creationId xmlns:p14="http://schemas.microsoft.com/office/powerpoint/2010/main" val="511393629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65E38D0-6452-4FDE-8224-8178F5E03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76225"/>
            <a:ext cx="1428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22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322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322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322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322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322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322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322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322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322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73747"/>
                </a:solidFill>
                <a:latin typeface="DejaVu Sans"/>
                <a:ea typeface="DejaVu Sans"/>
                <a:cs typeface="DejaVu Sans"/>
              </a:rPr>
              <a:t>09  LK_P069_04  metrics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31F490D-1F75-4DE8-A930-F1EF3C3C8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95350"/>
            <a:ext cx="1428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8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8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8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8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8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8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8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8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8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50616C"/>
                </a:solidFill>
                <a:latin typeface="DejaVu Sans"/>
                <a:ea typeface="DejaVu Sans"/>
                <a:cs typeface="DejaVu Sans"/>
              </a:rPr>
              <a:t>D-L-D fusion   Candidate A: 154 aa   Human GLP1R B: 440 aa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DAC8BDF-2C5E-4F27-BBE8-0112AEB0BF0F}"/>
              </a:ext>
            </a:extLst>
          </p:cNvPr>
          <p:cNvGraphicFramePr/>
          <p:nvPr/>
        </p:nvGraphicFramePr>
        <p:xfrm>
          <a:off xmlns:a="http://schemas.openxmlformats.org/drawingml/2006/main" x="457200" y="1457325"/>
          <a:ext xmlns:a="http://schemas.openxmlformats.org/drawingml/2006/main" cx="9667875" cy="48006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6791325"/>
                <a:gridCol w="2876550"/>
              </a:tblGrid>
              <a:tr h="34290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Metric and scope</a:t>
                      </a:r>
                    </a:p>
                  </a:txBody>
                  <a:tcPr marL="91440" marR="91440" marT="45720" marB="45720">
                    <a:lnL w="5715">
                      <a:solidFill>
                        <a:srgbClr val="D8E1E5"/>
                      </a:solidFill>
                      <a:prstDash val="solid"/>
                    </a:lnL>
                    <a:lnR w="5715">
                      <a:solidFill>
                        <a:srgbClr val="D8E1E5"/>
                      </a:solidFill>
                      <a:prstDash val="solid"/>
                    </a:lnR>
                    <a:lnT w="5715">
                      <a:solidFill>
                        <a:srgbClr val="D8E1E5"/>
                      </a:solidFill>
                      <a:prstDash val="solid"/>
                    </a:lnT>
                    <a:lnB w="5715">
                      <a:solidFill>
                        <a:srgbClr val="D8E1E5"/>
                      </a:solidFill>
                      <a:prstDash val="solid"/>
                    </a:lnB>
                    <a:solidFill>
                      <a:srgbClr val="245D7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Value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8E1E5"/>
                      </a:solidFill>
                      <a:prstDash val="solid"/>
                    </a:lnR>
                    <a:lnT w="5715">
                      <a:solidFill>
                        <a:srgbClr val="D8E1E5"/>
                      </a:solidFill>
                      <a:prstDash val="solid"/>
                    </a:lnT>
                    <a:lnB w="5715">
                      <a:solidFill>
                        <a:srgbClr val="D8E1E5"/>
                      </a:solidFill>
                      <a:prstDash val="solid"/>
                    </a:lnB>
                    <a:solidFill>
                      <a:srgbClr val="245D73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73747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Boltz2 Exact ipSAE (A/B, Type=max)</a:t>
                      </a:r>
                    </a:p>
                  </a:txBody>
                  <a:tcPr marL="91440" marR="91440" marT="45720" marB="45720">
                    <a:lnL w="5715">
                      <a:solidFill>
                        <a:srgbClr val="D8E1E5"/>
                      </a:solidFill>
                      <a:prstDash val="solid"/>
                    </a:lnL>
                    <a:lnR w="5715">
                      <a:solidFill>
                        <a:srgbClr val="D8E1E5"/>
                      </a:solidFill>
                      <a:prstDash val="solid"/>
                    </a:lnR>
                    <a:lnB w="5715">
                      <a:solidFill>
                        <a:srgbClr val="D8E1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73747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0.901831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8E1E5"/>
                      </a:solidFill>
                      <a:prstDash val="solid"/>
                    </a:lnR>
                    <a:lnB w="5715">
                      <a:solidFill>
                        <a:srgbClr val="D8E1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73747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DeltaForge predicted Kd (nM)</a:t>
                      </a:r>
                    </a:p>
                  </a:txBody>
                  <a:tcPr marL="91440" marR="91440" marT="45720" marB="45720">
                    <a:lnL w="5715">
                      <a:solidFill>
                        <a:srgbClr val="D8E1E5"/>
                      </a:solidFill>
                      <a:prstDash val="solid"/>
                    </a:lnL>
                    <a:lnR w="5715">
                      <a:solidFill>
                        <a:srgbClr val="D8E1E5"/>
                      </a:solidFill>
                      <a:prstDash val="solid"/>
                    </a:lnR>
                    <a:lnB w="5715">
                      <a:solidFill>
                        <a:srgbClr val="D8E1E5"/>
                      </a:solidFill>
                      <a:prstDash val="solid"/>
                    </a:lnB>
                    <a:solidFill>
                      <a:srgbClr val="F1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73747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1.2465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8E1E5"/>
                      </a:solidFill>
                      <a:prstDash val="solid"/>
                    </a:lnR>
                    <a:lnB w="5715">
                      <a:solidFill>
                        <a:srgbClr val="D8E1E5"/>
                      </a:solidFill>
                      <a:prstDash val="solid"/>
                    </a:lnB>
                    <a:solidFill>
                      <a:srgbClr val="F1F5F7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73747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Boltz2 Exact ipTM</a:t>
                      </a:r>
                    </a:p>
                  </a:txBody>
                  <a:tcPr marL="91440" marR="91440" marT="45720" marB="45720">
                    <a:lnL w="5715">
                      <a:solidFill>
                        <a:srgbClr val="D8E1E5"/>
                      </a:solidFill>
                      <a:prstDash val="solid"/>
                    </a:lnL>
                    <a:lnR w="5715">
                      <a:solidFill>
                        <a:srgbClr val="D8E1E5"/>
                      </a:solidFill>
                      <a:prstDash val="solid"/>
                    </a:lnR>
                    <a:lnB w="5715">
                      <a:solidFill>
                        <a:srgbClr val="D8E1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73747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0.8970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8E1E5"/>
                      </a:solidFill>
                      <a:prstDash val="solid"/>
                    </a:lnR>
                    <a:lnB w="5715">
                      <a:solidFill>
                        <a:srgbClr val="D8E1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73747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Original population ipSAE rank</a:t>
                      </a:r>
                    </a:p>
                  </a:txBody>
                  <a:tcPr marL="91440" marR="91440" marT="45720" marB="45720">
                    <a:lnL w="5715">
                      <a:solidFill>
                        <a:srgbClr val="D8E1E5"/>
                      </a:solidFill>
                      <a:prstDash val="solid"/>
                    </a:lnL>
                    <a:lnR w="5715">
                      <a:solidFill>
                        <a:srgbClr val="D8E1E5"/>
                      </a:solidFill>
                      <a:prstDash val="solid"/>
                    </a:lnR>
                    <a:lnB w="5715">
                      <a:solidFill>
                        <a:srgbClr val="D8E1E5"/>
                      </a:solidFill>
                      <a:prstDash val="solid"/>
                    </a:lnB>
                    <a:solidFill>
                      <a:srgbClr val="F1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73747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9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8E1E5"/>
                      </a:solidFill>
                      <a:prstDash val="solid"/>
                    </a:lnR>
                    <a:lnB w="5715">
                      <a:solidFill>
                        <a:srgbClr val="D8E1E5"/>
                      </a:solidFill>
                      <a:prstDash val="solid"/>
                    </a:lnB>
                    <a:solidFill>
                      <a:srgbClr val="F1F5F7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73747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Predicted-Kd rank within population top50</a:t>
                      </a:r>
                    </a:p>
                  </a:txBody>
                  <a:tcPr marL="91440" marR="91440" marT="45720" marB="45720">
                    <a:lnL w="5715">
                      <a:solidFill>
                        <a:srgbClr val="D8E1E5"/>
                      </a:solidFill>
                      <a:prstDash val="solid"/>
                    </a:lnL>
                    <a:lnR w="5715">
                      <a:solidFill>
                        <a:srgbClr val="D8E1E5"/>
                      </a:solidFill>
                      <a:prstDash val="solid"/>
                    </a:lnR>
                    <a:lnB w="5715">
                      <a:solidFill>
                        <a:srgbClr val="D8E1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73747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11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8E1E5"/>
                      </a:solidFill>
                      <a:prstDash val="solid"/>
                    </a:lnR>
                    <a:lnB w="5715">
                      <a:solidFill>
                        <a:srgbClr val="D8E1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73747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Candidate / receptor residues (aa)</a:t>
                      </a:r>
                    </a:p>
                  </a:txBody>
                  <a:tcPr marL="91440" marR="91440" marT="45720" marB="45720">
                    <a:lnL w="5715">
                      <a:solidFill>
                        <a:srgbClr val="D8E1E5"/>
                      </a:solidFill>
                      <a:prstDash val="solid"/>
                    </a:lnL>
                    <a:lnR w="5715">
                      <a:solidFill>
                        <a:srgbClr val="D8E1E5"/>
                      </a:solidFill>
                      <a:prstDash val="solid"/>
                    </a:lnR>
                    <a:lnB w="5715">
                      <a:solidFill>
                        <a:srgbClr val="D8E1E5"/>
                      </a:solidFill>
                      <a:prstDash val="solid"/>
                    </a:lnB>
                    <a:solidFill>
                      <a:srgbClr val="F1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73747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154 / 440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8E1E5"/>
                      </a:solidFill>
                      <a:prstDash val="solid"/>
                    </a:lnR>
                    <a:lnB w="5715">
                      <a:solidFill>
                        <a:srgbClr val="D8E1E5"/>
                      </a:solidFill>
                      <a:prstDash val="solid"/>
                    </a:lnB>
                    <a:solidFill>
                      <a:srgbClr val="F1F5F7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73747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pDockQ / pDockQ2</a:t>
                      </a:r>
                    </a:p>
                  </a:txBody>
                  <a:tcPr marL="91440" marR="91440" marT="45720" marB="45720">
                    <a:lnL w="5715">
                      <a:solidFill>
                        <a:srgbClr val="D8E1E5"/>
                      </a:solidFill>
                      <a:prstDash val="solid"/>
                    </a:lnL>
                    <a:lnR w="5715">
                      <a:solidFill>
                        <a:srgbClr val="D8E1E5"/>
                      </a:solidFill>
                      <a:prstDash val="solid"/>
                    </a:lnR>
                    <a:lnB w="5715">
                      <a:solidFill>
                        <a:srgbClr val="D8E1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73747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0.2443 / 0.1578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8E1E5"/>
                      </a:solidFill>
                      <a:prstDash val="solid"/>
                    </a:lnR>
                    <a:lnB w="5715">
                      <a:solidFill>
                        <a:srgbClr val="D8E1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73747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Whole fusion / linker pLDDT (0-100)</a:t>
                      </a:r>
                    </a:p>
                  </a:txBody>
                  <a:tcPr marL="91440" marR="91440" marT="45720" marB="45720">
                    <a:lnL w="5715">
                      <a:solidFill>
                        <a:srgbClr val="D8E1E5"/>
                      </a:solidFill>
                      <a:prstDash val="solid"/>
                    </a:lnL>
                    <a:lnR w="5715">
                      <a:solidFill>
                        <a:srgbClr val="D8E1E5"/>
                      </a:solidFill>
                      <a:prstDash val="solid"/>
                    </a:lnR>
                    <a:lnB w="5715">
                      <a:solidFill>
                        <a:srgbClr val="D8E1E5"/>
                      </a:solidFill>
                      <a:prstDash val="solid"/>
                    </a:lnB>
                    <a:solidFill>
                      <a:srgbClr val="F1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73747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47.1 / 40.5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8E1E5"/>
                      </a:solidFill>
                      <a:prstDash val="solid"/>
                    </a:lnR>
                    <a:lnB w="5715">
                      <a:solidFill>
                        <a:srgbClr val="D8E1E5"/>
                      </a:solidFill>
                      <a:prstDash val="solid"/>
                    </a:lnB>
                    <a:solidFill>
                      <a:srgbClr val="F1F5F7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73747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ECD / LigandForge pLDDT (0-100)</a:t>
                      </a:r>
                    </a:p>
                  </a:txBody>
                  <a:tcPr marL="91440" marR="91440" marT="45720" marB="45720">
                    <a:lnL w="5715">
                      <a:solidFill>
                        <a:srgbClr val="D8E1E5"/>
                      </a:solidFill>
                      <a:prstDash val="solid"/>
                    </a:lnL>
                    <a:lnR w="5715">
                      <a:solidFill>
                        <a:srgbClr val="D8E1E5"/>
                      </a:solidFill>
                      <a:prstDash val="solid"/>
                    </a:lnR>
                    <a:lnB w="5715">
                      <a:solidFill>
                        <a:srgbClr val="D8E1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73747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61.4 / 40.1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8E1E5"/>
                      </a:solidFill>
                      <a:prstDash val="solid"/>
                    </a:lnR>
                    <a:lnB w="5715">
                      <a:solidFill>
                        <a:srgbClr val="D8E1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73747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Fusion design-to-refold DockQ</a:t>
                      </a:r>
                    </a:p>
                  </a:txBody>
                  <a:tcPr marL="91440" marR="91440" marT="45720" marB="45720">
                    <a:lnL w="5715">
                      <a:solidFill>
                        <a:srgbClr val="D8E1E5"/>
                      </a:solidFill>
                      <a:prstDash val="solid"/>
                    </a:lnL>
                    <a:lnR w="5715">
                      <a:solidFill>
                        <a:srgbClr val="D8E1E5"/>
                      </a:solidFill>
                      <a:prstDash val="solid"/>
                    </a:lnR>
                    <a:lnB w="5715">
                      <a:solidFill>
                        <a:srgbClr val="D8E1E5"/>
                      </a:solidFill>
                      <a:prstDash val="solid"/>
                    </a:lnB>
                    <a:solidFill>
                      <a:srgbClr val="F1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73747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0.1204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8E1E5"/>
                      </a:solidFill>
                      <a:prstDash val="solid"/>
                    </a:lnR>
                    <a:lnB w="5715">
                      <a:solidFill>
                        <a:srgbClr val="D8E1E5"/>
                      </a:solidFill>
                      <a:prstDash val="solid"/>
                    </a:lnB>
                    <a:solidFill>
                      <a:srgbClr val="F1F5F7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73747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Free C-terminal OPM z (A)</a:t>
                      </a:r>
                    </a:p>
                  </a:txBody>
                  <a:tcPr marL="91440" marR="91440" marT="45720" marB="45720">
                    <a:lnL w="5715">
                      <a:solidFill>
                        <a:srgbClr val="D8E1E5"/>
                      </a:solidFill>
                      <a:prstDash val="solid"/>
                    </a:lnL>
                    <a:lnR w="5715">
                      <a:solidFill>
                        <a:srgbClr val="D8E1E5"/>
                      </a:solidFill>
                      <a:prstDash val="solid"/>
                    </a:lnR>
                    <a:lnB w="5715">
                      <a:solidFill>
                        <a:srgbClr val="D8E1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73747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48.54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8E1E5"/>
                      </a:solidFill>
                      <a:prstDash val="solid"/>
                    </a:lnR>
                    <a:lnB w="5715">
                      <a:solidFill>
                        <a:srgbClr val="D8E1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73747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Extracellular free C-terminal screen</a:t>
                      </a:r>
                    </a:p>
                  </a:txBody>
                  <a:tcPr marL="91440" marR="91440" marT="45720" marB="45720">
                    <a:lnL w="5715">
                      <a:solidFill>
                        <a:srgbClr val="D8E1E5"/>
                      </a:solidFill>
                      <a:prstDash val="solid"/>
                    </a:lnL>
                    <a:lnR w="5715">
                      <a:solidFill>
                        <a:srgbClr val="D8E1E5"/>
                      </a:solidFill>
                      <a:prstDash val="solid"/>
                    </a:lnR>
                    <a:lnB w="5715">
                      <a:solidFill>
                        <a:srgbClr val="D8E1E5"/>
                      </a:solidFill>
                      <a:prstDash val="solid"/>
                    </a:lnB>
                    <a:solidFill>
                      <a:srgbClr val="F1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73747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Pass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8E1E5"/>
                      </a:solidFill>
                      <a:prstDash val="solid"/>
                    </a:lnR>
                    <a:lnB w="5715">
                      <a:solidFill>
                        <a:srgbClr val="D8E1E5"/>
                      </a:solidFill>
                      <a:prstDash val="solid"/>
                    </a:lnB>
                    <a:solidFill>
                      <a:srgbClr val="F1F5F7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73747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DeltaForge length scope</a:t>
                      </a:r>
                    </a:p>
                  </a:txBody>
                  <a:tcPr marL="91440" marR="91440" marT="45720" marB="45720">
                    <a:lnL w="5715">
                      <a:solidFill>
                        <a:srgbClr val="D8E1E5"/>
                      </a:solidFill>
                      <a:prstDash val="solid"/>
                    </a:lnL>
                    <a:lnR w="5715">
                      <a:solidFill>
                        <a:srgbClr val="D8E1E5"/>
                      </a:solidFill>
                      <a:prstDash val="solid"/>
                    </a:lnR>
                    <a:lnB w="5715">
                      <a:solidFill>
                        <a:srgbClr val="D8E1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73747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long_gt_140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8E1E5"/>
                      </a:solidFill>
                      <a:prstDash val="solid"/>
                    </a:lnR>
                    <a:lnB w="5715">
                      <a:solidFill>
                        <a:srgbClr val="D8E1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8B3CDD9-CC77-40D4-B292-5239F1FB7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1457325"/>
            <a:ext cx="4095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950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950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950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950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950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950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950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950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950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950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173747"/>
                </a:solidFill>
                <a:latin typeface="DejaVu Sans"/>
                <a:ea typeface="DejaVu Sans"/>
                <a:cs typeface="DejaVu Sans"/>
              </a:rPr>
              <a:t>Origin and prediction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EBA7FE2-D474-4CD7-A8F3-A6391537C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1952625"/>
            <a:ext cx="4095750" cy="390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725" b="0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725" b="0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725" b="0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725" b="0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725" b="0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725" b="0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725" b="0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725" b="0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725" b="0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725" b="0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173747"/>
                </a:solidFill>
                <a:latin typeface="DejaVu Sans"/>
                <a:ea typeface="DejaVu Sans"/>
                <a:cs typeface="DejaVu Sans"/>
              </a:rPr>
              <a:t>ECD parent S10_02_023</a:t>
            </a:r>
          </a:p>
          <a:p xmlns:a="http://schemas.openxmlformats.org/drawingml/2006/main">
            <a:pPr>
              <a:defRPr sz="1725" b="0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173747"/>
                </a:solidFill>
                <a:latin typeface="DejaVu Sans"/>
                <a:ea typeface="DejaVu Sans"/>
                <a:cs typeface="DejaVu Sans"/>
              </a:rPr>
              <a:t>LigandForge parent Design_280</a:t>
            </a:r>
          </a:p>
          <a:p xmlns:a="http://schemas.openxmlformats.org/drawingml/2006/main">
            <a:pPr>
              <a:defRPr sz="1725" b="0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173747"/>
                </a:solidFill>
                <a:latin typeface="DejaVu Sans"/>
                <a:ea typeface="DejaVu Sans"/>
                <a:cs typeface="DejaVu Sans"/>
              </a:rPr>
              <a:t>Pair P069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725" b="0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173747"/>
                </a:solidFill>
                <a:latin typeface="DejaVu Sans"/>
                <a:ea typeface="DejaVu Sans"/>
                <a:cs typeface="DejaVu Sans"/>
              </a:rPr>
              <a:t>AP Novo seed 795</a:t>
            </a:r>
          </a:p>
          <a:p xmlns:a="http://schemas.openxmlformats.org/drawingml/2006/main">
            <a:pPr>
              <a:defRPr sz="1725" b="0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173747"/>
                </a:solidFill>
                <a:latin typeface="DejaVu Sans"/>
                <a:ea typeface="DejaVu Sans"/>
                <a:cs typeface="DejaVu Sans"/>
              </a:rPr>
              <a:t>Exact seed 101</a:t>
            </a:r>
          </a:p>
          <a:p xmlns:a="http://schemas.openxmlformats.org/drawingml/2006/main">
            <a:pPr>
              <a:defRPr sz="1725" b="0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173747"/>
                </a:solidFill>
                <a:latin typeface="DejaVu Sans"/>
                <a:ea typeface="DejaVu Sans"/>
                <a:cs typeface="DejaVu Sans"/>
              </a:rPr>
              <a:t>3 recycles, 200 steps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725" b="0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173747"/>
                </a:solidFill>
                <a:latin typeface="DejaVu Sans"/>
                <a:ea typeface="DejaVu Sans"/>
                <a:cs typeface="DejaVu Sans"/>
              </a:rPr>
              <a:t>ECD A1-50  linker A51-85  LF A86-154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1528C2D-988E-4227-B7B8-98C9BF1BE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81750"/>
            <a:ext cx="14192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650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650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650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650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650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650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650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650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650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650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50616C"/>
                </a:solidFill>
                <a:latin typeface="DejaVu Sans"/>
                <a:ea typeface="DejaVu Sans"/>
                <a:cs typeface="DejaVu Sans"/>
              </a:rPr>
              <a:t>Whole-fusion pLDDT remains modest. High interface confidence does not establish activation.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1A230B2-4497-447C-9697-6637330AD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115175"/>
            <a:ext cx="14192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57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57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57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57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57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57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57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57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57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57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57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pPr>
            <a:r>
              <a:rPr sz="1575" b="1">
                <a:solidFill>
                  <a:srgbClr val="173747"/>
                </a:solidFill>
                <a:latin typeface="DejaVu Sans"/>
                <a:ea typeface="DejaVu Sans"/>
                <a:cs typeface="DejaVu Sans"/>
              </a:rPr>
              <a:t>Complete selected sequence, N to C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32743C3-1261-441A-8A3D-7493DAC91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410450"/>
            <a:ext cx="141922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500" b="0">
                <a:solidFill>
                  <a:srgbClr val="173747"/>
                </a:solidFill>
                <a:latin typeface="DejaVu Sans Mono"/>
                <a:ea typeface="DejaVu Sans Mono"/>
                <a:cs typeface="DejaVu Sans Mono"/>
              </a:defRPr>
            </a:defPPr>
            <a:lvl1pPr>
              <a:defRPr sz="1500" b="0">
                <a:solidFill>
                  <a:srgbClr val="173747"/>
                </a:solidFill>
                <a:latin typeface="DejaVu Sans Mono"/>
                <a:ea typeface="DejaVu Sans Mono"/>
                <a:cs typeface="DejaVu Sans Mono"/>
              </a:defRPr>
            </a:lvl1pPr>
            <a:lvl2pPr>
              <a:defRPr sz="1500" b="0">
                <a:solidFill>
                  <a:srgbClr val="173747"/>
                </a:solidFill>
                <a:latin typeface="DejaVu Sans Mono"/>
                <a:ea typeface="DejaVu Sans Mono"/>
                <a:cs typeface="DejaVu Sans Mono"/>
              </a:defRPr>
            </a:lvl2pPr>
            <a:lvl3pPr>
              <a:defRPr sz="1500" b="0">
                <a:solidFill>
                  <a:srgbClr val="173747"/>
                </a:solidFill>
                <a:latin typeface="DejaVu Sans Mono"/>
                <a:ea typeface="DejaVu Sans Mono"/>
                <a:cs typeface="DejaVu Sans Mono"/>
              </a:defRPr>
            </a:lvl3pPr>
            <a:lvl4pPr>
              <a:defRPr sz="1500" b="0">
                <a:solidFill>
                  <a:srgbClr val="173747"/>
                </a:solidFill>
                <a:latin typeface="DejaVu Sans Mono"/>
                <a:ea typeface="DejaVu Sans Mono"/>
                <a:cs typeface="DejaVu Sans Mono"/>
              </a:defRPr>
            </a:lvl4pPr>
            <a:lvl5pPr>
              <a:defRPr sz="1500" b="0">
                <a:solidFill>
                  <a:srgbClr val="173747"/>
                </a:solidFill>
                <a:latin typeface="DejaVu Sans Mono"/>
                <a:ea typeface="DejaVu Sans Mono"/>
                <a:cs typeface="DejaVu Sans Mono"/>
              </a:defRPr>
            </a:lvl5pPr>
            <a:lvl6pPr>
              <a:defRPr sz="1500" b="0">
                <a:solidFill>
                  <a:srgbClr val="173747"/>
                </a:solidFill>
                <a:latin typeface="DejaVu Sans Mono"/>
                <a:ea typeface="DejaVu Sans Mono"/>
                <a:cs typeface="DejaVu Sans Mono"/>
              </a:defRPr>
            </a:lvl6pPr>
            <a:lvl7pPr>
              <a:defRPr sz="1500" b="0">
                <a:solidFill>
                  <a:srgbClr val="173747"/>
                </a:solidFill>
                <a:latin typeface="DejaVu Sans Mono"/>
                <a:ea typeface="DejaVu Sans Mono"/>
                <a:cs typeface="DejaVu Sans Mono"/>
              </a:defRPr>
            </a:lvl7pPr>
            <a:lvl8pPr>
              <a:defRPr sz="1500" b="0">
                <a:solidFill>
                  <a:srgbClr val="173747"/>
                </a:solidFill>
                <a:latin typeface="DejaVu Sans Mono"/>
                <a:ea typeface="DejaVu Sans Mono"/>
                <a:cs typeface="DejaVu Sans Mono"/>
              </a:defRPr>
            </a:lvl8pPr>
            <a:lvl9pPr>
              <a:defRPr sz="1500" b="0">
                <a:solidFill>
                  <a:srgbClr val="173747"/>
                </a:solidFill>
                <a:latin typeface="DejaVu Sans Mono"/>
                <a:ea typeface="DejaVu Sans Mono"/>
                <a:cs typeface="DejaVu Sans Mono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173747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00" b="0">
                <a:solidFill>
                  <a:srgbClr val="173747"/>
                </a:solidFill>
                <a:latin typeface="DejaVu Sans Mono"/>
                <a:ea typeface="DejaVu Sans Mono"/>
                <a:cs typeface="DejaVu Sans Mono"/>
              </a:rPr>
              <a:t>MSIDYSSLVTHSPTGVAEATEFLYRYYQLREIPLETFIAVASALYHSSLLGGLGEFSDNGLPPVAPLPPGLPVP</a:t>
            </a:r>
          </a:p>
          <a:p xmlns:a="http://schemas.openxmlformats.org/drawingml/2006/main">
            <a:pPr>
              <a:defRPr sz="1500" b="0">
                <a:solidFill>
                  <a:srgbClr val="173747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00" b="0">
                <a:solidFill>
                  <a:srgbClr val="173747"/>
                </a:solidFill>
                <a:latin typeface="DejaVu Sans Mono"/>
                <a:ea typeface="DejaVu Sans Mono"/>
                <a:cs typeface="DejaVu Sans Mono"/>
              </a:rPr>
              <a:t>DLPQDEESDIKEVSGATIDLRVKTCVDFKQTVNFFKLRNTQLPGSCTKDNTVLFLLEGLKLGYASRYFSIGSGS</a:t>
            </a:r>
          </a:p>
          <a:p xmlns:a="http://schemas.openxmlformats.org/drawingml/2006/main">
            <a:pPr>
              <a:defRPr sz="1500" b="0">
                <a:solidFill>
                  <a:srgbClr val="173747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00" b="0">
                <a:solidFill>
                  <a:srgbClr val="173747"/>
                </a:solidFill>
                <a:latin typeface="DejaVu Sans Mono"/>
                <a:ea typeface="DejaVu Sans Mono"/>
                <a:cs typeface="DejaVu Sans Mono"/>
              </a:rPr>
              <a:t>GSQQFS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76F7AA3-82D2-4FF3-836E-E5D34987A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248650"/>
            <a:ext cx="1304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2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2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2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2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2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2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2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2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2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2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50616C"/>
                </a:solidFill>
                <a:latin typeface="DejaVu Sans"/>
                <a:ea typeface="DejaVu Sans"/>
                <a:cs typeface="DejaVu Sans"/>
              </a:rPr>
              <a:t>Human GLP1R     Boltz2 Exact     Computational predictions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227EFBF-271D-44F7-9F89-455631866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0" y="82486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2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2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2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2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2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2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2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2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2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2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50616C"/>
                </a:solidFill>
                <a:latin typeface="DejaVu Sans"/>
                <a:ea typeface="DejaVu Sans"/>
                <a:cs typeface="DejaVu Sans"/>
              </a:rPr>
              <a:t>17</a:t>
            </a:r>
          </a:p>
        </p:txBody>
      </p:sp>
    </p:spTree>
    <p:extLst>
      <p:ext uri="{BB962C8B-B14F-4D97-AF65-F5344CB8AC3E}">
        <p14:creationId xmlns:p14="http://schemas.microsoft.com/office/powerpoint/2010/main" val="1254164609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CF0D41E-0111-4526-89EC-AA4FAFB89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76225"/>
            <a:ext cx="1428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22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322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322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322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322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322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322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322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322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322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73747"/>
                </a:solidFill>
                <a:latin typeface="DejaVu Sans"/>
                <a:ea typeface="DejaVu Sans"/>
                <a:cs typeface="DejaVu Sans"/>
              </a:rPr>
              <a:t>09  LK_P069_04  structure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BBDF506-9BA0-4078-81F8-926348239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95350"/>
            <a:ext cx="1428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8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8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8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8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8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8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8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8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8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50616C"/>
                </a:solidFill>
                <a:latin typeface="DejaVu Sans"/>
                <a:ea typeface="DejaVu Sans"/>
                <a:cs typeface="DejaVu Sans"/>
              </a:rPr>
              <a:t>D-L-D fusion   Candidate A: 154 aa   Human GLP1R B: 440 aa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E0F544F-5651-4A15-9144-92A4539C5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362075"/>
            <a:ext cx="619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7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87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87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87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87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87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87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87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87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87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173747"/>
                </a:solidFill>
                <a:latin typeface="DejaVu Sans"/>
                <a:ea typeface="DejaVu Sans"/>
                <a:cs typeface="DejaVu Sans"/>
              </a:rPr>
              <a:t>Boltz2 Exact receptor complex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48E3CF2-2BAE-48BD-AF08-5767AECB3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362075"/>
            <a:ext cx="619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7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87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87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87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87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87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87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87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87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87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173747"/>
                </a:solidFill>
                <a:latin typeface="DejaVu Sans"/>
                <a:ea typeface="DejaVu Sans"/>
                <a:cs typeface="DejaVu Sans"/>
              </a:rPr>
              <a:t>Boltz2 Exact interface detail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51FA838-C8CE-44F8-87EE-46A8B89A9FE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31c3a3eff374b5b"/>
          <a:stretch xmlns:a="http://schemas.openxmlformats.org/drawingml/2006/main"/>
        </p:blipFill>
        <p:spPr>
          <a:xfrm xmlns:a="http://schemas.openxmlformats.org/drawingml/2006/main">
            <a:off x="2344208" y="1724025"/>
            <a:ext cx="3217333" cy="4572000"/>
          </a:xfrm>
          <a:prstGeom xmlns:a="http://schemas.openxmlformats.org/drawingml/2006/main" prst="rect">
            <a:avLst/>
          </a:prstGeom>
        </p:spPr>
      </p:pic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AFBDEAD-01A7-4B6B-ABA4-E52E6026A15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3b8776ffbc04089"/>
          <a:stretch xmlns:a="http://schemas.openxmlformats.org/drawingml/2006/main"/>
        </p:blipFill>
        <p:spPr>
          <a:xfrm xmlns:a="http://schemas.openxmlformats.org/drawingml/2006/main">
            <a:off x="9296093" y="1724025"/>
            <a:ext cx="3982065" cy="457200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DAE90B8-76C0-4EC9-9A00-F326D3C51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579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650" b="1">
                <a:solidFill>
                  <a:srgbClr val="E69F00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650" b="1">
                <a:solidFill>
                  <a:srgbClr val="E69F00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650" b="1">
                <a:solidFill>
                  <a:srgbClr val="E69F00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650" b="1">
                <a:solidFill>
                  <a:srgbClr val="E69F00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650" b="1">
                <a:solidFill>
                  <a:srgbClr val="E69F00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650" b="1">
                <a:solidFill>
                  <a:srgbClr val="E69F00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650" b="1">
                <a:solidFill>
                  <a:srgbClr val="E69F00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650" b="1">
                <a:solidFill>
                  <a:srgbClr val="E69F00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650" b="1">
                <a:solidFill>
                  <a:srgbClr val="E69F00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650" b="1">
                <a:solidFill>
                  <a:srgbClr val="E69F00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E69F00"/>
                </a:solidFill>
                <a:latin typeface="DejaVu Sans"/>
                <a:ea typeface="DejaVu Sans"/>
                <a:cs typeface="DejaVu Sans"/>
              </a:defRPr>
            </a:pPr>
            <a:r>
              <a:rPr sz="1650" b="1">
                <a:solidFill>
                  <a:srgbClr val="E69F00"/>
                </a:solidFill>
                <a:latin typeface="DejaVu Sans"/>
                <a:ea typeface="DejaVu Sans"/>
                <a:cs typeface="DejaVu Sans"/>
              </a:rPr>
              <a:t>LigandForge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12FC84A-7458-413C-8A94-F92835F1A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64579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650" b="1">
                <a:solidFill>
                  <a:srgbClr val="AA4499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650" b="1">
                <a:solidFill>
                  <a:srgbClr val="AA4499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650" b="1">
                <a:solidFill>
                  <a:srgbClr val="AA4499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650" b="1">
                <a:solidFill>
                  <a:srgbClr val="AA4499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650" b="1">
                <a:solidFill>
                  <a:srgbClr val="AA4499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650" b="1">
                <a:solidFill>
                  <a:srgbClr val="AA4499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650" b="1">
                <a:solidFill>
                  <a:srgbClr val="AA4499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650" b="1">
                <a:solidFill>
                  <a:srgbClr val="AA4499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650" b="1">
                <a:solidFill>
                  <a:srgbClr val="AA4499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650" b="1">
                <a:solidFill>
                  <a:srgbClr val="AA4499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AA4499"/>
                </a:solidFill>
                <a:latin typeface="DejaVu Sans"/>
                <a:ea typeface="DejaVu Sans"/>
                <a:cs typeface="DejaVu Sans"/>
              </a:defRPr>
            </a:pPr>
            <a:r>
              <a:rPr sz="1650" b="1">
                <a:solidFill>
                  <a:srgbClr val="AA4499"/>
                </a:solidFill>
                <a:latin typeface="DejaVu Sans"/>
                <a:ea typeface="DejaVu Sans"/>
                <a:cs typeface="DejaVu Sans"/>
              </a:rPr>
              <a:t>Linker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08B447D-DF56-49D9-B1EB-D5B316E6B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64579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650" b="1">
                <a:solidFill>
                  <a:srgbClr val="0072B2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650" b="1">
                <a:solidFill>
                  <a:srgbClr val="0072B2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650" b="1">
                <a:solidFill>
                  <a:srgbClr val="0072B2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650" b="1">
                <a:solidFill>
                  <a:srgbClr val="0072B2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650" b="1">
                <a:solidFill>
                  <a:srgbClr val="0072B2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650" b="1">
                <a:solidFill>
                  <a:srgbClr val="0072B2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650" b="1">
                <a:solidFill>
                  <a:srgbClr val="0072B2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650" b="1">
                <a:solidFill>
                  <a:srgbClr val="0072B2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650" b="1">
                <a:solidFill>
                  <a:srgbClr val="0072B2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650" b="1">
                <a:solidFill>
                  <a:srgbClr val="0072B2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0072B2"/>
                </a:solidFill>
                <a:latin typeface="DejaVu Sans"/>
                <a:ea typeface="DejaVu Sans"/>
                <a:cs typeface="DejaVu Sans"/>
              </a:defRPr>
            </a:pPr>
            <a:r>
              <a:rPr sz="1650" b="1">
                <a:solidFill>
                  <a:srgbClr val="0072B2"/>
                </a:solidFill>
                <a:latin typeface="DejaVu Sans"/>
                <a:ea typeface="DejaVu Sans"/>
                <a:cs typeface="DejaVu Sans"/>
              </a:rPr>
              <a:t>ECD binder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A8E694A-1C8F-4F7C-860A-3BD95EB51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64579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650" b="1">
                <a:solidFill>
                  <a:srgbClr val="009E73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650" b="1">
                <a:solidFill>
                  <a:srgbClr val="009E73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650" b="1">
                <a:solidFill>
                  <a:srgbClr val="009E73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650" b="1">
                <a:solidFill>
                  <a:srgbClr val="009E73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650" b="1">
                <a:solidFill>
                  <a:srgbClr val="009E73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650" b="1">
                <a:solidFill>
                  <a:srgbClr val="009E73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650" b="1">
                <a:solidFill>
                  <a:srgbClr val="009E73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650" b="1">
                <a:solidFill>
                  <a:srgbClr val="009E73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650" b="1">
                <a:solidFill>
                  <a:srgbClr val="009E73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650" b="1">
                <a:solidFill>
                  <a:srgbClr val="009E73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009E73"/>
                </a:solidFill>
                <a:latin typeface="DejaVu Sans"/>
                <a:ea typeface="DejaVu Sans"/>
                <a:cs typeface="DejaVu Sans"/>
              </a:defRPr>
            </a:pPr>
            <a:r>
              <a:rPr sz="1650" b="1">
                <a:solidFill>
                  <a:srgbClr val="009E73"/>
                </a:solidFill>
                <a:latin typeface="DejaVu Sans"/>
                <a:ea typeface="DejaVu Sans"/>
                <a:cs typeface="DejaVu Sans"/>
              </a:rPr>
              <a:t>Receptor ECD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E8E09E1-CC64-4BD2-8BAC-38784F55A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64579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650" b="1">
                <a:solidFill>
                  <a:srgbClr val="7B8794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650" b="1">
                <a:solidFill>
                  <a:srgbClr val="7B8794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650" b="1">
                <a:solidFill>
                  <a:srgbClr val="7B8794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650" b="1">
                <a:solidFill>
                  <a:srgbClr val="7B8794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650" b="1">
                <a:solidFill>
                  <a:srgbClr val="7B8794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650" b="1">
                <a:solidFill>
                  <a:srgbClr val="7B8794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650" b="1">
                <a:solidFill>
                  <a:srgbClr val="7B8794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650" b="1">
                <a:solidFill>
                  <a:srgbClr val="7B8794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650" b="1">
                <a:solidFill>
                  <a:srgbClr val="7B8794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650" b="1">
                <a:solidFill>
                  <a:srgbClr val="7B8794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7B8794"/>
                </a:solidFill>
                <a:latin typeface="DejaVu Sans"/>
                <a:ea typeface="DejaVu Sans"/>
                <a:cs typeface="DejaVu Sans"/>
              </a:defRPr>
            </a:pPr>
            <a:r>
              <a:rPr sz="1650" b="1">
                <a:solidFill>
                  <a:srgbClr val="7B8794"/>
                </a:solidFill>
                <a:latin typeface="DejaVu Sans"/>
                <a:ea typeface="DejaVu Sans"/>
                <a:cs typeface="DejaVu Sans"/>
              </a:rPr>
              <a:t>Remaining receptor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92991B9-B82A-4509-B60D-BF2F44E1B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0" y="64579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650" b="1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650" b="1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650" b="1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650" b="1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650" b="1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650" b="1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650" b="1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650" b="1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650" b="1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650" b="1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1650" b="1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Hotspots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47176FD-2587-454A-B62C-67C476CE3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800850"/>
            <a:ext cx="1428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42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42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42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42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42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42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42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42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42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42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>
                <a:solidFill>
                  <a:srgbClr val="50616C"/>
                </a:solidFill>
                <a:latin typeface="DejaVu Sans"/>
                <a:ea typeface="DejaVu Sans"/>
                <a:cs typeface="DejaVu Sans"/>
              </a:rPr>
              <a:t>Receptor ECD B1–105 (UniProt 24–128). Black sticks: E34, Q37 and R40. View-specific zoom.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269891D-5ED3-4BC4-8AF1-50AD2F69B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134225"/>
            <a:ext cx="14192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57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57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57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57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57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57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57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57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57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57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57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pPr>
            <a:r>
              <a:rPr sz="1575" b="1">
                <a:solidFill>
                  <a:srgbClr val="173747"/>
                </a:solidFill>
                <a:latin typeface="DejaVu Sans"/>
                <a:ea typeface="DejaVu Sans"/>
                <a:cs typeface="DejaVu Sans"/>
              </a:rPr>
              <a:t>Complete selected sequence, N to C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0FF8820-FE8C-4EF7-8FFC-B1FE67B56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429500"/>
            <a:ext cx="141922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500" b="0">
                <a:solidFill>
                  <a:srgbClr val="173747"/>
                </a:solidFill>
                <a:latin typeface="DejaVu Sans Mono"/>
                <a:ea typeface="DejaVu Sans Mono"/>
                <a:cs typeface="DejaVu Sans Mono"/>
              </a:defRPr>
            </a:defPPr>
            <a:lvl1pPr>
              <a:defRPr sz="1500" b="0">
                <a:solidFill>
                  <a:srgbClr val="173747"/>
                </a:solidFill>
                <a:latin typeface="DejaVu Sans Mono"/>
                <a:ea typeface="DejaVu Sans Mono"/>
                <a:cs typeface="DejaVu Sans Mono"/>
              </a:defRPr>
            </a:lvl1pPr>
            <a:lvl2pPr>
              <a:defRPr sz="1500" b="0">
                <a:solidFill>
                  <a:srgbClr val="173747"/>
                </a:solidFill>
                <a:latin typeface="DejaVu Sans Mono"/>
                <a:ea typeface="DejaVu Sans Mono"/>
                <a:cs typeface="DejaVu Sans Mono"/>
              </a:defRPr>
            </a:lvl2pPr>
            <a:lvl3pPr>
              <a:defRPr sz="1500" b="0">
                <a:solidFill>
                  <a:srgbClr val="173747"/>
                </a:solidFill>
                <a:latin typeface="DejaVu Sans Mono"/>
                <a:ea typeface="DejaVu Sans Mono"/>
                <a:cs typeface="DejaVu Sans Mono"/>
              </a:defRPr>
            </a:lvl3pPr>
            <a:lvl4pPr>
              <a:defRPr sz="1500" b="0">
                <a:solidFill>
                  <a:srgbClr val="173747"/>
                </a:solidFill>
                <a:latin typeface="DejaVu Sans Mono"/>
                <a:ea typeface="DejaVu Sans Mono"/>
                <a:cs typeface="DejaVu Sans Mono"/>
              </a:defRPr>
            </a:lvl4pPr>
            <a:lvl5pPr>
              <a:defRPr sz="1500" b="0">
                <a:solidFill>
                  <a:srgbClr val="173747"/>
                </a:solidFill>
                <a:latin typeface="DejaVu Sans Mono"/>
                <a:ea typeface="DejaVu Sans Mono"/>
                <a:cs typeface="DejaVu Sans Mono"/>
              </a:defRPr>
            </a:lvl5pPr>
            <a:lvl6pPr>
              <a:defRPr sz="1500" b="0">
                <a:solidFill>
                  <a:srgbClr val="173747"/>
                </a:solidFill>
                <a:latin typeface="DejaVu Sans Mono"/>
                <a:ea typeface="DejaVu Sans Mono"/>
                <a:cs typeface="DejaVu Sans Mono"/>
              </a:defRPr>
            </a:lvl6pPr>
            <a:lvl7pPr>
              <a:defRPr sz="1500" b="0">
                <a:solidFill>
                  <a:srgbClr val="173747"/>
                </a:solidFill>
                <a:latin typeface="DejaVu Sans Mono"/>
                <a:ea typeface="DejaVu Sans Mono"/>
                <a:cs typeface="DejaVu Sans Mono"/>
              </a:defRPr>
            </a:lvl7pPr>
            <a:lvl8pPr>
              <a:defRPr sz="1500" b="0">
                <a:solidFill>
                  <a:srgbClr val="173747"/>
                </a:solidFill>
                <a:latin typeface="DejaVu Sans Mono"/>
                <a:ea typeface="DejaVu Sans Mono"/>
                <a:cs typeface="DejaVu Sans Mono"/>
              </a:defRPr>
            </a:lvl8pPr>
            <a:lvl9pPr>
              <a:defRPr sz="1500" b="0">
                <a:solidFill>
                  <a:srgbClr val="173747"/>
                </a:solidFill>
                <a:latin typeface="DejaVu Sans Mono"/>
                <a:ea typeface="DejaVu Sans Mono"/>
                <a:cs typeface="DejaVu Sans Mono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173747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00" b="0">
                <a:solidFill>
                  <a:srgbClr val="173747"/>
                </a:solidFill>
                <a:latin typeface="DejaVu Sans Mono"/>
                <a:ea typeface="DejaVu Sans Mono"/>
                <a:cs typeface="DejaVu Sans Mono"/>
              </a:rPr>
              <a:t>MSIDYSSLVTHSPTGVAEATEFLYRYYQLREIPLETFIAVASALYHSSLLGGLGEFSDNGLPPVAPLPPGLPVP</a:t>
            </a:r>
          </a:p>
          <a:p xmlns:a="http://schemas.openxmlformats.org/drawingml/2006/main">
            <a:pPr>
              <a:defRPr sz="1500" b="0">
                <a:solidFill>
                  <a:srgbClr val="173747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00" b="0">
                <a:solidFill>
                  <a:srgbClr val="173747"/>
                </a:solidFill>
                <a:latin typeface="DejaVu Sans Mono"/>
                <a:ea typeface="DejaVu Sans Mono"/>
                <a:cs typeface="DejaVu Sans Mono"/>
              </a:rPr>
              <a:t>DLPQDEESDIKEVSGATIDLRVKTCVDFKQTVNFFKLRNTQLPGSCTKDNTVLFLLEGLKLGYASRYFSIGSGS</a:t>
            </a:r>
          </a:p>
          <a:p xmlns:a="http://schemas.openxmlformats.org/drawingml/2006/main">
            <a:pPr>
              <a:defRPr sz="1500" b="0">
                <a:solidFill>
                  <a:srgbClr val="173747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00" b="0">
                <a:solidFill>
                  <a:srgbClr val="173747"/>
                </a:solidFill>
                <a:latin typeface="DejaVu Sans Mono"/>
                <a:ea typeface="DejaVu Sans Mono"/>
                <a:cs typeface="DejaVu Sans Mono"/>
              </a:rPr>
              <a:t>GSQQFS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6A23F9C-662F-4CDE-AD67-1527629B0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248650"/>
            <a:ext cx="1304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2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2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2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2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2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2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2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2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2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2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50616C"/>
                </a:solidFill>
                <a:latin typeface="DejaVu Sans"/>
                <a:ea typeface="DejaVu Sans"/>
                <a:cs typeface="DejaVu Sans"/>
              </a:rPr>
              <a:t>Human GLP1R     Boltz2 Exact     Computational predictions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F36C48D-A9C8-4C31-A63E-96B28B69F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0" y="82486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2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2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2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2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2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2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2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2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2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2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50616C"/>
                </a:solidFill>
                <a:latin typeface="DejaVu Sans"/>
                <a:ea typeface="DejaVu Sans"/>
                <a:cs typeface="DejaVu Sans"/>
              </a:rPr>
              <a:t>18</a:t>
            </a:r>
          </a:p>
        </p:txBody>
      </p:sp>
    </p:spTree>
    <p:extLst>
      <p:ext uri="{BB962C8B-B14F-4D97-AF65-F5344CB8AC3E}">
        <p14:creationId xmlns:p14="http://schemas.microsoft.com/office/powerpoint/2010/main" val="919441348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C787D31-4F87-427E-9F0A-97D6E8000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76225"/>
            <a:ext cx="1428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22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322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322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322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322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322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322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322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322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322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73747"/>
                </a:solidFill>
                <a:latin typeface="DejaVu Sans"/>
                <a:ea typeface="DejaVu Sans"/>
                <a:cs typeface="DejaVu Sans"/>
              </a:rPr>
              <a:t>10  LK_P024_03  metrics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8E26B74-FC0D-4390-82FB-A3A2A409A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95350"/>
            <a:ext cx="1428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8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8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8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8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8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8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8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8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8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50616C"/>
                </a:solidFill>
                <a:latin typeface="DejaVu Sans"/>
                <a:ea typeface="DejaVu Sans"/>
                <a:cs typeface="DejaVu Sans"/>
              </a:rPr>
              <a:t>D-L-D fusion   Candidate A: 128 aa   Human GLP1R B: 440 aa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B932FD3-3EA3-4B6F-926A-32EF19E80B62}"/>
              </a:ext>
            </a:extLst>
          </p:cNvPr>
          <p:cNvGraphicFramePr/>
          <p:nvPr/>
        </p:nvGraphicFramePr>
        <p:xfrm>
          <a:off xmlns:a="http://schemas.openxmlformats.org/drawingml/2006/main" x="457200" y="1457325"/>
          <a:ext xmlns:a="http://schemas.openxmlformats.org/drawingml/2006/main" cx="9667875" cy="48006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6791325"/>
                <a:gridCol w="2876550"/>
              </a:tblGrid>
              <a:tr h="34290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Metric and scope</a:t>
                      </a:r>
                    </a:p>
                  </a:txBody>
                  <a:tcPr marL="91440" marR="91440" marT="45720" marB="45720">
                    <a:lnL w="5715">
                      <a:solidFill>
                        <a:srgbClr val="D8E1E5"/>
                      </a:solidFill>
                      <a:prstDash val="solid"/>
                    </a:lnL>
                    <a:lnR w="5715">
                      <a:solidFill>
                        <a:srgbClr val="D8E1E5"/>
                      </a:solidFill>
                      <a:prstDash val="solid"/>
                    </a:lnR>
                    <a:lnT w="5715">
                      <a:solidFill>
                        <a:srgbClr val="D8E1E5"/>
                      </a:solidFill>
                      <a:prstDash val="solid"/>
                    </a:lnT>
                    <a:lnB w="5715">
                      <a:solidFill>
                        <a:srgbClr val="D8E1E5"/>
                      </a:solidFill>
                      <a:prstDash val="solid"/>
                    </a:lnB>
                    <a:solidFill>
                      <a:srgbClr val="245D7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Value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8E1E5"/>
                      </a:solidFill>
                      <a:prstDash val="solid"/>
                    </a:lnR>
                    <a:lnT w="5715">
                      <a:solidFill>
                        <a:srgbClr val="D8E1E5"/>
                      </a:solidFill>
                      <a:prstDash val="solid"/>
                    </a:lnT>
                    <a:lnB w="5715">
                      <a:solidFill>
                        <a:srgbClr val="D8E1E5"/>
                      </a:solidFill>
                      <a:prstDash val="solid"/>
                    </a:lnB>
                    <a:solidFill>
                      <a:srgbClr val="245D73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73747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Boltz2 Exact ipSAE (A/B, Type=max)</a:t>
                      </a:r>
                    </a:p>
                  </a:txBody>
                  <a:tcPr marL="91440" marR="91440" marT="45720" marB="45720">
                    <a:lnL w="5715">
                      <a:solidFill>
                        <a:srgbClr val="D8E1E5"/>
                      </a:solidFill>
                      <a:prstDash val="solid"/>
                    </a:lnL>
                    <a:lnR w="5715">
                      <a:solidFill>
                        <a:srgbClr val="D8E1E5"/>
                      </a:solidFill>
                      <a:prstDash val="solid"/>
                    </a:lnR>
                    <a:lnB w="5715">
                      <a:solidFill>
                        <a:srgbClr val="D8E1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73747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0.901677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8E1E5"/>
                      </a:solidFill>
                      <a:prstDash val="solid"/>
                    </a:lnR>
                    <a:lnB w="5715">
                      <a:solidFill>
                        <a:srgbClr val="D8E1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73747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DeltaForge predicted Kd (nM)</a:t>
                      </a:r>
                    </a:p>
                  </a:txBody>
                  <a:tcPr marL="91440" marR="91440" marT="45720" marB="45720">
                    <a:lnL w="5715">
                      <a:solidFill>
                        <a:srgbClr val="D8E1E5"/>
                      </a:solidFill>
                      <a:prstDash val="solid"/>
                    </a:lnL>
                    <a:lnR w="5715">
                      <a:solidFill>
                        <a:srgbClr val="D8E1E5"/>
                      </a:solidFill>
                      <a:prstDash val="solid"/>
                    </a:lnR>
                    <a:lnB w="5715">
                      <a:solidFill>
                        <a:srgbClr val="D8E1E5"/>
                      </a:solidFill>
                      <a:prstDash val="solid"/>
                    </a:lnB>
                    <a:solidFill>
                      <a:srgbClr val="F1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73747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3.7889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8E1E5"/>
                      </a:solidFill>
                      <a:prstDash val="solid"/>
                    </a:lnR>
                    <a:lnB w="5715">
                      <a:solidFill>
                        <a:srgbClr val="D8E1E5"/>
                      </a:solidFill>
                      <a:prstDash val="solid"/>
                    </a:lnB>
                    <a:solidFill>
                      <a:srgbClr val="F1F5F7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73747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Boltz2 Exact ipTM</a:t>
                      </a:r>
                    </a:p>
                  </a:txBody>
                  <a:tcPr marL="91440" marR="91440" marT="45720" marB="45720">
                    <a:lnL w="5715">
                      <a:solidFill>
                        <a:srgbClr val="D8E1E5"/>
                      </a:solidFill>
                      <a:prstDash val="solid"/>
                    </a:lnL>
                    <a:lnR w="5715">
                      <a:solidFill>
                        <a:srgbClr val="D8E1E5"/>
                      </a:solidFill>
                      <a:prstDash val="solid"/>
                    </a:lnR>
                    <a:lnB w="5715">
                      <a:solidFill>
                        <a:srgbClr val="D8E1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73747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0.8706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8E1E5"/>
                      </a:solidFill>
                      <a:prstDash val="solid"/>
                    </a:lnR>
                    <a:lnB w="5715">
                      <a:solidFill>
                        <a:srgbClr val="D8E1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73747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Original population ipSAE rank</a:t>
                      </a:r>
                    </a:p>
                  </a:txBody>
                  <a:tcPr marL="91440" marR="91440" marT="45720" marB="45720">
                    <a:lnL w="5715">
                      <a:solidFill>
                        <a:srgbClr val="D8E1E5"/>
                      </a:solidFill>
                      <a:prstDash val="solid"/>
                    </a:lnL>
                    <a:lnR w="5715">
                      <a:solidFill>
                        <a:srgbClr val="D8E1E5"/>
                      </a:solidFill>
                      <a:prstDash val="solid"/>
                    </a:lnR>
                    <a:lnB w="5715">
                      <a:solidFill>
                        <a:srgbClr val="D8E1E5"/>
                      </a:solidFill>
                      <a:prstDash val="solid"/>
                    </a:lnB>
                    <a:solidFill>
                      <a:srgbClr val="F1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73747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10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8E1E5"/>
                      </a:solidFill>
                      <a:prstDash val="solid"/>
                    </a:lnR>
                    <a:lnB w="5715">
                      <a:solidFill>
                        <a:srgbClr val="D8E1E5"/>
                      </a:solidFill>
                      <a:prstDash val="solid"/>
                    </a:lnB>
                    <a:solidFill>
                      <a:srgbClr val="F1F5F7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73747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Predicted-Kd rank within population top50</a:t>
                      </a:r>
                    </a:p>
                  </a:txBody>
                  <a:tcPr marL="91440" marR="91440" marT="45720" marB="45720">
                    <a:lnL w="5715">
                      <a:solidFill>
                        <a:srgbClr val="D8E1E5"/>
                      </a:solidFill>
                      <a:prstDash val="solid"/>
                    </a:lnL>
                    <a:lnR w="5715">
                      <a:solidFill>
                        <a:srgbClr val="D8E1E5"/>
                      </a:solidFill>
                      <a:prstDash val="solid"/>
                    </a:lnR>
                    <a:lnB w="5715">
                      <a:solidFill>
                        <a:srgbClr val="D8E1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73747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33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8E1E5"/>
                      </a:solidFill>
                      <a:prstDash val="solid"/>
                    </a:lnR>
                    <a:lnB w="5715">
                      <a:solidFill>
                        <a:srgbClr val="D8E1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73747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Candidate / receptor residues (aa)</a:t>
                      </a:r>
                    </a:p>
                  </a:txBody>
                  <a:tcPr marL="91440" marR="91440" marT="45720" marB="45720">
                    <a:lnL w="5715">
                      <a:solidFill>
                        <a:srgbClr val="D8E1E5"/>
                      </a:solidFill>
                      <a:prstDash val="solid"/>
                    </a:lnL>
                    <a:lnR w="5715">
                      <a:solidFill>
                        <a:srgbClr val="D8E1E5"/>
                      </a:solidFill>
                      <a:prstDash val="solid"/>
                    </a:lnR>
                    <a:lnB w="5715">
                      <a:solidFill>
                        <a:srgbClr val="D8E1E5"/>
                      </a:solidFill>
                      <a:prstDash val="solid"/>
                    </a:lnB>
                    <a:solidFill>
                      <a:srgbClr val="F1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73747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128 / 440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8E1E5"/>
                      </a:solidFill>
                      <a:prstDash val="solid"/>
                    </a:lnR>
                    <a:lnB w="5715">
                      <a:solidFill>
                        <a:srgbClr val="D8E1E5"/>
                      </a:solidFill>
                      <a:prstDash val="solid"/>
                    </a:lnB>
                    <a:solidFill>
                      <a:srgbClr val="F1F5F7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73747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pDockQ / pDockQ2</a:t>
                      </a:r>
                    </a:p>
                  </a:txBody>
                  <a:tcPr marL="91440" marR="91440" marT="45720" marB="45720">
                    <a:lnL w="5715">
                      <a:solidFill>
                        <a:srgbClr val="D8E1E5"/>
                      </a:solidFill>
                      <a:prstDash val="solid"/>
                    </a:lnL>
                    <a:lnR w="5715">
                      <a:solidFill>
                        <a:srgbClr val="D8E1E5"/>
                      </a:solidFill>
                      <a:prstDash val="solid"/>
                    </a:lnR>
                    <a:lnB w="5715">
                      <a:solidFill>
                        <a:srgbClr val="D8E1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73747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0.3381 / 0.2317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8E1E5"/>
                      </a:solidFill>
                      <a:prstDash val="solid"/>
                    </a:lnR>
                    <a:lnB w="5715">
                      <a:solidFill>
                        <a:srgbClr val="D8E1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73747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Whole fusion / linker pLDDT (0-100)</a:t>
                      </a:r>
                    </a:p>
                  </a:txBody>
                  <a:tcPr marL="91440" marR="91440" marT="45720" marB="45720">
                    <a:lnL w="5715">
                      <a:solidFill>
                        <a:srgbClr val="D8E1E5"/>
                      </a:solidFill>
                      <a:prstDash val="solid"/>
                    </a:lnL>
                    <a:lnR w="5715">
                      <a:solidFill>
                        <a:srgbClr val="D8E1E5"/>
                      </a:solidFill>
                      <a:prstDash val="solid"/>
                    </a:lnR>
                    <a:lnB w="5715">
                      <a:solidFill>
                        <a:srgbClr val="D8E1E5"/>
                      </a:solidFill>
                      <a:prstDash val="solid"/>
                    </a:lnB>
                    <a:solidFill>
                      <a:srgbClr val="F1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73747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57.3 / 51.5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8E1E5"/>
                      </a:solidFill>
                      <a:prstDash val="solid"/>
                    </a:lnR>
                    <a:lnB w="5715">
                      <a:solidFill>
                        <a:srgbClr val="D8E1E5"/>
                      </a:solidFill>
                      <a:prstDash val="solid"/>
                    </a:lnB>
                    <a:solidFill>
                      <a:srgbClr val="F1F5F7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73747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ECD / LigandForge pLDDT (0-100)</a:t>
                      </a:r>
                    </a:p>
                  </a:txBody>
                  <a:tcPr marL="91440" marR="91440" marT="45720" marB="45720">
                    <a:lnL w="5715">
                      <a:solidFill>
                        <a:srgbClr val="D8E1E5"/>
                      </a:solidFill>
                      <a:prstDash val="solid"/>
                    </a:lnL>
                    <a:lnR w="5715">
                      <a:solidFill>
                        <a:srgbClr val="D8E1E5"/>
                      </a:solidFill>
                      <a:prstDash val="solid"/>
                    </a:lnR>
                    <a:lnB w="5715">
                      <a:solidFill>
                        <a:srgbClr val="D8E1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73747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69.3 / 49.8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8E1E5"/>
                      </a:solidFill>
                      <a:prstDash val="solid"/>
                    </a:lnR>
                    <a:lnB w="5715">
                      <a:solidFill>
                        <a:srgbClr val="D8E1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73747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Fusion design-to-refold DockQ</a:t>
                      </a:r>
                    </a:p>
                  </a:txBody>
                  <a:tcPr marL="91440" marR="91440" marT="45720" marB="45720">
                    <a:lnL w="5715">
                      <a:solidFill>
                        <a:srgbClr val="D8E1E5"/>
                      </a:solidFill>
                      <a:prstDash val="solid"/>
                    </a:lnL>
                    <a:lnR w="5715">
                      <a:solidFill>
                        <a:srgbClr val="D8E1E5"/>
                      </a:solidFill>
                      <a:prstDash val="solid"/>
                    </a:lnR>
                    <a:lnB w="5715">
                      <a:solidFill>
                        <a:srgbClr val="D8E1E5"/>
                      </a:solidFill>
                      <a:prstDash val="solid"/>
                    </a:lnB>
                    <a:solidFill>
                      <a:srgbClr val="F1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73747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0.2143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8E1E5"/>
                      </a:solidFill>
                      <a:prstDash val="solid"/>
                    </a:lnR>
                    <a:lnB w="5715">
                      <a:solidFill>
                        <a:srgbClr val="D8E1E5"/>
                      </a:solidFill>
                      <a:prstDash val="solid"/>
                    </a:lnB>
                    <a:solidFill>
                      <a:srgbClr val="F1F5F7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73747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Free C-terminal OPM z (A)</a:t>
                      </a:r>
                    </a:p>
                  </a:txBody>
                  <a:tcPr marL="91440" marR="91440" marT="45720" marB="45720">
                    <a:lnL w="5715">
                      <a:solidFill>
                        <a:srgbClr val="D8E1E5"/>
                      </a:solidFill>
                      <a:prstDash val="solid"/>
                    </a:lnL>
                    <a:lnR w="5715">
                      <a:solidFill>
                        <a:srgbClr val="D8E1E5"/>
                      </a:solidFill>
                      <a:prstDash val="solid"/>
                    </a:lnR>
                    <a:lnB w="5715">
                      <a:solidFill>
                        <a:srgbClr val="D8E1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73747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39.32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8E1E5"/>
                      </a:solidFill>
                      <a:prstDash val="solid"/>
                    </a:lnR>
                    <a:lnB w="5715">
                      <a:solidFill>
                        <a:srgbClr val="D8E1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73747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Extracellular free C-terminal screen</a:t>
                      </a:r>
                    </a:p>
                  </a:txBody>
                  <a:tcPr marL="91440" marR="91440" marT="45720" marB="45720">
                    <a:lnL w="5715">
                      <a:solidFill>
                        <a:srgbClr val="D8E1E5"/>
                      </a:solidFill>
                      <a:prstDash val="solid"/>
                    </a:lnL>
                    <a:lnR w="5715">
                      <a:solidFill>
                        <a:srgbClr val="D8E1E5"/>
                      </a:solidFill>
                      <a:prstDash val="solid"/>
                    </a:lnR>
                    <a:lnB w="5715">
                      <a:solidFill>
                        <a:srgbClr val="D8E1E5"/>
                      </a:solidFill>
                      <a:prstDash val="solid"/>
                    </a:lnB>
                    <a:solidFill>
                      <a:srgbClr val="F1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73747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Pass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8E1E5"/>
                      </a:solidFill>
                      <a:prstDash val="solid"/>
                    </a:lnR>
                    <a:lnB w="5715">
                      <a:solidFill>
                        <a:srgbClr val="D8E1E5"/>
                      </a:solidFill>
                      <a:prstDash val="solid"/>
                    </a:lnB>
                    <a:solidFill>
                      <a:srgbClr val="F1F5F7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73747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DeltaForge length scope</a:t>
                      </a:r>
                    </a:p>
                  </a:txBody>
                  <a:tcPr marL="91440" marR="91440" marT="45720" marB="45720">
                    <a:lnL w="5715">
                      <a:solidFill>
                        <a:srgbClr val="D8E1E5"/>
                      </a:solidFill>
                      <a:prstDash val="solid"/>
                    </a:lnL>
                    <a:lnR w="5715">
                      <a:solidFill>
                        <a:srgbClr val="D8E1E5"/>
                      </a:solidFill>
                      <a:prstDash val="solid"/>
                    </a:lnR>
                    <a:lnB w="5715">
                      <a:solidFill>
                        <a:srgbClr val="D8E1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73747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platform_8_140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8E1E5"/>
                      </a:solidFill>
                      <a:prstDash val="solid"/>
                    </a:lnR>
                    <a:lnB w="5715">
                      <a:solidFill>
                        <a:srgbClr val="D8E1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18396FE-B9D6-4D87-90DB-D57E4965F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1457325"/>
            <a:ext cx="4095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950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950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950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950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950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950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950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950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950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950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173747"/>
                </a:solidFill>
                <a:latin typeface="DejaVu Sans"/>
                <a:ea typeface="DejaVu Sans"/>
                <a:cs typeface="DejaVu Sans"/>
              </a:rPr>
              <a:t>Origin and prediction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6E2E0F8-3FEB-447E-A25C-D5D5585D8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1952625"/>
            <a:ext cx="4095750" cy="390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725" b="0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725" b="0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725" b="0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725" b="0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725" b="0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725" b="0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725" b="0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725" b="0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725" b="0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725" b="0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173747"/>
                </a:solidFill>
                <a:latin typeface="DejaVu Sans"/>
                <a:ea typeface="DejaVu Sans"/>
                <a:cs typeface="DejaVu Sans"/>
              </a:rPr>
              <a:t>ECD parent S11_00_040</a:t>
            </a:r>
          </a:p>
          <a:p xmlns:a="http://schemas.openxmlformats.org/drawingml/2006/main">
            <a:pPr>
              <a:defRPr sz="1725" b="0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173747"/>
                </a:solidFill>
                <a:latin typeface="DejaVu Sans"/>
                <a:ea typeface="DejaVu Sans"/>
                <a:cs typeface="DejaVu Sans"/>
              </a:rPr>
              <a:t>LigandForge parent Design_613</a:t>
            </a:r>
          </a:p>
          <a:p xmlns:a="http://schemas.openxmlformats.org/drawingml/2006/main">
            <a:pPr>
              <a:defRPr sz="1725" b="0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173747"/>
                </a:solidFill>
                <a:latin typeface="DejaVu Sans"/>
                <a:ea typeface="DejaVu Sans"/>
                <a:cs typeface="DejaVu Sans"/>
              </a:rPr>
              <a:t>Pair P024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725" b="0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173747"/>
                </a:solidFill>
                <a:latin typeface="DejaVu Sans"/>
                <a:ea typeface="DejaVu Sans"/>
                <a:cs typeface="DejaVu Sans"/>
              </a:rPr>
              <a:t>AP Novo seed 344</a:t>
            </a:r>
          </a:p>
          <a:p xmlns:a="http://schemas.openxmlformats.org/drawingml/2006/main">
            <a:pPr>
              <a:defRPr sz="1725" b="0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173747"/>
                </a:solidFill>
                <a:latin typeface="DejaVu Sans"/>
                <a:ea typeface="DejaVu Sans"/>
                <a:cs typeface="DejaVu Sans"/>
              </a:rPr>
              <a:t>Exact seed 101</a:t>
            </a:r>
          </a:p>
          <a:p xmlns:a="http://schemas.openxmlformats.org/drawingml/2006/main">
            <a:pPr>
              <a:defRPr sz="1725" b="0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173747"/>
                </a:solidFill>
                <a:latin typeface="DejaVu Sans"/>
                <a:ea typeface="DejaVu Sans"/>
                <a:cs typeface="DejaVu Sans"/>
              </a:rPr>
              <a:t>3 recycles, 200 steps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725" b="0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173747"/>
                </a:solidFill>
                <a:latin typeface="DejaVu Sans"/>
                <a:ea typeface="DejaVu Sans"/>
                <a:cs typeface="DejaVu Sans"/>
              </a:rPr>
              <a:t>ECD A1-48  linker A49-66  LF A67-128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CDC598A-5856-4BF7-8898-7A6099964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81750"/>
            <a:ext cx="14192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650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650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650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650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650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650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650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650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650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650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50616C"/>
                </a:solidFill>
                <a:latin typeface="DejaVu Sans"/>
                <a:ea typeface="DejaVu Sans"/>
                <a:cs typeface="DejaVu Sans"/>
              </a:rPr>
              <a:t>Whole-fusion pLDDT remains modest. High interface confidence does not establish activation.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9C6BB3F-9DB9-497E-B203-BAB2C0864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115175"/>
            <a:ext cx="14192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57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57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57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57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57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57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57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57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57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57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57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pPr>
            <a:r>
              <a:rPr sz="1575" b="1">
                <a:solidFill>
                  <a:srgbClr val="173747"/>
                </a:solidFill>
                <a:latin typeface="DejaVu Sans"/>
                <a:ea typeface="DejaVu Sans"/>
                <a:cs typeface="DejaVu Sans"/>
              </a:rPr>
              <a:t>Complete selected sequence, N to C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14DB877-C3B4-4357-ABA4-D32311154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410450"/>
            <a:ext cx="141922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500" b="0">
                <a:solidFill>
                  <a:srgbClr val="173747"/>
                </a:solidFill>
                <a:latin typeface="DejaVu Sans Mono"/>
                <a:ea typeface="DejaVu Sans Mono"/>
                <a:cs typeface="DejaVu Sans Mono"/>
              </a:defRPr>
            </a:defPPr>
            <a:lvl1pPr>
              <a:defRPr sz="1500" b="0">
                <a:solidFill>
                  <a:srgbClr val="173747"/>
                </a:solidFill>
                <a:latin typeface="DejaVu Sans Mono"/>
                <a:ea typeface="DejaVu Sans Mono"/>
                <a:cs typeface="DejaVu Sans Mono"/>
              </a:defRPr>
            </a:lvl1pPr>
            <a:lvl2pPr>
              <a:defRPr sz="1500" b="0">
                <a:solidFill>
                  <a:srgbClr val="173747"/>
                </a:solidFill>
                <a:latin typeface="DejaVu Sans Mono"/>
                <a:ea typeface="DejaVu Sans Mono"/>
                <a:cs typeface="DejaVu Sans Mono"/>
              </a:defRPr>
            </a:lvl2pPr>
            <a:lvl3pPr>
              <a:defRPr sz="1500" b="0">
                <a:solidFill>
                  <a:srgbClr val="173747"/>
                </a:solidFill>
                <a:latin typeface="DejaVu Sans Mono"/>
                <a:ea typeface="DejaVu Sans Mono"/>
                <a:cs typeface="DejaVu Sans Mono"/>
              </a:defRPr>
            </a:lvl3pPr>
            <a:lvl4pPr>
              <a:defRPr sz="1500" b="0">
                <a:solidFill>
                  <a:srgbClr val="173747"/>
                </a:solidFill>
                <a:latin typeface="DejaVu Sans Mono"/>
                <a:ea typeface="DejaVu Sans Mono"/>
                <a:cs typeface="DejaVu Sans Mono"/>
              </a:defRPr>
            </a:lvl4pPr>
            <a:lvl5pPr>
              <a:defRPr sz="1500" b="0">
                <a:solidFill>
                  <a:srgbClr val="173747"/>
                </a:solidFill>
                <a:latin typeface="DejaVu Sans Mono"/>
                <a:ea typeface="DejaVu Sans Mono"/>
                <a:cs typeface="DejaVu Sans Mono"/>
              </a:defRPr>
            </a:lvl5pPr>
            <a:lvl6pPr>
              <a:defRPr sz="1500" b="0">
                <a:solidFill>
                  <a:srgbClr val="173747"/>
                </a:solidFill>
                <a:latin typeface="DejaVu Sans Mono"/>
                <a:ea typeface="DejaVu Sans Mono"/>
                <a:cs typeface="DejaVu Sans Mono"/>
              </a:defRPr>
            </a:lvl6pPr>
            <a:lvl7pPr>
              <a:defRPr sz="1500" b="0">
                <a:solidFill>
                  <a:srgbClr val="173747"/>
                </a:solidFill>
                <a:latin typeface="DejaVu Sans Mono"/>
                <a:ea typeface="DejaVu Sans Mono"/>
                <a:cs typeface="DejaVu Sans Mono"/>
              </a:defRPr>
            </a:lvl7pPr>
            <a:lvl8pPr>
              <a:defRPr sz="1500" b="0">
                <a:solidFill>
                  <a:srgbClr val="173747"/>
                </a:solidFill>
                <a:latin typeface="DejaVu Sans Mono"/>
                <a:ea typeface="DejaVu Sans Mono"/>
                <a:cs typeface="DejaVu Sans Mono"/>
              </a:defRPr>
            </a:lvl8pPr>
            <a:lvl9pPr>
              <a:defRPr sz="1500" b="0">
                <a:solidFill>
                  <a:srgbClr val="173747"/>
                </a:solidFill>
                <a:latin typeface="DejaVu Sans Mono"/>
                <a:ea typeface="DejaVu Sans Mono"/>
                <a:cs typeface="DejaVu Sans Mono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173747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00" b="0">
                <a:solidFill>
                  <a:srgbClr val="173747"/>
                </a:solidFill>
                <a:latin typeface="DejaVu Sans Mono"/>
                <a:ea typeface="DejaVu Sans Mono"/>
                <a:cs typeface="DejaVu Sans Mono"/>
              </a:rPr>
              <a:t>MRALAQASTGSSALETLHRMRVEAFFQQQLRSGTLSDGAVEAYSRLVGGGHRVEPPVRPPPVSLPGRTCTSAYG</a:t>
            </a:r>
          </a:p>
          <a:p xmlns:a="http://schemas.openxmlformats.org/drawingml/2006/main">
            <a:pPr>
              <a:defRPr sz="1500" b="0">
                <a:solidFill>
                  <a:srgbClr val="173747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00" b="0">
                <a:solidFill>
                  <a:srgbClr val="173747"/>
                </a:solidFill>
                <a:latin typeface="DejaVu Sans Mono"/>
                <a:ea typeface="DejaVu Sans Mono"/>
                <a:cs typeface="DejaVu Sans Mono"/>
              </a:rPr>
              <a:t>VPYSDGHFQRPVPSENGLNTQGVTDVSGRETDESTDVFVVISCQGSGSGSTRFN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29827EF-6CBD-4AC5-A893-2CB8C8F72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248650"/>
            <a:ext cx="1304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2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2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2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2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2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2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2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2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2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2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50616C"/>
                </a:solidFill>
                <a:latin typeface="DejaVu Sans"/>
                <a:ea typeface="DejaVu Sans"/>
                <a:cs typeface="DejaVu Sans"/>
              </a:rPr>
              <a:t>Human GLP1R     Boltz2 Exact     Computational predictions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AE651F8-EEC5-4EE5-A1BA-F62BBB88F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0" y="82486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2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2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2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2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2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2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2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2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2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2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50616C"/>
                </a:solidFill>
                <a:latin typeface="DejaVu Sans"/>
                <a:ea typeface="DejaVu Sans"/>
                <a:cs typeface="DejaVu Sans"/>
              </a:rPr>
              <a:t>19</a:t>
            </a:r>
          </a:p>
        </p:txBody>
      </p:sp>
    </p:spTree>
    <p:extLst>
      <p:ext uri="{BB962C8B-B14F-4D97-AF65-F5344CB8AC3E}">
        <p14:creationId xmlns:p14="http://schemas.microsoft.com/office/powerpoint/2010/main" val="1859083300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5552C56-04C1-4617-8E4A-7F14C251C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76225"/>
            <a:ext cx="1428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22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322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322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322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322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322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322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322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322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322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73747"/>
                </a:solidFill>
                <a:latin typeface="DejaVu Sans"/>
                <a:ea typeface="DejaVu Sans"/>
                <a:cs typeface="DejaVu Sans"/>
              </a:rPr>
              <a:t>10  LK_P024_03  structure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B10A82D-B5C6-4980-9FF0-2BCFF8759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95350"/>
            <a:ext cx="1428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8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8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8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8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8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8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8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8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8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50616C"/>
                </a:solidFill>
                <a:latin typeface="DejaVu Sans"/>
                <a:ea typeface="DejaVu Sans"/>
                <a:cs typeface="DejaVu Sans"/>
              </a:rPr>
              <a:t>D-L-D fusion   Candidate A: 128 aa   Human GLP1R B: 440 aa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1CC7E78-B489-41B4-9729-9D4230EF9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362075"/>
            <a:ext cx="619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7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87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87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87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87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87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87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87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87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87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173747"/>
                </a:solidFill>
                <a:latin typeface="DejaVu Sans"/>
                <a:ea typeface="DejaVu Sans"/>
                <a:cs typeface="DejaVu Sans"/>
              </a:rPr>
              <a:t>Boltz2 Exact receptor complex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27E48A8-89FC-4DB6-BD3C-D3B482E0A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362075"/>
            <a:ext cx="619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7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87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87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87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87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87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87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87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87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87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173747"/>
                </a:solidFill>
                <a:latin typeface="DejaVu Sans"/>
                <a:ea typeface="DejaVu Sans"/>
                <a:cs typeface="DejaVu Sans"/>
              </a:rPr>
              <a:t>Boltz2 Exact interface detail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D99C748-4EA7-4F0C-9C5F-821179FBA84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af84e0b7a024777"/>
          <a:stretch xmlns:a="http://schemas.openxmlformats.org/drawingml/2006/main"/>
        </p:blipFill>
        <p:spPr>
          <a:xfrm xmlns:a="http://schemas.openxmlformats.org/drawingml/2006/main">
            <a:off x="2344208" y="1724025"/>
            <a:ext cx="3217333" cy="4572000"/>
          </a:xfrm>
          <a:prstGeom xmlns:a="http://schemas.openxmlformats.org/drawingml/2006/main" prst="rect">
            <a:avLst/>
          </a:prstGeom>
        </p:spPr>
      </p:pic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ED6F404-84E6-4000-BD22-DD7BCA705CE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73cf29398db46cd"/>
          <a:stretch xmlns:a="http://schemas.openxmlformats.org/drawingml/2006/main"/>
        </p:blipFill>
        <p:spPr>
          <a:xfrm xmlns:a="http://schemas.openxmlformats.org/drawingml/2006/main">
            <a:off x="9296093" y="1724025"/>
            <a:ext cx="3982065" cy="457200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CC46B72-7139-4F62-9274-39CAAEC7D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579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650" b="1">
                <a:solidFill>
                  <a:srgbClr val="E69F00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650" b="1">
                <a:solidFill>
                  <a:srgbClr val="E69F00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650" b="1">
                <a:solidFill>
                  <a:srgbClr val="E69F00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650" b="1">
                <a:solidFill>
                  <a:srgbClr val="E69F00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650" b="1">
                <a:solidFill>
                  <a:srgbClr val="E69F00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650" b="1">
                <a:solidFill>
                  <a:srgbClr val="E69F00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650" b="1">
                <a:solidFill>
                  <a:srgbClr val="E69F00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650" b="1">
                <a:solidFill>
                  <a:srgbClr val="E69F00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650" b="1">
                <a:solidFill>
                  <a:srgbClr val="E69F00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650" b="1">
                <a:solidFill>
                  <a:srgbClr val="E69F00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E69F00"/>
                </a:solidFill>
                <a:latin typeface="DejaVu Sans"/>
                <a:ea typeface="DejaVu Sans"/>
                <a:cs typeface="DejaVu Sans"/>
              </a:defRPr>
            </a:pPr>
            <a:r>
              <a:rPr sz="1650" b="1">
                <a:solidFill>
                  <a:srgbClr val="E69F00"/>
                </a:solidFill>
                <a:latin typeface="DejaVu Sans"/>
                <a:ea typeface="DejaVu Sans"/>
                <a:cs typeface="DejaVu Sans"/>
              </a:rPr>
              <a:t>LigandForge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765F16F-DFB1-45DF-9FE7-09692485B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64579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650" b="1">
                <a:solidFill>
                  <a:srgbClr val="AA4499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650" b="1">
                <a:solidFill>
                  <a:srgbClr val="AA4499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650" b="1">
                <a:solidFill>
                  <a:srgbClr val="AA4499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650" b="1">
                <a:solidFill>
                  <a:srgbClr val="AA4499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650" b="1">
                <a:solidFill>
                  <a:srgbClr val="AA4499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650" b="1">
                <a:solidFill>
                  <a:srgbClr val="AA4499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650" b="1">
                <a:solidFill>
                  <a:srgbClr val="AA4499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650" b="1">
                <a:solidFill>
                  <a:srgbClr val="AA4499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650" b="1">
                <a:solidFill>
                  <a:srgbClr val="AA4499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650" b="1">
                <a:solidFill>
                  <a:srgbClr val="AA4499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AA4499"/>
                </a:solidFill>
                <a:latin typeface="DejaVu Sans"/>
                <a:ea typeface="DejaVu Sans"/>
                <a:cs typeface="DejaVu Sans"/>
              </a:defRPr>
            </a:pPr>
            <a:r>
              <a:rPr sz="1650" b="1">
                <a:solidFill>
                  <a:srgbClr val="AA4499"/>
                </a:solidFill>
                <a:latin typeface="DejaVu Sans"/>
                <a:ea typeface="DejaVu Sans"/>
                <a:cs typeface="DejaVu Sans"/>
              </a:rPr>
              <a:t>Linker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595470A-73DB-4737-A69B-ECEB58838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64579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650" b="1">
                <a:solidFill>
                  <a:srgbClr val="0072B2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650" b="1">
                <a:solidFill>
                  <a:srgbClr val="0072B2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650" b="1">
                <a:solidFill>
                  <a:srgbClr val="0072B2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650" b="1">
                <a:solidFill>
                  <a:srgbClr val="0072B2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650" b="1">
                <a:solidFill>
                  <a:srgbClr val="0072B2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650" b="1">
                <a:solidFill>
                  <a:srgbClr val="0072B2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650" b="1">
                <a:solidFill>
                  <a:srgbClr val="0072B2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650" b="1">
                <a:solidFill>
                  <a:srgbClr val="0072B2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650" b="1">
                <a:solidFill>
                  <a:srgbClr val="0072B2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650" b="1">
                <a:solidFill>
                  <a:srgbClr val="0072B2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0072B2"/>
                </a:solidFill>
                <a:latin typeface="DejaVu Sans"/>
                <a:ea typeface="DejaVu Sans"/>
                <a:cs typeface="DejaVu Sans"/>
              </a:defRPr>
            </a:pPr>
            <a:r>
              <a:rPr sz="1650" b="1">
                <a:solidFill>
                  <a:srgbClr val="0072B2"/>
                </a:solidFill>
                <a:latin typeface="DejaVu Sans"/>
                <a:ea typeface="DejaVu Sans"/>
                <a:cs typeface="DejaVu Sans"/>
              </a:rPr>
              <a:t>ECD binder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AA3F7EF-1F44-4F15-9B4C-F3A52CC82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64579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650" b="1">
                <a:solidFill>
                  <a:srgbClr val="009E73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650" b="1">
                <a:solidFill>
                  <a:srgbClr val="009E73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650" b="1">
                <a:solidFill>
                  <a:srgbClr val="009E73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650" b="1">
                <a:solidFill>
                  <a:srgbClr val="009E73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650" b="1">
                <a:solidFill>
                  <a:srgbClr val="009E73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650" b="1">
                <a:solidFill>
                  <a:srgbClr val="009E73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650" b="1">
                <a:solidFill>
                  <a:srgbClr val="009E73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650" b="1">
                <a:solidFill>
                  <a:srgbClr val="009E73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650" b="1">
                <a:solidFill>
                  <a:srgbClr val="009E73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650" b="1">
                <a:solidFill>
                  <a:srgbClr val="009E73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009E73"/>
                </a:solidFill>
                <a:latin typeface="DejaVu Sans"/>
                <a:ea typeface="DejaVu Sans"/>
                <a:cs typeface="DejaVu Sans"/>
              </a:defRPr>
            </a:pPr>
            <a:r>
              <a:rPr sz="1650" b="1">
                <a:solidFill>
                  <a:srgbClr val="009E73"/>
                </a:solidFill>
                <a:latin typeface="DejaVu Sans"/>
                <a:ea typeface="DejaVu Sans"/>
                <a:cs typeface="DejaVu Sans"/>
              </a:rPr>
              <a:t>Receptor ECD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A15368F-1B16-4100-857B-496E03B14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64579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650" b="1">
                <a:solidFill>
                  <a:srgbClr val="7B8794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650" b="1">
                <a:solidFill>
                  <a:srgbClr val="7B8794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650" b="1">
                <a:solidFill>
                  <a:srgbClr val="7B8794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650" b="1">
                <a:solidFill>
                  <a:srgbClr val="7B8794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650" b="1">
                <a:solidFill>
                  <a:srgbClr val="7B8794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650" b="1">
                <a:solidFill>
                  <a:srgbClr val="7B8794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650" b="1">
                <a:solidFill>
                  <a:srgbClr val="7B8794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650" b="1">
                <a:solidFill>
                  <a:srgbClr val="7B8794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650" b="1">
                <a:solidFill>
                  <a:srgbClr val="7B8794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650" b="1">
                <a:solidFill>
                  <a:srgbClr val="7B8794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7B8794"/>
                </a:solidFill>
                <a:latin typeface="DejaVu Sans"/>
                <a:ea typeface="DejaVu Sans"/>
                <a:cs typeface="DejaVu Sans"/>
              </a:defRPr>
            </a:pPr>
            <a:r>
              <a:rPr sz="1650" b="1">
                <a:solidFill>
                  <a:srgbClr val="7B8794"/>
                </a:solidFill>
                <a:latin typeface="DejaVu Sans"/>
                <a:ea typeface="DejaVu Sans"/>
                <a:cs typeface="DejaVu Sans"/>
              </a:rPr>
              <a:t>Remaining receptor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9E7617A-38FE-41C1-AB9D-5A90BA3EE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0" y="64579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650" b="1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650" b="1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650" b="1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650" b="1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650" b="1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650" b="1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650" b="1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650" b="1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650" b="1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650" b="1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1650" b="1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Hotspots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E05BE0C-9537-4605-87A4-4662FC4D8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800850"/>
            <a:ext cx="1428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42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42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42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42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42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42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42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42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42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42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>
                <a:solidFill>
                  <a:srgbClr val="50616C"/>
                </a:solidFill>
                <a:latin typeface="DejaVu Sans"/>
                <a:ea typeface="DejaVu Sans"/>
                <a:cs typeface="DejaVu Sans"/>
              </a:rPr>
              <a:t>Receptor ECD B1–105 (UniProt 24–128). Black sticks: E34, Q37 and R40. View-specific zoom.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B31702F-897E-4DFB-96C0-A330D5E56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134225"/>
            <a:ext cx="14192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57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57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57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57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57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57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57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57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57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57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57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pPr>
            <a:r>
              <a:rPr sz="1575" b="1">
                <a:solidFill>
                  <a:srgbClr val="173747"/>
                </a:solidFill>
                <a:latin typeface="DejaVu Sans"/>
                <a:ea typeface="DejaVu Sans"/>
                <a:cs typeface="DejaVu Sans"/>
              </a:rPr>
              <a:t>Complete selected sequence, N to C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C74320D-2AA4-47A9-9DC0-5C7F52FD1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429500"/>
            <a:ext cx="141922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500" b="0">
                <a:solidFill>
                  <a:srgbClr val="173747"/>
                </a:solidFill>
                <a:latin typeface="DejaVu Sans Mono"/>
                <a:ea typeface="DejaVu Sans Mono"/>
                <a:cs typeface="DejaVu Sans Mono"/>
              </a:defRPr>
            </a:defPPr>
            <a:lvl1pPr>
              <a:defRPr sz="1500" b="0">
                <a:solidFill>
                  <a:srgbClr val="173747"/>
                </a:solidFill>
                <a:latin typeface="DejaVu Sans Mono"/>
                <a:ea typeface="DejaVu Sans Mono"/>
                <a:cs typeface="DejaVu Sans Mono"/>
              </a:defRPr>
            </a:lvl1pPr>
            <a:lvl2pPr>
              <a:defRPr sz="1500" b="0">
                <a:solidFill>
                  <a:srgbClr val="173747"/>
                </a:solidFill>
                <a:latin typeface="DejaVu Sans Mono"/>
                <a:ea typeface="DejaVu Sans Mono"/>
                <a:cs typeface="DejaVu Sans Mono"/>
              </a:defRPr>
            </a:lvl2pPr>
            <a:lvl3pPr>
              <a:defRPr sz="1500" b="0">
                <a:solidFill>
                  <a:srgbClr val="173747"/>
                </a:solidFill>
                <a:latin typeface="DejaVu Sans Mono"/>
                <a:ea typeface="DejaVu Sans Mono"/>
                <a:cs typeface="DejaVu Sans Mono"/>
              </a:defRPr>
            </a:lvl3pPr>
            <a:lvl4pPr>
              <a:defRPr sz="1500" b="0">
                <a:solidFill>
                  <a:srgbClr val="173747"/>
                </a:solidFill>
                <a:latin typeface="DejaVu Sans Mono"/>
                <a:ea typeface="DejaVu Sans Mono"/>
                <a:cs typeface="DejaVu Sans Mono"/>
              </a:defRPr>
            </a:lvl4pPr>
            <a:lvl5pPr>
              <a:defRPr sz="1500" b="0">
                <a:solidFill>
                  <a:srgbClr val="173747"/>
                </a:solidFill>
                <a:latin typeface="DejaVu Sans Mono"/>
                <a:ea typeface="DejaVu Sans Mono"/>
                <a:cs typeface="DejaVu Sans Mono"/>
              </a:defRPr>
            </a:lvl5pPr>
            <a:lvl6pPr>
              <a:defRPr sz="1500" b="0">
                <a:solidFill>
                  <a:srgbClr val="173747"/>
                </a:solidFill>
                <a:latin typeface="DejaVu Sans Mono"/>
                <a:ea typeface="DejaVu Sans Mono"/>
                <a:cs typeface="DejaVu Sans Mono"/>
              </a:defRPr>
            </a:lvl6pPr>
            <a:lvl7pPr>
              <a:defRPr sz="1500" b="0">
                <a:solidFill>
                  <a:srgbClr val="173747"/>
                </a:solidFill>
                <a:latin typeface="DejaVu Sans Mono"/>
                <a:ea typeface="DejaVu Sans Mono"/>
                <a:cs typeface="DejaVu Sans Mono"/>
              </a:defRPr>
            </a:lvl7pPr>
            <a:lvl8pPr>
              <a:defRPr sz="1500" b="0">
                <a:solidFill>
                  <a:srgbClr val="173747"/>
                </a:solidFill>
                <a:latin typeface="DejaVu Sans Mono"/>
                <a:ea typeface="DejaVu Sans Mono"/>
                <a:cs typeface="DejaVu Sans Mono"/>
              </a:defRPr>
            </a:lvl8pPr>
            <a:lvl9pPr>
              <a:defRPr sz="1500" b="0">
                <a:solidFill>
                  <a:srgbClr val="173747"/>
                </a:solidFill>
                <a:latin typeface="DejaVu Sans Mono"/>
                <a:ea typeface="DejaVu Sans Mono"/>
                <a:cs typeface="DejaVu Sans Mono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173747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00" b="0">
                <a:solidFill>
                  <a:srgbClr val="173747"/>
                </a:solidFill>
                <a:latin typeface="DejaVu Sans Mono"/>
                <a:ea typeface="DejaVu Sans Mono"/>
                <a:cs typeface="DejaVu Sans Mono"/>
              </a:rPr>
              <a:t>MRALAQASTGSSALETLHRMRVEAFFQQQLRSGTLSDGAVEAYSRLVGGGHRVEPPVRPPPVSLPGRTCTSAYG</a:t>
            </a:r>
          </a:p>
          <a:p xmlns:a="http://schemas.openxmlformats.org/drawingml/2006/main">
            <a:pPr>
              <a:defRPr sz="1500" b="0">
                <a:solidFill>
                  <a:srgbClr val="173747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00" b="0">
                <a:solidFill>
                  <a:srgbClr val="173747"/>
                </a:solidFill>
                <a:latin typeface="DejaVu Sans Mono"/>
                <a:ea typeface="DejaVu Sans Mono"/>
                <a:cs typeface="DejaVu Sans Mono"/>
              </a:rPr>
              <a:t>VPYSDGHFQRPVPSENGLNTQGVTDVSGRETDESTDVFVVISCQGSGSGSTRFN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52A147D-9A41-430E-8E63-FEDC81D1A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248650"/>
            <a:ext cx="1304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2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2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2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2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2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2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2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2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2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2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50616C"/>
                </a:solidFill>
                <a:latin typeface="DejaVu Sans"/>
                <a:ea typeface="DejaVu Sans"/>
                <a:cs typeface="DejaVu Sans"/>
              </a:rPr>
              <a:t>Human GLP1R     Boltz2 Exact     Computational predictions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4619718-1753-4487-934B-1C448C2F5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0" y="82486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2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2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2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2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2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2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2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2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2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2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50616C"/>
                </a:solidFill>
                <a:latin typeface="DejaVu Sans"/>
                <a:ea typeface="DejaVu Sans"/>
                <a:cs typeface="DejaVu Sans"/>
              </a:rPr>
              <a:t>20</a:t>
            </a:r>
          </a:p>
        </p:txBody>
      </p:sp>
    </p:spTree>
    <p:extLst>
      <p:ext uri="{BB962C8B-B14F-4D97-AF65-F5344CB8AC3E}">
        <p14:creationId xmlns:p14="http://schemas.microsoft.com/office/powerpoint/2010/main" val="216718761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21D2D12-6926-4C3F-8ADC-0CB85B399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76225"/>
            <a:ext cx="1428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22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322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322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322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322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322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322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322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322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322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73747"/>
                </a:solidFill>
                <a:latin typeface="DejaVu Sans"/>
                <a:ea typeface="DejaVu Sans"/>
                <a:cs typeface="DejaVu Sans"/>
              </a:rPr>
              <a:t>11  Design_994  metrics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CB7482C-0DB7-40B9-9727-49CC4483F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95350"/>
            <a:ext cx="1428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8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8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8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8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8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8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8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8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8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50616C"/>
                </a:solidFill>
                <a:latin typeface="DejaVu Sans"/>
                <a:ea typeface="DejaVu Sans"/>
                <a:cs typeface="DejaVu Sans"/>
              </a:rPr>
              <a:t>Original LigandForge   Candidate A: 70 aa   Human GLP1R B: 409 aa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4FE504C-9172-4296-A6BB-CC9B0A344DB3}"/>
              </a:ext>
            </a:extLst>
          </p:cNvPr>
          <p:cNvGraphicFramePr/>
          <p:nvPr/>
        </p:nvGraphicFramePr>
        <p:xfrm>
          <a:off xmlns:a="http://schemas.openxmlformats.org/drawingml/2006/main" x="457200" y="1457325"/>
          <a:ext xmlns:a="http://schemas.openxmlformats.org/drawingml/2006/main" cx="9667875" cy="3429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6791325"/>
                <a:gridCol w="2876550"/>
              </a:tblGrid>
              <a:tr h="34290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Metric and scope</a:t>
                      </a:r>
                    </a:p>
                  </a:txBody>
                  <a:tcPr marL="91440" marR="91440" marT="45720" marB="45720">
                    <a:lnL w="5715">
                      <a:solidFill>
                        <a:srgbClr val="D8E1E5"/>
                      </a:solidFill>
                      <a:prstDash val="solid"/>
                    </a:lnL>
                    <a:lnR w="5715">
                      <a:solidFill>
                        <a:srgbClr val="D8E1E5"/>
                      </a:solidFill>
                      <a:prstDash val="solid"/>
                    </a:lnR>
                    <a:lnT w="5715">
                      <a:solidFill>
                        <a:srgbClr val="D8E1E5"/>
                      </a:solidFill>
                      <a:prstDash val="solid"/>
                    </a:lnT>
                    <a:lnB w="5715">
                      <a:solidFill>
                        <a:srgbClr val="D8E1E5"/>
                      </a:solidFill>
                      <a:prstDash val="solid"/>
                    </a:lnB>
                    <a:solidFill>
                      <a:srgbClr val="245D7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Value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8E1E5"/>
                      </a:solidFill>
                      <a:prstDash val="solid"/>
                    </a:lnR>
                    <a:lnT w="5715">
                      <a:solidFill>
                        <a:srgbClr val="D8E1E5"/>
                      </a:solidFill>
                      <a:prstDash val="solid"/>
                    </a:lnT>
                    <a:lnB w="5715">
                      <a:solidFill>
                        <a:srgbClr val="D8E1E5"/>
                      </a:solidFill>
                      <a:prstDash val="solid"/>
                    </a:lnB>
                    <a:solidFill>
                      <a:srgbClr val="245D73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73747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Boltz2 Exact ipSAE (A/B, Type=max)</a:t>
                      </a:r>
                    </a:p>
                  </a:txBody>
                  <a:tcPr marL="91440" marR="91440" marT="45720" marB="45720">
                    <a:lnL w="5715">
                      <a:solidFill>
                        <a:srgbClr val="D8E1E5"/>
                      </a:solidFill>
                      <a:prstDash val="solid"/>
                    </a:lnL>
                    <a:lnR w="5715">
                      <a:solidFill>
                        <a:srgbClr val="D8E1E5"/>
                      </a:solidFill>
                      <a:prstDash val="solid"/>
                    </a:lnR>
                    <a:lnB w="5715">
                      <a:solidFill>
                        <a:srgbClr val="D8E1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73747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0.900959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8E1E5"/>
                      </a:solidFill>
                      <a:prstDash val="solid"/>
                    </a:lnR>
                    <a:lnB w="5715">
                      <a:solidFill>
                        <a:srgbClr val="D8E1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73747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DeltaForge predicted Kd (nM)</a:t>
                      </a:r>
                    </a:p>
                  </a:txBody>
                  <a:tcPr marL="91440" marR="91440" marT="45720" marB="45720">
                    <a:lnL w="5715">
                      <a:solidFill>
                        <a:srgbClr val="D8E1E5"/>
                      </a:solidFill>
                      <a:prstDash val="solid"/>
                    </a:lnL>
                    <a:lnR w="5715">
                      <a:solidFill>
                        <a:srgbClr val="D8E1E5"/>
                      </a:solidFill>
                      <a:prstDash val="solid"/>
                    </a:lnR>
                    <a:lnB w="5715">
                      <a:solidFill>
                        <a:srgbClr val="D8E1E5"/>
                      </a:solidFill>
                      <a:prstDash val="solid"/>
                    </a:lnB>
                    <a:solidFill>
                      <a:srgbClr val="F1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73747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2.7380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8E1E5"/>
                      </a:solidFill>
                      <a:prstDash val="solid"/>
                    </a:lnR>
                    <a:lnB w="5715">
                      <a:solidFill>
                        <a:srgbClr val="D8E1E5"/>
                      </a:solidFill>
                      <a:prstDash val="solid"/>
                    </a:lnB>
                    <a:solidFill>
                      <a:srgbClr val="F1F5F7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73747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Boltz2 Exact ipTM</a:t>
                      </a:r>
                    </a:p>
                  </a:txBody>
                  <a:tcPr marL="91440" marR="91440" marT="45720" marB="45720">
                    <a:lnL w="5715">
                      <a:solidFill>
                        <a:srgbClr val="D8E1E5"/>
                      </a:solidFill>
                      <a:prstDash val="solid"/>
                    </a:lnL>
                    <a:lnR w="5715">
                      <a:solidFill>
                        <a:srgbClr val="D8E1E5"/>
                      </a:solidFill>
                      <a:prstDash val="solid"/>
                    </a:lnR>
                    <a:lnB w="5715">
                      <a:solidFill>
                        <a:srgbClr val="D8E1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73747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0.9553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8E1E5"/>
                      </a:solidFill>
                      <a:prstDash val="solid"/>
                    </a:lnR>
                    <a:lnB w="5715">
                      <a:solidFill>
                        <a:srgbClr val="D8E1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73747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Original population ipSAE rank</a:t>
                      </a:r>
                    </a:p>
                  </a:txBody>
                  <a:tcPr marL="91440" marR="91440" marT="45720" marB="45720">
                    <a:lnL w="5715">
                      <a:solidFill>
                        <a:srgbClr val="D8E1E5"/>
                      </a:solidFill>
                      <a:prstDash val="solid"/>
                    </a:lnL>
                    <a:lnR w="5715">
                      <a:solidFill>
                        <a:srgbClr val="D8E1E5"/>
                      </a:solidFill>
                      <a:prstDash val="solid"/>
                    </a:lnR>
                    <a:lnB w="5715">
                      <a:solidFill>
                        <a:srgbClr val="D8E1E5"/>
                      </a:solidFill>
                      <a:prstDash val="solid"/>
                    </a:lnB>
                    <a:solidFill>
                      <a:srgbClr val="F1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73747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11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8E1E5"/>
                      </a:solidFill>
                      <a:prstDash val="solid"/>
                    </a:lnR>
                    <a:lnB w="5715">
                      <a:solidFill>
                        <a:srgbClr val="D8E1E5"/>
                      </a:solidFill>
                      <a:prstDash val="solid"/>
                    </a:lnB>
                    <a:solidFill>
                      <a:srgbClr val="F1F5F7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73747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Predicted-Kd rank within population top50</a:t>
                      </a:r>
                    </a:p>
                  </a:txBody>
                  <a:tcPr marL="91440" marR="91440" marT="45720" marB="45720">
                    <a:lnL w="5715">
                      <a:solidFill>
                        <a:srgbClr val="D8E1E5"/>
                      </a:solidFill>
                      <a:prstDash val="solid"/>
                    </a:lnL>
                    <a:lnR w="5715">
                      <a:solidFill>
                        <a:srgbClr val="D8E1E5"/>
                      </a:solidFill>
                      <a:prstDash val="solid"/>
                    </a:lnR>
                    <a:lnB w="5715">
                      <a:solidFill>
                        <a:srgbClr val="D8E1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73747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12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8E1E5"/>
                      </a:solidFill>
                      <a:prstDash val="solid"/>
                    </a:lnR>
                    <a:lnB w="5715">
                      <a:solidFill>
                        <a:srgbClr val="D8E1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73747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Candidate / receptor residues (aa)</a:t>
                      </a:r>
                    </a:p>
                  </a:txBody>
                  <a:tcPr marL="91440" marR="91440" marT="45720" marB="45720">
                    <a:lnL w="5715">
                      <a:solidFill>
                        <a:srgbClr val="D8E1E5"/>
                      </a:solidFill>
                      <a:prstDash val="solid"/>
                    </a:lnL>
                    <a:lnR w="5715">
                      <a:solidFill>
                        <a:srgbClr val="D8E1E5"/>
                      </a:solidFill>
                      <a:prstDash val="solid"/>
                    </a:lnR>
                    <a:lnB w="5715">
                      <a:solidFill>
                        <a:srgbClr val="D8E1E5"/>
                      </a:solidFill>
                      <a:prstDash val="solid"/>
                    </a:lnB>
                    <a:solidFill>
                      <a:srgbClr val="F1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73747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70 / 409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8E1E5"/>
                      </a:solidFill>
                      <a:prstDash val="solid"/>
                    </a:lnR>
                    <a:lnB w="5715">
                      <a:solidFill>
                        <a:srgbClr val="D8E1E5"/>
                      </a:solidFill>
                      <a:prstDash val="solid"/>
                    </a:lnB>
                    <a:solidFill>
                      <a:srgbClr val="F1F5F7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73747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Complex pLDDT (0-100)</a:t>
                      </a:r>
                    </a:p>
                  </a:txBody>
                  <a:tcPr marL="91440" marR="91440" marT="45720" marB="45720">
                    <a:lnL w="5715">
                      <a:solidFill>
                        <a:srgbClr val="D8E1E5"/>
                      </a:solidFill>
                      <a:prstDash val="solid"/>
                    </a:lnL>
                    <a:lnR w="5715">
                      <a:solidFill>
                        <a:srgbClr val="D8E1E5"/>
                      </a:solidFill>
                      <a:prstDash val="solid"/>
                    </a:lnR>
                    <a:lnB w="5715">
                      <a:solidFill>
                        <a:srgbClr val="D8E1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73747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74.4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8E1E5"/>
                      </a:solidFill>
                      <a:prstDash val="solid"/>
                    </a:lnR>
                    <a:lnB w="5715">
                      <a:solidFill>
                        <a:srgbClr val="D8E1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73747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Generator-to-refold DockQ / TM-score</a:t>
                      </a:r>
                    </a:p>
                  </a:txBody>
                  <a:tcPr marL="91440" marR="91440" marT="45720" marB="45720">
                    <a:lnL w="5715">
                      <a:solidFill>
                        <a:srgbClr val="D8E1E5"/>
                      </a:solidFill>
                      <a:prstDash val="solid"/>
                    </a:lnL>
                    <a:lnR w="5715">
                      <a:solidFill>
                        <a:srgbClr val="D8E1E5"/>
                      </a:solidFill>
                      <a:prstDash val="solid"/>
                    </a:lnR>
                    <a:lnB w="5715">
                      <a:solidFill>
                        <a:srgbClr val="D8E1E5"/>
                      </a:solidFill>
                      <a:prstDash val="solid"/>
                    </a:lnB>
                    <a:solidFill>
                      <a:srgbClr val="F1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73747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N/A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8E1E5"/>
                      </a:solidFill>
                      <a:prstDash val="solid"/>
                    </a:lnR>
                    <a:lnB w="5715">
                      <a:solidFill>
                        <a:srgbClr val="D8E1E5"/>
                      </a:solidFill>
                      <a:prstDash val="solid"/>
                    </a:lnB>
                    <a:solidFill>
                      <a:srgbClr val="F1F5F7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73747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DeltaForge length scope</a:t>
                      </a:r>
                    </a:p>
                  </a:txBody>
                  <a:tcPr marL="91440" marR="91440" marT="45720" marB="45720">
                    <a:lnL w="5715">
                      <a:solidFill>
                        <a:srgbClr val="D8E1E5"/>
                      </a:solidFill>
                      <a:prstDash val="solid"/>
                    </a:lnL>
                    <a:lnR w="5715">
                      <a:solidFill>
                        <a:srgbClr val="D8E1E5"/>
                      </a:solidFill>
                      <a:prstDash val="solid"/>
                    </a:lnR>
                    <a:lnB w="5715">
                      <a:solidFill>
                        <a:srgbClr val="D8E1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73747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core_40_119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8E1E5"/>
                      </a:solidFill>
                      <a:prstDash val="solid"/>
                    </a:lnR>
                    <a:lnB w="5715">
                      <a:solidFill>
                        <a:srgbClr val="D8E1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CCDD2EE-A6C2-4FB3-81BA-D341942A0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1457325"/>
            <a:ext cx="4095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950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950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950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950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950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950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950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950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950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950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173747"/>
                </a:solidFill>
                <a:latin typeface="DejaVu Sans"/>
                <a:ea typeface="DejaVu Sans"/>
                <a:cs typeface="DejaVu Sans"/>
              </a:rPr>
              <a:t>Origin and prediction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DB240AF-D203-4360-953F-D503E4AB0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1952625"/>
            <a:ext cx="4095750" cy="390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725" b="0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725" b="0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725" b="0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725" b="0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725" b="0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725" b="0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725" b="0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725" b="0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725" b="0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725" b="0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173747"/>
                </a:solidFill>
                <a:latin typeface="DejaVu Sans"/>
                <a:ea typeface="DejaVu Sans"/>
                <a:cs typeface="DejaVu Sans"/>
              </a:rPr>
              <a:t>Original LigandForge v6.5.21</a:t>
            </a:r>
          </a:p>
          <a:p xmlns:a="http://schemas.openxmlformats.org/drawingml/2006/main">
            <a:pPr>
              <a:defRPr sz="1725" b="0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173747"/>
                </a:solidFill>
                <a:latin typeface="DejaVu Sans"/>
                <a:ea typeface="DejaVu Sans"/>
                <a:cs typeface="DejaVu Sans"/>
              </a:rPr>
              <a:t>Generation 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725" b="0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173747"/>
                </a:solidFill>
                <a:latin typeface="DejaVu Sans"/>
                <a:ea typeface="DejaVu Sans"/>
                <a:cs typeface="DejaVu Sans"/>
              </a:rPr>
              <a:t>Exact seed 101</a:t>
            </a:r>
          </a:p>
          <a:p xmlns:a="http://schemas.openxmlformats.org/drawingml/2006/main">
            <a:pPr>
              <a:defRPr sz="1725" b="0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173747"/>
                </a:solidFill>
                <a:latin typeface="DejaVu Sans"/>
                <a:ea typeface="DejaVu Sans"/>
                <a:cs typeface="DejaVu Sans"/>
              </a:rPr>
              <a:t>3 recycles, 200 steps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725" b="0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173747"/>
                </a:solidFill>
                <a:latin typeface="DejaVu Sans"/>
                <a:ea typeface="DejaVu Sans"/>
                <a:cs typeface="DejaVu Sans"/>
              </a:rPr>
              <a:t>WT GLP1R 24-432</a:t>
            </a:r>
          </a:p>
          <a:p xmlns:a="http://schemas.openxmlformats.org/drawingml/2006/main">
            <a:pPr>
              <a:defRPr sz="1725" b="0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173747"/>
                </a:solidFill>
                <a:latin typeface="DejaVu Sans"/>
                <a:ea typeface="DejaVu Sans"/>
                <a:cs typeface="DejaVu Sans"/>
              </a:rPr>
              <a:t>409 receptor residues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725" b="0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173747"/>
                </a:solidFill>
                <a:latin typeface="DejaVu Sans"/>
                <a:ea typeface="DejaVu Sans"/>
                <a:cs typeface="DejaVu Sans"/>
              </a:rPr>
              <a:t>Original generator coordinates unavailable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AF89694-4852-45CC-AC33-117444C12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81750"/>
            <a:ext cx="14192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650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650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650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650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650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650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650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650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650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650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50616C"/>
                </a:solidFill>
                <a:latin typeface="DejaVu Sans"/>
                <a:ea typeface="DejaVu Sans"/>
                <a:cs typeface="DejaVu Sans"/>
              </a:rPr>
              <a:t>Original generator coordinates are unavailable. This Exact prediction does not establish activation.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C2FD052-D6F5-4D30-9322-19815C8A5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115175"/>
            <a:ext cx="14192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57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57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57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57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57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57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57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57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57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57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57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pPr>
            <a:r>
              <a:rPr sz="1575" b="1">
                <a:solidFill>
                  <a:srgbClr val="173747"/>
                </a:solidFill>
                <a:latin typeface="DejaVu Sans"/>
                <a:ea typeface="DejaVu Sans"/>
                <a:cs typeface="DejaVu Sans"/>
              </a:rPr>
              <a:t>Complete selected sequence, N to C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CA813A6-D72C-4484-A4F0-347C3AEBB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410450"/>
            <a:ext cx="141922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500" b="0">
                <a:solidFill>
                  <a:srgbClr val="173747"/>
                </a:solidFill>
                <a:latin typeface="DejaVu Sans Mono"/>
                <a:ea typeface="DejaVu Sans Mono"/>
                <a:cs typeface="DejaVu Sans Mono"/>
              </a:defRPr>
            </a:defPPr>
            <a:lvl1pPr>
              <a:defRPr sz="1500" b="0">
                <a:solidFill>
                  <a:srgbClr val="173747"/>
                </a:solidFill>
                <a:latin typeface="DejaVu Sans Mono"/>
                <a:ea typeface="DejaVu Sans Mono"/>
                <a:cs typeface="DejaVu Sans Mono"/>
              </a:defRPr>
            </a:lvl1pPr>
            <a:lvl2pPr>
              <a:defRPr sz="1500" b="0">
                <a:solidFill>
                  <a:srgbClr val="173747"/>
                </a:solidFill>
                <a:latin typeface="DejaVu Sans Mono"/>
                <a:ea typeface="DejaVu Sans Mono"/>
                <a:cs typeface="DejaVu Sans Mono"/>
              </a:defRPr>
            </a:lvl2pPr>
            <a:lvl3pPr>
              <a:defRPr sz="1500" b="0">
                <a:solidFill>
                  <a:srgbClr val="173747"/>
                </a:solidFill>
                <a:latin typeface="DejaVu Sans Mono"/>
                <a:ea typeface="DejaVu Sans Mono"/>
                <a:cs typeface="DejaVu Sans Mono"/>
              </a:defRPr>
            </a:lvl3pPr>
            <a:lvl4pPr>
              <a:defRPr sz="1500" b="0">
                <a:solidFill>
                  <a:srgbClr val="173747"/>
                </a:solidFill>
                <a:latin typeface="DejaVu Sans Mono"/>
                <a:ea typeface="DejaVu Sans Mono"/>
                <a:cs typeface="DejaVu Sans Mono"/>
              </a:defRPr>
            </a:lvl4pPr>
            <a:lvl5pPr>
              <a:defRPr sz="1500" b="0">
                <a:solidFill>
                  <a:srgbClr val="173747"/>
                </a:solidFill>
                <a:latin typeface="DejaVu Sans Mono"/>
                <a:ea typeface="DejaVu Sans Mono"/>
                <a:cs typeface="DejaVu Sans Mono"/>
              </a:defRPr>
            </a:lvl5pPr>
            <a:lvl6pPr>
              <a:defRPr sz="1500" b="0">
                <a:solidFill>
                  <a:srgbClr val="173747"/>
                </a:solidFill>
                <a:latin typeface="DejaVu Sans Mono"/>
                <a:ea typeface="DejaVu Sans Mono"/>
                <a:cs typeface="DejaVu Sans Mono"/>
              </a:defRPr>
            </a:lvl6pPr>
            <a:lvl7pPr>
              <a:defRPr sz="1500" b="0">
                <a:solidFill>
                  <a:srgbClr val="173747"/>
                </a:solidFill>
                <a:latin typeface="DejaVu Sans Mono"/>
                <a:ea typeface="DejaVu Sans Mono"/>
                <a:cs typeface="DejaVu Sans Mono"/>
              </a:defRPr>
            </a:lvl7pPr>
            <a:lvl8pPr>
              <a:defRPr sz="1500" b="0">
                <a:solidFill>
                  <a:srgbClr val="173747"/>
                </a:solidFill>
                <a:latin typeface="DejaVu Sans Mono"/>
                <a:ea typeface="DejaVu Sans Mono"/>
                <a:cs typeface="DejaVu Sans Mono"/>
              </a:defRPr>
            </a:lvl8pPr>
            <a:lvl9pPr>
              <a:defRPr sz="1500" b="0">
                <a:solidFill>
                  <a:srgbClr val="173747"/>
                </a:solidFill>
                <a:latin typeface="DejaVu Sans Mono"/>
                <a:ea typeface="DejaVu Sans Mono"/>
                <a:cs typeface="DejaVu Sans Mono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173747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00" b="0">
                <a:solidFill>
                  <a:srgbClr val="173747"/>
                </a:solidFill>
                <a:latin typeface="DejaVu Sans Mono"/>
                <a:ea typeface="DejaVu Sans Mono"/>
                <a:cs typeface="DejaVu Sans Mono"/>
              </a:rPr>
              <a:t>TIDGYKHLFEISDVIEAEGGELQLKRQEYESAIGFKLCRLNAESVYNVKKLSGLRPVGCKGSGSGSYVNL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DD7A3C9-4959-48A3-A02A-A6C850040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248650"/>
            <a:ext cx="1304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2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2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2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2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2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2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2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2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2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2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50616C"/>
                </a:solidFill>
                <a:latin typeface="DejaVu Sans"/>
                <a:ea typeface="DejaVu Sans"/>
                <a:cs typeface="DejaVu Sans"/>
              </a:rPr>
              <a:t>Human GLP1R     Boltz2 Exact     Computational predictions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A4D8E58-0AE0-4A57-AE38-F55DC71F0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0" y="82486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2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2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2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2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2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2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2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2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2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2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50616C"/>
                </a:solidFill>
                <a:latin typeface="DejaVu Sans"/>
                <a:ea typeface="DejaVu Sans"/>
                <a:cs typeface="DejaVu Sans"/>
              </a:rPr>
              <a:t>21</a:t>
            </a:r>
          </a:p>
        </p:txBody>
      </p:sp>
    </p:spTree>
    <p:extLst>
      <p:ext uri="{BB962C8B-B14F-4D97-AF65-F5344CB8AC3E}">
        <p14:creationId xmlns:p14="http://schemas.microsoft.com/office/powerpoint/2010/main" val="1571375998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057D4A7-643D-40CB-A044-D3D181438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76225"/>
            <a:ext cx="1428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22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322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322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322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322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322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322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322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322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322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73747"/>
                </a:solidFill>
                <a:latin typeface="DejaVu Sans"/>
                <a:ea typeface="DejaVu Sans"/>
                <a:cs typeface="DejaVu Sans"/>
              </a:rPr>
              <a:t>11  Design_994  structure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7877BCF-D618-43A8-BD91-08DA8AEB9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95350"/>
            <a:ext cx="1428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8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8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8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8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8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8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8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8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8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50616C"/>
                </a:solidFill>
                <a:latin typeface="DejaVu Sans"/>
                <a:ea typeface="DejaVu Sans"/>
                <a:cs typeface="DejaVu Sans"/>
              </a:rPr>
              <a:t>Original LigandForge   Candidate A: 70 aa   Human GLP1R B: 409 aa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0E5F263-7EA6-4890-88EB-A0825DAEB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362075"/>
            <a:ext cx="619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7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87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87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87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87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87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87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87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87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87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173747"/>
                </a:solidFill>
                <a:latin typeface="DejaVu Sans"/>
                <a:ea typeface="DejaVu Sans"/>
                <a:cs typeface="DejaVu Sans"/>
              </a:rPr>
              <a:t>Boltz2 Exact receptor complex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81D2091-3D8C-4842-AD75-CBDF06DEC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362075"/>
            <a:ext cx="619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7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87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87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87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87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87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87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87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87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87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173747"/>
                </a:solidFill>
                <a:latin typeface="DejaVu Sans"/>
                <a:ea typeface="DejaVu Sans"/>
                <a:cs typeface="DejaVu Sans"/>
              </a:rPr>
              <a:t>Boltz2 Exact interface detail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D1AD3BA-CE53-497E-B89A-3205FD435D7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fbd7ce9b17e4a2b"/>
          <a:stretch xmlns:a="http://schemas.openxmlformats.org/drawingml/2006/main"/>
        </p:blipFill>
        <p:spPr>
          <a:xfrm xmlns:a="http://schemas.openxmlformats.org/drawingml/2006/main">
            <a:off x="2344208" y="1724025"/>
            <a:ext cx="3217333" cy="4572000"/>
          </a:xfrm>
          <a:prstGeom xmlns:a="http://schemas.openxmlformats.org/drawingml/2006/main" prst="rect">
            <a:avLst/>
          </a:prstGeom>
        </p:spPr>
      </p:pic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EAC353A-0DBF-40BC-AD15-977CEED48EF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d3b9a9b89694461"/>
          <a:stretch xmlns:a="http://schemas.openxmlformats.org/drawingml/2006/main"/>
        </p:blipFill>
        <p:spPr>
          <a:xfrm xmlns:a="http://schemas.openxmlformats.org/drawingml/2006/main">
            <a:off x="9678458" y="1724025"/>
            <a:ext cx="3217333" cy="457200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57D19C4-5052-49EF-B02B-DAA0AE5C9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579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650" b="1">
                <a:solidFill>
                  <a:srgbClr val="E69F00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650" b="1">
                <a:solidFill>
                  <a:srgbClr val="E69F00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650" b="1">
                <a:solidFill>
                  <a:srgbClr val="E69F00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650" b="1">
                <a:solidFill>
                  <a:srgbClr val="E69F00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650" b="1">
                <a:solidFill>
                  <a:srgbClr val="E69F00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650" b="1">
                <a:solidFill>
                  <a:srgbClr val="E69F00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650" b="1">
                <a:solidFill>
                  <a:srgbClr val="E69F00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650" b="1">
                <a:solidFill>
                  <a:srgbClr val="E69F00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650" b="1">
                <a:solidFill>
                  <a:srgbClr val="E69F00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650" b="1">
                <a:solidFill>
                  <a:srgbClr val="E69F00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E69F00"/>
                </a:solidFill>
                <a:latin typeface="DejaVu Sans"/>
                <a:ea typeface="DejaVu Sans"/>
                <a:cs typeface="DejaVu Sans"/>
              </a:defRPr>
            </a:pPr>
            <a:r>
              <a:rPr sz="1650" b="1">
                <a:solidFill>
                  <a:srgbClr val="E69F00"/>
                </a:solidFill>
                <a:latin typeface="DejaVu Sans"/>
                <a:ea typeface="DejaVu Sans"/>
                <a:cs typeface="DejaVu Sans"/>
              </a:rPr>
              <a:t>LigandForge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9CEE5A1-DD43-4297-B9E4-27373D1DE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64579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650" b="1">
                <a:solidFill>
                  <a:srgbClr val="009E73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650" b="1">
                <a:solidFill>
                  <a:srgbClr val="009E73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650" b="1">
                <a:solidFill>
                  <a:srgbClr val="009E73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650" b="1">
                <a:solidFill>
                  <a:srgbClr val="009E73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650" b="1">
                <a:solidFill>
                  <a:srgbClr val="009E73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650" b="1">
                <a:solidFill>
                  <a:srgbClr val="009E73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650" b="1">
                <a:solidFill>
                  <a:srgbClr val="009E73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650" b="1">
                <a:solidFill>
                  <a:srgbClr val="009E73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650" b="1">
                <a:solidFill>
                  <a:srgbClr val="009E73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650" b="1">
                <a:solidFill>
                  <a:srgbClr val="009E73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009E73"/>
                </a:solidFill>
                <a:latin typeface="DejaVu Sans"/>
                <a:ea typeface="DejaVu Sans"/>
                <a:cs typeface="DejaVu Sans"/>
              </a:defRPr>
            </a:pPr>
            <a:r>
              <a:rPr sz="1650" b="1">
                <a:solidFill>
                  <a:srgbClr val="009E73"/>
                </a:solidFill>
                <a:latin typeface="DejaVu Sans"/>
                <a:ea typeface="DejaVu Sans"/>
                <a:cs typeface="DejaVu Sans"/>
              </a:rPr>
              <a:t>Receptor ECD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28ECA8D-2AFE-4959-92B0-56AD58D13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64579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650" b="1">
                <a:solidFill>
                  <a:srgbClr val="7B8794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650" b="1">
                <a:solidFill>
                  <a:srgbClr val="7B8794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650" b="1">
                <a:solidFill>
                  <a:srgbClr val="7B8794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650" b="1">
                <a:solidFill>
                  <a:srgbClr val="7B8794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650" b="1">
                <a:solidFill>
                  <a:srgbClr val="7B8794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650" b="1">
                <a:solidFill>
                  <a:srgbClr val="7B8794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650" b="1">
                <a:solidFill>
                  <a:srgbClr val="7B8794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650" b="1">
                <a:solidFill>
                  <a:srgbClr val="7B8794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650" b="1">
                <a:solidFill>
                  <a:srgbClr val="7B8794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650" b="1">
                <a:solidFill>
                  <a:srgbClr val="7B8794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7B8794"/>
                </a:solidFill>
                <a:latin typeface="DejaVu Sans"/>
                <a:ea typeface="DejaVu Sans"/>
                <a:cs typeface="DejaVu Sans"/>
              </a:defRPr>
            </a:pPr>
            <a:r>
              <a:rPr sz="1650" b="1">
                <a:solidFill>
                  <a:srgbClr val="7B8794"/>
                </a:solidFill>
                <a:latin typeface="DejaVu Sans"/>
                <a:ea typeface="DejaVu Sans"/>
                <a:cs typeface="DejaVu Sans"/>
              </a:rPr>
              <a:t>Remaining receptor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1AA4FB9-B5E8-4A64-ADEA-9684A5A8B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4579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650" b="1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650" b="1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650" b="1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650" b="1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650" b="1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650" b="1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650" b="1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650" b="1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650" b="1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650" b="1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1650" b="1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Hotspots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9421600-561A-4215-9971-82FD80E6E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800850"/>
            <a:ext cx="1428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42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42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42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42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42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42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42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42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42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42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>
                <a:solidFill>
                  <a:srgbClr val="50616C"/>
                </a:solidFill>
                <a:latin typeface="DejaVu Sans"/>
                <a:ea typeface="DejaVu Sans"/>
                <a:cs typeface="DejaVu Sans"/>
              </a:rPr>
              <a:t>Receptor ECD B1–105 (UniProt 24–128). Black sticks: 27 submitted pocket positions. View-specific zoom.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50B6D91-2B5A-4824-830F-9AA1DE142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134225"/>
            <a:ext cx="14192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57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57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57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57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57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57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57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57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57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57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57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pPr>
            <a:r>
              <a:rPr sz="1575" b="1">
                <a:solidFill>
                  <a:srgbClr val="173747"/>
                </a:solidFill>
                <a:latin typeface="DejaVu Sans"/>
                <a:ea typeface="DejaVu Sans"/>
                <a:cs typeface="DejaVu Sans"/>
              </a:rPr>
              <a:t>Complete selected sequence, N to C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08DD8EE-C597-4286-9A3E-0F02F9A4E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429500"/>
            <a:ext cx="141922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500" b="0">
                <a:solidFill>
                  <a:srgbClr val="173747"/>
                </a:solidFill>
                <a:latin typeface="DejaVu Sans Mono"/>
                <a:ea typeface="DejaVu Sans Mono"/>
                <a:cs typeface="DejaVu Sans Mono"/>
              </a:defRPr>
            </a:defPPr>
            <a:lvl1pPr>
              <a:defRPr sz="1500" b="0">
                <a:solidFill>
                  <a:srgbClr val="173747"/>
                </a:solidFill>
                <a:latin typeface="DejaVu Sans Mono"/>
                <a:ea typeface="DejaVu Sans Mono"/>
                <a:cs typeface="DejaVu Sans Mono"/>
              </a:defRPr>
            </a:lvl1pPr>
            <a:lvl2pPr>
              <a:defRPr sz="1500" b="0">
                <a:solidFill>
                  <a:srgbClr val="173747"/>
                </a:solidFill>
                <a:latin typeface="DejaVu Sans Mono"/>
                <a:ea typeface="DejaVu Sans Mono"/>
                <a:cs typeface="DejaVu Sans Mono"/>
              </a:defRPr>
            </a:lvl2pPr>
            <a:lvl3pPr>
              <a:defRPr sz="1500" b="0">
                <a:solidFill>
                  <a:srgbClr val="173747"/>
                </a:solidFill>
                <a:latin typeface="DejaVu Sans Mono"/>
                <a:ea typeface="DejaVu Sans Mono"/>
                <a:cs typeface="DejaVu Sans Mono"/>
              </a:defRPr>
            </a:lvl3pPr>
            <a:lvl4pPr>
              <a:defRPr sz="1500" b="0">
                <a:solidFill>
                  <a:srgbClr val="173747"/>
                </a:solidFill>
                <a:latin typeface="DejaVu Sans Mono"/>
                <a:ea typeface="DejaVu Sans Mono"/>
                <a:cs typeface="DejaVu Sans Mono"/>
              </a:defRPr>
            </a:lvl4pPr>
            <a:lvl5pPr>
              <a:defRPr sz="1500" b="0">
                <a:solidFill>
                  <a:srgbClr val="173747"/>
                </a:solidFill>
                <a:latin typeface="DejaVu Sans Mono"/>
                <a:ea typeface="DejaVu Sans Mono"/>
                <a:cs typeface="DejaVu Sans Mono"/>
              </a:defRPr>
            </a:lvl5pPr>
            <a:lvl6pPr>
              <a:defRPr sz="1500" b="0">
                <a:solidFill>
                  <a:srgbClr val="173747"/>
                </a:solidFill>
                <a:latin typeface="DejaVu Sans Mono"/>
                <a:ea typeface="DejaVu Sans Mono"/>
                <a:cs typeface="DejaVu Sans Mono"/>
              </a:defRPr>
            </a:lvl6pPr>
            <a:lvl7pPr>
              <a:defRPr sz="1500" b="0">
                <a:solidFill>
                  <a:srgbClr val="173747"/>
                </a:solidFill>
                <a:latin typeface="DejaVu Sans Mono"/>
                <a:ea typeface="DejaVu Sans Mono"/>
                <a:cs typeface="DejaVu Sans Mono"/>
              </a:defRPr>
            </a:lvl7pPr>
            <a:lvl8pPr>
              <a:defRPr sz="1500" b="0">
                <a:solidFill>
                  <a:srgbClr val="173747"/>
                </a:solidFill>
                <a:latin typeface="DejaVu Sans Mono"/>
                <a:ea typeface="DejaVu Sans Mono"/>
                <a:cs typeface="DejaVu Sans Mono"/>
              </a:defRPr>
            </a:lvl8pPr>
            <a:lvl9pPr>
              <a:defRPr sz="1500" b="0">
                <a:solidFill>
                  <a:srgbClr val="173747"/>
                </a:solidFill>
                <a:latin typeface="DejaVu Sans Mono"/>
                <a:ea typeface="DejaVu Sans Mono"/>
                <a:cs typeface="DejaVu Sans Mono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173747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00" b="0">
                <a:solidFill>
                  <a:srgbClr val="173747"/>
                </a:solidFill>
                <a:latin typeface="DejaVu Sans Mono"/>
                <a:ea typeface="DejaVu Sans Mono"/>
                <a:cs typeface="DejaVu Sans Mono"/>
              </a:rPr>
              <a:t>TIDGYKHLFEISDVIEAEGGELQLKRQEYESAIGFKLCRLNAESVYNVKKLSGLRPVGCKGSGSGSYVNL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703AC92-20AA-4767-9BD0-7A414EE0E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248650"/>
            <a:ext cx="1304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2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2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2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2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2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2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2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2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2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2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50616C"/>
                </a:solidFill>
                <a:latin typeface="DejaVu Sans"/>
                <a:ea typeface="DejaVu Sans"/>
                <a:cs typeface="DejaVu Sans"/>
              </a:rPr>
              <a:t>Human GLP1R     Boltz2 Exact     Computational predictions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9B8C8C2-931A-471B-9B90-7E9E6168D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0" y="82486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2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2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2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2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2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2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2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2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2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2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50616C"/>
                </a:solidFill>
                <a:latin typeface="DejaVu Sans"/>
                <a:ea typeface="DejaVu Sans"/>
                <a:cs typeface="DejaVu Sans"/>
              </a:rPr>
              <a:t>22</a:t>
            </a:r>
          </a:p>
        </p:txBody>
      </p:sp>
    </p:spTree>
    <p:extLst>
      <p:ext uri="{BB962C8B-B14F-4D97-AF65-F5344CB8AC3E}">
        <p14:creationId xmlns:p14="http://schemas.microsoft.com/office/powerpoint/2010/main" val="24802976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1917E3E-DFB7-4DD0-92A2-F16DE0420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76225"/>
            <a:ext cx="1428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22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322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322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322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322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322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322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322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322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322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73747"/>
                </a:solidFill>
                <a:latin typeface="DejaVu Sans"/>
                <a:ea typeface="DejaVu Sans"/>
                <a:cs typeface="DejaVu Sans"/>
              </a:rPr>
              <a:t>12  LK_P012_08  metrics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B108B32-5B50-4707-B75D-15F19D4FE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95350"/>
            <a:ext cx="1428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8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8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8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8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8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8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8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8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8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50616C"/>
                </a:solidFill>
                <a:latin typeface="DejaVu Sans"/>
                <a:ea typeface="DejaVu Sans"/>
                <a:cs typeface="DejaVu Sans"/>
              </a:rPr>
              <a:t>D-L-D fusion   Candidate A: 125 aa   Human GLP1R B: 440 aa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2DBD29F-8086-4411-B7DE-915F4E7FC2DC}"/>
              </a:ext>
            </a:extLst>
          </p:cNvPr>
          <p:cNvGraphicFramePr/>
          <p:nvPr/>
        </p:nvGraphicFramePr>
        <p:xfrm>
          <a:off xmlns:a="http://schemas.openxmlformats.org/drawingml/2006/main" x="457200" y="1457325"/>
          <a:ext xmlns:a="http://schemas.openxmlformats.org/drawingml/2006/main" cx="9667875" cy="48006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6791325"/>
                <a:gridCol w="2876550"/>
              </a:tblGrid>
              <a:tr h="34290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Metric and scope</a:t>
                      </a:r>
                    </a:p>
                  </a:txBody>
                  <a:tcPr marL="91440" marR="91440" marT="45720" marB="45720">
                    <a:lnL w="5715">
                      <a:solidFill>
                        <a:srgbClr val="D8E1E5"/>
                      </a:solidFill>
                      <a:prstDash val="solid"/>
                    </a:lnL>
                    <a:lnR w="5715">
                      <a:solidFill>
                        <a:srgbClr val="D8E1E5"/>
                      </a:solidFill>
                      <a:prstDash val="solid"/>
                    </a:lnR>
                    <a:lnT w="5715">
                      <a:solidFill>
                        <a:srgbClr val="D8E1E5"/>
                      </a:solidFill>
                      <a:prstDash val="solid"/>
                    </a:lnT>
                    <a:lnB w="5715">
                      <a:solidFill>
                        <a:srgbClr val="D8E1E5"/>
                      </a:solidFill>
                      <a:prstDash val="solid"/>
                    </a:lnB>
                    <a:solidFill>
                      <a:srgbClr val="245D7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Value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8E1E5"/>
                      </a:solidFill>
                      <a:prstDash val="solid"/>
                    </a:lnR>
                    <a:lnT w="5715">
                      <a:solidFill>
                        <a:srgbClr val="D8E1E5"/>
                      </a:solidFill>
                      <a:prstDash val="solid"/>
                    </a:lnT>
                    <a:lnB w="5715">
                      <a:solidFill>
                        <a:srgbClr val="D8E1E5"/>
                      </a:solidFill>
                      <a:prstDash val="solid"/>
                    </a:lnB>
                    <a:solidFill>
                      <a:srgbClr val="245D73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73747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Boltz2 Exact ipSAE (A/B, Type=max)</a:t>
                      </a:r>
                    </a:p>
                  </a:txBody>
                  <a:tcPr marL="91440" marR="91440" marT="45720" marB="45720">
                    <a:lnL w="5715">
                      <a:solidFill>
                        <a:srgbClr val="D8E1E5"/>
                      </a:solidFill>
                      <a:prstDash val="solid"/>
                    </a:lnL>
                    <a:lnR w="5715">
                      <a:solidFill>
                        <a:srgbClr val="D8E1E5"/>
                      </a:solidFill>
                      <a:prstDash val="solid"/>
                    </a:lnR>
                    <a:lnB w="5715">
                      <a:solidFill>
                        <a:srgbClr val="D8E1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73747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0.900529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8E1E5"/>
                      </a:solidFill>
                      <a:prstDash val="solid"/>
                    </a:lnR>
                    <a:lnB w="5715">
                      <a:solidFill>
                        <a:srgbClr val="D8E1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73747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DeltaForge predicted Kd (nM)</a:t>
                      </a:r>
                    </a:p>
                  </a:txBody>
                  <a:tcPr marL="91440" marR="91440" marT="45720" marB="45720">
                    <a:lnL w="5715">
                      <a:solidFill>
                        <a:srgbClr val="D8E1E5"/>
                      </a:solidFill>
                      <a:prstDash val="solid"/>
                    </a:lnL>
                    <a:lnR w="5715">
                      <a:solidFill>
                        <a:srgbClr val="D8E1E5"/>
                      </a:solidFill>
                      <a:prstDash val="solid"/>
                    </a:lnR>
                    <a:lnB w="5715">
                      <a:solidFill>
                        <a:srgbClr val="D8E1E5"/>
                      </a:solidFill>
                      <a:prstDash val="solid"/>
                    </a:lnB>
                    <a:solidFill>
                      <a:srgbClr val="F1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73747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1.4449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8E1E5"/>
                      </a:solidFill>
                      <a:prstDash val="solid"/>
                    </a:lnR>
                    <a:lnB w="5715">
                      <a:solidFill>
                        <a:srgbClr val="D8E1E5"/>
                      </a:solidFill>
                      <a:prstDash val="solid"/>
                    </a:lnB>
                    <a:solidFill>
                      <a:srgbClr val="F1F5F7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73747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Boltz2 Exact ipTM</a:t>
                      </a:r>
                    </a:p>
                  </a:txBody>
                  <a:tcPr marL="91440" marR="91440" marT="45720" marB="45720">
                    <a:lnL w="5715">
                      <a:solidFill>
                        <a:srgbClr val="D8E1E5"/>
                      </a:solidFill>
                      <a:prstDash val="solid"/>
                    </a:lnL>
                    <a:lnR w="5715">
                      <a:solidFill>
                        <a:srgbClr val="D8E1E5"/>
                      </a:solidFill>
                      <a:prstDash val="solid"/>
                    </a:lnR>
                    <a:lnB w="5715">
                      <a:solidFill>
                        <a:srgbClr val="D8E1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73747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0.9175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8E1E5"/>
                      </a:solidFill>
                      <a:prstDash val="solid"/>
                    </a:lnR>
                    <a:lnB w="5715">
                      <a:solidFill>
                        <a:srgbClr val="D8E1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73747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Original population ipSAE rank</a:t>
                      </a:r>
                    </a:p>
                  </a:txBody>
                  <a:tcPr marL="91440" marR="91440" marT="45720" marB="45720">
                    <a:lnL w="5715">
                      <a:solidFill>
                        <a:srgbClr val="D8E1E5"/>
                      </a:solidFill>
                      <a:prstDash val="solid"/>
                    </a:lnL>
                    <a:lnR w="5715">
                      <a:solidFill>
                        <a:srgbClr val="D8E1E5"/>
                      </a:solidFill>
                      <a:prstDash val="solid"/>
                    </a:lnR>
                    <a:lnB w="5715">
                      <a:solidFill>
                        <a:srgbClr val="D8E1E5"/>
                      </a:solidFill>
                      <a:prstDash val="solid"/>
                    </a:lnB>
                    <a:solidFill>
                      <a:srgbClr val="F1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73747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11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8E1E5"/>
                      </a:solidFill>
                      <a:prstDash val="solid"/>
                    </a:lnR>
                    <a:lnB w="5715">
                      <a:solidFill>
                        <a:srgbClr val="D8E1E5"/>
                      </a:solidFill>
                      <a:prstDash val="solid"/>
                    </a:lnB>
                    <a:solidFill>
                      <a:srgbClr val="F1F5F7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73747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Predicted-Kd rank within population top50</a:t>
                      </a:r>
                    </a:p>
                  </a:txBody>
                  <a:tcPr marL="91440" marR="91440" marT="45720" marB="45720">
                    <a:lnL w="5715">
                      <a:solidFill>
                        <a:srgbClr val="D8E1E5"/>
                      </a:solidFill>
                      <a:prstDash val="solid"/>
                    </a:lnL>
                    <a:lnR w="5715">
                      <a:solidFill>
                        <a:srgbClr val="D8E1E5"/>
                      </a:solidFill>
                      <a:prstDash val="solid"/>
                    </a:lnR>
                    <a:lnB w="5715">
                      <a:solidFill>
                        <a:srgbClr val="D8E1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73747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14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8E1E5"/>
                      </a:solidFill>
                      <a:prstDash val="solid"/>
                    </a:lnR>
                    <a:lnB w="5715">
                      <a:solidFill>
                        <a:srgbClr val="D8E1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73747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Candidate / receptor residues (aa)</a:t>
                      </a:r>
                    </a:p>
                  </a:txBody>
                  <a:tcPr marL="91440" marR="91440" marT="45720" marB="45720">
                    <a:lnL w="5715">
                      <a:solidFill>
                        <a:srgbClr val="D8E1E5"/>
                      </a:solidFill>
                      <a:prstDash val="solid"/>
                    </a:lnL>
                    <a:lnR w="5715">
                      <a:solidFill>
                        <a:srgbClr val="D8E1E5"/>
                      </a:solidFill>
                      <a:prstDash val="solid"/>
                    </a:lnR>
                    <a:lnB w="5715">
                      <a:solidFill>
                        <a:srgbClr val="D8E1E5"/>
                      </a:solidFill>
                      <a:prstDash val="solid"/>
                    </a:lnB>
                    <a:solidFill>
                      <a:srgbClr val="F1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73747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125 / 440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8E1E5"/>
                      </a:solidFill>
                      <a:prstDash val="solid"/>
                    </a:lnR>
                    <a:lnB w="5715">
                      <a:solidFill>
                        <a:srgbClr val="D8E1E5"/>
                      </a:solidFill>
                      <a:prstDash val="solid"/>
                    </a:lnB>
                    <a:solidFill>
                      <a:srgbClr val="F1F5F7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73747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pDockQ / pDockQ2</a:t>
                      </a:r>
                    </a:p>
                  </a:txBody>
                  <a:tcPr marL="91440" marR="91440" marT="45720" marB="45720">
                    <a:lnL w="5715">
                      <a:solidFill>
                        <a:srgbClr val="D8E1E5"/>
                      </a:solidFill>
                      <a:prstDash val="solid"/>
                    </a:lnL>
                    <a:lnR w="5715">
                      <a:solidFill>
                        <a:srgbClr val="D8E1E5"/>
                      </a:solidFill>
                      <a:prstDash val="solid"/>
                    </a:lnR>
                    <a:lnB w="5715">
                      <a:solidFill>
                        <a:srgbClr val="D8E1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73747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0.2348 / 0.1121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8E1E5"/>
                      </a:solidFill>
                      <a:prstDash val="solid"/>
                    </a:lnR>
                    <a:lnB w="5715">
                      <a:solidFill>
                        <a:srgbClr val="D8E1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73747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Whole fusion / linker pLDDT (0-100)</a:t>
                      </a:r>
                    </a:p>
                  </a:txBody>
                  <a:tcPr marL="91440" marR="91440" marT="45720" marB="45720">
                    <a:lnL w="5715">
                      <a:solidFill>
                        <a:srgbClr val="D8E1E5"/>
                      </a:solidFill>
                      <a:prstDash val="solid"/>
                    </a:lnL>
                    <a:lnR w="5715">
                      <a:solidFill>
                        <a:srgbClr val="D8E1E5"/>
                      </a:solidFill>
                      <a:prstDash val="solid"/>
                    </a:lnR>
                    <a:lnB w="5715">
                      <a:solidFill>
                        <a:srgbClr val="D8E1E5"/>
                      </a:solidFill>
                      <a:prstDash val="solid"/>
                    </a:lnB>
                    <a:solidFill>
                      <a:srgbClr val="F1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73747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47.9 / 41.6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8E1E5"/>
                      </a:solidFill>
                      <a:prstDash val="solid"/>
                    </a:lnR>
                    <a:lnB w="5715">
                      <a:solidFill>
                        <a:srgbClr val="D8E1E5"/>
                      </a:solidFill>
                      <a:prstDash val="solid"/>
                    </a:lnB>
                    <a:solidFill>
                      <a:srgbClr val="F1F5F7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73747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ECD / LigandForge pLDDT (0-100)</a:t>
                      </a:r>
                    </a:p>
                  </a:txBody>
                  <a:tcPr marL="91440" marR="91440" marT="45720" marB="45720">
                    <a:lnL w="5715">
                      <a:solidFill>
                        <a:srgbClr val="D8E1E5"/>
                      </a:solidFill>
                      <a:prstDash val="solid"/>
                    </a:lnL>
                    <a:lnR w="5715">
                      <a:solidFill>
                        <a:srgbClr val="D8E1E5"/>
                      </a:solidFill>
                      <a:prstDash val="solid"/>
                    </a:lnR>
                    <a:lnB w="5715">
                      <a:solidFill>
                        <a:srgbClr val="D8E1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73747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67.4 / 38.2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8E1E5"/>
                      </a:solidFill>
                      <a:prstDash val="solid"/>
                    </a:lnR>
                    <a:lnB w="5715">
                      <a:solidFill>
                        <a:srgbClr val="D8E1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73747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Fusion design-to-refold DockQ</a:t>
                      </a:r>
                    </a:p>
                  </a:txBody>
                  <a:tcPr marL="91440" marR="91440" marT="45720" marB="45720">
                    <a:lnL w="5715">
                      <a:solidFill>
                        <a:srgbClr val="D8E1E5"/>
                      </a:solidFill>
                      <a:prstDash val="solid"/>
                    </a:lnL>
                    <a:lnR w="5715">
                      <a:solidFill>
                        <a:srgbClr val="D8E1E5"/>
                      </a:solidFill>
                      <a:prstDash val="solid"/>
                    </a:lnR>
                    <a:lnB w="5715">
                      <a:solidFill>
                        <a:srgbClr val="D8E1E5"/>
                      </a:solidFill>
                      <a:prstDash val="solid"/>
                    </a:lnB>
                    <a:solidFill>
                      <a:srgbClr val="F1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73747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0.2160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8E1E5"/>
                      </a:solidFill>
                      <a:prstDash val="solid"/>
                    </a:lnR>
                    <a:lnB w="5715">
                      <a:solidFill>
                        <a:srgbClr val="D8E1E5"/>
                      </a:solidFill>
                      <a:prstDash val="solid"/>
                    </a:lnB>
                    <a:solidFill>
                      <a:srgbClr val="F1F5F7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73747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Free C-terminal OPM z (A)</a:t>
                      </a:r>
                    </a:p>
                  </a:txBody>
                  <a:tcPr marL="91440" marR="91440" marT="45720" marB="45720">
                    <a:lnL w="5715">
                      <a:solidFill>
                        <a:srgbClr val="D8E1E5"/>
                      </a:solidFill>
                      <a:prstDash val="solid"/>
                    </a:lnL>
                    <a:lnR w="5715">
                      <a:solidFill>
                        <a:srgbClr val="D8E1E5"/>
                      </a:solidFill>
                      <a:prstDash val="solid"/>
                    </a:lnR>
                    <a:lnB w="5715">
                      <a:solidFill>
                        <a:srgbClr val="D8E1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73747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34.03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8E1E5"/>
                      </a:solidFill>
                      <a:prstDash val="solid"/>
                    </a:lnR>
                    <a:lnB w="5715">
                      <a:solidFill>
                        <a:srgbClr val="D8E1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73747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Extracellular free C-terminal screen</a:t>
                      </a:r>
                    </a:p>
                  </a:txBody>
                  <a:tcPr marL="91440" marR="91440" marT="45720" marB="45720">
                    <a:lnL w="5715">
                      <a:solidFill>
                        <a:srgbClr val="D8E1E5"/>
                      </a:solidFill>
                      <a:prstDash val="solid"/>
                    </a:lnL>
                    <a:lnR w="5715">
                      <a:solidFill>
                        <a:srgbClr val="D8E1E5"/>
                      </a:solidFill>
                      <a:prstDash val="solid"/>
                    </a:lnR>
                    <a:lnB w="5715">
                      <a:solidFill>
                        <a:srgbClr val="D8E1E5"/>
                      </a:solidFill>
                      <a:prstDash val="solid"/>
                    </a:lnB>
                    <a:solidFill>
                      <a:srgbClr val="F1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73747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Pass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8E1E5"/>
                      </a:solidFill>
                      <a:prstDash val="solid"/>
                    </a:lnR>
                    <a:lnB w="5715">
                      <a:solidFill>
                        <a:srgbClr val="D8E1E5"/>
                      </a:solidFill>
                      <a:prstDash val="solid"/>
                    </a:lnB>
                    <a:solidFill>
                      <a:srgbClr val="F1F5F7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73747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DeltaForge length scope</a:t>
                      </a:r>
                    </a:p>
                  </a:txBody>
                  <a:tcPr marL="91440" marR="91440" marT="45720" marB="45720">
                    <a:lnL w="5715">
                      <a:solidFill>
                        <a:srgbClr val="D8E1E5"/>
                      </a:solidFill>
                      <a:prstDash val="solid"/>
                    </a:lnL>
                    <a:lnR w="5715">
                      <a:solidFill>
                        <a:srgbClr val="D8E1E5"/>
                      </a:solidFill>
                      <a:prstDash val="solid"/>
                    </a:lnR>
                    <a:lnB w="5715">
                      <a:solidFill>
                        <a:srgbClr val="D8E1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73747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platform_8_140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8E1E5"/>
                      </a:solidFill>
                      <a:prstDash val="solid"/>
                    </a:lnR>
                    <a:lnB w="5715">
                      <a:solidFill>
                        <a:srgbClr val="D8E1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C02809D-6DC4-4BA9-A570-5D489DFF7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1457325"/>
            <a:ext cx="4095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950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950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950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950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950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950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950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950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950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950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173747"/>
                </a:solidFill>
                <a:latin typeface="DejaVu Sans"/>
                <a:ea typeface="DejaVu Sans"/>
                <a:cs typeface="DejaVu Sans"/>
              </a:rPr>
              <a:t>Origin and prediction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70AD3D4-3871-46BD-9BC8-12C9FA5EA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1952625"/>
            <a:ext cx="4095750" cy="390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725" b="0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725" b="0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725" b="0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725" b="0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725" b="0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725" b="0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725" b="0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725" b="0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725" b="0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725" b="0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173747"/>
                </a:solidFill>
                <a:latin typeface="DejaVu Sans"/>
                <a:ea typeface="DejaVu Sans"/>
                <a:cs typeface="DejaVu Sans"/>
              </a:rPr>
              <a:t>ECD parent S08_00_042</a:t>
            </a:r>
          </a:p>
          <a:p xmlns:a="http://schemas.openxmlformats.org/drawingml/2006/main">
            <a:pPr>
              <a:defRPr sz="1725" b="0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173747"/>
                </a:solidFill>
                <a:latin typeface="DejaVu Sans"/>
                <a:ea typeface="DejaVu Sans"/>
                <a:cs typeface="DejaVu Sans"/>
              </a:rPr>
              <a:t>LigandForge parent Design_991</a:t>
            </a:r>
          </a:p>
          <a:p xmlns:a="http://schemas.openxmlformats.org/drawingml/2006/main">
            <a:pPr>
              <a:defRPr sz="1725" b="0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173747"/>
                </a:solidFill>
                <a:latin typeface="DejaVu Sans"/>
                <a:ea typeface="DejaVu Sans"/>
                <a:cs typeface="DejaVu Sans"/>
              </a:rPr>
              <a:t>Pair P012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725" b="0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173747"/>
                </a:solidFill>
                <a:latin typeface="DejaVu Sans"/>
                <a:ea typeface="DejaVu Sans"/>
                <a:cs typeface="DejaVu Sans"/>
              </a:rPr>
              <a:t>AP Novo seed 229</a:t>
            </a:r>
          </a:p>
          <a:p xmlns:a="http://schemas.openxmlformats.org/drawingml/2006/main">
            <a:pPr>
              <a:defRPr sz="1725" b="0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173747"/>
                </a:solidFill>
                <a:latin typeface="DejaVu Sans"/>
                <a:ea typeface="DejaVu Sans"/>
                <a:cs typeface="DejaVu Sans"/>
              </a:rPr>
              <a:t>Exact seed 101</a:t>
            </a:r>
          </a:p>
          <a:p xmlns:a="http://schemas.openxmlformats.org/drawingml/2006/main">
            <a:pPr>
              <a:defRPr sz="1725" b="0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173747"/>
                </a:solidFill>
                <a:latin typeface="DejaVu Sans"/>
                <a:ea typeface="DejaVu Sans"/>
                <a:cs typeface="DejaVu Sans"/>
              </a:rPr>
              <a:t>3 recycles, 200 steps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725" b="0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173747"/>
                </a:solidFill>
                <a:latin typeface="DejaVu Sans"/>
                <a:ea typeface="DejaVu Sans"/>
                <a:cs typeface="DejaVu Sans"/>
              </a:rPr>
              <a:t>ECD A1-39  linker A40-60  LF A61-125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23C7D1C-1F2E-4181-84FA-915DFFE8B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81750"/>
            <a:ext cx="14192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650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650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650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650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650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650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650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650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650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650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50616C"/>
                </a:solidFill>
                <a:latin typeface="DejaVu Sans"/>
                <a:ea typeface="DejaVu Sans"/>
                <a:cs typeface="DejaVu Sans"/>
              </a:rPr>
              <a:t>Whole-fusion pLDDT remains modest. High interface confidence does not establish activation.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C273009-41F7-4625-9219-33C80C6C0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115175"/>
            <a:ext cx="14192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57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57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57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57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57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57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57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57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57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57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57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pPr>
            <a:r>
              <a:rPr sz="1575" b="1">
                <a:solidFill>
                  <a:srgbClr val="173747"/>
                </a:solidFill>
                <a:latin typeface="DejaVu Sans"/>
                <a:ea typeface="DejaVu Sans"/>
                <a:cs typeface="DejaVu Sans"/>
              </a:rPr>
              <a:t>Complete selected sequence, N to C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49659CE-97C7-453C-A913-C07449A96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410450"/>
            <a:ext cx="141922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500" b="0">
                <a:solidFill>
                  <a:srgbClr val="173747"/>
                </a:solidFill>
                <a:latin typeface="DejaVu Sans Mono"/>
                <a:ea typeface="DejaVu Sans Mono"/>
                <a:cs typeface="DejaVu Sans Mono"/>
              </a:defRPr>
            </a:defPPr>
            <a:lvl1pPr>
              <a:defRPr sz="1500" b="0">
                <a:solidFill>
                  <a:srgbClr val="173747"/>
                </a:solidFill>
                <a:latin typeface="DejaVu Sans Mono"/>
                <a:ea typeface="DejaVu Sans Mono"/>
                <a:cs typeface="DejaVu Sans Mono"/>
              </a:defRPr>
            </a:lvl1pPr>
            <a:lvl2pPr>
              <a:defRPr sz="1500" b="0">
                <a:solidFill>
                  <a:srgbClr val="173747"/>
                </a:solidFill>
                <a:latin typeface="DejaVu Sans Mono"/>
                <a:ea typeface="DejaVu Sans Mono"/>
                <a:cs typeface="DejaVu Sans Mono"/>
              </a:defRPr>
            </a:lvl2pPr>
            <a:lvl3pPr>
              <a:defRPr sz="1500" b="0">
                <a:solidFill>
                  <a:srgbClr val="173747"/>
                </a:solidFill>
                <a:latin typeface="DejaVu Sans Mono"/>
                <a:ea typeface="DejaVu Sans Mono"/>
                <a:cs typeface="DejaVu Sans Mono"/>
              </a:defRPr>
            </a:lvl3pPr>
            <a:lvl4pPr>
              <a:defRPr sz="1500" b="0">
                <a:solidFill>
                  <a:srgbClr val="173747"/>
                </a:solidFill>
                <a:latin typeface="DejaVu Sans Mono"/>
                <a:ea typeface="DejaVu Sans Mono"/>
                <a:cs typeface="DejaVu Sans Mono"/>
              </a:defRPr>
            </a:lvl4pPr>
            <a:lvl5pPr>
              <a:defRPr sz="1500" b="0">
                <a:solidFill>
                  <a:srgbClr val="173747"/>
                </a:solidFill>
                <a:latin typeface="DejaVu Sans Mono"/>
                <a:ea typeface="DejaVu Sans Mono"/>
                <a:cs typeface="DejaVu Sans Mono"/>
              </a:defRPr>
            </a:lvl5pPr>
            <a:lvl6pPr>
              <a:defRPr sz="1500" b="0">
                <a:solidFill>
                  <a:srgbClr val="173747"/>
                </a:solidFill>
                <a:latin typeface="DejaVu Sans Mono"/>
                <a:ea typeface="DejaVu Sans Mono"/>
                <a:cs typeface="DejaVu Sans Mono"/>
              </a:defRPr>
            </a:lvl6pPr>
            <a:lvl7pPr>
              <a:defRPr sz="1500" b="0">
                <a:solidFill>
                  <a:srgbClr val="173747"/>
                </a:solidFill>
                <a:latin typeface="DejaVu Sans Mono"/>
                <a:ea typeface="DejaVu Sans Mono"/>
                <a:cs typeface="DejaVu Sans Mono"/>
              </a:defRPr>
            </a:lvl7pPr>
            <a:lvl8pPr>
              <a:defRPr sz="1500" b="0">
                <a:solidFill>
                  <a:srgbClr val="173747"/>
                </a:solidFill>
                <a:latin typeface="DejaVu Sans Mono"/>
                <a:ea typeface="DejaVu Sans Mono"/>
                <a:cs typeface="DejaVu Sans Mono"/>
              </a:defRPr>
            </a:lvl8pPr>
            <a:lvl9pPr>
              <a:defRPr sz="1500" b="0">
                <a:solidFill>
                  <a:srgbClr val="173747"/>
                </a:solidFill>
                <a:latin typeface="DejaVu Sans Mono"/>
                <a:ea typeface="DejaVu Sans Mono"/>
                <a:cs typeface="DejaVu Sans Mono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173747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00" b="0">
                <a:solidFill>
                  <a:srgbClr val="173747"/>
                </a:solidFill>
                <a:latin typeface="DejaVu Sans Mono"/>
                <a:ea typeface="DejaVu Sans Mono"/>
                <a:cs typeface="DejaVu Sans Mono"/>
              </a:rPr>
              <a:t>MADSISEVSEGVHLILAAQALELPPFVVAARLEEARAKRGGAPSFLPPPNVTSGYVNGGGAFHLTGLAARCGAV</a:t>
            </a:r>
          </a:p>
          <a:p xmlns:a="http://schemas.openxmlformats.org/drawingml/2006/main">
            <a:pPr>
              <a:defRPr sz="1500" b="0">
                <a:solidFill>
                  <a:srgbClr val="173747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00" b="0">
                <a:solidFill>
                  <a:srgbClr val="173747"/>
                </a:solidFill>
                <a:latin typeface="DejaVu Sans Mono"/>
                <a:ea typeface="DejaVu Sans Mono"/>
                <a:cs typeface="DejaVu Sans Mono"/>
              </a:rPr>
              <a:t>WRGVFCQFGNGVKGEGSVTGGSLNTFYILTVAPTSANILTSGSGSGSLEGS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223C6CF-A3BA-4BF8-AAEF-D8C14BF4C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248650"/>
            <a:ext cx="1304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2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2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2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2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2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2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2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2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2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2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50616C"/>
                </a:solidFill>
                <a:latin typeface="DejaVu Sans"/>
                <a:ea typeface="DejaVu Sans"/>
                <a:cs typeface="DejaVu Sans"/>
              </a:rPr>
              <a:t>Human GLP1R     Boltz2 Exact     Computational predictions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1774403-F181-4E0A-A63B-C4AD08C3A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0" y="82486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2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2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2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2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2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2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2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2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2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2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50616C"/>
                </a:solidFill>
                <a:latin typeface="DejaVu Sans"/>
                <a:ea typeface="DejaVu Sans"/>
                <a:cs typeface="DejaVu Sans"/>
              </a:rPr>
              <a:t>23</a:t>
            </a:r>
          </a:p>
        </p:txBody>
      </p:sp>
    </p:spTree>
    <p:extLst>
      <p:ext uri="{BB962C8B-B14F-4D97-AF65-F5344CB8AC3E}">
        <p14:creationId xmlns:p14="http://schemas.microsoft.com/office/powerpoint/2010/main" val="729760751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378C190-5E6A-419B-8CCE-4FF6465C3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76225"/>
            <a:ext cx="1428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22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322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322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322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322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322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322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322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322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322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73747"/>
                </a:solidFill>
                <a:latin typeface="DejaVu Sans"/>
                <a:ea typeface="DejaVu Sans"/>
                <a:cs typeface="DejaVu Sans"/>
              </a:rPr>
              <a:t>12  LK_P012_08  structure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5FAC34F-E7C2-47A5-90E5-62DCAC36D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95350"/>
            <a:ext cx="1428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8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8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8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8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8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8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8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8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8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50616C"/>
                </a:solidFill>
                <a:latin typeface="DejaVu Sans"/>
                <a:ea typeface="DejaVu Sans"/>
                <a:cs typeface="DejaVu Sans"/>
              </a:rPr>
              <a:t>D-L-D fusion   Candidate A: 125 aa   Human GLP1R B: 440 aa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BA45A58-047E-4CC1-9866-2FF46AD41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362075"/>
            <a:ext cx="619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7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87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87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87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87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87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87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87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87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87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173747"/>
                </a:solidFill>
                <a:latin typeface="DejaVu Sans"/>
                <a:ea typeface="DejaVu Sans"/>
                <a:cs typeface="DejaVu Sans"/>
              </a:rPr>
              <a:t>Boltz2 Exact receptor complex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5736612-DC3D-44F2-8F5E-D9CADF156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362075"/>
            <a:ext cx="619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7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87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87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87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87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87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87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87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87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87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173747"/>
                </a:solidFill>
                <a:latin typeface="DejaVu Sans"/>
                <a:ea typeface="DejaVu Sans"/>
                <a:cs typeface="DejaVu Sans"/>
              </a:rPr>
              <a:t>Boltz2 Exact interface detail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632AA10-7D55-4228-87DD-2FE02E50C2D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cc44456e5e94ec8"/>
          <a:stretch xmlns:a="http://schemas.openxmlformats.org/drawingml/2006/main"/>
        </p:blipFill>
        <p:spPr>
          <a:xfrm xmlns:a="http://schemas.openxmlformats.org/drawingml/2006/main">
            <a:off x="2344208" y="1724025"/>
            <a:ext cx="3217333" cy="4572000"/>
          </a:xfrm>
          <a:prstGeom xmlns:a="http://schemas.openxmlformats.org/drawingml/2006/main" prst="rect">
            <a:avLst/>
          </a:prstGeom>
        </p:spPr>
      </p:pic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B10F6B6-4288-46A8-8D51-C18912B8915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d7b5afa8eb04d6d"/>
          <a:stretch xmlns:a="http://schemas.openxmlformats.org/drawingml/2006/main"/>
        </p:blipFill>
        <p:spPr>
          <a:xfrm xmlns:a="http://schemas.openxmlformats.org/drawingml/2006/main">
            <a:off x="9296093" y="1724025"/>
            <a:ext cx="3982065" cy="457200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626381B-B5EC-42D4-BF48-55923F149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579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650" b="1">
                <a:solidFill>
                  <a:srgbClr val="E69F00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650" b="1">
                <a:solidFill>
                  <a:srgbClr val="E69F00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650" b="1">
                <a:solidFill>
                  <a:srgbClr val="E69F00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650" b="1">
                <a:solidFill>
                  <a:srgbClr val="E69F00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650" b="1">
                <a:solidFill>
                  <a:srgbClr val="E69F00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650" b="1">
                <a:solidFill>
                  <a:srgbClr val="E69F00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650" b="1">
                <a:solidFill>
                  <a:srgbClr val="E69F00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650" b="1">
                <a:solidFill>
                  <a:srgbClr val="E69F00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650" b="1">
                <a:solidFill>
                  <a:srgbClr val="E69F00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650" b="1">
                <a:solidFill>
                  <a:srgbClr val="E69F00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E69F00"/>
                </a:solidFill>
                <a:latin typeface="DejaVu Sans"/>
                <a:ea typeface="DejaVu Sans"/>
                <a:cs typeface="DejaVu Sans"/>
              </a:defRPr>
            </a:pPr>
            <a:r>
              <a:rPr sz="1650" b="1">
                <a:solidFill>
                  <a:srgbClr val="E69F00"/>
                </a:solidFill>
                <a:latin typeface="DejaVu Sans"/>
                <a:ea typeface="DejaVu Sans"/>
                <a:cs typeface="DejaVu Sans"/>
              </a:rPr>
              <a:t>LigandForge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03CF932-B7E8-4B75-AF9C-69092DD45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64579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650" b="1">
                <a:solidFill>
                  <a:srgbClr val="AA4499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650" b="1">
                <a:solidFill>
                  <a:srgbClr val="AA4499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650" b="1">
                <a:solidFill>
                  <a:srgbClr val="AA4499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650" b="1">
                <a:solidFill>
                  <a:srgbClr val="AA4499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650" b="1">
                <a:solidFill>
                  <a:srgbClr val="AA4499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650" b="1">
                <a:solidFill>
                  <a:srgbClr val="AA4499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650" b="1">
                <a:solidFill>
                  <a:srgbClr val="AA4499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650" b="1">
                <a:solidFill>
                  <a:srgbClr val="AA4499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650" b="1">
                <a:solidFill>
                  <a:srgbClr val="AA4499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650" b="1">
                <a:solidFill>
                  <a:srgbClr val="AA4499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AA4499"/>
                </a:solidFill>
                <a:latin typeface="DejaVu Sans"/>
                <a:ea typeface="DejaVu Sans"/>
                <a:cs typeface="DejaVu Sans"/>
              </a:defRPr>
            </a:pPr>
            <a:r>
              <a:rPr sz="1650" b="1">
                <a:solidFill>
                  <a:srgbClr val="AA4499"/>
                </a:solidFill>
                <a:latin typeface="DejaVu Sans"/>
                <a:ea typeface="DejaVu Sans"/>
                <a:cs typeface="DejaVu Sans"/>
              </a:rPr>
              <a:t>Linker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61F23DE-2461-407E-B064-E13A627C9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64579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650" b="1">
                <a:solidFill>
                  <a:srgbClr val="0072B2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650" b="1">
                <a:solidFill>
                  <a:srgbClr val="0072B2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650" b="1">
                <a:solidFill>
                  <a:srgbClr val="0072B2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650" b="1">
                <a:solidFill>
                  <a:srgbClr val="0072B2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650" b="1">
                <a:solidFill>
                  <a:srgbClr val="0072B2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650" b="1">
                <a:solidFill>
                  <a:srgbClr val="0072B2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650" b="1">
                <a:solidFill>
                  <a:srgbClr val="0072B2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650" b="1">
                <a:solidFill>
                  <a:srgbClr val="0072B2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650" b="1">
                <a:solidFill>
                  <a:srgbClr val="0072B2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650" b="1">
                <a:solidFill>
                  <a:srgbClr val="0072B2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0072B2"/>
                </a:solidFill>
                <a:latin typeface="DejaVu Sans"/>
                <a:ea typeface="DejaVu Sans"/>
                <a:cs typeface="DejaVu Sans"/>
              </a:defRPr>
            </a:pPr>
            <a:r>
              <a:rPr sz="1650" b="1">
                <a:solidFill>
                  <a:srgbClr val="0072B2"/>
                </a:solidFill>
                <a:latin typeface="DejaVu Sans"/>
                <a:ea typeface="DejaVu Sans"/>
                <a:cs typeface="DejaVu Sans"/>
              </a:rPr>
              <a:t>ECD binder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01317CC-0E2C-4083-939A-C2A80AC31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64579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650" b="1">
                <a:solidFill>
                  <a:srgbClr val="009E73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650" b="1">
                <a:solidFill>
                  <a:srgbClr val="009E73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650" b="1">
                <a:solidFill>
                  <a:srgbClr val="009E73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650" b="1">
                <a:solidFill>
                  <a:srgbClr val="009E73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650" b="1">
                <a:solidFill>
                  <a:srgbClr val="009E73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650" b="1">
                <a:solidFill>
                  <a:srgbClr val="009E73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650" b="1">
                <a:solidFill>
                  <a:srgbClr val="009E73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650" b="1">
                <a:solidFill>
                  <a:srgbClr val="009E73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650" b="1">
                <a:solidFill>
                  <a:srgbClr val="009E73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650" b="1">
                <a:solidFill>
                  <a:srgbClr val="009E73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009E73"/>
                </a:solidFill>
                <a:latin typeface="DejaVu Sans"/>
                <a:ea typeface="DejaVu Sans"/>
                <a:cs typeface="DejaVu Sans"/>
              </a:defRPr>
            </a:pPr>
            <a:r>
              <a:rPr sz="1650" b="1">
                <a:solidFill>
                  <a:srgbClr val="009E73"/>
                </a:solidFill>
                <a:latin typeface="DejaVu Sans"/>
                <a:ea typeface="DejaVu Sans"/>
                <a:cs typeface="DejaVu Sans"/>
              </a:rPr>
              <a:t>Receptor ECD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A8A0BA4-F2FE-4582-BED4-DBFF32C6C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64579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650" b="1">
                <a:solidFill>
                  <a:srgbClr val="7B8794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650" b="1">
                <a:solidFill>
                  <a:srgbClr val="7B8794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650" b="1">
                <a:solidFill>
                  <a:srgbClr val="7B8794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650" b="1">
                <a:solidFill>
                  <a:srgbClr val="7B8794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650" b="1">
                <a:solidFill>
                  <a:srgbClr val="7B8794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650" b="1">
                <a:solidFill>
                  <a:srgbClr val="7B8794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650" b="1">
                <a:solidFill>
                  <a:srgbClr val="7B8794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650" b="1">
                <a:solidFill>
                  <a:srgbClr val="7B8794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650" b="1">
                <a:solidFill>
                  <a:srgbClr val="7B8794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650" b="1">
                <a:solidFill>
                  <a:srgbClr val="7B8794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7B8794"/>
                </a:solidFill>
                <a:latin typeface="DejaVu Sans"/>
                <a:ea typeface="DejaVu Sans"/>
                <a:cs typeface="DejaVu Sans"/>
              </a:defRPr>
            </a:pPr>
            <a:r>
              <a:rPr sz="1650" b="1">
                <a:solidFill>
                  <a:srgbClr val="7B8794"/>
                </a:solidFill>
                <a:latin typeface="DejaVu Sans"/>
                <a:ea typeface="DejaVu Sans"/>
                <a:cs typeface="DejaVu Sans"/>
              </a:rPr>
              <a:t>Remaining receptor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8A4C670-08E3-463C-8826-A48A672AF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0" y="64579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650" b="1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650" b="1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650" b="1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650" b="1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650" b="1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650" b="1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650" b="1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650" b="1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650" b="1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650" b="1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1650" b="1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Hotspots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57DE9FF-D472-4052-879A-20FF89958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800850"/>
            <a:ext cx="1428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42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42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42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42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42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42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42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42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42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42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>
                <a:solidFill>
                  <a:srgbClr val="50616C"/>
                </a:solidFill>
                <a:latin typeface="DejaVu Sans"/>
                <a:ea typeface="DejaVu Sans"/>
                <a:cs typeface="DejaVu Sans"/>
              </a:rPr>
              <a:t>Receptor ECD B1–105 (UniProt 24–128). Black sticks: E34, Q37 and R40. View-specific zoom.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8FDB1F6-CCA0-41F7-A0B7-E85BCB709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134225"/>
            <a:ext cx="14192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57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57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57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57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57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57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57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57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57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57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57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pPr>
            <a:r>
              <a:rPr sz="1575" b="1">
                <a:solidFill>
                  <a:srgbClr val="173747"/>
                </a:solidFill>
                <a:latin typeface="DejaVu Sans"/>
                <a:ea typeface="DejaVu Sans"/>
                <a:cs typeface="DejaVu Sans"/>
              </a:rPr>
              <a:t>Complete selected sequence, N to C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907B30B-8C38-43A9-9403-523317DA9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429500"/>
            <a:ext cx="141922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500" b="0">
                <a:solidFill>
                  <a:srgbClr val="173747"/>
                </a:solidFill>
                <a:latin typeface="DejaVu Sans Mono"/>
                <a:ea typeface="DejaVu Sans Mono"/>
                <a:cs typeface="DejaVu Sans Mono"/>
              </a:defRPr>
            </a:defPPr>
            <a:lvl1pPr>
              <a:defRPr sz="1500" b="0">
                <a:solidFill>
                  <a:srgbClr val="173747"/>
                </a:solidFill>
                <a:latin typeface="DejaVu Sans Mono"/>
                <a:ea typeface="DejaVu Sans Mono"/>
                <a:cs typeface="DejaVu Sans Mono"/>
              </a:defRPr>
            </a:lvl1pPr>
            <a:lvl2pPr>
              <a:defRPr sz="1500" b="0">
                <a:solidFill>
                  <a:srgbClr val="173747"/>
                </a:solidFill>
                <a:latin typeface="DejaVu Sans Mono"/>
                <a:ea typeface="DejaVu Sans Mono"/>
                <a:cs typeface="DejaVu Sans Mono"/>
              </a:defRPr>
            </a:lvl2pPr>
            <a:lvl3pPr>
              <a:defRPr sz="1500" b="0">
                <a:solidFill>
                  <a:srgbClr val="173747"/>
                </a:solidFill>
                <a:latin typeface="DejaVu Sans Mono"/>
                <a:ea typeface="DejaVu Sans Mono"/>
                <a:cs typeface="DejaVu Sans Mono"/>
              </a:defRPr>
            </a:lvl3pPr>
            <a:lvl4pPr>
              <a:defRPr sz="1500" b="0">
                <a:solidFill>
                  <a:srgbClr val="173747"/>
                </a:solidFill>
                <a:latin typeface="DejaVu Sans Mono"/>
                <a:ea typeface="DejaVu Sans Mono"/>
                <a:cs typeface="DejaVu Sans Mono"/>
              </a:defRPr>
            </a:lvl4pPr>
            <a:lvl5pPr>
              <a:defRPr sz="1500" b="0">
                <a:solidFill>
                  <a:srgbClr val="173747"/>
                </a:solidFill>
                <a:latin typeface="DejaVu Sans Mono"/>
                <a:ea typeface="DejaVu Sans Mono"/>
                <a:cs typeface="DejaVu Sans Mono"/>
              </a:defRPr>
            </a:lvl5pPr>
            <a:lvl6pPr>
              <a:defRPr sz="1500" b="0">
                <a:solidFill>
                  <a:srgbClr val="173747"/>
                </a:solidFill>
                <a:latin typeface="DejaVu Sans Mono"/>
                <a:ea typeface="DejaVu Sans Mono"/>
                <a:cs typeface="DejaVu Sans Mono"/>
              </a:defRPr>
            </a:lvl6pPr>
            <a:lvl7pPr>
              <a:defRPr sz="1500" b="0">
                <a:solidFill>
                  <a:srgbClr val="173747"/>
                </a:solidFill>
                <a:latin typeface="DejaVu Sans Mono"/>
                <a:ea typeface="DejaVu Sans Mono"/>
                <a:cs typeface="DejaVu Sans Mono"/>
              </a:defRPr>
            </a:lvl7pPr>
            <a:lvl8pPr>
              <a:defRPr sz="1500" b="0">
                <a:solidFill>
                  <a:srgbClr val="173747"/>
                </a:solidFill>
                <a:latin typeface="DejaVu Sans Mono"/>
                <a:ea typeface="DejaVu Sans Mono"/>
                <a:cs typeface="DejaVu Sans Mono"/>
              </a:defRPr>
            </a:lvl8pPr>
            <a:lvl9pPr>
              <a:defRPr sz="1500" b="0">
                <a:solidFill>
                  <a:srgbClr val="173747"/>
                </a:solidFill>
                <a:latin typeface="DejaVu Sans Mono"/>
                <a:ea typeface="DejaVu Sans Mono"/>
                <a:cs typeface="DejaVu Sans Mono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173747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00" b="0">
                <a:solidFill>
                  <a:srgbClr val="173747"/>
                </a:solidFill>
                <a:latin typeface="DejaVu Sans Mono"/>
                <a:ea typeface="DejaVu Sans Mono"/>
                <a:cs typeface="DejaVu Sans Mono"/>
              </a:rPr>
              <a:t>MADSISEVSEGVHLILAAQALELPPFVVAARLEEARAKRGGAPSFLPPPNVTSGYVNGGGAFHLTGLAARCGAV</a:t>
            </a:r>
          </a:p>
          <a:p xmlns:a="http://schemas.openxmlformats.org/drawingml/2006/main">
            <a:pPr>
              <a:defRPr sz="1500" b="0">
                <a:solidFill>
                  <a:srgbClr val="173747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00" b="0">
                <a:solidFill>
                  <a:srgbClr val="173747"/>
                </a:solidFill>
                <a:latin typeface="DejaVu Sans Mono"/>
                <a:ea typeface="DejaVu Sans Mono"/>
                <a:cs typeface="DejaVu Sans Mono"/>
              </a:rPr>
              <a:t>WRGVFCQFGNGVKGEGSVTGGSLNTFYILTVAPTSANILTSGSGSGSLEGS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64AFF60-10E9-43BE-B996-FB2E99166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248650"/>
            <a:ext cx="1304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2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2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2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2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2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2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2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2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2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2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50616C"/>
                </a:solidFill>
                <a:latin typeface="DejaVu Sans"/>
                <a:ea typeface="DejaVu Sans"/>
                <a:cs typeface="DejaVu Sans"/>
              </a:rPr>
              <a:t>Human GLP1R     Boltz2 Exact     Computational predictions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34D2EC0-22A9-49E9-9E3E-E602DD34A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0" y="82486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2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2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2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2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2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2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2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2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2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2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50616C"/>
                </a:solidFill>
                <a:latin typeface="DejaVu Sans"/>
                <a:ea typeface="DejaVu Sans"/>
                <a:cs typeface="DejaVu Sans"/>
              </a:rPr>
              <a:t>24</a:t>
            </a:r>
          </a:p>
        </p:txBody>
      </p:sp>
    </p:spTree>
    <p:extLst>
      <p:ext uri="{BB962C8B-B14F-4D97-AF65-F5344CB8AC3E}">
        <p14:creationId xmlns:p14="http://schemas.microsoft.com/office/powerpoint/2010/main" val="389013882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F558F31-BA5C-4A05-846D-620A835AF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76225"/>
            <a:ext cx="1428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22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322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322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322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322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322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322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322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322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322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73747"/>
                </a:solidFill>
                <a:latin typeface="DejaVu Sans"/>
                <a:ea typeface="DejaVu Sans"/>
                <a:cs typeface="DejaVu Sans"/>
              </a:rPr>
              <a:t>13  LK_P062_00  metrics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245D62D-7ADE-4AC2-85AE-0892007B1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95350"/>
            <a:ext cx="1428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8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8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8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8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8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8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8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8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8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50616C"/>
                </a:solidFill>
                <a:latin typeface="DejaVu Sans"/>
                <a:ea typeface="DejaVu Sans"/>
                <a:cs typeface="DejaVu Sans"/>
              </a:rPr>
              <a:t>D-L-D fusion   Candidate A: 146 aa   Human GLP1R B: 440 aa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0FDAA64-60C8-4C7B-81AE-E3D528365A08}"/>
              </a:ext>
            </a:extLst>
          </p:cNvPr>
          <p:cNvGraphicFramePr/>
          <p:nvPr/>
        </p:nvGraphicFramePr>
        <p:xfrm>
          <a:off xmlns:a="http://schemas.openxmlformats.org/drawingml/2006/main" x="457200" y="1457325"/>
          <a:ext xmlns:a="http://schemas.openxmlformats.org/drawingml/2006/main" cx="9667875" cy="48006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6791325"/>
                <a:gridCol w="2876550"/>
              </a:tblGrid>
              <a:tr h="34290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Metric and scope</a:t>
                      </a:r>
                    </a:p>
                  </a:txBody>
                  <a:tcPr marL="91440" marR="91440" marT="45720" marB="45720">
                    <a:lnL w="5715">
                      <a:solidFill>
                        <a:srgbClr val="D8E1E5"/>
                      </a:solidFill>
                      <a:prstDash val="solid"/>
                    </a:lnL>
                    <a:lnR w="5715">
                      <a:solidFill>
                        <a:srgbClr val="D8E1E5"/>
                      </a:solidFill>
                      <a:prstDash val="solid"/>
                    </a:lnR>
                    <a:lnT w="5715">
                      <a:solidFill>
                        <a:srgbClr val="D8E1E5"/>
                      </a:solidFill>
                      <a:prstDash val="solid"/>
                    </a:lnT>
                    <a:lnB w="5715">
                      <a:solidFill>
                        <a:srgbClr val="D8E1E5"/>
                      </a:solidFill>
                      <a:prstDash val="solid"/>
                    </a:lnB>
                    <a:solidFill>
                      <a:srgbClr val="245D7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Value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8E1E5"/>
                      </a:solidFill>
                      <a:prstDash val="solid"/>
                    </a:lnR>
                    <a:lnT w="5715">
                      <a:solidFill>
                        <a:srgbClr val="D8E1E5"/>
                      </a:solidFill>
                      <a:prstDash val="solid"/>
                    </a:lnT>
                    <a:lnB w="5715">
                      <a:solidFill>
                        <a:srgbClr val="D8E1E5"/>
                      </a:solidFill>
                      <a:prstDash val="solid"/>
                    </a:lnB>
                    <a:solidFill>
                      <a:srgbClr val="245D73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73747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Boltz2 Exact ipSAE (A/B, Type=max)</a:t>
                      </a:r>
                    </a:p>
                  </a:txBody>
                  <a:tcPr marL="91440" marR="91440" marT="45720" marB="45720">
                    <a:lnL w="5715">
                      <a:solidFill>
                        <a:srgbClr val="D8E1E5"/>
                      </a:solidFill>
                      <a:prstDash val="solid"/>
                    </a:lnL>
                    <a:lnR w="5715">
                      <a:solidFill>
                        <a:srgbClr val="D8E1E5"/>
                      </a:solidFill>
                      <a:prstDash val="solid"/>
                    </a:lnR>
                    <a:lnB w="5715">
                      <a:solidFill>
                        <a:srgbClr val="D8E1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73747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0.900237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8E1E5"/>
                      </a:solidFill>
                      <a:prstDash val="solid"/>
                    </a:lnR>
                    <a:lnB w="5715">
                      <a:solidFill>
                        <a:srgbClr val="D8E1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73747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DeltaForge predicted Kd (nM)</a:t>
                      </a:r>
                    </a:p>
                  </a:txBody>
                  <a:tcPr marL="91440" marR="91440" marT="45720" marB="45720">
                    <a:lnL w="5715">
                      <a:solidFill>
                        <a:srgbClr val="D8E1E5"/>
                      </a:solidFill>
                      <a:prstDash val="solid"/>
                    </a:lnL>
                    <a:lnR w="5715">
                      <a:solidFill>
                        <a:srgbClr val="D8E1E5"/>
                      </a:solidFill>
                      <a:prstDash val="solid"/>
                    </a:lnR>
                    <a:lnB w="5715">
                      <a:solidFill>
                        <a:srgbClr val="D8E1E5"/>
                      </a:solidFill>
                      <a:prstDash val="solid"/>
                    </a:lnB>
                    <a:solidFill>
                      <a:srgbClr val="F1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73747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1.1314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8E1E5"/>
                      </a:solidFill>
                      <a:prstDash val="solid"/>
                    </a:lnR>
                    <a:lnB w="5715">
                      <a:solidFill>
                        <a:srgbClr val="D8E1E5"/>
                      </a:solidFill>
                      <a:prstDash val="solid"/>
                    </a:lnB>
                    <a:solidFill>
                      <a:srgbClr val="F1F5F7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73747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Boltz2 Exact ipTM</a:t>
                      </a:r>
                    </a:p>
                  </a:txBody>
                  <a:tcPr marL="91440" marR="91440" marT="45720" marB="45720">
                    <a:lnL w="5715">
                      <a:solidFill>
                        <a:srgbClr val="D8E1E5"/>
                      </a:solidFill>
                      <a:prstDash val="solid"/>
                    </a:lnL>
                    <a:lnR w="5715">
                      <a:solidFill>
                        <a:srgbClr val="D8E1E5"/>
                      </a:solidFill>
                      <a:prstDash val="solid"/>
                    </a:lnR>
                    <a:lnB w="5715">
                      <a:solidFill>
                        <a:srgbClr val="D8E1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73747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0.8780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8E1E5"/>
                      </a:solidFill>
                      <a:prstDash val="solid"/>
                    </a:lnR>
                    <a:lnB w="5715">
                      <a:solidFill>
                        <a:srgbClr val="D8E1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73747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Original population ipSAE rank</a:t>
                      </a:r>
                    </a:p>
                  </a:txBody>
                  <a:tcPr marL="91440" marR="91440" marT="45720" marB="45720">
                    <a:lnL w="5715">
                      <a:solidFill>
                        <a:srgbClr val="D8E1E5"/>
                      </a:solidFill>
                      <a:prstDash val="solid"/>
                    </a:lnL>
                    <a:lnR w="5715">
                      <a:solidFill>
                        <a:srgbClr val="D8E1E5"/>
                      </a:solidFill>
                      <a:prstDash val="solid"/>
                    </a:lnR>
                    <a:lnB w="5715">
                      <a:solidFill>
                        <a:srgbClr val="D8E1E5"/>
                      </a:solidFill>
                      <a:prstDash val="solid"/>
                    </a:lnB>
                    <a:solidFill>
                      <a:srgbClr val="F1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73747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12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8E1E5"/>
                      </a:solidFill>
                      <a:prstDash val="solid"/>
                    </a:lnR>
                    <a:lnB w="5715">
                      <a:solidFill>
                        <a:srgbClr val="D8E1E5"/>
                      </a:solidFill>
                      <a:prstDash val="solid"/>
                    </a:lnB>
                    <a:solidFill>
                      <a:srgbClr val="F1F5F7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73747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Predicted-Kd rank within population top50</a:t>
                      </a:r>
                    </a:p>
                  </a:txBody>
                  <a:tcPr marL="91440" marR="91440" marT="45720" marB="45720">
                    <a:lnL w="5715">
                      <a:solidFill>
                        <a:srgbClr val="D8E1E5"/>
                      </a:solidFill>
                      <a:prstDash val="solid"/>
                    </a:lnL>
                    <a:lnR w="5715">
                      <a:solidFill>
                        <a:srgbClr val="D8E1E5"/>
                      </a:solidFill>
                      <a:prstDash val="solid"/>
                    </a:lnR>
                    <a:lnB w="5715">
                      <a:solidFill>
                        <a:srgbClr val="D8E1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73747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10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8E1E5"/>
                      </a:solidFill>
                      <a:prstDash val="solid"/>
                    </a:lnR>
                    <a:lnB w="5715">
                      <a:solidFill>
                        <a:srgbClr val="D8E1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73747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Candidate / receptor residues (aa)</a:t>
                      </a:r>
                    </a:p>
                  </a:txBody>
                  <a:tcPr marL="91440" marR="91440" marT="45720" marB="45720">
                    <a:lnL w="5715">
                      <a:solidFill>
                        <a:srgbClr val="D8E1E5"/>
                      </a:solidFill>
                      <a:prstDash val="solid"/>
                    </a:lnL>
                    <a:lnR w="5715">
                      <a:solidFill>
                        <a:srgbClr val="D8E1E5"/>
                      </a:solidFill>
                      <a:prstDash val="solid"/>
                    </a:lnR>
                    <a:lnB w="5715">
                      <a:solidFill>
                        <a:srgbClr val="D8E1E5"/>
                      </a:solidFill>
                      <a:prstDash val="solid"/>
                    </a:lnB>
                    <a:solidFill>
                      <a:srgbClr val="F1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73747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146 / 440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8E1E5"/>
                      </a:solidFill>
                      <a:prstDash val="solid"/>
                    </a:lnR>
                    <a:lnB w="5715">
                      <a:solidFill>
                        <a:srgbClr val="D8E1E5"/>
                      </a:solidFill>
                      <a:prstDash val="solid"/>
                    </a:lnB>
                    <a:solidFill>
                      <a:srgbClr val="F1F5F7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73747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pDockQ / pDockQ2</a:t>
                      </a:r>
                    </a:p>
                  </a:txBody>
                  <a:tcPr marL="91440" marR="91440" marT="45720" marB="45720">
                    <a:lnL w="5715">
                      <a:solidFill>
                        <a:srgbClr val="D8E1E5"/>
                      </a:solidFill>
                      <a:prstDash val="solid"/>
                    </a:lnL>
                    <a:lnR w="5715">
                      <a:solidFill>
                        <a:srgbClr val="D8E1E5"/>
                      </a:solidFill>
                      <a:prstDash val="solid"/>
                    </a:lnR>
                    <a:lnB w="5715">
                      <a:solidFill>
                        <a:srgbClr val="D8E1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73747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0.2581 / 0.1250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8E1E5"/>
                      </a:solidFill>
                      <a:prstDash val="solid"/>
                    </a:lnR>
                    <a:lnB w="5715">
                      <a:solidFill>
                        <a:srgbClr val="D8E1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73747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Whole fusion / linker pLDDT (0-100)</a:t>
                      </a:r>
                    </a:p>
                  </a:txBody>
                  <a:tcPr marL="91440" marR="91440" marT="45720" marB="45720">
                    <a:lnL w="5715">
                      <a:solidFill>
                        <a:srgbClr val="D8E1E5"/>
                      </a:solidFill>
                      <a:prstDash val="solid"/>
                    </a:lnL>
                    <a:lnR w="5715">
                      <a:solidFill>
                        <a:srgbClr val="D8E1E5"/>
                      </a:solidFill>
                      <a:prstDash val="solid"/>
                    </a:lnR>
                    <a:lnB w="5715">
                      <a:solidFill>
                        <a:srgbClr val="D8E1E5"/>
                      </a:solidFill>
                      <a:prstDash val="solid"/>
                    </a:lnB>
                    <a:solidFill>
                      <a:srgbClr val="F1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73747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55.9 / 49.4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8E1E5"/>
                      </a:solidFill>
                      <a:prstDash val="solid"/>
                    </a:lnR>
                    <a:lnB w="5715">
                      <a:solidFill>
                        <a:srgbClr val="D8E1E5"/>
                      </a:solidFill>
                      <a:prstDash val="solid"/>
                    </a:lnB>
                    <a:solidFill>
                      <a:srgbClr val="F1F5F7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73747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ECD / LigandForge pLDDT (0-100)</a:t>
                      </a:r>
                    </a:p>
                  </a:txBody>
                  <a:tcPr marL="91440" marR="91440" marT="45720" marB="45720">
                    <a:lnL w="5715">
                      <a:solidFill>
                        <a:srgbClr val="D8E1E5"/>
                      </a:solidFill>
                      <a:prstDash val="solid"/>
                    </a:lnL>
                    <a:lnR w="5715">
                      <a:solidFill>
                        <a:srgbClr val="D8E1E5"/>
                      </a:solidFill>
                      <a:prstDash val="solid"/>
                    </a:lnR>
                    <a:lnB w="5715">
                      <a:solidFill>
                        <a:srgbClr val="D8E1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73747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61.5 / 55.0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8E1E5"/>
                      </a:solidFill>
                      <a:prstDash val="solid"/>
                    </a:lnR>
                    <a:lnB w="5715">
                      <a:solidFill>
                        <a:srgbClr val="D8E1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73747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Fusion design-to-refold DockQ</a:t>
                      </a:r>
                    </a:p>
                  </a:txBody>
                  <a:tcPr marL="91440" marR="91440" marT="45720" marB="45720">
                    <a:lnL w="5715">
                      <a:solidFill>
                        <a:srgbClr val="D8E1E5"/>
                      </a:solidFill>
                      <a:prstDash val="solid"/>
                    </a:lnL>
                    <a:lnR w="5715">
                      <a:solidFill>
                        <a:srgbClr val="D8E1E5"/>
                      </a:solidFill>
                      <a:prstDash val="solid"/>
                    </a:lnR>
                    <a:lnB w="5715">
                      <a:solidFill>
                        <a:srgbClr val="D8E1E5"/>
                      </a:solidFill>
                      <a:prstDash val="solid"/>
                    </a:lnB>
                    <a:solidFill>
                      <a:srgbClr val="F1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73747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0.1047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8E1E5"/>
                      </a:solidFill>
                      <a:prstDash val="solid"/>
                    </a:lnR>
                    <a:lnB w="5715">
                      <a:solidFill>
                        <a:srgbClr val="D8E1E5"/>
                      </a:solidFill>
                      <a:prstDash val="solid"/>
                    </a:lnB>
                    <a:solidFill>
                      <a:srgbClr val="F1F5F7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73747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Free C-terminal OPM z (A)</a:t>
                      </a:r>
                    </a:p>
                  </a:txBody>
                  <a:tcPr marL="91440" marR="91440" marT="45720" marB="45720">
                    <a:lnL w="5715">
                      <a:solidFill>
                        <a:srgbClr val="D8E1E5"/>
                      </a:solidFill>
                      <a:prstDash val="solid"/>
                    </a:lnL>
                    <a:lnR w="5715">
                      <a:solidFill>
                        <a:srgbClr val="D8E1E5"/>
                      </a:solidFill>
                      <a:prstDash val="solid"/>
                    </a:lnR>
                    <a:lnB w="5715">
                      <a:solidFill>
                        <a:srgbClr val="D8E1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73747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49.68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8E1E5"/>
                      </a:solidFill>
                      <a:prstDash val="solid"/>
                    </a:lnR>
                    <a:lnB w="5715">
                      <a:solidFill>
                        <a:srgbClr val="D8E1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73747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Extracellular free C-terminal screen</a:t>
                      </a:r>
                    </a:p>
                  </a:txBody>
                  <a:tcPr marL="91440" marR="91440" marT="45720" marB="45720">
                    <a:lnL w="5715">
                      <a:solidFill>
                        <a:srgbClr val="D8E1E5"/>
                      </a:solidFill>
                      <a:prstDash val="solid"/>
                    </a:lnL>
                    <a:lnR w="5715">
                      <a:solidFill>
                        <a:srgbClr val="D8E1E5"/>
                      </a:solidFill>
                      <a:prstDash val="solid"/>
                    </a:lnR>
                    <a:lnB w="5715">
                      <a:solidFill>
                        <a:srgbClr val="D8E1E5"/>
                      </a:solidFill>
                      <a:prstDash val="solid"/>
                    </a:lnB>
                    <a:solidFill>
                      <a:srgbClr val="F1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73747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Pass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8E1E5"/>
                      </a:solidFill>
                      <a:prstDash val="solid"/>
                    </a:lnR>
                    <a:lnB w="5715">
                      <a:solidFill>
                        <a:srgbClr val="D8E1E5"/>
                      </a:solidFill>
                      <a:prstDash val="solid"/>
                    </a:lnB>
                    <a:solidFill>
                      <a:srgbClr val="F1F5F7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73747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DeltaForge length scope</a:t>
                      </a:r>
                    </a:p>
                  </a:txBody>
                  <a:tcPr marL="91440" marR="91440" marT="45720" marB="45720">
                    <a:lnL w="5715">
                      <a:solidFill>
                        <a:srgbClr val="D8E1E5"/>
                      </a:solidFill>
                      <a:prstDash val="solid"/>
                    </a:lnL>
                    <a:lnR w="5715">
                      <a:solidFill>
                        <a:srgbClr val="D8E1E5"/>
                      </a:solidFill>
                      <a:prstDash val="solid"/>
                    </a:lnR>
                    <a:lnB w="5715">
                      <a:solidFill>
                        <a:srgbClr val="D8E1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73747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long_gt_140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8E1E5"/>
                      </a:solidFill>
                      <a:prstDash val="solid"/>
                    </a:lnR>
                    <a:lnB w="5715">
                      <a:solidFill>
                        <a:srgbClr val="D8E1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0BFC700-DDE5-4DEA-AFDB-ECB08D4BA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1457325"/>
            <a:ext cx="4095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950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950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950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950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950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950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950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950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950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950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173747"/>
                </a:solidFill>
                <a:latin typeface="DejaVu Sans"/>
                <a:ea typeface="DejaVu Sans"/>
                <a:cs typeface="DejaVu Sans"/>
              </a:rPr>
              <a:t>Origin and prediction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F1D44E8-98EC-482C-AEA6-D65F2DAEF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1952625"/>
            <a:ext cx="4095750" cy="390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725" b="0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725" b="0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725" b="0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725" b="0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725" b="0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725" b="0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725" b="0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725" b="0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725" b="0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725" b="0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173747"/>
                </a:solidFill>
                <a:latin typeface="DejaVu Sans"/>
                <a:ea typeface="DejaVu Sans"/>
                <a:cs typeface="DejaVu Sans"/>
              </a:rPr>
              <a:t>ECD parent S10_04_045</a:t>
            </a:r>
          </a:p>
          <a:p xmlns:a="http://schemas.openxmlformats.org/drawingml/2006/main">
            <a:pPr>
              <a:defRPr sz="1725" b="0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173747"/>
                </a:solidFill>
                <a:latin typeface="DejaVu Sans"/>
                <a:ea typeface="DejaVu Sans"/>
                <a:cs typeface="DejaVu Sans"/>
              </a:rPr>
              <a:t>LigandForge parent Design_280</a:t>
            </a:r>
          </a:p>
          <a:p xmlns:a="http://schemas.openxmlformats.org/drawingml/2006/main">
            <a:pPr>
              <a:defRPr sz="1725" b="0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173747"/>
                </a:solidFill>
                <a:latin typeface="DejaVu Sans"/>
                <a:ea typeface="DejaVu Sans"/>
                <a:cs typeface="DejaVu Sans"/>
              </a:rPr>
              <a:t>Pair P062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725" b="0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173747"/>
                </a:solidFill>
                <a:latin typeface="DejaVu Sans"/>
                <a:ea typeface="DejaVu Sans"/>
                <a:cs typeface="DejaVu Sans"/>
              </a:rPr>
              <a:t>AP Novo seed 721</a:t>
            </a:r>
          </a:p>
          <a:p xmlns:a="http://schemas.openxmlformats.org/drawingml/2006/main">
            <a:pPr>
              <a:defRPr sz="1725" b="0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173747"/>
                </a:solidFill>
                <a:latin typeface="DejaVu Sans"/>
                <a:ea typeface="DejaVu Sans"/>
                <a:cs typeface="DejaVu Sans"/>
              </a:rPr>
              <a:t>Exact seed 101</a:t>
            </a:r>
          </a:p>
          <a:p xmlns:a="http://schemas.openxmlformats.org/drawingml/2006/main">
            <a:pPr>
              <a:defRPr sz="1725" b="0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173747"/>
                </a:solidFill>
                <a:latin typeface="DejaVu Sans"/>
                <a:ea typeface="DejaVu Sans"/>
                <a:cs typeface="DejaVu Sans"/>
              </a:rPr>
              <a:t>3 recycles, 200 steps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725" b="0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173747"/>
                </a:solidFill>
                <a:latin typeface="DejaVu Sans"/>
                <a:ea typeface="DejaVu Sans"/>
                <a:cs typeface="DejaVu Sans"/>
              </a:rPr>
              <a:t>ECD A1-46  linker A47-77  LF A78-146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85B0325-FF42-48AA-9356-1DB382AA1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81750"/>
            <a:ext cx="14192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650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650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650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650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650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650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650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650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650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650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50616C"/>
                </a:solidFill>
                <a:latin typeface="DejaVu Sans"/>
                <a:ea typeface="DejaVu Sans"/>
                <a:cs typeface="DejaVu Sans"/>
              </a:rPr>
              <a:t>Whole-fusion pLDDT remains modest. High interface confidence does not establish activation.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DE04A19-C0D6-415F-B819-FF85330E7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115175"/>
            <a:ext cx="14192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57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57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57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57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57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57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57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57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57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57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57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pPr>
            <a:r>
              <a:rPr sz="1575" b="1">
                <a:solidFill>
                  <a:srgbClr val="173747"/>
                </a:solidFill>
                <a:latin typeface="DejaVu Sans"/>
                <a:ea typeface="DejaVu Sans"/>
                <a:cs typeface="DejaVu Sans"/>
              </a:rPr>
              <a:t>Complete selected sequence, N to C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DF7F920-0610-41BE-88F5-2AFEC5465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410450"/>
            <a:ext cx="141922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500" b="0">
                <a:solidFill>
                  <a:srgbClr val="173747"/>
                </a:solidFill>
                <a:latin typeface="DejaVu Sans Mono"/>
                <a:ea typeface="DejaVu Sans Mono"/>
                <a:cs typeface="DejaVu Sans Mono"/>
              </a:defRPr>
            </a:defPPr>
            <a:lvl1pPr>
              <a:defRPr sz="1500" b="0">
                <a:solidFill>
                  <a:srgbClr val="173747"/>
                </a:solidFill>
                <a:latin typeface="DejaVu Sans Mono"/>
                <a:ea typeface="DejaVu Sans Mono"/>
                <a:cs typeface="DejaVu Sans Mono"/>
              </a:defRPr>
            </a:lvl1pPr>
            <a:lvl2pPr>
              <a:defRPr sz="1500" b="0">
                <a:solidFill>
                  <a:srgbClr val="173747"/>
                </a:solidFill>
                <a:latin typeface="DejaVu Sans Mono"/>
                <a:ea typeface="DejaVu Sans Mono"/>
                <a:cs typeface="DejaVu Sans Mono"/>
              </a:defRPr>
            </a:lvl2pPr>
            <a:lvl3pPr>
              <a:defRPr sz="1500" b="0">
                <a:solidFill>
                  <a:srgbClr val="173747"/>
                </a:solidFill>
                <a:latin typeface="DejaVu Sans Mono"/>
                <a:ea typeface="DejaVu Sans Mono"/>
                <a:cs typeface="DejaVu Sans Mono"/>
              </a:defRPr>
            </a:lvl3pPr>
            <a:lvl4pPr>
              <a:defRPr sz="1500" b="0">
                <a:solidFill>
                  <a:srgbClr val="173747"/>
                </a:solidFill>
                <a:latin typeface="DejaVu Sans Mono"/>
                <a:ea typeface="DejaVu Sans Mono"/>
                <a:cs typeface="DejaVu Sans Mono"/>
              </a:defRPr>
            </a:lvl4pPr>
            <a:lvl5pPr>
              <a:defRPr sz="1500" b="0">
                <a:solidFill>
                  <a:srgbClr val="173747"/>
                </a:solidFill>
                <a:latin typeface="DejaVu Sans Mono"/>
                <a:ea typeface="DejaVu Sans Mono"/>
                <a:cs typeface="DejaVu Sans Mono"/>
              </a:defRPr>
            </a:lvl5pPr>
            <a:lvl6pPr>
              <a:defRPr sz="1500" b="0">
                <a:solidFill>
                  <a:srgbClr val="173747"/>
                </a:solidFill>
                <a:latin typeface="DejaVu Sans Mono"/>
                <a:ea typeface="DejaVu Sans Mono"/>
                <a:cs typeface="DejaVu Sans Mono"/>
              </a:defRPr>
            </a:lvl6pPr>
            <a:lvl7pPr>
              <a:defRPr sz="1500" b="0">
                <a:solidFill>
                  <a:srgbClr val="173747"/>
                </a:solidFill>
                <a:latin typeface="DejaVu Sans Mono"/>
                <a:ea typeface="DejaVu Sans Mono"/>
                <a:cs typeface="DejaVu Sans Mono"/>
              </a:defRPr>
            </a:lvl7pPr>
            <a:lvl8pPr>
              <a:defRPr sz="1500" b="0">
                <a:solidFill>
                  <a:srgbClr val="173747"/>
                </a:solidFill>
                <a:latin typeface="DejaVu Sans Mono"/>
                <a:ea typeface="DejaVu Sans Mono"/>
                <a:cs typeface="DejaVu Sans Mono"/>
              </a:defRPr>
            </a:lvl8pPr>
            <a:lvl9pPr>
              <a:defRPr sz="1500" b="0">
                <a:solidFill>
                  <a:srgbClr val="173747"/>
                </a:solidFill>
                <a:latin typeface="DejaVu Sans Mono"/>
                <a:ea typeface="DejaVu Sans Mono"/>
                <a:cs typeface="DejaVu Sans Mono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173747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00" b="0">
                <a:solidFill>
                  <a:srgbClr val="173747"/>
                </a:solidFill>
                <a:latin typeface="DejaVu Sans Mono"/>
                <a:ea typeface="DejaVu Sans Mono"/>
                <a:cs typeface="DejaVu Sans Mono"/>
              </a:rPr>
              <a:t>MTDIGEEIKALVALTEGVPPENRPFAVELAQRLSPWFSLYSRLSSRGGVGSGHPLEPITIVRPPPVPELEPITG</a:t>
            </a:r>
          </a:p>
          <a:p xmlns:a="http://schemas.openxmlformats.org/drawingml/2006/main">
            <a:pPr>
              <a:defRPr sz="1500" b="0">
                <a:solidFill>
                  <a:srgbClr val="173747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00" b="0">
                <a:solidFill>
                  <a:srgbClr val="173747"/>
                </a:solidFill>
                <a:latin typeface="DejaVu Sans Mono"/>
                <a:ea typeface="DejaVu Sans Mono"/>
                <a:cs typeface="DejaVu Sans Mono"/>
              </a:rPr>
              <a:t>PVTEVSGATIDLRVKTCVDFKQTVNFFKLRNTQLPGSCTKDNTVLFLLEGLKLGYASRYFSIGSGSGSQQFS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A9BF22E-450D-4973-B0F5-52FC4B792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248650"/>
            <a:ext cx="1304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2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2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2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2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2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2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2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2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2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2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50616C"/>
                </a:solidFill>
                <a:latin typeface="DejaVu Sans"/>
                <a:ea typeface="DejaVu Sans"/>
                <a:cs typeface="DejaVu Sans"/>
              </a:rPr>
              <a:t>Human GLP1R     Boltz2 Exact     Computational predictions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7494D2A-5900-4287-BC98-21B21EDD8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0" y="82486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2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2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2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2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2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2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2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2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2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2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50616C"/>
                </a:solidFill>
                <a:latin typeface="DejaVu Sans"/>
                <a:ea typeface="DejaVu Sans"/>
                <a:cs typeface="DejaVu Sans"/>
              </a:rPr>
              <a:t>25</a:t>
            </a:r>
          </a:p>
        </p:txBody>
      </p:sp>
    </p:spTree>
    <p:extLst>
      <p:ext uri="{BB962C8B-B14F-4D97-AF65-F5344CB8AC3E}">
        <p14:creationId xmlns:p14="http://schemas.microsoft.com/office/powerpoint/2010/main" val="1455628244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AF5990B-0254-4552-B1AD-5378873EA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76225"/>
            <a:ext cx="1428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22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322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322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322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322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322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322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322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322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322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73747"/>
                </a:solidFill>
                <a:latin typeface="DejaVu Sans"/>
                <a:ea typeface="DejaVu Sans"/>
                <a:cs typeface="DejaVu Sans"/>
              </a:rPr>
              <a:t>13  LK_P062_00  structure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27C7DAD-4181-4AD5-AC7E-149E02AE5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95350"/>
            <a:ext cx="1428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8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8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8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8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8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8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8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8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8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50616C"/>
                </a:solidFill>
                <a:latin typeface="DejaVu Sans"/>
                <a:ea typeface="DejaVu Sans"/>
                <a:cs typeface="DejaVu Sans"/>
              </a:rPr>
              <a:t>D-L-D fusion   Candidate A: 146 aa   Human GLP1R B: 440 aa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47BA241-84E2-455B-9475-06F5D9A06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362075"/>
            <a:ext cx="619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7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87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87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87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87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87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87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87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87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87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173747"/>
                </a:solidFill>
                <a:latin typeface="DejaVu Sans"/>
                <a:ea typeface="DejaVu Sans"/>
                <a:cs typeface="DejaVu Sans"/>
              </a:rPr>
              <a:t>Boltz2 Exact receptor complex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20861DB-C2F2-48CB-968E-AB9D4B531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362075"/>
            <a:ext cx="619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7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87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87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87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87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87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87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87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87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87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173747"/>
                </a:solidFill>
                <a:latin typeface="DejaVu Sans"/>
                <a:ea typeface="DejaVu Sans"/>
                <a:cs typeface="DejaVu Sans"/>
              </a:rPr>
              <a:t>Boltz2 Exact interface detail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441AF36-BDCA-463F-9CCD-1E9A14206F3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c0967a07df14015"/>
          <a:stretch xmlns:a="http://schemas.openxmlformats.org/drawingml/2006/main"/>
        </p:blipFill>
        <p:spPr>
          <a:xfrm xmlns:a="http://schemas.openxmlformats.org/drawingml/2006/main">
            <a:off x="2344208" y="1724025"/>
            <a:ext cx="3217333" cy="4572000"/>
          </a:xfrm>
          <a:prstGeom xmlns:a="http://schemas.openxmlformats.org/drawingml/2006/main" prst="rect">
            <a:avLst/>
          </a:prstGeom>
        </p:spPr>
      </p:pic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15544BF-960B-42B3-855C-1E96B788546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783011b1bc14a20"/>
          <a:stretch xmlns:a="http://schemas.openxmlformats.org/drawingml/2006/main"/>
        </p:blipFill>
        <p:spPr>
          <a:xfrm xmlns:a="http://schemas.openxmlformats.org/drawingml/2006/main">
            <a:off x="9296093" y="1724025"/>
            <a:ext cx="3982065" cy="457200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A47DF91-8A11-44B4-9EDD-C0029D8A4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579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650" b="1">
                <a:solidFill>
                  <a:srgbClr val="E69F00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650" b="1">
                <a:solidFill>
                  <a:srgbClr val="E69F00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650" b="1">
                <a:solidFill>
                  <a:srgbClr val="E69F00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650" b="1">
                <a:solidFill>
                  <a:srgbClr val="E69F00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650" b="1">
                <a:solidFill>
                  <a:srgbClr val="E69F00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650" b="1">
                <a:solidFill>
                  <a:srgbClr val="E69F00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650" b="1">
                <a:solidFill>
                  <a:srgbClr val="E69F00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650" b="1">
                <a:solidFill>
                  <a:srgbClr val="E69F00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650" b="1">
                <a:solidFill>
                  <a:srgbClr val="E69F00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650" b="1">
                <a:solidFill>
                  <a:srgbClr val="E69F00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E69F00"/>
                </a:solidFill>
                <a:latin typeface="DejaVu Sans"/>
                <a:ea typeface="DejaVu Sans"/>
                <a:cs typeface="DejaVu Sans"/>
              </a:defRPr>
            </a:pPr>
            <a:r>
              <a:rPr sz="1650" b="1">
                <a:solidFill>
                  <a:srgbClr val="E69F00"/>
                </a:solidFill>
                <a:latin typeface="DejaVu Sans"/>
                <a:ea typeface="DejaVu Sans"/>
                <a:cs typeface="DejaVu Sans"/>
              </a:rPr>
              <a:t>LigandForge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21F329D-83C2-480B-8082-71DB6F70D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64579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650" b="1">
                <a:solidFill>
                  <a:srgbClr val="AA4499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650" b="1">
                <a:solidFill>
                  <a:srgbClr val="AA4499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650" b="1">
                <a:solidFill>
                  <a:srgbClr val="AA4499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650" b="1">
                <a:solidFill>
                  <a:srgbClr val="AA4499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650" b="1">
                <a:solidFill>
                  <a:srgbClr val="AA4499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650" b="1">
                <a:solidFill>
                  <a:srgbClr val="AA4499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650" b="1">
                <a:solidFill>
                  <a:srgbClr val="AA4499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650" b="1">
                <a:solidFill>
                  <a:srgbClr val="AA4499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650" b="1">
                <a:solidFill>
                  <a:srgbClr val="AA4499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650" b="1">
                <a:solidFill>
                  <a:srgbClr val="AA4499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AA4499"/>
                </a:solidFill>
                <a:latin typeface="DejaVu Sans"/>
                <a:ea typeface="DejaVu Sans"/>
                <a:cs typeface="DejaVu Sans"/>
              </a:defRPr>
            </a:pPr>
            <a:r>
              <a:rPr sz="1650" b="1">
                <a:solidFill>
                  <a:srgbClr val="AA4499"/>
                </a:solidFill>
                <a:latin typeface="DejaVu Sans"/>
                <a:ea typeface="DejaVu Sans"/>
                <a:cs typeface="DejaVu Sans"/>
              </a:rPr>
              <a:t>Linker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69BC44B-FE4E-4169-A15E-8B1ACF372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64579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650" b="1">
                <a:solidFill>
                  <a:srgbClr val="0072B2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650" b="1">
                <a:solidFill>
                  <a:srgbClr val="0072B2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650" b="1">
                <a:solidFill>
                  <a:srgbClr val="0072B2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650" b="1">
                <a:solidFill>
                  <a:srgbClr val="0072B2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650" b="1">
                <a:solidFill>
                  <a:srgbClr val="0072B2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650" b="1">
                <a:solidFill>
                  <a:srgbClr val="0072B2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650" b="1">
                <a:solidFill>
                  <a:srgbClr val="0072B2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650" b="1">
                <a:solidFill>
                  <a:srgbClr val="0072B2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650" b="1">
                <a:solidFill>
                  <a:srgbClr val="0072B2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650" b="1">
                <a:solidFill>
                  <a:srgbClr val="0072B2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0072B2"/>
                </a:solidFill>
                <a:latin typeface="DejaVu Sans"/>
                <a:ea typeface="DejaVu Sans"/>
                <a:cs typeface="DejaVu Sans"/>
              </a:defRPr>
            </a:pPr>
            <a:r>
              <a:rPr sz="1650" b="1">
                <a:solidFill>
                  <a:srgbClr val="0072B2"/>
                </a:solidFill>
                <a:latin typeface="DejaVu Sans"/>
                <a:ea typeface="DejaVu Sans"/>
                <a:cs typeface="DejaVu Sans"/>
              </a:rPr>
              <a:t>ECD binder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34E2DAD-B395-42A0-982F-0591DD80E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64579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650" b="1">
                <a:solidFill>
                  <a:srgbClr val="009E73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650" b="1">
                <a:solidFill>
                  <a:srgbClr val="009E73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650" b="1">
                <a:solidFill>
                  <a:srgbClr val="009E73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650" b="1">
                <a:solidFill>
                  <a:srgbClr val="009E73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650" b="1">
                <a:solidFill>
                  <a:srgbClr val="009E73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650" b="1">
                <a:solidFill>
                  <a:srgbClr val="009E73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650" b="1">
                <a:solidFill>
                  <a:srgbClr val="009E73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650" b="1">
                <a:solidFill>
                  <a:srgbClr val="009E73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650" b="1">
                <a:solidFill>
                  <a:srgbClr val="009E73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650" b="1">
                <a:solidFill>
                  <a:srgbClr val="009E73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009E73"/>
                </a:solidFill>
                <a:latin typeface="DejaVu Sans"/>
                <a:ea typeface="DejaVu Sans"/>
                <a:cs typeface="DejaVu Sans"/>
              </a:defRPr>
            </a:pPr>
            <a:r>
              <a:rPr sz="1650" b="1">
                <a:solidFill>
                  <a:srgbClr val="009E73"/>
                </a:solidFill>
                <a:latin typeface="DejaVu Sans"/>
                <a:ea typeface="DejaVu Sans"/>
                <a:cs typeface="DejaVu Sans"/>
              </a:rPr>
              <a:t>Receptor ECD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4F89EC3-6C95-46D4-920F-7F453B7AA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64579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650" b="1">
                <a:solidFill>
                  <a:srgbClr val="7B8794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650" b="1">
                <a:solidFill>
                  <a:srgbClr val="7B8794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650" b="1">
                <a:solidFill>
                  <a:srgbClr val="7B8794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650" b="1">
                <a:solidFill>
                  <a:srgbClr val="7B8794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650" b="1">
                <a:solidFill>
                  <a:srgbClr val="7B8794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650" b="1">
                <a:solidFill>
                  <a:srgbClr val="7B8794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650" b="1">
                <a:solidFill>
                  <a:srgbClr val="7B8794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650" b="1">
                <a:solidFill>
                  <a:srgbClr val="7B8794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650" b="1">
                <a:solidFill>
                  <a:srgbClr val="7B8794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650" b="1">
                <a:solidFill>
                  <a:srgbClr val="7B8794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7B8794"/>
                </a:solidFill>
                <a:latin typeface="DejaVu Sans"/>
                <a:ea typeface="DejaVu Sans"/>
                <a:cs typeface="DejaVu Sans"/>
              </a:defRPr>
            </a:pPr>
            <a:r>
              <a:rPr sz="1650" b="1">
                <a:solidFill>
                  <a:srgbClr val="7B8794"/>
                </a:solidFill>
                <a:latin typeface="DejaVu Sans"/>
                <a:ea typeface="DejaVu Sans"/>
                <a:cs typeface="DejaVu Sans"/>
              </a:rPr>
              <a:t>Remaining receptor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75809AB-0450-4601-A58C-18E174D96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0" y="64579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650" b="1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650" b="1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650" b="1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650" b="1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650" b="1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650" b="1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650" b="1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650" b="1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650" b="1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650" b="1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1650" b="1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Hotspots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B292A1A-A0B1-4E52-B7D9-F0C6BAE87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800850"/>
            <a:ext cx="1428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42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42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42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42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42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42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42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42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42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42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>
                <a:solidFill>
                  <a:srgbClr val="50616C"/>
                </a:solidFill>
                <a:latin typeface="DejaVu Sans"/>
                <a:ea typeface="DejaVu Sans"/>
                <a:cs typeface="DejaVu Sans"/>
              </a:rPr>
              <a:t>Receptor ECD B1–105 (UniProt 24–128). Black sticks: E34, Q37 and R40. View-specific zoom.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02BAA55-2A49-4303-92B1-FDFC08677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134225"/>
            <a:ext cx="14192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57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57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57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57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57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57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57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57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57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57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57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pPr>
            <a:r>
              <a:rPr sz="1575" b="1">
                <a:solidFill>
                  <a:srgbClr val="173747"/>
                </a:solidFill>
                <a:latin typeface="DejaVu Sans"/>
                <a:ea typeface="DejaVu Sans"/>
                <a:cs typeface="DejaVu Sans"/>
              </a:rPr>
              <a:t>Complete selected sequence, N to C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AECD729-F3A9-4354-827F-53BD2AE25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429500"/>
            <a:ext cx="141922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500" b="0">
                <a:solidFill>
                  <a:srgbClr val="173747"/>
                </a:solidFill>
                <a:latin typeface="DejaVu Sans Mono"/>
                <a:ea typeface="DejaVu Sans Mono"/>
                <a:cs typeface="DejaVu Sans Mono"/>
              </a:defRPr>
            </a:defPPr>
            <a:lvl1pPr>
              <a:defRPr sz="1500" b="0">
                <a:solidFill>
                  <a:srgbClr val="173747"/>
                </a:solidFill>
                <a:latin typeface="DejaVu Sans Mono"/>
                <a:ea typeface="DejaVu Sans Mono"/>
                <a:cs typeface="DejaVu Sans Mono"/>
              </a:defRPr>
            </a:lvl1pPr>
            <a:lvl2pPr>
              <a:defRPr sz="1500" b="0">
                <a:solidFill>
                  <a:srgbClr val="173747"/>
                </a:solidFill>
                <a:latin typeface="DejaVu Sans Mono"/>
                <a:ea typeface="DejaVu Sans Mono"/>
                <a:cs typeface="DejaVu Sans Mono"/>
              </a:defRPr>
            </a:lvl2pPr>
            <a:lvl3pPr>
              <a:defRPr sz="1500" b="0">
                <a:solidFill>
                  <a:srgbClr val="173747"/>
                </a:solidFill>
                <a:latin typeface="DejaVu Sans Mono"/>
                <a:ea typeface="DejaVu Sans Mono"/>
                <a:cs typeface="DejaVu Sans Mono"/>
              </a:defRPr>
            </a:lvl3pPr>
            <a:lvl4pPr>
              <a:defRPr sz="1500" b="0">
                <a:solidFill>
                  <a:srgbClr val="173747"/>
                </a:solidFill>
                <a:latin typeface="DejaVu Sans Mono"/>
                <a:ea typeface="DejaVu Sans Mono"/>
                <a:cs typeface="DejaVu Sans Mono"/>
              </a:defRPr>
            </a:lvl4pPr>
            <a:lvl5pPr>
              <a:defRPr sz="1500" b="0">
                <a:solidFill>
                  <a:srgbClr val="173747"/>
                </a:solidFill>
                <a:latin typeface="DejaVu Sans Mono"/>
                <a:ea typeface="DejaVu Sans Mono"/>
                <a:cs typeface="DejaVu Sans Mono"/>
              </a:defRPr>
            </a:lvl5pPr>
            <a:lvl6pPr>
              <a:defRPr sz="1500" b="0">
                <a:solidFill>
                  <a:srgbClr val="173747"/>
                </a:solidFill>
                <a:latin typeface="DejaVu Sans Mono"/>
                <a:ea typeface="DejaVu Sans Mono"/>
                <a:cs typeface="DejaVu Sans Mono"/>
              </a:defRPr>
            </a:lvl6pPr>
            <a:lvl7pPr>
              <a:defRPr sz="1500" b="0">
                <a:solidFill>
                  <a:srgbClr val="173747"/>
                </a:solidFill>
                <a:latin typeface="DejaVu Sans Mono"/>
                <a:ea typeface="DejaVu Sans Mono"/>
                <a:cs typeface="DejaVu Sans Mono"/>
              </a:defRPr>
            </a:lvl7pPr>
            <a:lvl8pPr>
              <a:defRPr sz="1500" b="0">
                <a:solidFill>
                  <a:srgbClr val="173747"/>
                </a:solidFill>
                <a:latin typeface="DejaVu Sans Mono"/>
                <a:ea typeface="DejaVu Sans Mono"/>
                <a:cs typeface="DejaVu Sans Mono"/>
              </a:defRPr>
            </a:lvl8pPr>
            <a:lvl9pPr>
              <a:defRPr sz="1500" b="0">
                <a:solidFill>
                  <a:srgbClr val="173747"/>
                </a:solidFill>
                <a:latin typeface="DejaVu Sans Mono"/>
                <a:ea typeface="DejaVu Sans Mono"/>
                <a:cs typeface="DejaVu Sans Mono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173747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00" b="0">
                <a:solidFill>
                  <a:srgbClr val="173747"/>
                </a:solidFill>
                <a:latin typeface="DejaVu Sans Mono"/>
                <a:ea typeface="DejaVu Sans Mono"/>
                <a:cs typeface="DejaVu Sans Mono"/>
              </a:rPr>
              <a:t>MTDIGEEIKALVALTEGVPPENRPFAVELAQRLSPWFSLYSRLSSRGGVGSGHPLEPITIVRPPPVPELEPITG</a:t>
            </a:r>
          </a:p>
          <a:p xmlns:a="http://schemas.openxmlformats.org/drawingml/2006/main">
            <a:pPr>
              <a:defRPr sz="1500" b="0">
                <a:solidFill>
                  <a:srgbClr val="173747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00" b="0">
                <a:solidFill>
                  <a:srgbClr val="173747"/>
                </a:solidFill>
                <a:latin typeface="DejaVu Sans Mono"/>
                <a:ea typeface="DejaVu Sans Mono"/>
                <a:cs typeface="DejaVu Sans Mono"/>
              </a:rPr>
              <a:t>PVTEVSGATIDLRVKTCVDFKQTVNFFKLRNTQLPGSCTKDNTVLFLLEGLKLGYASRYFSIGSGSGSQQFS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19D5274-9B97-4E8A-90E9-29D90D5B1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248650"/>
            <a:ext cx="1304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2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2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2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2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2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2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2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2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2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2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50616C"/>
                </a:solidFill>
                <a:latin typeface="DejaVu Sans"/>
                <a:ea typeface="DejaVu Sans"/>
                <a:cs typeface="DejaVu Sans"/>
              </a:rPr>
              <a:t>Human GLP1R     Boltz2 Exact     Computational predictions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5A6631E-8490-442E-A5A0-D3CC36C33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0" y="82486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2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2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2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2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2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2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2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2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2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2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50616C"/>
                </a:solidFill>
                <a:latin typeface="DejaVu Sans"/>
                <a:ea typeface="DejaVu Sans"/>
                <a:cs typeface="DejaVu Sans"/>
              </a:rPr>
              <a:t>26</a:t>
            </a:r>
          </a:p>
        </p:txBody>
      </p:sp>
    </p:spTree>
    <p:extLst>
      <p:ext uri="{BB962C8B-B14F-4D97-AF65-F5344CB8AC3E}">
        <p14:creationId xmlns:p14="http://schemas.microsoft.com/office/powerpoint/2010/main" val="655084749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5078E22-DFA4-4FEC-B839-36DB7D714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76225"/>
            <a:ext cx="1428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22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322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322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322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322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322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322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322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322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322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73747"/>
                </a:solidFill>
                <a:latin typeface="DejaVu Sans"/>
                <a:ea typeface="DejaVu Sans"/>
                <a:cs typeface="DejaVu Sans"/>
              </a:rPr>
              <a:t>14  Design_440  metrics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B04C667-59E5-4BF0-8DD9-9B97F467D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95350"/>
            <a:ext cx="1428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8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8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8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8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8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8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8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8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8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50616C"/>
                </a:solidFill>
                <a:latin typeface="DejaVu Sans"/>
                <a:ea typeface="DejaVu Sans"/>
                <a:cs typeface="DejaVu Sans"/>
              </a:rPr>
              <a:t>Original LigandForge   Candidate A: 54 aa   Human GLP1R B: 409 aa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32B2262-EDBE-443A-8C80-139B97AFE74F}"/>
              </a:ext>
            </a:extLst>
          </p:cNvPr>
          <p:cNvGraphicFramePr/>
          <p:nvPr/>
        </p:nvGraphicFramePr>
        <p:xfrm>
          <a:off xmlns:a="http://schemas.openxmlformats.org/drawingml/2006/main" x="457200" y="1457325"/>
          <a:ext xmlns:a="http://schemas.openxmlformats.org/drawingml/2006/main" cx="9667875" cy="3429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6791325"/>
                <a:gridCol w="2876550"/>
              </a:tblGrid>
              <a:tr h="34290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Metric and scope</a:t>
                      </a:r>
                    </a:p>
                  </a:txBody>
                  <a:tcPr marL="91440" marR="91440" marT="45720" marB="45720">
                    <a:lnL w="5715">
                      <a:solidFill>
                        <a:srgbClr val="D8E1E5"/>
                      </a:solidFill>
                      <a:prstDash val="solid"/>
                    </a:lnL>
                    <a:lnR w="5715">
                      <a:solidFill>
                        <a:srgbClr val="D8E1E5"/>
                      </a:solidFill>
                      <a:prstDash val="solid"/>
                    </a:lnR>
                    <a:lnT w="5715">
                      <a:solidFill>
                        <a:srgbClr val="D8E1E5"/>
                      </a:solidFill>
                      <a:prstDash val="solid"/>
                    </a:lnT>
                    <a:lnB w="5715">
                      <a:solidFill>
                        <a:srgbClr val="D8E1E5"/>
                      </a:solidFill>
                      <a:prstDash val="solid"/>
                    </a:lnB>
                    <a:solidFill>
                      <a:srgbClr val="245D7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Value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8E1E5"/>
                      </a:solidFill>
                      <a:prstDash val="solid"/>
                    </a:lnR>
                    <a:lnT w="5715">
                      <a:solidFill>
                        <a:srgbClr val="D8E1E5"/>
                      </a:solidFill>
                      <a:prstDash val="solid"/>
                    </a:lnT>
                    <a:lnB w="5715">
                      <a:solidFill>
                        <a:srgbClr val="D8E1E5"/>
                      </a:solidFill>
                      <a:prstDash val="solid"/>
                    </a:lnB>
                    <a:solidFill>
                      <a:srgbClr val="245D73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73747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Boltz2 Exact ipSAE (A/B, Type=max)</a:t>
                      </a:r>
                    </a:p>
                  </a:txBody>
                  <a:tcPr marL="91440" marR="91440" marT="45720" marB="45720">
                    <a:lnL w="5715">
                      <a:solidFill>
                        <a:srgbClr val="D8E1E5"/>
                      </a:solidFill>
                      <a:prstDash val="solid"/>
                    </a:lnL>
                    <a:lnR w="5715">
                      <a:solidFill>
                        <a:srgbClr val="D8E1E5"/>
                      </a:solidFill>
                      <a:prstDash val="solid"/>
                    </a:lnR>
                    <a:lnB w="5715">
                      <a:solidFill>
                        <a:srgbClr val="D8E1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73747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0.900081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8E1E5"/>
                      </a:solidFill>
                      <a:prstDash val="solid"/>
                    </a:lnR>
                    <a:lnB w="5715">
                      <a:solidFill>
                        <a:srgbClr val="D8E1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73747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DeltaForge predicted Kd (nM)</a:t>
                      </a:r>
                    </a:p>
                  </a:txBody>
                  <a:tcPr marL="91440" marR="91440" marT="45720" marB="45720">
                    <a:lnL w="5715">
                      <a:solidFill>
                        <a:srgbClr val="D8E1E5"/>
                      </a:solidFill>
                      <a:prstDash val="solid"/>
                    </a:lnL>
                    <a:lnR w="5715">
                      <a:solidFill>
                        <a:srgbClr val="D8E1E5"/>
                      </a:solidFill>
                      <a:prstDash val="solid"/>
                    </a:lnR>
                    <a:lnB w="5715">
                      <a:solidFill>
                        <a:srgbClr val="D8E1E5"/>
                      </a:solidFill>
                      <a:prstDash val="solid"/>
                    </a:lnB>
                    <a:solidFill>
                      <a:srgbClr val="F1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73747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4.3955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8E1E5"/>
                      </a:solidFill>
                      <a:prstDash val="solid"/>
                    </a:lnR>
                    <a:lnB w="5715">
                      <a:solidFill>
                        <a:srgbClr val="D8E1E5"/>
                      </a:solidFill>
                      <a:prstDash val="solid"/>
                    </a:lnB>
                    <a:solidFill>
                      <a:srgbClr val="F1F5F7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73747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Boltz2 Exact ipTM</a:t>
                      </a:r>
                    </a:p>
                  </a:txBody>
                  <a:tcPr marL="91440" marR="91440" marT="45720" marB="45720">
                    <a:lnL w="5715">
                      <a:solidFill>
                        <a:srgbClr val="D8E1E5"/>
                      </a:solidFill>
                      <a:prstDash val="solid"/>
                    </a:lnL>
                    <a:lnR w="5715">
                      <a:solidFill>
                        <a:srgbClr val="D8E1E5"/>
                      </a:solidFill>
                      <a:prstDash val="solid"/>
                    </a:lnR>
                    <a:lnB w="5715">
                      <a:solidFill>
                        <a:srgbClr val="D8E1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73747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0.9633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8E1E5"/>
                      </a:solidFill>
                      <a:prstDash val="solid"/>
                    </a:lnR>
                    <a:lnB w="5715">
                      <a:solidFill>
                        <a:srgbClr val="D8E1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73747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Original population ipSAE rank</a:t>
                      </a:r>
                    </a:p>
                  </a:txBody>
                  <a:tcPr marL="91440" marR="91440" marT="45720" marB="45720">
                    <a:lnL w="5715">
                      <a:solidFill>
                        <a:srgbClr val="D8E1E5"/>
                      </a:solidFill>
                      <a:prstDash val="solid"/>
                    </a:lnL>
                    <a:lnR w="5715">
                      <a:solidFill>
                        <a:srgbClr val="D8E1E5"/>
                      </a:solidFill>
                      <a:prstDash val="solid"/>
                    </a:lnR>
                    <a:lnB w="5715">
                      <a:solidFill>
                        <a:srgbClr val="D8E1E5"/>
                      </a:solidFill>
                      <a:prstDash val="solid"/>
                    </a:lnB>
                    <a:solidFill>
                      <a:srgbClr val="F1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73747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13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8E1E5"/>
                      </a:solidFill>
                      <a:prstDash val="solid"/>
                    </a:lnR>
                    <a:lnB w="5715">
                      <a:solidFill>
                        <a:srgbClr val="D8E1E5"/>
                      </a:solidFill>
                      <a:prstDash val="solid"/>
                    </a:lnB>
                    <a:solidFill>
                      <a:srgbClr val="F1F5F7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73747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Predicted-Kd rank within population top50</a:t>
                      </a:r>
                    </a:p>
                  </a:txBody>
                  <a:tcPr marL="91440" marR="91440" marT="45720" marB="45720">
                    <a:lnL w="5715">
                      <a:solidFill>
                        <a:srgbClr val="D8E1E5"/>
                      </a:solidFill>
                      <a:prstDash val="solid"/>
                    </a:lnL>
                    <a:lnR w="5715">
                      <a:solidFill>
                        <a:srgbClr val="D8E1E5"/>
                      </a:solidFill>
                      <a:prstDash val="solid"/>
                    </a:lnR>
                    <a:lnB w="5715">
                      <a:solidFill>
                        <a:srgbClr val="D8E1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73747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19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8E1E5"/>
                      </a:solidFill>
                      <a:prstDash val="solid"/>
                    </a:lnR>
                    <a:lnB w="5715">
                      <a:solidFill>
                        <a:srgbClr val="D8E1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73747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Candidate / receptor residues (aa)</a:t>
                      </a:r>
                    </a:p>
                  </a:txBody>
                  <a:tcPr marL="91440" marR="91440" marT="45720" marB="45720">
                    <a:lnL w="5715">
                      <a:solidFill>
                        <a:srgbClr val="D8E1E5"/>
                      </a:solidFill>
                      <a:prstDash val="solid"/>
                    </a:lnL>
                    <a:lnR w="5715">
                      <a:solidFill>
                        <a:srgbClr val="D8E1E5"/>
                      </a:solidFill>
                      <a:prstDash val="solid"/>
                    </a:lnR>
                    <a:lnB w="5715">
                      <a:solidFill>
                        <a:srgbClr val="D8E1E5"/>
                      </a:solidFill>
                      <a:prstDash val="solid"/>
                    </a:lnB>
                    <a:solidFill>
                      <a:srgbClr val="F1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73747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54 / 409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8E1E5"/>
                      </a:solidFill>
                      <a:prstDash val="solid"/>
                    </a:lnR>
                    <a:lnB w="5715">
                      <a:solidFill>
                        <a:srgbClr val="D8E1E5"/>
                      </a:solidFill>
                      <a:prstDash val="solid"/>
                    </a:lnB>
                    <a:solidFill>
                      <a:srgbClr val="F1F5F7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73747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Complex pLDDT (0-100)</a:t>
                      </a:r>
                    </a:p>
                  </a:txBody>
                  <a:tcPr marL="91440" marR="91440" marT="45720" marB="45720">
                    <a:lnL w="5715">
                      <a:solidFill>
                        <a:srgbClr val="D8E1E5"/>
                      </a:solidFill>
                      <a:prstDash val="solid"/>
                    </a:lnL>
                    <a:lnR w="5715">
                      <a:solidFill>
                        <a:srgbClr val="D8E1E5"/>
                      </a:solidFill>
                      <a:prstDash val="solid"/>
                    </a:lnR>
                    <a:lnB w="5715">
                      <a:solidFill>
                        <a:srgbClr val="D8E1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73747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79.0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8E1E5"/>
                      </a:solidFill>
                      <a:prstDash val="solid"/>
                    </a:lnR>
                    <a:lnB w="5715">
                      <a:solidFill>
                        <a:srgbClr val="D8E1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73747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Generator-to-refold DockQ / TM-score</a:t>
                      </a:r>
                    </a:p>
                  </a:txBody>
                  <a:tcPr marL="91440" marR="91440" marT="45720" marB="45720">
                    <a:lnL w="5715">
                      <a:solidFill>
                        <a:srgbClr val="D8E1E5"/>
                      </a:solidFill>
                      <a:prstDash val="solid"/>
                    </a:lnL>
                    <a:lnR w="5715">
                      <a:solidFill>
                        <a:srgbClr val="D8E1E5"/>
                      </a:solidFill>
                      <a:prstDash val="solid"/>
                    </a:lnR>
                    <a:lnB w="5715">
                      <a:solidFill>
                        <a:srgbClr val="D8E1E5"/>
                      </a:solidFill>
                      <a:prstDash val="solid"/>
                    </a:lnB>
                    <a:solidFill>
                      <a:srgbClr val="F1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73747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N/A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8E1E5"/>
                      </a:solidFill>
                      <a:prstDash val="solid"/>
                    </a:lnR>
                    <a:lnB w="5715">
                      <a:solidFill>
                        <a:srgbClr val="D8E1E5"/>
                      </a:solidFill>
                      <a:prstDash val="solid"/>
                    </a:lnB>
                    <a:solidFill>
                      <a:srgbClr val="F1F5F7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73747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DeltaForge length scope</a:t>
                      </a:r>
                    </a:p>
                  </a:txBody>
                  <a:tcPr marL="91440" marR="91440" marT="45720" marB="45720">
                    <a:lnL w="5715">
                      <a:solidFill>
                        <a:srgbClr val="D8E1E5"/>
                      </a:solidFill>
                      <a:prstDash val="solid"/>
                    </a:lnL>
                    <a:lnR w="5715">
                      <a:solidFill>
                        <a:srgbClr val="D8E1E5"/>
                      </a:solidFill>
                      <a:prstDash val="solid"/>
                    </a:lnR>
                    <a:lnB w="5715">
                      <a:solidFill>
                        <a:srgbClr val="D8E1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73747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core_40_119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8E1E5"/>
                      </a:solidFill>
                      <a:prstDash val="solid"/>
                    </a:lnR>
                    <a:lnB w="5715">
                      <a:solidFill>
                        <a:srgbClr val="D8E1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1BA5D1F-1BB4-417C-ACD5-AFA0063EF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1457325"/>
            <a:ext cx="4095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950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950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950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950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950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950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950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950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950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950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173747"/>
                </a:solidFill>
                <a:latin typeface="DejaVu Sans"/>
                <a:ea typeface="DejaVu Sans"/>
                <a:cs typeface="DejaVu Sans"/>
              </a:rPr>
              <a:t>Origin and prediction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AFE0EA2-8883-41D2-8CD9-9F8D9B008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1952625"/>
            <a:ext cx="4095750" cy="390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725" b="0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725" b="0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725" b="0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725" b="0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725" b="0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725" b="0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725" b="0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725" b="0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725" b="0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725" b="0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173747"/>
                </a:solidFill>
                <a:latin typeface="DejaVu Sans"/>
                <a:ea typeface="DejaVu Sans"/>
                <a:cs typeface="DejaVu Sans"/>
              </a:rPr>
              <a:t>Original LigandForge v6.5.21</a:t>
            </a:r>
          </a:p>
          <a:p xmlns:a="http://schemas.openxmlformats.org/drawingml/2006/main">
            <a:pPr>
              <a:defRPr sz="1725" b="0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173747"/>
                </a:solidFill>
                <a:latin typeface="DejaVu Sans"/>
                <a:ea typeface="DejaVu Sans"/>
                <a:cs typeface="DejaVu Sans"/>
              </a:rPr>
              <a:t>Generation 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725" b="0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173747"/>
                </a:solidFill>
                <a:latin typeface="DejaVu Sans"/>
                <a:ea typeface="DejaVu Sans"/>
                <a:cs typeface="DejaVu Sans"/>
              </a:rPr>
              <a:t>Exact seed 101</a:t>
            </a:r>
          </a:p>
          <a:p xmlns:a="http://schemas.openxmlformats.org/drawingml/2006/main">
            <a:pPr>
              <a:defRPr sz="1725" b="0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173747"/>
                </a:solidFill>
                <a:latin typeface="DejaVu Sans"/>
                <a:ea typeface="DejaVu Sans"/>
                <a:cs typeface="DejaVu Sans"/>
              </a:rPr>
              <a:t>3 recycles, 200 steps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725" b="0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173747"/>
                </a:solidFill>
                <a:latin typeface="DejaVu Sans"/>
                <a:ea typeface="DejaVu Sans"/>
                <a:cs typeface="DejaVu Sans"/>
              </a:rPr>
              <a:t>WT GLP1R 24-432</a:t>
            </a:r>
          </a:p>
          <a:p xmlns:a="http://schemas.openxmlformats.org/drawingml/2006/main">
            <a:pPr>
              <a:defRPr sz="1725" b="0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173747"/>
                </a:solidFill>
                <a:latin typeface="DejaVu Sans"/>
                <a:ea typeface="DejaVu Sans"/>
                <a:cs typeface="DejaVu Sans"/>
              </a:rPr>
              <a:t>409 receptor residues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725" b="0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173747"/>
                </a:solidFill>
                <a:latin typeface="DejaVu Sans"/>
                <a:ea typeface="DejaVu Sans"/>
                <a:cs typeface="DejaVu Sans"/>
              </a:rPr>
              <a:t>Original generator coordinates unavailable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F7FB5E7-95C0-4628-BA92-F4AF13790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81750"/>
            <a:ext cx="14192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650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650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650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650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650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650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650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650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650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650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50616C"/>
                </a:solidFill>
                <a:latin typeface="DejaVu Sans"/>
                <a:ea typeface="DejaVu Sans"/>
                <a:cs typeface="DejaVu Sans"/>
              </a:rPr>
              <a:t>Original generator coordinates are unavailable. This Exact prediction does not establish activation.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3125F96-134F-410E-9129-4962F11AB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115175"/>
            <a:ext cx="14192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57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57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57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57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57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57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57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57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57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57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57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pPr>
            <a:r>
              <a:rPr sz="1575" b="1">
                <a:solidFill>
                  <a:srgbClr val="173747"/>
                </a:solidFill>
                <a:latin typeface="DejaVu Sans"/>
                <a:ea typeface="DejaVu Sans"/>
                <a:cs typeface="DejaVu Sans"/>
              </a:rPr>
              <a:t>Complete selected sequence, N to C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3D09C34-2D37-4BA8-AE74-725C5965C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410450"/>
            <a:ext cx="141922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500" b="0">
                <a:solidFill>
                  <a:srgbClr val="173747"/>
                </a:solidFill>
                <a:latin typeface="DejaVu Sans Mono"/>
                <a:ea typeface="DejaVu Sans Mono"/>
                <a:cs typeface="DejaVu Sans Mono"/>
              </a:defRPr>
            </a:defPPr>
            <a:lvl1pPr>
              <a:defRPr sz="1500" b="0">
                <a:solidFill>
                  <a:srgbClr val="173747"/>
                </a:solidFill>
                <a:latin typeface="DejaVu Sans Mono"/>
                <a:ea typeface="DejaVu Sans Mono"/>
                <a:cs typeface="DejaVu Sans Mono"/>
              </a:defRPr>
            </a:lvl1pPr>
            <a:lvl2pPr>
              <a:defRPr sz="1500" b="0">
                <a:solidFill>
                  <a:srgbClr val="173747"/>
                </a:solidFill>
                <a:latin typeface="DejaVu Sans Mono"/>
                <a:ea typeface="DejaVu Sans Mono"/>
                <a:cs typeface="DejaVu Sans Mono"/>
              </a:defRPr>
            </a:lvl2pPr>
            <a:lvl3pPr>
              <a:defRPr sz="1500" b="0">
                <a:solidFill>
                  <a:srgbClr val="173747"/>
                </a:solidFill>
                <a:latin typeface="DejaVu Sans Mono"/>
                <a:ea typeface="DejaVu Sans Mono"/>
                <a:cs typeface="DejaVu Sans Mono"/>
              </a:defRPr>
            </a:lvl3pPr>
            <a:lvl4pPr>
              <a:defRPr sz="1500" b="0">
                <a:solidFill>
                  <a:srgbClr val="173747"/>
                </a:solidFill>
                <a:latin typeface="DejaVu Sans Mono"/>
                <a:ea typeface="DejaVu Sans Mono"/>
                <a:cs typeface="DejaVu Sans Mono"/>
              </a:defRPr>
            </a:lvl4pPr>
            <a:lvl5pPr>
              <a:defRPr sz="1500" b="0">
                <a:solidFill>
                  <a:srgbClr val="173747"/>
                </a:solidFill>
                <a:latin typeface="DejaVu Sans Mono"/>
                <a:ea typeface="DejaVu Sans Mono"/>
                <a:cs typeface="DejaVu Sans Mono"/>
              </a:defRPr>
            </a:lvl5pPr>
            <a:lvl6pPr>
              <a:defRPr sz="1500" b="0">
                <a:solidFill>
                  <a:srgbClr val="173747"/>
                </a:solidFill>
                <a:latin typeface="DejaVu Sans Mono"/>
                <a:ea typeface="DejaVu Sans Mono"/>
                <a:cs typeface="DejaVu Sans Mono"/>
              </a:defRPr>
            </a:lvl6pPr>
            <a:lvl7pPr>
              <a:defRPr sz="1500" b="0">
                <a:solidFill>
                  <a:srgbClr val="173747"/>
                </a:solidFill>
                <a:latin typeface="DejaVu Sans Mono"/>
                <a:ea typeface="DejaVu Sans Mono"/>
                <a:cs typeface="DejaVu Sans Mono"/>
              </a:defRPr>
            </a:lvl7pPr>
            <a:lvl8pPr>
              <a:defRPr sz="1500" b="0">
                <a:solidFill>
                  <a:srgbClr val="173747"/>
                </a:solidFill>
                <a:latin typeface="DejaVu Sans Mono"/>
                <a:ea typeface="DejaVu Sans Mono"/>
                <a:cs typeface="DejaVu Sans Mono"/>
              </a:defRPr>
            </a:lvl8pPr>
            <a:lvl9pPr>
              <a:defRPr sz="1500" b="0">
                <a:solidFill>
                  <a:srgbClr val="173747"/>
                </a:solidFill>
                <a:latin typeface="DejaVu Sans Mono"/>
                <a:ea typeface="DejaVu Sans Mono"/>
                <a:cs typeface="DejaVu Sans Mono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173747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00" b="0">
                <a:solidFill>
                  <a:srgbClr val="173747"/>
                </a:solidFill>
                <a:latin typeface="DejaVu Sans Mono"/>
                <a:ea typeface="DejaVu Sans Mono"/>
                <a:cs typeface="DejaVu Sans Mono"/>
              </a:rPr>
              <a:t>PNYFGFTGFLCIVGDINIGRKAEEFQFFGAIKGGGIEFVCKSDVGSGSGSILFN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750F43E-C4EF-455C-A287-3552630C3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248650"/>
            <a:ext cx="1304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2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2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2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2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2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2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2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2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2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2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50616C"/>
                </a:solidFill>
                <a:latin typeface="DejaVu Sans"/>
                <a:ea typeface="DejaVu Sans"/>
                <a:cs typeface="DejaVu Sans"/>
              </a:rPr>
              <a:t>Human GLP1R     Boltz2 Exact     Computational predictions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54C1523-8BD0-411E-B47C-45AAFD776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0" y="82486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2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2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2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2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2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2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2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2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2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2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50616C"/>
                </a:solidFill>
                <a:latin typeface="DejaVu Sans"/>
                <a:ea typeface="DejaVu Sans"/>
                <a:cs typeface="DejaVu Sans"/>
              </a:rPr>
              <a:t>27</a:t>
            </a:r>
          </a:p>
        </p:txBody>
      </p:sp>
    </p:spTree>
    <p:extLst>
      <p:ext uri="{BB962C8B-B14F-4D97-AF65-F5344CB8AC3E}">
        <p14:creationId xmlns:p14="http://schemas.microsoft.com/office/powerpoint/2010/main" val="437788375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CE6296C-05D3-45A1-93C2-629585EBD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76225"/>
            <a:ext cx="1428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22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322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322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322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322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322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322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322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322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322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73747"/>
                </a:solidFill>
                <a:latin typeface="DejaVu Sans"/>
                <a:ea typeface="DejaVu Sans"/>
                <a:cs typeface="DejaVu Sans"/>
              </a:rPr>
              <a:t>14  Design_440  structure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3D89675-7682-4F73-BA7E-4F24FEA13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95350"/>
            <a:ext cx="1428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8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8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8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8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8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8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8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8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8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50616C"/>
                </a:solidFill>
                <a:latin typeface="DejaVu Sans"/>
                <a:ea typeface="DejaVu Sans"/>
                <a:cs typeface="DejaVu Sans"/>
              </a:rPr>
              <a:t>Original LigandForge   Candidate A: 54 aa   Human GLP1R B: 409 aa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F9221E2-0CE2-41C5-97D0-851D3008B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362075"/>
            <a:ext cx="619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7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87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87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87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87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87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87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87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87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87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173747"/>
                </a:solidFill>
                <a:latin typeface="DejaVu Sans"/>
                <a:ea typeface="DejaVu Sans"/>
                <a:cs typeface="DejaVu Sans"/>
              </a:rPr>
              <a:t>Boltz2 Exact receptor complex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5601D8C-33F7-472E-A80D-239E39C3C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362075"/>
            <a:ext cx="619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7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87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87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87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87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87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87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87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87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87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173747"/>
                </a:solidFill>
                <a:latin typeface="DejaVu Sans"/>
                <a:ea typeface="DejaVu Sans"/>
                <a:cs typeface="DejaVu Sans"/>
              </a:rPr>
              <a:t>Boltz2 Exact interface detail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99766F4-C3AD-4CE2-98E4-96717A0CF7F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dc90ff64bcb41c6"/>
          <a:stretch xmlns:a="http://schemas.openxmlformats.org/drawingml/2006/main"/>
        </p:blipFill>
        <p:spPr>
          <a:xfrm xmlns:a="http://schemas.openxmlformats.org/drawingml/2006/main">
            <a:off x="2344208" y="1724025"/>
            <a:ext cx="3217333" cy="4572000"/>
          </a:xfrm>
          <a:prstGeom xmlns:a="http://schemas.openxmlformats.org/drawingml/2006/main" prst="rect">
            <a:avLst/>
          </a:prstGeom>
        </p:spPr>
      </p:pic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6C5914E-7499-487D-AB01-A932D4FBE47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8a1eb7f8ddd4a17"/>
          <a:stretch xmlns:a="http://schemas.openxmlformats.org/drawingml/2006/main"/>
        </p:blipFill>
        <p:spPr>
          <a:xfrm xmlns:a="http://schemas.openxmlformats.org/drawingml/2006/main">
            <a:off x="9678458" y="1724025"/>
            <a:ext cx="3217333" cy="457200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02DC742-FAC2-4A82-A5F8-E7E9FEBF2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579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650" b="1">
                <a:solidFill>
                  <a:srgbClr val="E69F00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650" b="1">
                <a:solidFill>
                  <a:srgbClr val="E69F00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650" b="1">
                <a:solidFill>
                  <a:srgbClr val="E69F00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650" b="1">
                <a:solidFill>
                  <a:srgbClr val="E69F00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650" b="1">
                <a:solidFill>
                  <a:srgbClr val="E69F00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650" b="1">
                <a:solidFill>
                  <a:srgbClr val="E69F00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650" b="1">
                <a:solidFill>
                  <a:srgbClr val="E69F00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650" b="1">
                <a:solidFill>
                  <a:srgbClr val="E69F00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650" b="1">
                <a:solidFill>
                  <a:srgbClr val="E69F00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650" b="1">
                <a:solidFill>
                  <a:srgbClr val="E69F00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E69F00"/>
                </a:solidFill>
                <a:latin typeface="DejaVu Sans"/>
                <a:ea typeface="DejaVu Sans"/>
                <a:cs typeface="DejaVu Sans"/>
              </a:defRPr>
            </a:pPr>
            <a:r>
              <a:rPr sz="1650" b="1">
                <a:solidFill>
                  <a:srgbClr val="E69F00"/>
                </a:solidFill>
                <a:latin typeface="DejaVu Sans"/>
                <a:ea typeface="DejaVu Sans"/>
                <a:cs typeface="DejaVu Sans"/>
              </a:rPr>
              <a:t>LigandForge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FA660C9-51BE-436D-BCFC-19451E676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64579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650" b="1">
                <a:solidFill>
                  <a:srgbClr val="009E73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650" b="1">
                <a:solidFill>
                  <a:srgbClr val="009E73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650" b="1">
                <a:solidFill>
                  <a:srgbClr val="009E73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650" b="1">
                <a:solidFill>
                  <a:srgbClr val="009E73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650" b="1">
                <a:solidFill>
                  <a:srgbClr val="009E73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650" b="1">
                <a:solidFill>
                  <a:srgbClr val="009E73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650" b="1">
                <a:solidFill>
                  <a:srgbClr val="009E73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650" b="1">
                <a:solidFill>
                  <a:srgbClr val="009E73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650" b="1">
                <a:solidFill>
                  <a:srgbClr val="009E73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650" b="1">
                <a:solidFill>
                  <a:srgbClr val="009E73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009E73"/>
                </a:solidFill>
                <a:latin typeface="DejaVu Sans"/>
                <a:ea typeface="DejaVu Sans"/>
                <a:cs typeface="DejaVu Sans"/>
              </a:defRPr>
            </a:pPr>
            <a:r>
              <a:rPr sz="1650" b="1">
                <a:solidFill>
                  <a:srgbClr val="009E73"/>
                </a:solidFill>
                <a:latin typeface="DejaVu Sans"/>
                <a:ea typeface="DejaVu Sans"/>
                <a:cs typeface="DejaVu Sans"/>
              </a:rPr>
              <a:t>Receptor ECD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2FF8A4C-9472-4C91-B628-54F8307DC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64579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650" b="1">
                <a:solidFill>
                  <a:srgbClr val="7B8794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650" b="1">
                <a:solidFill>
                  <a:srgbClr val="7B8794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650" b="1">
                <a:solidFill>
                  <a:srgbClr val="7B8794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650" b="1">
                <a:solidFill>
                  <a:srgbClr val="7B8794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650" b="1">
                <a:solidFill>
                  <a:srgbClr val="7B8794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650" b="1">
                <a:solidFill>
                  <a:srgbClr val="7B8794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650" b="1">
                <a:solidFill>
                  <a:srgbClr val="7B8794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650" b="1">
                <a:solidFill>
                  <a:srgbClr val="7B8794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650" b="1">
                <a:solidFill>
                  <a:srgbClr val="7B8794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650" b="1">
                <a:solidFill>
                  <a:srgbClr val="7B8794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7B8794"/>
                </a:solidFill>
                <a:latin typeface="DejaVu Sans"/>
                <a:ea typeface="DejaVu Sans"/>
                <a:cs typeface="DejaVu Sans"/>
              </a:defRPr>
            </a:pPr>
            <a:r>
              <a:rPr sz="1650" b="1">
                <a:solidFill>
                  <a:srgbClr val="7B8794"/>
                </a:solidFill>
                <a:latin typeface="DejaVu Sans"/>
                <a:ea typeface="DejaVu Sans"/>
                <a:cs typeface="DejaVu Sans"/>
              </a:rPr>
              <a:t>Remaining receptor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3FA4366-81F4-465C-BE16-14AA8E00F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4579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650" b="1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650" b="1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650" b="1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650" b="1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650" b="1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650" b="1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650" b="1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650" b="1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650" b="1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650" b="1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1650" b="1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Hotspots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2FECA93-2A90-41B6-AFC8-710A112C8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800850"/>
            <a:ext cx="1428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42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42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42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42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42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42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42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42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42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42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>
                <a:solidFill>
                  <a:srgbClr val="50616C"/>
                </a:solidFill>
                <a:latin typeface="DejaVu Sans"/>
                <a:ea typeface="DejaVu Sans"/>
                <a:cs typeface="DejaVu Sans"/>
              </a:rPr>
              <a:t>Receptor ECD B1–105 (UniProt 24–128). Black sticks: 27 submitted pocket positions. View-specific zoom.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5B5A01D-3DE5-4C60-A4E2-88C768E91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134225"/>
            <a:ext cx="14192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57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57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57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57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57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57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57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57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57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57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57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pPr>
            <a:r>
              <a:rPr sz="1575" b="1">
                <a:solidFill>
                  <a:srgbClr val="173747"/>
                </a:solidFill>
                <a:latin typeface="DejaVu Sans"/>
                <a:ea typeface="DejaVu Sans"/>
                <a:cs typeface="DejaVu Sans"/>
              </a:rPr>
              <a:t>Complete selected sequence, N to C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70073AF-01F7-462C-8B9D-B85CF9380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429500"/>
            <a:ext cx="141922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500" b="0">
                <a:solidFill>
                  <a:srgbClr val="173747"/>
                </a:solidFill>
                <a:latin typeface="DejaVu Sans Mono"/>
                <a:ea typeface="DejaVu Sans Mono"/>
                <a:cs typeface="DejaVu Sans Mono"/>
              </a:defRPr>
            </a:defPPr>
            <a:lvl1pPr>
              <a:defRPr sz="1500" b="0">
                <a:solidFill>
                  <a:srgbClr val="173747"/>
                </a:solidFill>
                <a:latin typeface="DejaVu Sans Mono"/>
                <a:ea typeface="DejaVu Sans Mono"/>
                <a:cs typeface="DejaVu Sans Mono"/>
              </a:defRPr>
            </a:lvl1pPr>
            <a:lvl2pPr>
              <a:defRPr sz="1500" b="0">
                <a:solidFill>
                  <a:srgbClr val="173747"/>
                </a:solidFill>
                <a:latin typeface="DejaVu Sans Mono"/>
                <a:ea typeface="DejaVu Sans Mono"/>
                <a:cs typeface="DejaVu Sans Mono"/>
              </a:defRPr>
            </a:lvl2pPr>
            <a:lvl3pPr>
              <a:defRPr sz="1500" b="0">
                <a:solidFill>
                  <a:srgbClr val="173747"/>
                </a:solidFill>
                <a:latin typeface="DejaVu Sans Mono"/>
                <a:ea typeface="DejaVu Sans Mono"/>
                <a:cs typeface="DejaVu Sans Mono"/>
              </a:defRPr>
            </a:lvl3pPr>
            <a:lvl4pPr>
              <a:defRPr sz="1500" b="0">
                <a:solidFill>
                  <a:srgbClr val="173747"/>
                </a:solidFill>
                <a:latin typeface="DejaVu Sans Mono"/>
                <a:ea typeface="DejaVu Sans Mono"/>
                <a:cs typeface="DejaVu Sans Mono"/>
              </a:defRPr>
            </a:lvl4pPr>
            <a:lvl5pPr>
              <a:defRPr sz="1500" b="0">
                <a:solidFill>
                  <a:srgbClr val="173747"/>
                </a:solidFill>
                <a:latin typeface="DejaVu Sans Mono"/>
                <a:ea typeface="DejaVu Sans Mono"/>
                <a:cs typeface="DejaVu Sans Mono"/>
              </a:defRPr>
            </a:lvl5pPr>
            <a:lvl6pPr>
              <a:defRPr sz="1500" b="0">
                <a:solidFill>
                  <a:srgbClr val="173747"/>
                </a:solidFill>
                <a:latin typeface="DejaVu Sans Mono"/>
                <a:ea typeface="DejaVu Sans Mono"/>
                <a:cs typeface="DejaVu Sans Mono"/>
              </a:defRPr>
            </a:lvl6pPr>
            <a:lvl7pPr>
              <a:defRPr sz="1500" b="0">
                <a:solidFill>
                  <a:srgbClr val="173747"/>
                </a:solidFill>
                <a:latin typeface="DejaVu Sans Mono"/>
                <a:ea typeface="DejaVu Sans Mono"/>
                <a:cs typeface="DejaVu Sans Mono"/>
              </a:defRPr>
            </a:lvl7pPr>
            <a:lvl8pPr>
              <a:defRPr sz="1500" b="0">
                <a:solidFill>
                  <a:srgbClr val="173747"/>
                </a:solidFill>
                <a:latin typeface="DejaVu Sans Mono"/>
                <a:ea typeface="DejaVu Sans Mono"/>
                <a:cs typeface="DejaVu Sans Mono"/>
              </a:defRPr>
            </a:lvl8pPr>
            <a:lvl9pPr>
              <a:defRPr sz="1500" b="0">
                <a:solidFill>
                  <a:srgbClr val="173747"/>
                </a:solidFill>
                <a:latin typeface="DejaVu Sans Mono"/>
                <a:ea typeface="DejaVu Sans Mono"/>
                <a:cs typeface="DejaVu Sans Mono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173747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00" b="0">
                <a:solidFill>
                  <a:srgbClr val="173747"/>
                </a:solidFill>
                <a:latin typeface="DejaVu Sans Mono"/>
                <a:ea typeface="DejaVu Sans Mono"/>
                <a:cs typeface="DejaVu Sans Mono"/>
              </a:rPr>
              <a:t>PNYFGFTGFLCIVGDINIGRKAEEFQFFGAIKGGGIEFVCKSDVGSGSGSILFN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44E9464-0C4A-4AA5-BD17-6D7E55E1C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248650"/>
            <a:ext cx="1304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2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2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2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2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2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2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2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2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2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2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50616C"/>
                </a:solidFill>
                <a:latin typeface="DejaVu Sans"/>
                <a:ea typeface="DejaVu Sans"/>
                <a:cs typeface="DejaVu Sans"/>
              </a:rPr>
              <a:t>Human GLP1R     Boltz2 Exact     Computational predictions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81C99EA-E432-4E73-BA8B-A64919F39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0" y="82486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2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2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2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2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2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2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2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2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2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2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50616C"/>
                </a:solidFill>
                <a:latin typeface="DejaVu Sans"/>
                <a:ea typeface="DejaVu Sans"/>
                <a:cs typeface="DejaVu Sans"/>
              </a:rPr>
              <a:t>28</a:t>
            </a:r>
          </a:p>
        </p:txBody>
      </p:sp>
    </p:spTree>
    <p:extLst>
      <p:ext uri="{BB962C8B-B14F-4D97-AF65-F5344CB8AC3E}">
        <p14:creationId xmlns:p14="http://schemas.microsoft.com/office/powerpoint/2010/main" val="1792019886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55776F8-E6C9-4FBD-AAA8-65C593582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76225"/>
            <a:ext cx="1428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22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322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322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322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322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322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322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322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322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322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73747"/>
                </a:solidFill>
                <a:latin typeface="DejaVu Sans"/>
                <a:ea typeface="DejaVu Sans"/>
                <a:cs typeface="DejaVu Sans"/>
              </a:rPr>
              <a:t>15  LK_P141_07  metrics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CA9874F-BDEF-43F2-A861-3FCF9072D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95350"/>
            <a:ext cx="1428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8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8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8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8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8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8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8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8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8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50616C"/>
                </a:solidFill>
                <a:latin typeface="DejaVu Sans"/>
                <a:ea typeface="DejaVu Sans"/>
                <a:cs typeface="DejaVu Sans"/>
              </a:rPr>
              <a:t>D-L-D fusion   Candidate A: 121 aa   Human GLP1R B: 440 aa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C6261A9-66BD-4AFE-B457-20C2D3273BDD}"/>
              </a:ext>
            </a:extLst>
          </p:cNvPr>
          <p:cNvGraphicFramePr/>
          <p:nvPr/>
        </p:nvGraphicFramePr>
        <p:xfrm>
          <a:off xmlns:a="http://schemas.openxmlformats.org/drawingml/2006/main" x="457200" y="1457325"/>
          <a:ext xmlns:a="http://schemas.openxmlformats.org/drawingml/2006/main" cx="9667875" cy="48006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6791325"/>
                <a:gridCol w="2876550"/>
              </a:tblGrid>
              <a:tr h="34290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Metric and scope</a:t>
                      </a:r>
                    </a:p>
                  </a:txBody>
                  <a:tcPr marL="91440" marR="91440" marT="45720" marB="45720">
                    <a:lnL w="5715">
                      <a:solidFill>
                        <a:srgbClr val="D8E1E5"/>
                      </a:solidFill>
                      <a:prstDash val="solid"/>
                    </a:lnL>
                    <a:lnR w="5715">
                      <a:solidFill>
                        <a:srgbClr val="D8E1E5"/>
                      </a:solidFill>
                      <a:prstDash val="solid"/>
                    </a:lnR>
                    <a:lnT w="5715">
                      <a:solidFill>
                        <a:srgbClr val="D8E1E5"/>
                      </a:solidFill>
                      <a:prstDash val="solid"/>
                    </a:lnT>
                    <a:lnB w="5715">
                      <a:solidFill>
                        <a:srgbClr val="D8E1E5"/>
                      </a:solidFill>
                      <a:prstDash val="solid"/>
                    </a:lnB>
                    <a:solidFill>
                      <a:srgbClr val="245D7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Value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8E1E5"/>
                      </a:solidFill>
                      <a:prstDash val="solid"/>
                    </a:lnR>
                    <a:lnT w="5715">
                      <a:solidFill>
                        <a:srgbClr val="D8E1E5"/>
                      </a:solidFill>
                      <a:prstDash val="solid"/>
                    </a:lnT>
                    <a:lnB w="5715">
                      <a:solidFill>
                        <a:srgbClr val="D8E1E5"/>
                      </a:solidFill>
                      <a:prstDash val="solid"/>
                    </a:lnB>
                    <a:solidFill>
                      <a:srgbClr val="245D73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73747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Boltz2 Exact ipSAE (A/B, Type=max)</a:t>
                      </a:r>
                    </a:p>
                  </a:txBody>
                  <a:tcPr marL="91440" marR="91440" marT="45720" marB="45720">
                    <a:lnL w="5715">
                      <a:solidFill>
                        <a:srgbClr val="D8E1E5"/>
                      </a:solidFill>
                      <a:prstDash val="solid"/>
                    </a:lnL>
                    <a:lnR w="5715">
                      <a:solidFill>
                        <a:srgbClr val="D8E1E5"/>
                      </a:solidFill>
                      <a:prstDash val="solid"/>
                    </a:lnR>
                    <a:lnB w="5715">
                      <a:solidFill>
                        <a:srgbClr val="D8E1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73747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0.899774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8E1E5"/>
                      </a:solidFill>
                      <a:prstDash val="solid"/>
                    </a:lnR>
                    <a:lnB w="5715">
                      <a:solidFill>
                        <a:srgbClr val="D8E1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73747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DeltaForge predicted Kd (nM)</a:t>
                      </a:r>
                    </a:p>
                  </a:txBody>
                  <a:tcPr marL="91440" marR="91440" marT="45720" marB="45720">
                    <a:lnL w="5715">
                      <a:solidFill>
                        <a:srgbClr val="D8E1E5"/>
                      </a:solidFill>
                      <a:prstDash val="solid"/>
                    </a:lnL>
                    <a:lnR w="5715">
                      <a:solidFill>
                        <a:srgbClr val="D8E1E5"/>
                      </a:solidFill>
                      <a:prstDash val="solid"/>
                    </a:lnR>
                    <a:lnB w="5715">
                      <a:solidFill>
                        <a:srgbClr val="D8E1E5"/>
                      </a:solidFill>
                      <a:prstDash val="solid"/>
                    </a:lnB>
                    <a:solidFill>
                      <a:srgbClr val="F1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73747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1.6270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8E1E5"/>
                      </a:solidFill>
                      <a:prstDash val="solid"/>
                    </a:lnR>
                    <a:lnB w="5715">
                      <a:solidFill>
                        <a:srgbClr val="D8E1E5"/>
                      </a:solidFill>
                      <a:prstDash val="solid"/>
                    </a:lnB>
                    <a:solidFill>
                      <a:srgbClr val="F1F5F7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73747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Boltz2 Exact ipTM</a:t>
                      </a:r>
                    </a:p>
                  </a:txBody>
                  <a:tcPr marL="91440" marR="91440" marT="45720" marB="45720">
                    <a:lnL w="5715">
                      <a:solidFill>
                        <a:srgbClr val="D8E1E5"/>
                      </a:solidFill>
                      <a:prstDash val="solid"/>
                    </a:lnL>
                    <a:lnR w="5715">
                      <a:solidFill>
                        <a:srgbClr val="D8E1E5"/>
                      </a:solidFill>
                      <a:prstDash val="solid"/>
                    </a:lnR>
                    <a:lnB w="5715">
                      <a:solidFill>
                        <a:srgbClr val="D8E1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73747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0.8838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8E1E5"/>
                      </a:solidFill>
                      <a:prstDash val="solid"/>
                    </a:lnR>
                    <a:lnB w="5715">
                      <a:solidFill>
                        <a:srgbClr val="D8E1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73747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Original population ipSAE rank</a:t>
                      </a:r>
                    </a:p>
                  </a:txBody>
                  <a:tcPr marL="91440" marR="91440" marT="45720" marB="45720">
                    <a:lnL w="5715">
                      <a:solidFill>
                        <a:srgbClr val="D8E1E5"/>
                      </a:solidFill>
                      <a:prstDash val="solid"/>
                    </a:lnL>
                    <a:lnR w="5715">
                      <a:solidFill>
                        <a:srgbClr val="D8E1E5"/>
                      </a:solidFill>
                      <a:prstDash val="solid"/>
                    </a:lnR>
                    <a:lnB w="5715">
                      <a:solidFill>
                        <a:srgbClr val="D8E1E5"/>
                      </a:solidFill>
                      <a:prstDash val="solid"/>
                    </a:lnB>
                    <a:solidFill>
                      <a:srgbClr val="F1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73747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14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8E1E5"/>
                      </a:solidFill>
                      <a:prstDash val="solid"/>
                    </a:lnR>
                    <a:lnB w="5715">
                      <a:solidFill>
                        <a:srgbClr val="D8E1E5"/>
                      </a:solidFill>
                      <a:prstDash val="solid"/>
                    </a:lnB>
                    <a:solidFill>
                      <a:srgbClr val="F1F5F7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73747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Predicted-Kd rank within population top50</a:t>
                      </a:r>
                    </a:p>
                  </a:txBody>
                  <a:tcPr marL="91440" marR="91440" marT="45720" marB="45720">
                    <a:lnL w="5715">
                      <a:solidFill>
                        <a:srgbClr val="D8E1E5"/>
                      </a:solidFill>
                      <a:prstDash val="solid"/>
                    </a:lnL>
                    <a:lnR w="5715">
                      <a:solidFill>
                        <a:srgbClr val="D8E1E5"/>
                      </a:solidFill>
                      <a:prstDash val="solid"/>
                    </a:lnR>
                    <a:lnB w="5715">
                      <a:solidFill>
                        <a:srgbClr val="D8E1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73747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17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8E1E5"/>
                      </a:solidFill>
                      <a:prstDash val="solid"/>
                    </a:lnR>
                    <a:lnB w="5715">
                      <a:solidFill>
                        <a:srgbClr val="D8E1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73747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Candidate / receptor residues (aa)</a:t>
                      </a:r>
                    </a:p>
                  </a:txBody>
                  <a:tcPr marL="91440" marR="91440" marT="45720" marB="45720">
                    <a:lnL w="5715">
                      <a:solidFill>
                        <a:srgbClr val="D8E1E5"/>
                      </a:solidFill>
                      <a:prstDash val="solid"/>
                    </a:lnL>
                    <a:lnR w="5715">
                      <a:solidFill>
                        <a:srgbClr val="D8E1E5"/>
                      </a:solidFill>
                      <a:prstDash val="solid"/>
                    </a:lnR>
                    <a:lnB w="5715">
                      <a:solidFill>
                        <a:srgbClr val="D8E1E5"/>
                      </a:solidFill>
                      <a:prstDash val="solid"/>
                    </a:lnB>
                    <a:solidFill>
                      <a:srgbClr val="F1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73747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121 / 440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8E1E5"/>
                      </a:solidFill>
                      <a:prstDash val="solid"/>
                    </a:lnR>
                    <a:lnB w="5715">
                      <a:solidFill>
                        <a:srgbClr val="D8E1E5"/>
                      </a:solidFill>
                      <a:prstDash val="solid"/>
                    </a:lnB>
                    <a:solidFill>
                      <a:srgbClr val="F1F5F7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73747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pDockQ / pDockQ2</a:t>
                      </a:r>
                    </a:p>
                  </a:txBody>
                  <a:tcPr marL="91440" marR="91440" marT="45720" marB="45720">
                    <a:lnL w="5715">
                      <a:solidFill>
                        <a:srgbClr val="D8E1E5"/>
                      </a:solidFill>
                      <a:prstDash val="solid"/>
                    </a:lnL>
                    <a:lnR w="5715">
                      <a:solidFill>
                        <a:srgbClr val="D8E1E5"/>
                      </a:solidFill>
                      <a:prstDash val="solid"/>
                    </a:lnR>
                    <a:lnB w="5715">
                      <a:solidFill>
                        <a:srgbClr val="D8E1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73747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0.4125 / 0.2650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8E1E5"/>
                      </a:solidFill>
                      <a:prstDash val="solid"/>
                    </a:lnR>
                    <a:lnB w="5715">
                      <a:solidFill>
                        <a:srgbClr val="D8E1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73747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Whole fusion / linker pLDDT (0-100)</a:t>
                      </a:r>
                    </a:p>
                  </a:txBody>
                  <a:tcPr marL="91440" marR="91440" marT="45720" marB="45720">
                    <a:lnL w="5715">
                      <a:solidFill>
                        <a:srgbClr val="D8E1E5"/>
                      </a:solidFill>
                      <a:prstDash val="solid"/>
                    </a:lnL>
                    <a:lnR w="5715">
                      <a:solidFill>
                        <a:srgbClr val="D8E1E5"/>
                      </a:solidFill>
                      <a:prstDash val="solid"/>
                    </a:lnR>
                    <a:lnB w="5715">
                      <a:solidFill>
                        <a:srgbClr val="D8E1E5"/>
                      </a:solidFill>
                      <a:prstDash val="solid"/>
                    </a:lnB>
                    <a:solidFill>
                      <a:srgbClr val="F1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73747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59.9 / 61.7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8E1E5"/>
                      </a:solidFill>
                      <a:prstDash val="solid"/>
                    </a:lnR>
                    <a:lnB w="5715">
                      <a:solidFill>
                        <a:srgbClr val="D8E1E5"/>
                      </a:solidFill>
                      <a:prstDash val="solid"/>
                    </a:lnB>
                    <a:solidFill>
                      <a:srgbClr val="F1F5F7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73747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ECD / LigandForge pLDDT (0-100)</a:t>
                      </a:r>
                    </a:p>
                  </a:txBody>
                  <a:tcPr marL="91440" marR="91440" marT="45720" marB="45720">
                    <a:lnL w="5715">
                      <a:solidFill>
                        <a:srgbClr val="D8E1E5"/>
                      </a:solidFill>
                      <a:prstDash val="solid"/>
                    </a:lnL>
                    <a:lnR w="5715">
                      <a:solidFill>
                        <a:srgbClr val="D8E1E5"/>
                      </a:solidFill>
                      <a:prstDash val="solid"/>
                    </a:lnR>
                    <a:lnB w="5715">
                      <a:solidFill>
                        <a:srgbClr val="D8E1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73747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71.4 / 54.1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8E1E5"/>
                      </a:solidFill>
                      <a:prstDash val="solid"/>
                    </a:lnR>
                    <a:lnB w="5715">
                      <a:solidFill>
                        <a:srgbClr val="D8E1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73747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Fusion design-to-refold DockQ</a:t>
                      </a:r>
                    </a:p>
                  </a:txBody>
                  <a:tcPr marL="91440" marR="91440" marT="45720" marB="45720">
                    <a:lnL w="5715">
                      <a:solidFill>
                        <a:srgbClr val="D8E1E5"/>
                      </a:solidFill>
                      <a:prstDash val="solid"/>
                    </a:lnL>
                    <a:lnR w="5715">
                      <a:solidFill>
                        <a:srgbClr val="D8E1E5"/>
                      </a:solidFill>
                      <a:prstDash val="solid"/>
                    </a:lnR>
                    <a:lnB w="5715">
                      <a:solidFill>
                        <a:srgbClr val="D8E1E5"/>
                      </a:solidFill>
                      <a:prstDash val="solid"/>
                    </a:lnB>
                    <a:solidFill>
                      <a:srgbClr val="F1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73747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0.2736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8E1E5"/>
                      </a:solidFill>
                      <a:prstDash val="solid"/>
                    </a:lnR>
                    <a:lnB w="5715">
                      <a:solidFill>
                        <a:srgbClr val="D8E1E5"/>
                      </a:solidFill>
                      <a:prstDash val="solid"/>
                    </a:lnB>
                    <a:solidFill>
                      <a:srgbClr val="F1F5F7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73747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Free C-terminal OPM z (A)</a:t>
                      </a:r>
                    </a:p>
                  </a:txBody>
                  <a:tcPr marL="91440" marR="91440" marT="45720" marB="45720">
                    <a:lnL w="5715">
                      <a:solidFill>
                        <a:srgbClr val="D8E1E5"/>
                      </a:solidFill>
                      <a:prstDash val="solid"/>
                    </a:lnL>
                    <a:lnR w="5715">
                      <a:solidFill>
                        <a:srgbClr val="D8E1E5"/>
                      </a:solidFill>
                      <a:prstDash val="solid"/>
                    </a:lnR>
                    <a:lnB w="5715">
                      <a:solidFill>
                        <a:srgbClr val="D8E1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73747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76.38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8E1E5"/>
                      </a:solidFill>
                      <a:prstDash val="solid"/>
                    </a:lnR>
                    <a:lnB w="5715">
                      <a:solidFill>
                        <a:srgbClr val="D8E1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73747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Extracellular free C-terminal screen</a:t>
                      </a:r>
                    </a:p>
                  </a:txBody>
                  <a:tcPr marL="91440" marR="91440" marT="45720" marB="45720">
                    <a:lnL w="5715">
                      <a:solidFill>
                        <a:srgbClr val="D8E1E5"/>
                      </a:solidFill>
                      <a:prstDash val="solid"/>
                    </a:lnL>
                    <a:lnR w="5715">
                      <a:solidFill>
                        <a:srgbClr val="D8E1E5"/>
                      </a:solidFill>
                      <a:prstDash val="solid"/>
                    </a:lnR>
                    <a:lnB w="5715">
                      <a:solidFill>
                        <a:srgbClr val="D8E1E5"/>
                      </a:solidFill>
                      <a:prstDash val="solid"/>
                    </a:lnB>
                    <a:solidFill>
                      <a:srgbClr val="F1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73747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Pass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8E1E5"/>
                      </a:solidFill>
                      <a:prstDash val="solid"/>
                    </a:lnR>
                    <a:lnB w="5715">
                      <a:solidFill>
                        <a:srgbClr val="D8E1E5"/>
                      </a:solidFill>
                      <a:prstDash val="solid"/>
                    </a:lnB>
                    <a:solidFill>
                      <a:srgbClr val="F1F5F7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73747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DeltaForge length scope</a:t>
                      </a:r>
                    </a:p>
                  </a:txBody>
                  <a:tcPr marL="91440" marR="91440" marT="45720" marB="45720">
                    <a:lnL w="5715">
                      <a:solidFill>
                        <a:srgbClr val="D8E1E5"/>
                      </a:solidFill>
                      <a:prstDash val="solid"/>
                    </a:lnL>
                    <a:lnR w="5715">
                      <a:solidFill>
                        <a:srgbClr val="D8E1E5"/>
                      </a:solidFill>
                      <a:prstDash val="solid"/>
                    </a:lnR>
                    <a:lnB w="5715">
                      <a:solidFill>
                        <a:srgbClr val="D8E1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73747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platform_8_140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8E1E5"/>
                      </a:solidFill>
                      <a:prstDash val="solid"/>
                    </a:lnR>
                    <a:lnB w="5715">
                      <a:solidFill>
                        <a:srgbClr val="D8E1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7981950-F87D-41EA-B2CC-40507C4B1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1457325"/>
            <a:ext cx="4095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950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950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950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950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950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950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950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950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950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950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173747"/>
                </a:solidFill>
                <a:latin typeface="DejaVu Sans"/>
                <a:ea typeface="DejaVu Sans"/>
                <a:cs typeface="DejaVu Sans"/>
              </a:rPr>
              <a:t>Origin and prediction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2549C81-6ACC-4312-88C2-F4A95009E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1952625"/>
            <a:ext cx="4095750" cy="390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725" b="0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725" b="0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725" b="0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725" b="0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725" b="0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725" b="0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725" b="0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725" b="0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725" b="0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725" b="0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173747"/>
                </a:solidFill>
                <a:latin typeface="DejaVu Sans"/>
                <a:ea typeface="DejaVu Sans"/>
                <a:cs typeface="DejaVu Sans"/>
              </a:rPr>
              <a:t>ECD parent S09_03_086</a:t>
            </a:r>
          </a:p>
          <a:p xmlns:a="http://schemas.openxmlformats.org/drawingml/2006/main">
            <a:pPr>
              <a:defRPr sz="1725" b="0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173747"/>
                </a:solidFill>
                <a:latin typeface="DejaVu Sans"/>
                <a:ea typeface="DejaVu Sans"/>
                <a:cs typeface="DejaVu Sans"/>
              </a:rPr>
              <a:t>LigandForge parent Design_280</a:t>
            </a:r>
          </a:p>
          <a:p xmlns:a="http://schemas.openxmlformats.org/drawingml/2006/main">
            <a:pPr>
              <a:defRPr sz="1725" b="0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173747"/>
                </a:solidFill>
                <a:latin typeface="DejaVu Sans"/>
                <a:ea typeface="DejaVu Sans"/>
                <a:cs typeface="DejaVu Sans"/>
              </a:rPr>
              <a:t>Pair P141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725" b="0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173747"/>
                </a:solidFill>
                <a:latin typeface="DejaVu Sans"/>
                <a:ea typeface="DejaVu Sans"/>
                <a:cs typeface="DejaVu Sans"/>
              </a:rPr>
              <a:t>AP Novo seed 1518</a:t>
            </a:r>
          </a:p>
          <a:p xmlns:a="http://schemas.openxmlformats.org/drawingml/2006/main">
            <a:pPr>
              <a:defRPr sz="1725" b="0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173747"/>
                </a:solidFill>
                <a:latin typeface="DejaVu Sans"/>
                <a:ea typeface="DejaVu Sans"/>
                <a:cs typeface="DejaVu Sans"/>
              </a:rPr>
              <a:t>Exact seed 101</a:t>
            </a:r>
          </a:p>
          <a:p xmlns:a="http://schemas.openxmlformats.org/drawingml/2006/main">
            <a:pPr>
              <a:defRPr sz="1725" b="0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173747"/>
                </a:solidFill>
                <a:latin typeface="DejaVu Sans"/>
                <a:ea typeface="DejaVu Sans"/>
                <a:cs typeface="DejaVu Sans"/>
              </a:rPr>
              <a:t>3 recycles, 200 steps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725" b="0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173747"/>
                </a:solidFill>
                <a:latin typeface="DejaVu Sans"/>
                <a:ea typeface="DejaVu Sans"/>
                <a:cs typeface="DejaVu Sans"/>
              </a:rPr>
              <a:t>ECD A1-32  linker A33-52  LF A53-121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0368E2C-D76E-43C0-8384-D3C85671D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81750"/>
            <a:ext cx="14192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650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650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650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650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650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650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650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650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650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650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50616C"/>
                </a:solidFill>
                <a:latin typeface="DejaVu Sans"/>
                <a:ea typeface="DejaVu Sans"/>
                <a:cs typeface="DejaVu Sans"/>
              </a:rPr>
              <a:t>Whole-fusion pLDDT remains modest. High interface confidence does not establish activation.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DC55716-AC16-43C3-9D9D-EA33C1FAC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115175"/>
            <a:ext cx="14192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57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57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57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57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57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57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57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57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57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57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57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pPr>
            <a:r>
              <a:rPr sz="1575" b="1">
                <a:solidFill>
                  <a:srgbClr val="173747"/>
                </a:solidFill>
                <a:latin typeface="DejaVu Sans"/>
                <a:ea typeface="DejaVu Sans"/>
                <a:cs typeface="DejaVu Sans"/>
              </a:rPr>
              <a:t>Complete selected sequence, N to C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BD1A76F-59D2-4AE5-9DBF-63A0BA91A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410450"/>
            <a:ext cx="141922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500" b="0">
                <a:solidFill>
                  <a:srgbClr val="173747"/>
                </a:solidFill>
                <a:latin typeface="DejaVu Sans Mono"/>
                <a:ea typeface="DejaVu Sans Mono"/>
                <a:cs typeface="DejaVu Sans Mono"/>
              </a:defRPr>
            </a:defPPr>
            <a:lvl1pPr>
              <a:defRPr sz="1500" b="0">
                <a:solidFill>
                  <a:srgbClr val="173747"/>
                </a:solidFill>
                <a:latin typeface="DejaVu Sans Mono"/>
                <a:ea typeface="DejaVu Sans Mono"/>
                <a:cs typeface="DejaVu Sans Mono"/>
              </a:defRPr>
            </a:lvl1pPr>
            <a:lvl2pPr>
              <a:defRPr sz="1500" b="0">
                <a:solidFill>
                  <a:srgbClr val="173747"/>
                </a:solidFill>
                <a:latin typeface="DejaVu Sans Mono"/>
                <a:ea typeface="DejaVu Sans Mono"/>
                <a:cs typeface="DejaVu Sans Mono"/>
              </a:defRPr>
            </a:lvl2pPr>
            <a:lvl3pPr>
              <a:defRPr sz="1500" b="0">
                <a:solidFill>
                  <a:srgbClr val="173747"/>
                </a:solidFill>
                <a:latin typeface="DejaVu Sans Mono"/>
                <a:ea typeface="DejaVu Sans Mono"/>
                <a:cs typeface="DejaVu Sans Mono"/>
              </a:defRPr>
            </a:lvl3pPr>
            <a:lvl4pPr>
              <a:defRPr sz="1500" b="0">
                <a:solidFill>
                  <a:srgbClr val="173747"/>
                </a:solidFill>
                <a:latin typeface="DejaVu Sans Mono"/>
                <a:ea typeface="DejaVu Sans Mono"/>
                <a:cs typeface="DejaVu Sans Mono"/>
              </a:defRPr>
            </a:lvl4pPr>
            <a:lvl5pPr>
              <a:defRPr sz="1500" b="0">
                <a:solidFill>
                  <a:srgbClr val="173747"/>
                </a:solidFill>
                <a:latin typeface="DejaVu Sans Mono"/>
                <a:ea typeface="DejaVu Sans Mono"/>
                <a:cs typeface="DejaVu Sans Mono"/>
              </a:defRPr>
            </a:lvl5pPr>
            <a:lvl6pPr>
              <a:defRPr sz="1500" b="0">
                <a:solidFill>
                  <a:srgbClr val="173747"/>
                </a:solidFill>
                <a:latin typeface="DejaVu Sans Mono"/>
                <a:ea typeface="DejaVu Sans Mono"/>
                <a:cs typeface="DejaVu Sans Mono"/>
              </a:defRPr>
            </a:lvl6pPr>
            <a:lvl7pPr>
              <a:defRPr sz="1500" b="0">
                <a:solidFill>
                  <a:srgbClr val="173747"/>
                </a:solidFill>
                <a:latin typeface="DejaVu Sans Mono"/>
                <a:ea typeface="DejaVu Sans Mono"/>
                <a:cs typeface="DejaVu Sans Mono"/>
              </a:defRPr>
            </a:lvl7pPr>
            <a:lvl8pPr>
              <a:defRPr sz="1500" b="0">
                <a:solidFill>
                  <a:srgbClr val="173747"/>
                </a:solidFill>
                <a:latin typeface="DejaVu Sans Mono"/>
                <a:ea typeface="DejaVu Sans Mono"/>
                <a:cs typeface="DejaVu Sans Mono"/>
              </a:defRPr>
            </a:lvl8pPr>
            <a:lvl9pPr>
              <a:defRPr sz="1500" b="0">
                <a:solidFill>
                  <a:srgbClr val="173747"/>
                </a:solidFill>
                <a:latin typeface="DejaVu Sans Mono"/>
                <a:ea typeface="DejaVu Sans Mono"/>
                <a:cs typeface="DejaVu Sans Mono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173747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00" b="0">
                <a:solidFill>
                  <a:srgbClr val="173747"/>
                </a:solidFill>
                <a:latin typeface="DejaVu Sans Mono"/>
                <a:ea typeface="DejaVu Sans Mono"/>
                <a:cs typeface="DejaVu Sans Mono"/>
              </a:rPr>
              <a:t>MVSIGSTGFDGLLQLDEELRNLFLQRLVLGRLGSGLPPPPPPVDVIPPSEVKEVSGATIDLRVKTCVDFKQTVN</a:t>
            </a:r>
          </a:p>
          <a:p xmlns:a="http://schemas.openxmlformats.org/drawingml/2006/main">
            <a:pPr>
              <a:defRPr sz="1500" b="0">
                <a:solidFill>
                  <a:srgbClr val="173747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00" b="0">
                <a:solidFill>
                  <a:srgbClr val="173747"/>
                </a:solidFill>
                <a:latin typeface="DejaVu Sans Mono"/>
                <a:ea typeface="DejaVu Sans Mono"/>
                <a:cs typeface="DejaVu Sans Mono"/>
              </a:rPr>
              <a:t>FFKLRNTQLPGSCTKDNTVLFLLEGLKLGYASRYFSIGSGSGSQQFS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A054AC3-E121-4565-B4F6-6E4FB52CA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248650"/>
            <a:ext cx="1304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2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2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2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2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2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2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2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2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2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2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50616C"/>
                </a:solidFill>
                <a:latin typeface="DejaVu Sans"/>
                <a:ea typeface="DejaVu Sans"/>
                <a:cs typeface="DejaVu Sans"/>
              </a:rPr>
              <a:t>Human GLP1R     Boltz2 Exact     Computational predictions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BB2B425-025A-409C-8BEE-AB9B79879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0" y="82486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2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2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2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2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2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2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2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2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2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2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50616C"/>
                </a:solidFill>
                <a:latin typeface="DejaVu Sans"/>
                <a:ea typeface="DejaVu Sans"/>
                <a:cs typeface="DejaVu Sans"/>
              </a:rPr>
              <a:t>29</a:t>
            </a:r>
          </a:p>
        </p:txBody>
      </p:sp>
    </p:spTree>
    <p:extLst>
      <p:ext uri="{BB962C8B-B14F-4D97-AF65-F5344CB8AC3E}">
        <p14:creationId xmlns:p14="http://schemas.microsoft.com/office/powerpoint/2010/main" val="1974828810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C14FEF8-050F-4462-AD72-2CEA05DF1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76225"/>
            <a:ext cx="1428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22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322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322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322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322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322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322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322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322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322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73747"/>
                </a:solidFill>
                <a:latin typeface="DejaVu Sans"/>
                <a:ea typeface="DejaVu Sans"/>
                <a:cs typeface="DejaVu Sans"/>
              </a:rPr>
              <a:t>15  LK_P141_07  structure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A0F6E3D-02A9-4249-8568-05BA839E8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95350"/>
            <a:ext cx="1428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8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8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8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8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8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8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8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8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8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50616C"/>
                </a:solidFill>
                <a:latin typeface="DejaVu Sans"/>
                <a:ea typeface="DejaVu Sans"/>
                <a:cs typeface="DejaVu Sans"/>
              </a:rPr>
              <a:t>D-L-D fusion   Candidate A: 121 aa   Human GLP1R B: 440 aa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214D39D-15CE-433B-95B8-FF36C8B01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362075"/>
            <a:ext cx="619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7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87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87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87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87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87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87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87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87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87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173747"/>
                </a:solidFill>
                <a:latin typeface="DejaVu Sans"/>
                <a:ea typeface="DejaVu Sans"/>
                <a:cs typeface="DejaVu Sans"/>
              </a:rPr>
              <a:t>Boltz2 Exact receptor complex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CF1AF54-233D-4581-A2CA-05C6A25B1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362075"/>
            <a:ext cx="619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7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87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87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87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87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87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87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87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87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87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173747"/>
                </a:solidFill>
                <a:latin typeface="DejaVu Sans"/>
                <a:ea typeface="DejaVu Sans"/>
                <a:cs typeface="DejaVu Sans"/>
              </a:rPr>
              <a:t>Boltz2 Exact interface detail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37FDADA-5843-49E6-8D22-EC33F8FDB8A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5647cf329b34d22"/>
          <a:stretch xmlns:a="http://schemas.openxmlformats.org/drawingml/2006/main"/>
        </p:blipFill>
        <p:spPr>
          <a:xfrm xmlns:a="http://schemas.openxmlformats.org/drawingml/2006/main">
            <a:off x="2344208" y="1724025"/>
            <a:ext cx="3217333" cy="4572000"/>
          </a:xfrm>
          <a:prstGeom xmlns:a="http://schemas.openxmlformats.org/drawingml/2006/main" prst="rect">
            <a:avLst/>
          </a:prstGeom>
        </p:spPr>
      </p:pic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81A7E02-EB9E-4982-AE8E-73CDA4F6010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a53d935e090455c"/>
          <a:stretch xmlns:a="http://schemas.openxmlformats.org/drawingml/2006/main"/>
        </p:blipFill>
        <p:spPr>
          <a:xfrm xmlns:a="http://schemas.openxmlformats.org/drawingml/2006/main">
            <a:off x="9296093" y="1724025"/>
            <a:ext cx="3982065" cy="457200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4A37DE4-4768-47F8-8C43-9D61DD9A8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579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650" b="1">
                <a:solidFill>
                  <a:srgbClr val="E69F00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650" b="1">
                <a:solidFill>
                  <a:srgbClr val="E69F00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650" b="1">
                <a:solidFill>
                  <a:srgbClr val="E69F00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650" b="1">
                <a:solidFill>
                  <a:srgbClr val="E69F00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650" b="1">
                <a:solidFill>
                  <a:srgbClr val="E69F00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650" b="1">
                <a:solidFill>
                  <a:srgbClr val="E69F00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650" b="1">
                <a:solidFill>
                  <a:srgbClr val="E69F00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650" b="1">
                <a:solidFill>
                  <a:srgbClr val="E69F00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650" b="1">
                <a:solidFill>
                  <a:srgbClr val="E69F00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650" b="1">
                <a:solidFill>
                  <a:srgbClr val="E69F00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E69F00"/>
                </a:solidFill>
                <a:latin typeface="DejaVu Sans"/>
                <a:ea typeface="DejaVu Sans"/>
                <a:cs typeface="DejaVu Sans"/>
              </a:defRPr>
            </a:pPr>
            <a:r>
              <a:rPr sz="1650" b="1">
                <a:solidFill>
                  <a:srgbClr val="E69F00"/>
                </a:solidFill>
                <a:latin typeface="DejaVu Sans"/>
                <a:ea typeface="DejaVu Sans"/>
                <a:cs typeface="DejaVu Sans"/>
              </a:rPr>
              <a:t>LigandForge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5451B7F-262F-4B64-879D-88842246D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64579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650" b="1">
                <a:solidFill>
                  <a:srgbClr val="AA4499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650" b="1">
                <a:solidFill>
                  <a:srgbClr val="AA4499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650" b="1">
                <a:solidFill>
                  <a:srgbClr val="AA4499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650" b="1">
                <a:solidFill>
                  <a:srgbClr val="AA4499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650" b="1">
                <a:solidFill>
                  <a:srgbClr val="AA4499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650" b="1">
                <a:solidFill>
                  <a:srgbClr val="AA4499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650" b="1">
                <a:solidFill>
                  <a:srgbClr val="AA4499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650" b="1">
                <a:solidFill>
                  <a:srgbClr val="AA4499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650" b="1">
                <a:solidFill>
                  <a:srgbClr val="AA4499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650" b="1">
                <a:solidFill>
                  <a:srgbClr val="AA4499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AA4499"/>
                </a:solidFill>
                <a:latin typeface="DejaVu Sans"/>
                <a:ea typeface="DejaVu Sans"/>
                <a:cs typeface="DejaVu Sans"/>
              </a:defRPr>
            </a:pPr>
            <a:r>
              <a:rPr sz="1650" b="1">
                <a:solidFill>
                  <a:srgbClr val="AA4499"/>
                </a:solidFill>
                <a:latin typeface="DejaVu Sans"/>
                <a:ea typeface="DejaVu Sans"/>
                <a:cs typeface="DejaVu Sans"/>
              </a:rPr>
              <a:t>Linker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FF123C1-53DE-4343-86E6-C39810617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64579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650" b="1">
                <a:solidFill>
                  <a:srgbClr val="0072B2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650" b="1">
                <a:solidFill>
                  <a:srgbClr val="0072B2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650" b="1">
                <a:solidFill>
                  <a:srgbClr val="0072B2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650" b="1">
                <a:solidFill>
                  <a:srgbClr val="0072B2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650" b="1">
                <a:solidFill>
                  <a:srgbClr val="0072B2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650" b="1">
                <a:solidFill>
                  <a:srgbClr val="0072B2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650" b="1">
                <a:solidFill>
                  <a:srgbClr val="0072B2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650" b="1">
                <a:solidFill>
                  <a:srgbClr val="0072B2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650" b="1">
                <a:solidFill>
                  <a:srgbClr val="0072B2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650" b="1">
                <a:solidFill>
                  <a:srgbClr val="0072B2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0072B2"/>
                </a:solidFill>
                <a:latin typeface="DejaVu Sans"/>
                <a:ea typeface="DejaVu Sans"/>
                <a:cs typeface="DejaVu Sans"/>
              </a:defRPr>
            </a:pPr>
            <a:r>
              <a:rPr sz="1650" b="1">
                <a:solidFill>
                  <a:srgbClr val="0072B2"/>
                </a:solidFill>
                <a:latin typeface="DejaVu Sans"/>
                <a:ea typeface="DejaVu Sans"/>
                <a:cs typeface="DejaVu Sans"/>
              </a:rPr>
              <a:t>ECD binder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C873FFE-F8AC-4716-9703-E32A017A7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64579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650" b="1">
                <a:solidFill>
                  <a:srgbClr val="009E73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650" b="1">
                <a:solidFill>
                  <a:srgbClr val="009E73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650" b="1">
                <a:solidFill>
                  <a:srgbClr val="009E73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650" b="1">
                <a:solidFill>
                  <a:srgbClr val="009E73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650" b="1">
                <a:solidFill>
                  <a:srgbClr val="009E73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650" b="1">
                <a:solidFill>
                  <a:srgbClr val="009E73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650" b="1">
                <a:solidFill>
                  <a:srgbClr val="009E73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650" b="1">
                <a:solidFill>
                  <a:srgbClr val="009E73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650" b="1">
                <a:solidFill>
                  <a:srgbClr val="009E73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650" b="1">
                <a:solidFill>
                  <a:srgbClr val="009E73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009E73"/>
                </a:solidFill>
                <a:latin typeface="DejaVu Sans"/>
                <a:ea typeface="DejaVu Sans"/>
                <a:cs typeface="DejaVu Sans"/>
              </a:defRPr>
            </a:pPr>
            <a:r>
              <a:rPr sz="1650" b="1">
                <a:solidFill>
                  <a:srgbClr val="009E73"/>
                </a:solidFill>
                <a:latin typeface="DejaVu Sans"/>
                <a:ea typeface="DejaVu Sans"/>
                <a:cs typeface="DejaVu Sans"/>
              </a:rPr>
              <a:t>Receptor ECD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C12CB81-AEEB-47C3-903A-1F90A4430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64579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650" b="1">
                <a:solidFill>
                  <a:srgbClr val="7B8794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650" b="1">
                <a:solidFill>
                  <a:srgbClr val="7B8794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650" b="1">
                <a:solidFill>
                  <a:srgbClr val="7B8794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650" b="1">
                <a:solidFill>
                  <a:srgbClr val="7B8794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650" b="1">
                <a:solidFill>
                  <a:srgbClr val="7B8794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650" b="1">
                <a:solidFill>
                  <a:srgbClr val="7B8794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650" b="1">
                <a:solidFill>
                  <a:srgbClr val="7B8794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650" b="1">
                <a:solidFill>
                  <a:srgbClr val="7B8794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650" b="1">
                <a:solidFill>
                  <a:srgbClr val="7B8794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650" b="1">
                <a:solidFill>
                  <a:srgbClr val="7B8794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7B8794"/>
                </a:solidFill>
                <a:latin typeface="DejaVu Sans"/>
                <a:ea typeface="DejaVu Sans"/>
                <a:cs typeface="DejaVu Sans"/>
              </a:defRPr>
            </a:pPr>
            <a:r>
              <a:rPr sz="1650" b="1">
                <a:solidFill>
                  <a:srgbClr val="7B8794"/>
                </a:solidFill>
                <a:latin typeface="DejaVu Sans"/>
                <a:ea typeface="DejaVu Sans"/>
                <a:cs typeface="DejaVu Sans"/>
              </a:rPr>
              <a:t>Remaining receptor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2AAA6F7-492E-4509-ABF1-C677BBA77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0" y="64579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650" b="1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650" b="1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650" b="1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650" b="1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650" b="1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650" b="1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650" b="1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650" b="1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650" b="1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650" b="1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1650" b="1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Hotspots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39B7398-846B-4A98-AA6E-A62AA95BA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800850"/>
            <a:ext cx="1428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42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42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42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42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42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42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42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42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42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42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>
                <a:solidFill>
                  <a:srgbClr val="50616C"/>
                </a:solidFill>
                <a:latin typeface="DejaVu Sans"/>
                <a:ea typeface="DejaVu Sans"/>
                <a:cs typeface="DejaVu Sans"/>
              </a:rPr>
              <a:t>Receptor ECD B1–105 (UniProt 24–128). Black sticks: E34, Q37 and R40. View-specific zoom.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A03DCBD-3073-40DD-9EA2-3E40F67FD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134225"/>
            <a:ext cx="14192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57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57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57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57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57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57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57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57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57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57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57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pPr>
            <a:r>
              <a:rPr sz="1575" b="1">
                <a:solidFill>
                  <a:srgbClr val="173747"/>
                </a:solidFill>
                <a:latin typeface="DejaVu Sans"/>
                <a:ea typeface="DejaVu Sans"/>
                <a:cs typeface="DejaVu Sans"/>
              </a:rPr>
              <a:t>Complete selected sequence, N to C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178DA22-F2A0-4B44-BB04-3E5A22C1D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429500"/>
            <a:ext cx="141922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500" b="0">
                <a:solidFill>
                  <a:srgbClr val="173747"/>
                </a:solidFill>
                <a:latin typeface="DejaVu Sans Mono"/>
                <a:ea typeface="DejaVu Sans Mono"/>
                <a:cs typeface="DejaVu Sans Mono"/>
              </a:defRPr>
            </a:defPPr>
            <a:lvl1pPr>
              <a:defRPr sz="1500" b="0">
                <a:solidFill>
                  <a:srgbClr val="173747"/>
                </a:solidFill>
                <a:latin typeface="DejaVu Sans Mono"/>
                <a:ea typeface="DejaVu Sans Mono"/>
                <a:cs typeface="DejaVu Sans Mono"/>
              </a:defRPr>
            </a:lvl1pPr>
            <a:lvl2pPr>
              <a:defRPr sz="1500" b="0">
                <a:solidFill>
                  <a:srgbClr val="173747"/>
                </a:solidFill>
                <a:latin typeface="DejaVu Sans Mono"/>
                <a:ea typeface="DejaVu Sans Mono"/>
                <a:cs typeface="DejaVu Sans Mono"/>
              </a:defRPr>
            </a:lvl2pPr>
            <a:lvl3pPr>
              <a:defRPr sz="1500" b="0">
                <a:solidFill>
                  <a:srgbClr val="173747"/>
                </a:solidFill>
                <a:latin typeface="DejaVu Sans Mono"/>
                <a:ea typeface="DejaVu Sans Mono"/>
                <a:cs typeface="DejaVu Sans Mono"/>
              </a:defRPr>
            </a:lvl3pPr>
            <a:lvl4pPr>
              <a:defRPr sz="1500" b="0">
                <a:solidFill>
                  <a:srgbClr val="173747"/>
                </a:solidFill>
                <a:latin typeface="DejaVu Sans Mono"/>
                <a:ea typeface="DejaVu Sans Mono"/>
                <a:cs typeface="DejaVu Sans Mono"/>
              </a:defRPr>
            </a:lvl4pPr>
            <a:lvl5pPr>
              <a:defRPr sz="1500" b="0">
                <a:solidFill>
                  <a:srgbClr val="173747"/>
                </a:solidFill>
                <a:latin typeface="DejaVu Sans Mono"/>
                <a:ea typeface="DejaVu Sans Mono"/>
                <a:cs typeface="DejaVu Sans Mono"/>
              </a:defRPr>
            </a:lvl5pPr>
            <a:lvl6pPr>
              <a:defRPr sz="1500" b="0">
                <a:solidFill>
                  <a:srgbClr val="173747"/>
                </a:solidFill>
                <a:latin typeface="DejaVu Sans Mono"/>
                <a:ea typeface="DejaVu Sans Mono"/>
                <a:cs typeface="DejaVu Sans Mono"/>
              </a:defRPr>
            </a:lvl6pPr>
            <a:lvl7pPr>
              <a:defRPr sz="1500" b="0">
                <a:solidFill>
                  <a:srgbClr val="173747"/>
                </a:solidFill>
                <a:latin typeface="DejaVu Sans Mono"/>
                <a:ea typeface="DejaVu Sans Mono"/>
                <a:cs typeface="DejaVu Sans Mono"/>
              </a:defRPr>
            </a:lvl7pPr>
            <a:lvl8pPr>
              <a:defRPr sz="1500" b="0">
                <a:solidFill>
                  <a:srgbClr val="173747"/>
                </a:solidFill>
                <a:latin typeface="DejaVu Sans Mono"/>
                <a:ea typeface="DejaVu Sans Mono"/>
                <a:cs typeface="DejaVu Sans Mono"/>
              </a:defRPr>
            </a:lvl8pPr>
            <a:lvl9pPr>
              <a:defRPr sz="1500" b="0">
                <a:solidFill>
                  <a:srgbClr val="173747"/>
                </a:solidFill>
                <a:latin typeface="DejaVu Sans Mono"/>
                <a:ea typeface="DejaVu Sans Mono"/>
                <a:cs typeface="DejaVu Sans Mono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173747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00" b="0">
                <a:solidFill>
                  <a:srgbClr val="173747"/>
                </a:solidFill>
                <a:latin typeface="DejaVu Sans Mono"/>
                <a:ea typeface="DejaVu Sans Mono"/>
                <a:cs typeface="DejaVu Sans Mono"/>
              </a:rPr>
              <a:t>MVSIGSTGFDGLLQLDEELRNLFLQRLVLGRLGSGLPPPPPPVDVIPPSEVKEVSGATIDLRVKTCVDFKQTVN</a:t>
            </a:r>
          </a:p>
          <a:p xmlns:a="http://schemas.openxmlformats.org/drawingml/2006/main">
            <a:pPr>
              <a:defRPr sz="1500" b="0">
                <a:solidFill>
                  <a:srgbClr val="173747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00" b="0">
                <a:solidFill>
                  <a:srgbClr val="173747"/>
                </a:solidFill>
                <a:latin typeface="DejaVu Sans Mono"/>
                <a:ea typeface="DejaVu Sans Mono"/>
                <a:cs typeface="DejaVu Sans Mono"/>
              </a:rPr>
              <a:t>FFKLRNTQLPGSCTKDNTVLFLLEGLKLGYASRYFSIGSGSGSQQFS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60B6709-14C3-4033-80C6-E19981F39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248650"/>
            <a:ext cx="1304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2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2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2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2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2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2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2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2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2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2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50616C"/>
                </a:solidFill>
                <a:latin typeface="DejaVu Sans"/>
                <a:ea typeface="DejaVu Sans"/>
                <a:cs typeface="DejaVu Sans"/>
              </a:rPr>
              <a:t>Human GLP1R     Boltz2 Exact     Computational predictions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4561C19-088F-4B07-95E2-F2CFE2B4B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0" y="82486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2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2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2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2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2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2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2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2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2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2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50616C"/>
                </a:solidFill>
                <a:latin typeface="DejaVu Sans"/>
                <a:ea typeface="DejaVu Sans"/>
                <a:cs typeface="DejaVu Sans"/>
              </a:rPr>
              <a:t>30</a:t>
            </a:r>
          </a:p>
        </p:txBody>
      </p:sp>
    </p:spTree>
    <p:extLst>
      <p:ext uri="{BB962C8B-B14F-4D97-AF65-F5344CB8AC3E}">
        <p14:creationId xmlns:p14="http://schemas.microsoft.com/office/powerpoint/2010/main" val="607716726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60D8D66-5697-494E-AABC-D136242D4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76225"/>
            <a:ext cx="1428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22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322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322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322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322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322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322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322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322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322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73747"/>
                </a:solidFill>
                <a:latin typeface="DejaVu Sans"/>
                <a:ea typeface="DejaVu Sans"/>
                <a:cs typeface="DejaVu Sans"/>
              </a:rPr>
              <a:t>16  LK_P002_05  metrics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3C5FAB5-B870-4D01-A8CF-4B51F00B1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95350"/>
            <a:ext cx="1428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8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8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8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8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8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8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8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8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8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50616C"/>
                </a:solidFill>
                <a:latin typeface="DejaVu Sans"/>
                <a:ea typeface="DejaVu Sans"/>
                <a:cs typeface="DejaVu Sans"/>
              </a:rPr>
              <a:t>D-L-D fusion   Candidate A: 104 aa   Human GLP1R B: 440 aa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50AB201-31EB-4E5C-B80C-87351C10585C}"/>
              </a:ext>
            </a:extLst>
          </p:cNvPr>
          <p:cNvGraphicFramePr/>
          <p:nvPr/>
        </p:nvGraphicFramePr>
        <p:xfrm>
          <a:off xmlns:a="http://schemas.openxmlformats.org/drawingml/2006/main" x="457200" y="1457325"/>
          <a:ext xmlns:a="http://schemas.openxmlformats.org/drawingml/2006/main" cx="9667875" cy="48006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6791325"/>
                <a:gridCol w="2876550"/>
              </a:tblGrid>
              <a:tr h="34290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Metric and scope</a:t>
                      </a:r>
                    </a:p>
                  </a:txBody>
                  <a:tcPr marL="91440" marR="91440" marT="45720" marB="45720">
                    <a:lnL w="5715">
                      <a:solidFill>
                        <a:srgbClr val="D8E1E5"/>
                      </a:solidFill>
                      <a:prstDash val="solid"/>
                    </a:lnL>
                    <a:lnR w="5715">
                      <a:solidFill>
                        <a:srgbClr val="D8E1E5"/>
                      </a:solidFill>
                      <a:prstDash val="solid"/>
                    </a:lnR>
                    <a:lnT w="5715">
                      <a:solidFill>
                        <a:srgbClr val="D8E1E5"/>
                      </a:solidFill>
                      <a:prstDash val="solid"/>
                    </a:lnT>
                    <a:lnB w="5715">
                      <a:solidFill>
                        <a:srgbClr val="D8E1E5"/>
                      </a:solidFill>
                      <a:prstDash val="solid"/>
                    </a:lnB>
                    <a:solidFill>
                      <a:srgbClr val="245D7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Value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8E1E5"/>
                      </a:solidFill>
                      <a:prstDash val="solid"/>
                    </a:lnR>
                    <a:lnT w="5715">
                      <a:solidFill>
                        <a:srgbClr val="D8E1E5"/>
                      </a:solidFill>
                      <a:prstDash val="solid"/>
                    </a:lnT>
                    <a:lnB w="5715">
                      <a:solidFill>
                        <a:srgbClr val="D8E1E5"/>
                      </a:solidFill>
                      <a:prstDash val="solid"/>
                    </a:lnB>
                    <a:solidFill>
                      <a:srgbClr val="245D73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73747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Boltz2 Exact ipSAE (A/B, Type=max)</a:t>
                      </a:r>
                    </a:p>
                  </a:txBody>
                  <a:tcPr marL="91440" marR="91440" marT="45720" marB="45720">
                    <a:lnL w="5715">
                      <a:solidFill>
                        <a:srgbClr val="D8E1E5"/>
                      </a:solidFill>
                      <a:prstDash val="solid"/>
                    </a:lnL>
                    <a:lnR w="5715">
                      <a:solidFill>
                        <a:srgbClr val="D8E1E5"/>
                      </a:solidFill>
                      <a:prstDash val="solid"/>
                    </a:lnR>
                    <a:lnB w="5715">
                      <a:solidFill>
                        <a:srgbClr val="D8E1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73747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0.899462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8E1E5"/>
                      </a:solidFill>
                      <a:prstDash val="solid"/>
                    </a:lnR>
                    <a:lnB w="5715">
                      <a:solidFill>
                        <a:srgbClr val="D8E1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73747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DeltaForge predicted Kd (nM)</a:t>
                      </a:r>
                    </a:p>
                  </a:txBody>
                  <a:tcPr marL="91440" marR="91440" marT="45720" marB="45720">
                    <a:lnL w="5715">
                      <a:solidFill>
                        <a:srgbClr val="D8E1E5"/>
                      </a:solidFill>
                      <a:prstDash val="solid"/>
                    </a:lnL>
                    <a:lnR w="5715">
                      <a:solidFill>
                        <a:srgbClr val="D8E1E5"/>
                      </a:solidFill>
                      <a:prstDash val="solid"/>
                    </a:lnR>
                    <a:lnB w="5715">
                      <a:solidFill>
                        <a:srgbClr val="D8E1E5"/>
                      </a:solidFill>
                      <a:prstDash val="solid"/>
                    </a:lnB>
                    <a:solidFill>
                      <a:srgbClr val="F1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73747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0.8130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8E1E5"/>
                      </a:solidFill>
                      <a:prstDash val="solid"/>
                    </a:lnR>
                    <a:lnB w="5715">
                      <a:solidFill>
                        <a:srgbClr val="D8E1E5"/>
                      </a:solidFill>
                      <a:prstDash val="solid"/>
                    </a:lnB>
                    <a:solidFill>
                      <a:srgbClr val="F1F5F7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73747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Boltz2 Exact ipTM</a:t>
                      </a:r>
                    </a:p>
                  </a:txBody>
                  <a:tcPr marL="91440" marR="91440" marT="45720" marB="45720">
                    <a:lnL w="5715">
                      <a:solidFill>
                        <a:srgbClr val="D8E1E5"/>
                      </a:solidFill>
                      <a:prstDash val="solid"/>
                    </a:lnL>
                    <a:lnR w="5715">
                      <a:solidFill>
                        <a:srgbClr val="D8E1E5"/>
                      </a:solidFill>
                      <a:prstDash val="solid"/>
                    </a:lnR>
                    <a:lnB w="5715">
                      <a:solidFill>
                        <a:srgbClr val="D8E1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73747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0.9370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8E1E5"/>
                      </a:solidFill>
                      <a:prstDash val="solid"/>
                    </a:lnR>
                    <a:lnB w="5715">
                      <a:solidFill>
                        <a:srgbClr val="D8E1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73747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Original population ipSAE rank</a:t>
                      </a:r>
                    </a:p>
                  </a:txBody>
                  <a:tcPr marL="91440" marR="91440" marT="45720" marB="45720">
                    <a:lnL w="5715">
                      <a:solidFill>
                        <a:srgbClr val="D8E1E5"/>
                      </a:solidFill>
                      <a:prstDash val="solid"/>
                    </a:lnL>
                    <a:lnR w="5715">
                      <a:solidFill>
                        <a:srgbClr val="D8E1E5"/>
                      </a:solidFill>
                      <a:prstDash val="solid"/>
                    </a:lnR>
                    <a:lnB w="5715">
                      <a:solidFill>
                        <a:srgbClr val="D8E1E5"/>
                      </a:solidFill>
                      <a:prstDash val="solid"/>
                    </a:lnB>
                    <a:solidFill>
                      <a:srgbClr val="F1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73747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16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8E1E5"/>
                      </a:solidFill>
                      <a:prstDash val="solid"/>
                    </a:lnR>
                    <a:lnB w="5715">
                      <a:solidFill>
                        <a:srgbClr val="D8E1E5"/>
                      </a:solidFill>
                      <a:prstDash val="solid"/>
                    </a:lnB>
                    <a:solidFill>
                      <a:srgbClr val="F1F5F7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73747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Predicted-Kd rank within population top50</a:t>
                      </a:r>
                    </a:p>
                  </a:txBody>
                  <a:tcPr marL="91440" marR="91440" marT="45720" marB="45720">
                    <a:lnL w="5715">
                      <a:solidFill>
                        <a:srgbClr val="D8E1E5"/>
                      </a:solidFill>
                      <a:prstDash val="solid"/>
                    </a:lnL>
                    <a:lnR w="5715">
                      <a:solidFill>
                        <a:srgbClr val="D8E1E5"/>
                      </a:solidFill>
                      <a:prstDash val="solid"/>
                    </a:lnR>
                    <a:lnB w="5715">
                      <a:solidFill>
                        <a:srgbClr val="D8E1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73747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4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8E1E5"/>
                      </a:solidFill>
                      <a:prstDash val="solid"/>
                    </a:lnR>
                    <a:lnB w="5715">
                      <a:solidFill>
                        <a:srgbClr val="D8E1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73747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Candidate / receptor residues (aa)</a:t>
                      </a:r>
                    </a:p>
                  </a:txBody>
                  <a:tcPr marL="91440" marR="91440" marT="45720" marB="45720">
                    <a:lnL w="5715">
                      <a:solidFill>
                        <a:srgbClr val="D8E1E5"/>
                      </a:solidFill>
                      <a:prstDash val="solid"/>
                    </a:lnL>
                    <a:lnR w="5715">
                      <a:solidFill>
                        <a:srgbClr val="D8E1E5"/>
                      </a:solidFill>
                      <a:prstDash val="solid"/>
                    </a:lnR>
                    <a:lnB w="5715">
                      <a:solidFill>
                        <a:srgbClr val="D8E1E5"/>
                      </a:solidFill>
                      <a:prstDash val="solid"/>
                    </a:lnB>
                    <a:solidFill>
                      <a:srgbClr val="F1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73747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104 / 440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8E1E5"/>
                      </a:solidFill>
                      <a:prstDash val="solid"/>
                    </a:lnR>
                    <a:lnB w="5715">
                      <a:solidFill>
                        <a:srgbClr val="D8E1E5"/>
                      </a:solidFill>
                      <a:prstDash val="solid"/>
                    </a:lnB>
                    <a:solidFill>
                      <a:srgbClr val="F1F5F7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73747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pDockQ / pDockQ2</a:t>
                      </a:r>
                    </a:p>
                  </a:txBody>
                  <a:tcPr marL="91440" marR="91440" marT="45720" marB="45720">
                    <a:lnL w="5715">
                      <a:solidFill>
                        <a:srgbClr val="D8E1E5"/>
                      </a:solidFill>
                      <a:prstDash val="solid"/>
                    </a:lnL>
                    <a:lnR w="5715">
                      <a:solidFill>
                        <a:srgbClr val="D8E1E5"/>
                      </a:solidFill>
                      <a:prstDash val="solid"/>
                    </a:lnR>
                    <a:lnB w="5715">
                      <a:solidFill>
                        <a:srgbClr val="D8E1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73747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0.1832 / 0.1014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8E1E5"/>
                      </a:solidFill>
                      <a:prstDash val="solid"/>
                    </a:lnR>
                    <a:lnB w="5715">
                      <a:solidFill>
                        <a:srgbClr val="D8E1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73747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Whole fusion / linker pLDDT (0-100)</a:t>
                      </a:r>
                    </a:p>
                  </a:txBody>
                  <a:tcPr marL="91440" marR="91440" marT="45720" marB="45720">
                    <a:lnL w="5715">
                      <a:solidFill>
                        <a:srgbClr val="D8E1E5"/>
                      </a:solidFill>
                      <a:prstDash val="solid"/>
                    </a:lnL>
                    <a:lnR w="5715">
                      <a:solidFill>
                        <a:srgbClr val="D8E1E5"/>
                      </a:solidFill>
                      <a:prstDash val="solid"/>
                    </a:lnR>
                    <a:lnB w="5715">
                      <a:solidFill>
                        <a:srgbClr val="D8E1E5"/>
                      </a:solidFill>
                      <a:prstDash val="solid"/>
                    </a:lnB>
                    <a:solidFill>
                      <a:srgbClr val="F1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73747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43.8 / 38.2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8E1E5"/>
                      </a:solidFill>
                      <a:prstDash val="solid"/>
                    </a:lnR>
                    <a:lnB w="5715">
                      <a:solidFill>
                        <a:srgbClr val="D8E1E5"/>
                      </a:solidFill>
                      <a:prstDash val="solid"/>
                    </a:lnB>
                    <a:solidFill>
                      <a:srgbClr val="F1F5F7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73747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ECD / LigandForge pLDDT (0-100)</a:t>
                      </a:r>
                    </a:p>
                  </a:txBody>
                  <a:tcPr marL="91440" marR="91440" marT="45720" marB="45720">
                    <a:lnL w="5715">
                      <a:solidFill>
                        <a:srgbClr val="D8E1E5"/>
                      </a:solidFill>
                      <a:prstDash val="solid"/>
                    </a:lnL>
                    <a:lnR w="5715">
                      <a:solidFill>
                        <a:srgbClr val="D8E1E5"/>
                      </a:solidFill>
                      <a:prstDash val="solid"/>
                    </a:lnR>
                    <a:lnB w="5715">
                      <a:solidFill>
                        <a:srgbClr val="D8E1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73747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51.5 / 37.1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8E1E5"/>
                      </a:solidFill>
                      <a:prstDash val="solid"/>
                    </a:lnR>
                    <a:lnB w="5715">
                      <a:solidFill>
                        <a:srgbClr val="D8E1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73747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Fusion design-to-refold DockQ</a:t>
                      </a:r>
                    </a:p>
                  </a:txBody>
                  <a:tcPr marL="91440" marR="91440" marT="45720" marB="45720">
                    <a:lnL w="5715">
                      <a:solidFill>
                        <a:srgbClr val="D8E1E5"/>
                      </a:solidFill>
                      <a:prstDash val="solid"/>
                    </a:lnL>
                    <a:lnR w="5715">
                      <a:solidFill>
                        <a:srgbClr val="D8E1E5"/>
                      </a:solidFill>
                      <a:prstDash val="solid"/>
                    </a:lnR>
                    <a:lnB w="5715">
                      <a:solidFill>
                        <a:srgbClr val="D8E1E5"/>
                      </a:solidFill>
                      <a:prstDash val="solid"/>
                    </a:lnB>
                    <a:solidFill>
                      <a:srgbClr val="F1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73747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0.0893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8E1E5"/>
                      </a:solidFill>
                      <a:prstDash val="solid"/>
                    </a:lnR>
                    <a:lnB w="5715">
                      <a:solidFill>
                        <a:srgbClr val="D8E1E5"/>
                      </a:solidFill>
                      <a:prstDash val="solid"/>
                    </a:lnB>
                    <a:solidFill>
                      <a:srgbClr val="F1F5F7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73747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Free C-terminal OPM z (A)</a:t>
                      </a:r>
                    </a:p>
                  </a:txBody>
                  <a:tcPr marL="91440" marR="91440" marT="45720" marB="45720">
                    <a:lnL w="5715">
                      <a:solidFill>
                        <a:srgbClr val="D8E1E5"/>
                      </a:solidFill>
                      <a:prstDash val="solid"/>
                    </a:lnL>
                    <a:lnR w="5715">
                      <a:solidFill>
                        <a:srgbClr val="D8E1E5"/>
                      </a:solidFill>
                      <a:prstDash val="solid"/>
                    </a:lnR>
                    <a:lnB w="5715">
                      <a:solidFill>
                        <a:srgbClr val="D8E1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73747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42.07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8E1E5"/>
                      </a:solidFill>
                      <a:prstDash val="solid"/>
                    </a:lnR>
                    <a:lnB w="5715">
                      <a:solidFill>
                        <a:srgbClr val="D8E1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73747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Extracellular free C-terminal screen</a:t>
                      </a:r>
                    </a:p>
                  </a:txBody>
                  <a:tcPr marL="91440" marR="91440" marT="45720" marB="45720">
                    <a:lnL w="5715">
                      <a:solidFill>
                        <a:srgbClr val="D8E1E5"/>
                      </a:solidFill>
                      <a:prstDash val="solid"/>
                    </a:lnL>
                    <a:lnR w="5715">
                      <a:solidFill>
                        <a:srgbClr val="D8E1E5"/>
                      </a:solidFill>
                      <a:prstDash val="solid"/>
                    </a:lnR>
                    <a:lnB w="5715">
                      <a:solidFill>
                        <a:srgbClr val="D8E1E5"/>
                      </a:solidFill>
                      <a:prstDash val="solid"/>
                    </a:lnB>
                    <a:solidFill>
                      <a:srgbClr val="F1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73747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Pass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8E1E5"/>
                      </a:solidFill>
                      <a:prstDash val="solid"/>
                    </a:lnR>
                    <a:lnB w="5715">
                      <a:solidFill>
                        <a:srgbClr val="D8E1E5"/>
                      </a:solidFill>
                      <a:prstDash val="solid"/>
                    </a:lnB>
                    <a:solidFill>
                      <a:srgbClr val="F1F5F7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73747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DeltaForge length scope</a:t>
                      </a:r>
                    </a:p>
                  </a:txBody>
                  <a:tcPr marL="91440" marR="91440" marT="45720" marB="45720">
                    <a:lnL w="5715">
                      <a:solidFill>
                        <a:srgbClr val="D8E1E5"/>
                      </a:solidFill>
                      <a:prstDash val="solid"/>
                    </a:lnL>
                    <a:lnR w="5715">
                      <a:solidFill>
                        <a:srgbClr val="D8E1E5"/>
                      </a:solidFill>
                      <a:prstDash val="solid"/>
                    </a:lnR>
                    <a:lnB w="5715">
                      <a:solidFill>
                        <a:srgbClr val="D8E1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73747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core_40_119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8E1E5"/>
                      </a:solidFill>
                      <a:prstDash val="solid"/>
                    </a:lnR>
                    <a:lnB w="5715">
                      <a:solidFill>
                        <a:srgbClr val="D8E1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9B7959B-FDDF-434E-840C-876AEC4B1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1457325"/>
            <a:ext cx="4095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950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950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950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950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950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950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950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950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950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950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173747"/>
                </a:solidFill>
                <a:latin typeface="DejaVu Sans"/>
                <a:ea typeface="DejaVu Sans"/>
                <a:cs typeface="DejaVu Sans"/>
              </a:rPr>
              <a:t>Origin and prediction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6E629F8-F291-4656-A77D-B1E25D07E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1952625"/>
            <a:ext cx="4095750" cy="390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725" b="0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725" b="0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725" b="0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725" b="0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725" b="0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725" b="0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725" b="0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725" b="0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725" b="0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725" b="0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173747"/>
                </a:solidFill>
                <a:latin typeface="DejaVu Sans"/>
                <a:ea typeface="DejaVu Sans"/>
                <a:cs typeface="DejaVu Sans"/>
              </a:rPr>
              <a:t>ECD parent S10_03_014</a:t>
            </a:r>
          </a:p>
          <a:p xmlns:a="http://schemas.openxmlformats.org/drawingml/2006/main">
            <a:pPr>
              <a:defRPr sz="1725" b="0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173747"/>
                </a:solidFill>
                <a:latin typeface="DejaVu Sans"/>
                <a:ea typeface="DejaVu Sans"/>
                <a:cs typeface="DejaVu Sans"/>
              </a:rPr>
              <a:t>LigandForge parent Design_913</a:t>
            </a:r>
          </a:p>
          <a:p xmlns:a="http://schemas.openxmlformats.org/drawingml/2006/main">
            <a:pPr>
              <a:defRPr sz="1725" b="0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173747"/>
                </a:solidFill>
                <a:latin typeface="DejaVu Sans"/>
                <a:ea typeface="DejaVu Sans"/>
                <a:cs typeface="DejaVu Sans"/>
              </a:rPr>
              <a:t>Pair P002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725" b="0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173747"/>
                </a:solidFill>
                <a:latin typeface="DejaVu Sans"/>
                <a:ea typeface="DejaVu Sans"/>
                <a:cs typeface="DejaVu Sans"/>
              </a:rPr>
              <a:t>AP Novo seed 126</a:t>
            </a:r>
          </a:p>
          <a:p xmlns:a="http://schemas.openxmlformats.org/drawingml/2006/main">
            <a:pPr>
              <a:defRPr sz="1725" b="0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173747"/>
                </a:solidFill>
                <a:latin typeface="DejaVu Sans"/>
                <a:ea typeface="DejaVu Sans"/>
                <a:cs typeface="DejaVu Sans"/>
              </a:rPr>
              <a:t>Exact seed 101</a:t>
            </a:r>
          </a:p>
          <a:p xmlns:a="http://schemas.openxmlformats.org/drawingml/2006/main">
            <a:pPr>
              <a:defRPr sz="1725" b="0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173747"/>
                </a:solidFill>
                <a:latin typeface="DejaVu Sans"/>
                <a:ea typeface="DejaVu Sans"/>
                <a:cs typeface="DejaVu Sans"/>
              </a:rPr>
              <a:t>3 recycles, 200 steps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725" b="0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173747"/>
                </a:solidFill>
                <a:latin typeface="DejaVu Sans"/>
                <a:ea typeface="DejaVu Sans"/>
                <a:cs typeface="DejaVu Sans"/>
              </a:rPr>
              <a:t>LF A1-36  linker A37-57  ECD A58-104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B4579C5-694D-4A04-8A1E-E5A9313CF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81750"/>
            <a:ext cx="14192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650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650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650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650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650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650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650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650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650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650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50616C"/>
                </a:solidFill>
                <a:latin typeface="DejaVu Sans"/>
                <a:ea typeface="DejaVu Sans"/>
                <a:cs typeface="DejaVu Sans"/>
              </a:rPr>
              <a:t>Whole-fusion pLDDT remains modest. High interface confidence does not establish activation.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4FF58FB-0CC4-4BC2-97E4-3BA7B06B2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115175"/>
            <a:ext cx="14192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57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57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57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57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57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57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57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57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57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57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57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pPr>
            <a:r>
              <a:rPr sz="1575" b="1">
                <a:solidFill>
                  <a:srgbClr val="173747"/>
                </a:solidFill>
                <a:latin typeface="DejaVu Sans"/>
                <a:ea typeface="DejaVu Sans"/>
                <a:cs typeface="DejaVu Sans"/>
              </a:rPr>
              <a:t>Complete selected sequence, N to C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0F3A978-B920-449B-96B2-0DCA13CE8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410450"/>
            <a:ext cx="141922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500" b="0">
                <a:solidFill>
                  <a:srgbClr val="173747"/>
                </a:solidFill>
                <a:latin typeface="DejaVu Sans Mono"/>
                <a:ea typeface="DejaVu Sans Mono"/>
                <a:cs typeface="DejaVu Sans Mono"/>
              </a:defRPr>
            </a:defPPr>
            <a:lvl1pPr>
              <a:defRPr sz="1500" b="0">
                <a:solidFill>
                  <a:srgbClr val="173747"/>
                </a:solidFill>
                <a:latin typeface="DejaVu Sans Mono"/>
                <a:ea typeface="DejaVu Sans Mono"/>
                <a:cs typeface="DejaVu Sans Mono"/>
              </a:defRPr>
            </a:lvl1pPr>
            <a:lvl2pPr>
              <a:defRPr sz="1500" b="0">
                <a:solidFill>
                  <a:srgbClr val="173747"/>
                </a:solidFill>
                <a:latin typeface="DejaVu Sans Mono"/>
                <a:ea typeface="DejaVu Sans Mono"/>
                <a:cs typeface="DejaVu Sans Mono"/>
              </a:defRPr>
            </a:lvl2pPr>
            <a:lvl3pPr>
              <a:defRPr sz="1500" b="0">
                <a:solidFill>
                  <a:srgbClr val="173747"/>
                </a:solidFill>
                <a:latin typeface="DejaVu Sans Mono"/>
                <a:ea typeface="DejaVu Sans Mono"/>
                <a:cs typeface="DejaVu Sans Mono"/>
              </a:defRPr>
            </a:lvl3pPr>
            <a:lvl4pPr>
              <a:defRPr sz="1500" b="0">
                <a:solidFill>
                  <a:srgbClr val="173747"/>
                </a:solidFill>
                <a:latin typeface="DejaVu Sans Mono"/>
                <a:ea typeface="DejaVu Sans Mono"/>
                <a:cs typeface="DejaVu Sans Mono"/>
              </a:defRPr>
            </a:lvl4pPr>
            <a:lvl5pPr>
              <a:defRPr sz="1500" b="0">
                <a:solidFill>
                  <a:srgbClr val="173747"/>
                </a:solidFill>
                <a:latin typeface="DejaVu Sans Mono"/>
                <a:ea typeface="DejaVu Sans Mono"/>
                <a:cs typeface="DejaVu Sans Mono"/>
              </a:defRPr>
            </a:lvl5pPr>
            <a:lvl6pPr>
              <a:defRPr sz="1500" b="0">
                <a:solidFill>
                  <a:srgbClr val="173747"/>
                </a:solidFill>
                <a:latin typeface="DejaVu Sans Mono"/>
                <a:ea typeface="DejaVu Sans Mono"/>
                <a:cs typeface="DejaVu Sans Mono"/>
              </a:defRPr>
            </a:lvl6pPr>
            <a:lvl7pPr>
              <a:defRPr sz="1500" b="0">
                <a:solidFill>
                  <a:srgbClr val="173747"/>
                </a:solidFill>
                <a:latin typeface="DejaVu Sans Mono"/>
                <a:ea typeface="DejaVu Sans Mono"/>
                <a:cs typeface="DejaVu Sans Mono"/>
              </a:defRPr>
            </a:lvl7pPr>
            <a:lvl8pPr>
              <a:defRPr sz="1500" b="0">
                <a:solidFill>
                  <a:srgbClr val="173747"/>
                </a:solidFill>
                <a:latin typeface="DejaVu Sans Mono"/>
                <a:ea typeface="DejaVu Sans Mono"/>
                <a:cs typeface="DejaVu Sans Mono"/>
              </a:defRPr>
            </a:lvl8pPr>
            <a:lvl9pPr>
              <a:defRPr sz="1500" b="0">
                <a:solidFill>
                  <a:srgbClr val="173747"/>
                </a:solidFill>
                <a:latin typeface="DejaVu Sans Mono"/>
                <a:ea typeface="DejaVu Sans Mono"/>
                <a:cs typeface="DejaVu Sans Mono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173747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00" b="0">
                <a:solidFill>
                  <a:srgbClr val="173747"/>
                </a:solidFill>
                <a:latin typeface="DejaVu Sans Mono"/>
                <a:ea typeface="DejaVu Sans Mono"/>
                <a:cs typeface="DejaVu Sans Mono"/>
              </a:rPr>
              <a:t>NLPRIECSSNKGNVQEDSDVIGGRGSGSGSGSCGIFGKTSTSGPQPVIILPVPVLPGMLPQLFLTHMLSVMVGT</a:t>
            </a:r>
          </a:p>
          <a:p xmlns:a="http://schemas.openxmlformats.org/drawingml/2006/main">
            <a:pPr>
              <a:defRPr sz="1500" b="0">
                <a:solidFill>
                  <a:srgbClr val="173747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00" b="0">
                <a:solidFill>
                  <a:srgbClr val="173747"/>
                </a:solidFill>
                <a:latin typeface="DejaVu Sans Mono"/>
                <a:ea typeface="DejaVu Sans Mono"/>
                <a:cs typeface="DejaVu Sans Mono"/>
              </a:rPr>
              <a:t>GSLDSGLVSAFRGSPLVSEAILGFLKQYLS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7088B67-97D1-48F0-85ED-FC94E6116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248650"/>
            <a:ext cx="1304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2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2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2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2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2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2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2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2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2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2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50616C"/>
                </a:solidFill>
                <a:latin typeface="DejaVu Sans"/>
                <a:ea typeface="DejaVu Sans"/>
                <a:cs typeface="DejaVu Sans"/>
              </a:rPr>
              <a:t>Human GLP1R     Boltz2 Exact     Computational predictions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72BE096-7F9A-428C-9BF0-2DE716653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0" y="82486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2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2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2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2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2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2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2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2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2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2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50616C"/>
                </a:solidFill>
                <a:latin typeface="DejaVu Sans"/>
                <a:ea typeface="DejaVu Sans"/>
                <a:cs typeface="DejaVu Sans"/>
              </a:rPr>
              <a:t>31</a:t>
            </a:r>
          </a:p>
        </p:txBody>
      </p:sp>
    </p:spTree>
    <p:extLst>
      <p:ext uri="{BB962C8B-B14F-4D97-AF65-F5344CB8AC3E}">
        <p14:creationId xmlns:p14="http://schemas.microsoft.com/office/powerpoint/2010/main" val="197710516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CB68AF4-4A57-44CB-999D-8CCC48C5B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76225"/>
            <a:ext cx="1428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22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322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322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322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322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322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322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322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322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322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73747"/>
                </a:solidFill>
                <a:latin typeface="DejaVu Sans"/>
                <a:ea typeface="DejaVu Sans"/>
                <a:cs typeface="DejaVu Sans"/>
              </a:rPr>
              <a:t>16  LK_P002_05  structure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403999E-92D0-4C7B-B5B7-BC3E8E836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95350"/>
            <a:ext cx="1428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8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8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8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8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8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8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8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8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8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50616C"/>
                </a:solidFill>
                <a:latin typeface="DejaVu Sans"/>
                <a:ea typeface="DejaVu Sans"/>
                <a:cs typeface="DejaVu Sans"/>
              </a:rPr>
              <a:t>D-L-D fusion   Candidate A: 104 aa   Human GLP1R B: 440 aa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7750C81-D5FB-4958-AEF4-A12F86FB5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362075"/>
            <a:ext cx="619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7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87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87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87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87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87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87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87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87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87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173747"/>
                </a:solidFill>
                <a:latin typeface="DejaVu Sans"/>
                <a:ea typeface="DejaVu Sans"/>
                <a:cs typeface="DejaVu Sans"/>
              </a:rPr>
              <a:t>Boltz2 Exact receptor complex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70287C3-E376-4E47-BBA9-FC1D866C6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362075"/>
            <a:ext cx="619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7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87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87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87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87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87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87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87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87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87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173747"/>
                </a:solidFill>
                <a:latin typeface="DejaVu Sans"/>
                <a:ea typeface="DejaVu Sans"/>
                <a:cs typeface="DejaVu Sans"/>
              </a:rPr>
              <a:t>Boltz2 Exact interface detail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2AD2A73-51C6-4C6A-B8C4-D430BF43F98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3adadcee2424718"/>
          <a:stretch xmlns:a="http://schemas.openxmlformats.org/drawingml/2006/main"/>
        </p:blipFill>
        <p:spPr>
          <a:xfrm xmlns:a="http://schemas.openxmlformats.org/drawingml/2006/main">
            <a:off x="2344208" y="1724025"/>
            <a:ext cx="3217333" cy="4572000"/>
          </a:xfrm>
          <a:prstGeom xmlns:a="http://schemas.openxmlformats.org/drawingml/2006/main" prst="rect">
            <a:avLst/>
          </a:prstGeom>
        </p:spPr>
      </p:pic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051EF32-6FFE-4724-99E7-9A12AAB6712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553853123db478f"/>
          <a:stretch xmlns:a="http://schemas.openxmlformats.org/drawingml/2006/main"/>
        </p:blipFill>
        <p:spPr>
          <a:xfrm xmlns:a="http://schemas.openxmlformats.org/drawingml/2006/main">
            <a:off x="9296093" y="1724025"/>
            <a:ext cx="3982065" cy="457200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9F486F2-AC77-478D-A1AF-D5F6B36F7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579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650" b="1">
                <a:solidFill>
                  <a:srgbClr val="E69F00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650" b="1">
                <a:solidFill>
                  <a:srgbClr val="E69F00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650" b="1">
                <a:solidFill>
                  <a:srgbClr val="E69F00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650" b="1">
                <a:solidFill>
                  <a:srgbClr val="E69F00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650" b="1">
                <a:solidFill>
                  <a:srgbClr val="E69F00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650" b="1">
                <a:solidFill>
                  <a:srgbClr val="E69F00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650" b="1">
                <a:solidFill>
                  <a:srgbClr val="E69F00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650" b="1">
                <a:solidFill>
                  <a:srgbClr val="E69F00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650" b="1">
                <a:solidFill>
                  <a:srgbClr val="E69F00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650" b="1">
                <a:solidFill>
                  <a:srgbClr val="E69F00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E69F00"/>
                </a:solidFill>
                <a:latin typeface="DejaVu Sans"/>
                <a:ea typeface="DejaVu Sans"/>
                <a:cs typeface="DejaVu Sans"/>
              </a:defRPr>
            </a:pPr>
            <a:r>
              <a:rPr sz="1650" b="1">
                <a:solidFill>
                  <a:srgbClr val="E69F00"/>
                </a:solidFill>
                <a:latin typeface="DejaVu Sans"/>
                <a:ea typeface="DejaVu Sans"/>
                <a:cs typeface="DejaVu Sans"/>
              </a:rPr>
              <a:t>LigandForge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2453C6F-4D80-4EE8-80F3-B7F792819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64579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650" b="1">
                <a:solidFill>
                  <a:srgbClr val="AA4499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650" b="1">
                <a:solidFill>
                  <a:srgbClr val="AA4499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650" b="1">
                <a:solidFill>
                  <a:srgbClr val="AA4499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650" b="1">
                <a:solidFill>
                  <a:srgbClr val="AA4499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650" b="1">
                <a:solidFill>
                  <a:srgbClr val="AA4499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650" b="1">
                <a:solidFill>
                  <a:srgbClr val="AA4499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650" b="1">
                <a:solidFill>
                  <a:srgbClr val="AA4499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650" b="1">
                <a:solidFill>
                  <a:srgbClr val="AA4499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650" b="1">
                <a:solidFill>
                  <a:srgbClr val="AA4499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650" b="1">
                <a:solidFill>
                  <a:srgbClr val="AA4499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AA4499"/>
                </a:solidFill>
                <a:latin typeface="DejaVu Sans"/>
                <a:ea typeface="DejaVu Sans"/>
                <a:cs typeface="DejaVu Sans"/>
              </a:defRPr>
            </a:pPr>
            <a:r>
              <a:rPr sz="1650" b="1">
                <a:solidFill>
                  <a:srgbClr val="AA4499"/>
                </a:solidFill>
                <a:latin typeface="DejaVu Sans"/>
                <a:ea typeface="DejaVu Sans"/>
                <a:cs typeface="DejaVu Sans"/>
              </a:rPr>
              <a:t>Linker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0BD4851-2C19-4AFD-A94D-3910D90C8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64579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650" b="1">
                <a:solidFill>
                  <a:srgbClr val="0072B2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650" b="1">
                <a:solidFill>
                  <a:srgbClr val="0072B2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650" b="1">
                <a:solidFill>
                  <a:srgbClr val="0072B2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650" b="1">
                <a:solidFill>
                  <a:srgbClr val="0072B2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650" b="1">
                <a:solidFill>
                  <a:srgbClr val="0072B2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650" b="1">
                <a:solidFill>
                  <a:srgbClr val="0072B2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650" b="1">
                <a:solidFill>
                  <a:srgbClr val="0072B2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650" b="1">
                <a:solidFill>
                  <a:srgbClr val="0072B2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650" b="1">
                <a:solidFill>
                  <a:srgbClr val="0072B2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650" b="1">
                <a:solidFill>
                  <a:srgbClr val="0072B2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0072B2"/>
                </a:solidFill>
                <a:latin typeface="DejaVu Sans"/>
                <a:ea typeface="DejaVu Sans"/>
                <a:cs typeface="DejaVu Sans"/>
              </a:defRPr>
            </a:pPr>
            <a:r>
              <a:rPr sz="1650" b="1">
                <a:solidFill>
                  <a:srgbClr val="0072B2"/>
                </a:solidFill>
                <a:latin typeface="DejaVu Sans"/>
                <a:ea typeface="DejaVu Sans"/>
                <a:cs typeface="DejaVu Sans"/>
              </a:rPr>
              <a:t>ECD binder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7586B89-9C51-48FF-B22A-EFB605866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64579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650" b="1">
                <a:solidFill>
                  <a:srgbClr val="009E73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650" b="1">
                <a:solidFill>
                  <a:srgbClr val="009E73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650" b="1">
                <a:solidFill>
                  <a:srgbClr val="009E73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650" b="1">
                <a:solidFill>
                  <a:srgbClr val="009E73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650" b="1">
                <a:solidFill>
                  <a:srgbClr val="009E73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650" b="1">
                <a:solidFill>
                  <a:srgbClr val="009E73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650" b="1">
                <a:solidFill>
                  <a:srgbClr val="009E73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650" b="1">
                <a:solidFill>
                  <a:srgbClr val="009E73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650" b="1">
                <a:solidFill>
                  <a:srgbClr val="009E73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650" b="1">
                <a:solidFill>
                  <a:srgbClr val="009E73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009E73"/>
                </a:solidFill>
                <a:latin typeface="DejaVu Sans"/>
                <a:ea typeface="DejaVu Sans"/>
                <a:cs typeface="DejaVu Sans"/>
              </a:defRPr>
            </a:pPr>
            <a:r>
              <a:rPr sz="1650" b="1">
                <a:solidFill>
                  <a:srgbClr val="009E73"/>
                </a:solidFill>
                <a:latin typeface="DejaVu Sans"/>
                <a:ea typeface="DejaVu Sans"/>
                <a:cs typeface="DejaVu Sans"/>
              </a:rPr>
              <a:t>Receptor ECD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3D8AED9-BBC4-41D1-B854-577CD33F8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64579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650" b="1">
                <a:solidFill>
                  <a:srgbClr val="7B8794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650" b="1">
                <a:solidFill>
                  <a:srgbClr val="7B8794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650" b="1">
                <a:solidFill>
                  <a:srgbClr val="7B8794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650" b="1">
                <a:solidFill>
                  <a:srgbClr val="7B8794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650" b="1">
                <a:solidFill>
                  <a:srgbClr val="7B8794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650" b="1">
                <a:solidFill>
                  <a:srgbClr val="7B8794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650" b="1">
                <a:solidFill>
                  <a:srgbClr val="7B8794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650" b="1">
                <a:solidFill>
                  <a:srgbClr val="7B8794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650" b="1">
                <a:solidFill>
                  <a:srgbClr val="7B8794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650" b="1">
                <a:solidFill>
                  <a:srgbClr val="7B8794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7B8794"/>
                </a:solidFill>
                <a:latin typeface="DejaVu Sans"/>
                <a:ea typeface="DejaVu Sans"/>
                <a:cs typeface="DejaVu Sans"/>
              </a:defRPr>
            </a:pPr>
            <a:r>
              <a:rPr sz="1650" b="1">
                <a:solidFill>
                  <a:srgbClr val="7B8794"/>
                </a:solidFill>
                <a:latin typeface="DejaVu Sans"/>
                <a:ea typeface="DejaVu Sans"/>
                <a:cs typeface="DejaVu Sans"/>
              </a:rPr>
              <a:t>Remaining receptor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1EFCE12-F7CD-4B10-AF0E-7176AC50C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0" y="64579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650" b="1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650" b="1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650" b="1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650" b="1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650" b="1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650" b="1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650" b="1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650" b="1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650" b="1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650" b="1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1650" b="1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Hotspots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9CA5193-E95F-46DB-9C1D-D4671FC7E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800850"/>
            <a:ext cx="1428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42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42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42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42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42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42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42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42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42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42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>
                <a:solidFill>
                  <a:srgbClr val="50616C"/>
                </a:solidFill>
                <a:latin typeface="DejaVu Sans"/>
                <a:ea typeface="DejaVu Sans"/>
                <a:cs typeface="DejaVu Sans"/>
              </a:rPr>
              <a:t>Receptor ECD B1–105 (UniProt 24–128). Black sticks: E34, Q37 and R40. View-specific zoom.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FA7D5F9-497F-4854-A620-C2DE73139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134225"/>
            <a:ext cx="14192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57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57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57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57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57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57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57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57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57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57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57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pPr>
            <a:r>
              <a:rPr sz="1575" b="1">
                <a:solidFill>
                  <a:srgbClr val="173747"/>
                </a:solidFill>
                <a:latin typeface="DejaVu Sans"/>
                <a:ea typeface="DejaVu Sans"/>
                <a:cs typeface="DejaVu Sans"/>
              </a:rPr>
              <a:t>Complete selected sequence, N to C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34709BE-D53A-487C-A7FC-D4A077A43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429500"/>
            <a:ext cx="141922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500" b="0">
                <a:solidFill>
                  <a:srgbClr val="173747"/>
                </a:solidFill>
                <a:latin typeface="DejaVu Sans Mono"/>
                <a:ea typeface="DejaVu Sans Mono"/>
                <a:cs typeface="DejaVu Sans Mono"/>
              </a:defRPr>
            </a:defPPr>
            <a:lvl1pPr>
              <a:defRPr sz="1500" b="0">
                <a:solidFill>
                  <a:srgbClr val="173747"/>
                </a:solidFill>
                <a:latin typeface="DejaVu Sans Mono"/>
                <a:ea typeface="DejaVu Sans Mono"/>
                <a:cs typeface="DejaVu Sans Mono"/>
              </a:defRPr>
            </a:lvl1pPr>
            <a:lvl2pPr>
              <a:defRPr sz="1500" b="0">
                <a:solidFill>
                  <a:srgbClr val="173747"/>
                </a:solidFill>
                <a:latin typeface="DejaVu Sans Mono"/>
                <a:ea typeface="DejaVu Sans Mono"/>
                <a:cs typeface="DejaVu Sans Mono"/>
              </a:defRPr>
            </a:lvl2pPr>
            <a:lvl3pPr>
              <a:defRPr sz="1500" b="0">
                <a:solidFill>
                  <a:srgbClr val="173747"/>
                </a:solidFill>
                <a:latin typeface="DejaVu Sans Mono"/>
                <a:ea typeface="DejaVu Sans Mono"/>
                <a:cs typeface="DejaVu Sans Mono"/>
              </a:defRPr>
            </a:lvl3pPr>
            <a:lvl4pPr>
              <a:defRPr sz="1500" b="0">
                <a:solidFill>
                  <a:srgbClr val="173747"/>
                </a:solidFill>
                <a:latin typeface="DejaVu Sans Mono"/>
                <a:ea typeface="DejaVu Sans Mono"/>
                <a:cs typeface="DejaVu Sans Mono"/>
              </a:defRPr>
            </a:lvl4pPr>
            <a:lvl5pPr>
              <a:defRPr sz="1500" b="0">
                <a:solidFill>
                  <a:srgbClr val="173747"/>
                </a:solidFill>
                <a:latin typeface="DejaVu Sans Mono"/>
                <a:ea typeface="DejaVu Sans Mono"/>
                <a:cs typeface="DejaVu Sans Mono"/>
              </a:defRPr>
            </a:lvl5pPr>
            <a:lvl6pPr>
              <a:defRPr sz="1500" b="0">
                <a:solidFill>
                  <a:srgbClr val="173747"/>
                </a:solidFill>
                <a:latin typeface="DejaVu Sans Mono"/>
                <a:ea typeface="DejaVu Sans Mono"/>
                <a:cs typeface="DejaVu Sans Mono"/>
              </a:defRPr>
            </a:lvl6pPr>
            <a:lvl7pPr>
              <a:defRPr sz="1500" b="0">
                <a:solidFill>
                  <a:srgbClr val="173747"/>
                </a:solidFill>
                <a:latin typeface="DejaVu Sans Mono"/>
                <a:ea typeface="DejaVu Sans Mono"/>
                <a:cs typeface="DejaVu Sans Mono"/>
              </a:defRPr>
            </a:lvl7pPr>
            <a:lvl8pPr>
              <a:defRPr sz="1500" b="0">
                <a:solidFill>
                  <a:srgbClr val="173747"/>
                </a:solidFill>
                <a:latin typeface="DejaVu Sans Mono"/>
                <a:ea typeface="DejaVu Sans Mono"/>
                <a:cs typeface="DejaVu Sans Mono"/>
              </a:defRPr>
            </a:lvl8pPr>
            <a:lvl9pPr>
              <a:defRPr sz="1500" b="0">
                <a:solidFill>
                  <a:srgbClr val="173747"/>
                </a:solidFill>
                <a:latin typeface="DejaVu Sans Mono"/>
                <a:ea typeface="DejaVu Sans Mono"/>
                <a:cs typeface="DejaVu Sans Mono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173747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00" b="0">
                <a:solidFill>
                  <a:srgbClr val="173747"/>
                </a:solidFill>
                <a:latin typeface="DejaVu Sans Mono"/>
                <a:ea typeface="DejaVu Sans Mono"/>
                <a:cs typeface="DejaVu Sans Mono"/>
              </a:rPr>
              <a:t>NLPRIECSSNKGNVQEDSDVIGGRGSGSGSGSCGIFGKTSTSGPQPVIILPVPVLPGMLPQLFLTHMLSVMVGT</a:t>
            </a:r>
          </a:p>
          <a:p xmlns:a="http://schemas.openxmlformats.org/drawingml/2006/main">
            <a:pPr>
              <a:defRPr sz="1500" b="0">
                <a:solidFill>
                  <a:srgbClr val="173747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00" b="0">
                <a:solidFill>
                  <a:srgbClr val="173747"/>
                </a:solidFill>
                <a:latin typeface="DejaVu Sans Mono"/>
                <a:ea typeface="DejaVu Sans Mono"/>
                <a:cs typeface="DejaVu Sans Mono"/>
              </a:rPr>
              <a:t>GSLDSGLVSAFRGSPLVSEAILGFLKQYLS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4A122A9-5D58-4453-BAA5-3F50FEEE5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248650"/>
            <a:ext cx="1304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2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2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2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2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2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2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2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2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2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2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50616C"/>
                </a:solidFill>
                <a:latin typeface="DejaVu Sans"/>
                <a:ea typeface="DejaVu Sans"/>
                <a:cs typeface="DejaVu Sans"/>
              </a:rPr>
              <a:t>Human GLP1R     Boltz2 Exact     Computational predictions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2C2E061-7154-4122-8176-3B99DF56E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0" y="82486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2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2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2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2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2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2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2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2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2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2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50616C"/>
                </a:solidFill>
                <a:latin typeface="DejaVu Sans"/>
                <a:ea typeface="DejaVu Sans"/>
                <a:cs typeface="DejaVu Sans"/>
              </a:rPr>
              <a:t>32</a:t>
            </a:r>
          </a:p>
        </p:txBody>
      </p:sp>
    </p:spTree>
    <p:extLst>
      <p:ext uri="{BB962C8B-B14F-4D97-AF65-F5344CB8AC3E}">
        <p14:creationId xmlns:p14="http://schemas.microsoft.com/office/powerpoint/2010/main" val="556698653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45ABB4B-4F51-4EC3-ACA8-39579C7E9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76225"/>
            <a:ext cx="1428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22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322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322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322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322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322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322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322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322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322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73747"/>
                </a:solidFill>
                <a:latin typeface="DejaVu Sans"/>
                <a:ea typeface="DejaVu Sans"/>
                <a:cs typeface="DejaVu Sans"/>
              </a:rPr>
              <a:t>17  LK_P012_04  metrics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ADF6D10-0EB8-46F3-9CF2-8ECC60290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95350"/>
            <a:ext cx="1428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8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8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8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8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8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8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8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8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8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50616C"/>
                </a:solidFill>
                <a:latin typeface="DejaVu Sans"/>
                <a:ea typeface="DejaVu Sans"/>
                <a:cs typeface="DejaVu Sans"/>
              </a:rPr>
              <a:t>D-L-D fusion   Candidate A: 130 aa   Human GLP1R B: 440 aa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6CDB3C9-53D1-4F43-8F90-37560883EFA7}"/>
              </a:ext>
            </a:extLst>
          </p:cNvPr>
          <p:cNvGraphicFramePr/>
          <p:nvPr/>
        </p:nvGraphicFramePr>
        <p:xfrm>
          <a:off xmlns:a="http://schemas.openxmlformats.org/drawingml/2006/main" x="457200" y="1457325"/>
          <a:ext xmlns:a="http://schemas.openxmlformats.org/drawingml/2006/main" cx="9667875" cy="48006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6791325"/>
                <a:gridCol w="2876550"/>
              </a:tblGrid>
              <a:tr h="34290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Metric and scope</a:t>
                      </a:r>
                    </a:p>
                  </a:txBody>
                  <a:tcPr marL="91440" marR="91440" marT="45720" marB="45720">
                    <a:lnL w="5715">
                      <a:solidFill>
                        <a:srgbClr val="D8E1E5"/>
                      </a:solidFill>
                      <a:prstDash val="solid"/>
                    </a:lnL>
                    <a:lnR w="5715">
                      <a:solidFill>
                        <a:srgbClr val="D8E1E5"/>
                      </a:solidFill>
                      <a:prstDash val="solid"/>
                    </a:lnR>
                    <a:lnT w="5715">
                      <a:solidFill>
                        <a:srgbClr val="D8E1E5"/>
                      </a:solidFill>
                      <a:prstDash val="solid"/>
                    </a:lnT>
                    <a:lnB w="5715">
                      <a:solidFill>
                        <a:srgbClr val="D8E1E5"/>
                      </a:solidFill>
                      <a:prstDash val="solid"/>
                    </a:lnB>
                    <a:solidFill>
                      <a:srgbClr val="245D7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Value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8E1E5"/>
                      </a:solidFill>
                      <a:prstDash val="solid"/>
                    </a:lnR>
                    <a:lnT w="5715">
                      <a:solidFill>
                        <a:srgbClr val="D8E1E5"/>
                      </a:solidFill>
                      <a:prstDash val="solid"/>
                    </a:lnT>
                    <a:lnB w="5715">
                      <a:solidFill>
                        <a:srgbClr val="D8E1E5"/>
                      </a:solidFill>
                      <a:prstDash val="solid"/>
                    </a:lnB>
                    <a:solidFill>
                      <a:srgbClr val="245D73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73747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Boltz2 Exact ipSAE (A/B, Type=max)</a:t>
                      </a:r>
                    </a:p>
                  </a:txBody>
                  <a:tcPr marL="91440" marR="91440" marT="45720" marB="45720">
                    <a:lnL w="5715">
                      <a:solidFill>
                        <a:srgbClr val="D8E1E5"/>
                      </a:solidFill>
                      <a:prstDash val="solid"/>
                    </a:lnL>
                    <a:lnR w="5715">
                      <a:solidFill>
                        <a:srgbClr val="D8E1E5"/>
                      </a:solidFill>
                      <a:prstDash val="solid"/>
                    </a:lnR>
                    <a:lnB w="5715">
                      <a:solidFill>
                        <a:srgbClr val="D8E1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73747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0.899333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8E1E5"/>
                      </a:solidFill>
                      <a:prstDash val="solid"/>
                    </a:lnR>
                    <a:lnB w="5715">
                      <a:solidFill>
                        <a:srgbClr val="D8E1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73747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DeltaForge predicted Kd (nM)</a:t>
                      </a:r>
                    </a:p>
                  </a:txBody>
                  <a:tcPr marL="91440" marR="91440" marT="45720" marB="45720">
                    <a:lnL w="5715">
                      <a:solidFill>
                        <a:srgbClr val="D8E1E5"/>
                      </a:solidFill>
                      <a:prstDash val="solid"/>
                    </a:lnL>
                    <a:lnR w="5715">
                      <a:solidFill>
                        <a:srgbClr val="D8E1E5"/>
                      </a:solidFill>
                      <a:prstDash val="solid"/>
                    </a:lnR>
                    <a:lnB w="5715">
                      <a:solidFill>
                        <a:srgbClr val="D8E1E5"/>
                      </a:solidFill>
                      <a:prstDash val="solid"/>
                    </a:lnB>
                    <a:solidFill>
                      <a:srgbClr val="F1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73747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2.1528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8E1E5"/>
                      </a:solidFill>
                      <a:prstDash val="solid"/>
                    </a:lnR>
                    <a:lnB w="5715">
                      <a:solidFill>
                        <a:srgbClr val="D8E1E5"/>
                      </a:solidFill>
                      <a:prstDash val="solid"/>
                    </a:lnB>
                    <a:solidFill>
                      <a:srgbClr val="F1F5F7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73747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Boltz2 Exact ipTM</a:t>
                      </a:r>
                    </a:p>
                  </a:txBody>
                  <a:tcPr marL="91440" marR="91440" marT="45720" marB="45720">
                    <a:lnL w="5715">
                      <a:solidFill>
                        <a:srgbClr val="D8E1E5"/>
                      </a:solidFill>
                      <a:prstDash val="solid"/>
                    </a:lnL>
                    <a:lnR w="5715">
                      <a:solidFill>
                        <a:srgbClr val="D8E1E5"/>
                      </a:solidFill>
                      <a:prstDash val="solid"/>
                    </a:lnR>
                    <a:lnB w="5715">
                      <a:solidFill>
                        <a:srgbClr val="D8E1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73747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0.8851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8E1E5"/>
                      </a:solidFill>
                      <a:prstDash val="solid"/>
                    </a:lnR>
                    <a:lnB w="5715">
                      <a:solidFill>
                        <a:srgbClr val="D8E1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73747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Original population ipSAE rank</a:t>
                      </a:r>
                    </a:p>
                  </a:txBody>
                  <a:tcPr marL="91440" marR="91440" marT="45720" marB="45720">
                    <a:lnL w="5715">
                      <a:solidFill>
                        <a:srgbClr val="D8E1E5"/>
                      </a:solidFill>
                      <a:prstDash val="solid"/>
                    </a:lnL>
                    <a:lnR w="5715">
                      <a:solidFill>
                        <a:srgbClr val="D8E1E5"/>
                      </a:solidFill>
                      <a:prstDash val="solid"/>
                    </a:lnR>
                    <a:lnB w="5715">
                      <a:solidFill>
                        <a:srgbClr val="D8E1E5"/>
                      </a:solidFill>
                      <a:prstDash val="solid"/>
                    </a:lnB>
                    <a:solidFill>
                      <a:srgbClr val="F1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73747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17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8E1E5"/>
                      </a:solidFill>
                      <a:prstDash val="solid"/>
                    </a:lnR>
                    <a:lnB w="5715">
                      <a:solidFill>
                        <a:srgbClr val="D8E1E5"/>
                      </a:solidFill>
                      <a:prstDash val="solid"/>
                    </a:lnB>
                    <a:solidFill>
                      <a:srgbClr val="F1F5F7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73747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Predicted-Kd rank within population top50</a:t>
                      </a:r>
                    </a:p>
                  </a:txBody>
                  <a:tcPr marL="91440" marR="91440" marT="45720" marB="45720">
                    <a:lnL w="5715">
                      <a:solidFill>
                        <a:srgbClr val="D8E1E5"/>
                      </a:solidFill>
                      <a:prstDash val="solid"/>
                    </a:lnL>
                    <a:lnR w="5715">
                      <a:solidFill>
                        <a:srgbClr val="D8E1E5"/>
                      </a:solidFill>
                      <a:prstDash val="solid"/>
                    </a:lnR>
                    <a:lnB w="5715">
                      <a:solidFill>
                        <a:srgbClr val="D8E1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73747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22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8E1E5"/>
                      </a:solidFill>
                      <a:prstDash val="solid"/>
                    </a:lnR>
                    <a:lnB w="5715">
                      <a:solidFill>
                        <a:srgbClr val="D8E1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73747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Candidate / receptor residues (aa)</a:t>
                      </a:r>
                    </a:p>
                  </a:txBody>
                  <a:tcPr marL="91440" marR="91440" marT="45720" marB="45720">
                    <a:lnL w="5715">
                      <a:solidFill>
                        <a:srgbClr val="D8E1E5"/>
                      </a:solidFill>
                      <a:prstDash val="solid"/>
                    </a:lnL>
                    <a:lnR w="5715">
                      <a:solidFill>
                        <a:srgbClr val="D8E1E5"/>
                      </a:solidFill>
                      <a:prstDash val="solid"/>
                    </a:lnR>
                    <a:lnB w="5715">
                      <a:solidFill>
                        <a:srgbClr val="D8E1E5"/>
                      </a:solidFill>
                      <a:prstDash val="solid"/>
                    </a:lnB>
                    <a:solidFill>
                      <a:srgbClr val="F1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73747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130 / 440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8E1E5"/>
                      </a:solidFill>
                      <a:prstDash val="solid"/>
                    </a:lnR>
                    <a:lnB w="5715">
                      <a:solidFill>
                        <a:srgbClr val="D8E1E5"/>
                      </a:solidFill>
                      <a:prstDash val="solid"/>
                    </a:lnB>
                    <a:solidFill>
                      <a:srgbClr val="F1F5F7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73747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pDockQ / pDockQ2</a:t>
                      </a:r>
                    </a:p>
                  </a:txBody>
                  <a:tcPr marL="91440" marR="91440" marT="45720" marB="45720">
                    <a:lnL w="5715">
                      <a:solidFill>
                        <a:srgbClr val="D8E1E5"/>
                      </a:solidFill>
                      <a:prstDash val="solid"/>
                    </a:lnL>
                    <a:lnR w="5715">
                      <a:solidFill>
                        <a:srgbClr val="D8E1E5"/>
                      </a:solidFill>
                      <a:prstDash val="solid"/>
                    </a:lnR>
                    <a:lnB w="5715">
                      <a:solidFill>
                        <a:srgbClr val="D8E1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73747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0.2455 / 0.1128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8E1E5"/>
                      </a:solidFill>
                      <a:prstDash val="solid"/>
                    </a:lnR>
                    <a:lnB w="5715">
                      <a:solidFill>
                        <a:srgbClr val="D8E1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73747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Whole fusion / linker pLDDT (0-100)</a:t>
                      </a:r>
                    </a:p>
                  </a:txBody>
                  <a:tcPr marL="91440" marR="91440" marT="45720" marB="45720">
                    <a:lnL w="5715">
                      <a:solidFill>
                        <a:srgbClr val="D8E1E5"/>
                      </a:solidFill>
                      <a:prstDash val="solid"/>
                    </a:lnL>
                    <a:lnR w="5715">
                      <a:solidFill>
                        <a:srgbClr val="D8E1E5"/>
                      </a:solidFill>
                      <a:prstDash val="solid"/>
                    </a:lnR>
                    <a:lnB w="5715">
                      <a:solidFill>
                        <a:srgbClr val="D8E1E5"/>
                      </a:solidFill>
                      <a:prstDash val="solid"/>
                    </a:lnB>
                    <a:solidFill>
                      <a:srgbClr val="F1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73747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46.2 / 36.0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8E1E5"/>
                      </a:solidFill>
                      <a:prstDash val="solid"/>
                    </a:lnR>
                    <a:lnB w="5715">
                      <a:solidFill>
                        <a:srgbClr val="D8E1E5"/>
                      </a:solidFill>
                      <a:prstDash val="solid"/>
                    </a:lnB>
                    <a:solidFill>
                      <a:srgbClr val="F1F5F7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73747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ECD / LigandForge pLDDT (0-100)</a:t>
                      </a:r>
                    </a:p>
                  </a:txBody>
                  <a:tcPr marL="91440" marR="91440" marT="45720" marB="45720">
                    <a:lnL w="5715">
                      <a:solidFill>
                        <a:srgbClr val="D8E1E5"/>
                      </a:solidFill>
                      <a:prstDash val="solid"/>
                    </a:lnL>
                    <a:lnR w="5715">
                      <a:solidFill>
                        <a:srgbClr val="D8E1E5"/>
                      </a:solidFill>
                      <a:prstDash val="solid"/>
                    </a:lnR>
                    <a:lnB w="5715">
                      <a:solidFill>
                        <a:srgbClr val="D8E1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73747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70.6 / 35.7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8E1E5"/>
                      </a:solidFill>
                      <a:prstDash val="solid"/>
                    </a:lnR>
                    <a:lnB w="5715">
                      <a:solidFill>
                        <a:srgbClr val="D8E1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73747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Fusion design-to-refold DockQ</a:t>
                      </a:r>
                    </a:p>
                  </a:txBody>
                  <a:tcPr marL="91440" marR="91440" marT="45720" marB="45720">
                    <a:lnL w="5715">
                      <a:solidFill>
                        <a:srgbClr val="D8E1E5"/>
                      </a:solidFill>
                      <a:prstDash val="solid"/>
                    </a:lnL>
                    <a:lnR w="5715">
                      <a:solidFill>
                        <a:srgbClr val="D8E1E5"/>
                      </a:solidFill>
                      <a:prstDash val="solid"/>
                    </a:lnR>
                    <a:lnB w="5715">
                      <a:solidFill>
                        <a:srgbClr val="D8E1E5"/>
                      </a:solidFill>
                      <a:prstDash val="solid"/>
                    </a:lnB>
                    <a:solidFill>
                      <a:srgbClr val="F1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73747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0.2180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8E1E5"/>
                      </a:solidFill>
                      <a:prstDash val="solid"/>
                    </a:lnR>
                    <a:lnB w="5715">
                      <a:solidFill>
                        <a:srgbClr val="D8E1E5"/>
                      </a:solidFill>
                      <a:prstDash val="solid"/>
                    </a:lnB>
                    <a:solidFill>
                      <a:srgbClr val="F1F5F7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73747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Free C-terminal OPM z (A)</a:t>
                      </a:r>
                    </a:p>
                  </a:txBody>
                  <a:tcPr marL="91440" marR="91440" marT="45720" marB="45720">
                    <a:lnL w="5715">
                      <a:solidFill>
                        <a:srgbClr val="D8E1E5"/>
                      </a:solidFill>
                      <a:prstDash val="solid"/>
                    </a:lnL>
                    <a:lnR w="5715">
                      <a:solidFill>
                        <a:srgbClr val="D8E1E5"/>
                      </a:solidFill>
                      <a:prstDash val="solid"/>
                    </a:lnR>
                    <a:lnB w="5715">
                      <a:solidFill>
                        <a:srgbClr val="D8E1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73747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33.84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8E1E5"/>
                      </a:solidFill>
                      <a:prstDash val="solid"/>
                    </a:lnR>
                    <a:lnB w="5715">
                      <a:solidFill>
                        <a:srgbClr val="D8E1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73747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Extracellular free C-terminal screen</a:t>
                      </a:r>
                    </a:p>
                  </a:txBody>
                  <a:tcPr marL="91440" marR="91440" marT="45720" marB="45720">
                    <a:lnL w="5715">
                      <a:solidFill>
                        <a:srgbClr val="D8E1E5"/>
                      </a:solidFill>
                      <a:prstDash val="solid"/>
                    </a:lnL>
                    <a:lnR w="5715">
                      <a:solidFill>
                        <a:srgbClr val="D8E1E5"/>
                      </a:solidFill>
                      <a:prstDash val="solid"/>
                    </a:lnR>
                    <a:lnB w="5715">
                      <a:solidFill>
                        <a:srgbClr val="D8E1E5"/>
                      </a:solidFill>
                      <a:prstDash val="solid"/>
                    </a:lnB>
                    <a:solidFill>
                      <a:srgbClr val="F1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73747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Pass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8E1E5"/>
                      </a:solidFill>
                      <a:prstDash val="solid"/>
                    </a:lnR>
                    <a:lnB w="5715">
                      <a:solidFill>
                        <a:srgbClr val="D8E1E5"/>
                      </a:solidFill>
                      <a:prstDash val="solid"/>
                    </a:lnB>
                    <a:solidFill>
                      <a:srgbClr val="F1F5F7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73747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DeltaForge length scope</a:t>
                      </a:r>
                    </a:p>
                  </a:txBody>
                  <a:tcPr marL="91440" marR="91440" marT="45720" marB="45720">
                    <a:lnL w="5715">
                      <a:solidFill>
                        <a:srgbClr val="D8E1E5"/>
                      </a:solidFill>
                      <a:prstDash val="solid"/>
                    </a:lnL>
                    <a:lnR w="5715">
                      <a:solidFill>
                        <a:srgbClr val="D8E1E5"/>
                      </a:solidFill>
                      <a:prstDash val="solid"/>
                    </a:lnR>
                    <a:lnB w="5715">
                      <a:solidFill>
                        <a:srgbClr val="D8E1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73747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platform_8_140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8E1E5"/>
                      </a:solidFill>
                      <a:prstDash val="solid"/>
                    </a:lnR>
                    <a:lnB w="5715">
                      <a:solidFill>
                        <a:srgbClr val="D8E1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87E477B-06F0-48B4-B7D6-C96E29800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1457325"/>
            <a:ext cx="4095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950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950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950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950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950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950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950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950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950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950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173747"/>
                </a:solidFill>
                <a:latin typeface="DejaVu Sans"/>
                <a:ea typeface="DejaVu Sans"/>
                <a:cs typeface="DejaVu Sans"/>
              </a:rPr>
              <a:t>Origin and prediction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6DADC14-5D2A-4E7D-870B-CCE7A7407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1952625"/>
            <a:ext cx="4095750" cy="390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725" b="0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725" b="0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725" b="0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725" b="0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725" b="0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725" b="0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725" b="0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725" b="0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725" b="0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725" b="0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173747"/>
                </a:solidFill>
                <a:latin typeface="DejaVu Sans"/>
                <a:ea typeface="DejaVu Sans"/>
                <a:cs typeface="DejaVu Sans"/>
              </a:rPr>
              <a:t>ECD parent S08_00_042</a:t>
            </a:r>
          </a:p>
          <a:p xmlns:a="http://schemas.openxmlformats.org/drawingml/2006/main">
            <a:pPr>
              <a:defRPr sz="1725" b="0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173747"/>
                </a:solidFill>
                <a:latin typeface="DejaVu Sans"/>
                <a:ea typeface="DejaVu Sans"/>
                <a:cs typeface="DejaVu Sans"/>
              </a:rPr>
              <a:t>LigandForge parent Design_991</a:t>
            </a:r>
          </a:p>
          <a:p xmlns:a="http://schemas.openxmlformats.org/drawingml/2006/main">
            <a:pPr>
              <a:defRPr sz="1725" b="0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173747"/>
                </a:solidFill>
                <a:latin typeface="DejaVu Sans"/>
                <a:ea typeface="DejaVu Sans"/>
                <a:cs typeface="DejaVu Sans"/>
              </a:rPr>
              <a:t>Pair P012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725" b="0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173747"/>
                </a:solidFill>
                <a:latin typeface="DejaVu Sans"/>
                <a:ea typeface="DejaVu Sans"/>
                <a:cs typeface="DejaVu Sans"/>
              </a:rPr>
              <a:t>AP Novo seed 225</a:t>
            </a:r>
          </a:p>
          <a:p xmlns:a="http://schemas.openxmlformats.org/drawingml/2006/main">
            <a:pPr>
              <a:defRPr sz="1725" b="0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173747"/>
                </a:solidFill>
                <a:latin typeface="DejaVu Sans"/>
                <a:ea typeface="DejaVu Sans"/>
                <a:cs typeface="DejaVu Sans"/>
              </a:rPr>
              <a:t>Exact seed 101</a:t>
            </a:r>
          </a:p>
          <a:p xmlns:a="http://schemas.openxmlformats.org/drawingml/2006/main">
            <a:pPr>
              <a:defRPr sz="1725" b="0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173747"/>
                </a:solidFill>
                <a:latin typeface="DejaVu Sans"/>
                <a:ea typeface="DejaVu Sans"/>
                <a:cs typeface="DejaVu Sans"/>
              </a:rPr>
              <a:t>3 recycles, 200 steps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725" b="0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173747"/>
                </a:solidFill>
                <a:latin typeface="DejaVu Sans"/>
                <a:ea typeface="DejaVu Sans"/>
                <a:cs typeface="DejaVu Sans"/>
              </a:rPr>
              <a:t>ECD A1-39  linker A40-65  LF A66-130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8C9E25C-61EB-484B-B524-D4DBD8E25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81750"/>
            <a:ext cx="14192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650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650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650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650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650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650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650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650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650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650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50616C"/>
                </a:solidFill>
                <a:latin typeface="DejaVu Sans"/>
                <a:ea typeface="DejaVu Sans"/>
                <a:cs typeface="DejaVu Sans"/>
              </a:rPr>
              <a:t>Whole-fusion pLDDT remains modest. High interface confidence does not establish activation.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3B94C1D-AE6B-474B-90B3-D9E4BC1A3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115175"/>
            <a:ext cx="14192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57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57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57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57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57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57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57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57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57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57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57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pPr>
            <a:r>
              <a:rPr sz="1575" b="1">
                <a:solidFill>
                  <a:srgbClr val="173747"/>
                </a:solidFill>
                <a:latin typeface="DejaVu Sans"/>
                <a:ea typeface="DejaVu Sans"/>
                <a:cs typeface="DejaVu Sans"/>
              </a:rPr>
              <a:t>Complete selected sequence, N to C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715D298-BBE0-4EB5-B9BF-D6655FFFC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410450"/>
            <a:ext cx="141922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500" b="0">
                <a:solidFill>
                  <a:srgbClr val="173747"/>
                </a:solidFill>
                <a:latin typeface="DejaVu Sans Mono"/>
                <a:ea typeface="DejaVu Sans Mono"/>
                <a:cs typeface="DejaVu Sans Mono"/>
              </a:defRPr>
            </a:defPPr>
            <a:lvl1pPr>
              <a:defRPr sz="1500" b="0">
                <a:solidFill>
                  <a:srgbClr val="173747"/>
                </a:solidFill>
                <a:latin typeface="DejaVu Sans Mono"/>
                <a:ea typeface="DejaVu Sans Mono"/>
                <a:cs typeface="DejaVu Sans Mono"/>
              </a:defRPr>
            </a:lvl1pPr>
            <a:lvl2pPr>
              <a:defRPr sz="1500" b="0">
                <a:solidFill>
                  <a:srgbClr val="173747"/>
                </a:solidFill>
                <a:latin typeface="DejaVu Sans Mono"/>
                <a:ea typeface="DejaVu Sans Mono"/>
                <a:cs typeface="DejaVu Sans Mono"/>
              </a:defRPr>
            </a:lvl2pPr>
            <a:lvl3pPr>
              <a:defRPr sz="1500" b="0">
                <a:solidFill>
                  <a:srgbClr val="173747"/>
                </a:solidFill>
                <a:latin typeface="DejaVu Sans Mono"/>
                <a:ea typeface="DejaVu Sans Mono"/>
                <a:cs typeface="DejaVu Sans Mono"/>
              </a:defRPr>
            </a:lvl3pPr>
            <a:lvl4pPr>
              <a:defRPr sz="1500" b="0">
                <a:solidFill>
                  <a:srgbClr val="173747"/>
                </a:solidFill>
                <a:latin typeface="DejaVu Sans Mono"/>
                <a:ea typeface="DejaVu Sans Mono"/>
                <a:cs typeface="DejaVu Sans Mono"/>
              </a:defRPr>
            </a:lvl4pPr>
            <a:lvl5pPr>
              <a:defRPr sz="1500" b="0">
                <a:solidFill>
                  <a:srgbClr val="173747"/>
                </a:solidFill>
                <a:latin typeface="DejaVu Sans Mono"/>
                <a:ea typeface="DejaVu Sans Mono"/>
                <a:cs typeface="DejaVu Sans Mono"/>
              </a:defRPr>
            </a:lvl5pPr>
            <a:lvl6pPr>
              <a:defRPr sz="1500" b="0">
                <a:solidFill>
                  <a:srgbClr val="173747"/>
                </a:solidFill>
                <a:latin typeface="DejaVu Sans Mono"/>
                <a:ea typeface="DejaVu Sans Mono"/>
                <a:cs typeface="DejaVu Sans Mono"/>
              </a:defRPr>
            </a:lvl6pPr>
            <a:lvl7pPr>
              <a:defRPr sz="1500" b="0">
                <a:solidFill>
                  <a:srgbClr val="173747"/>
                </a:solidFill>
                <a:latin typeface="DejaVu Sans Mono"/>
                <a:ea typeface="DejaVu Sans Mono"/>
                <a:cs typeface="DejaVu Sans Mono"/>
              </a:defRPr>
            </a:lvl7pPr>
            <a:lvl8pPr>
              <a:defRPr sz="1500" b="0">
                <a:solidFill>
                  <a:srgbClr val="173747"/>
                </a:solidFill>
                <a:latin typeface="DejaVu Sans Mono"/>
                <a:ea typeface="DejaVu Sans Mono"/>
                <a:cs typeface="DejaVu Sans Mono"/>
              </a:defRPr>
            </a:lvl8pPr>
            <a:lvl9pPr>
              <a:defRPr sz="1500" b="0">
                <a:solidFill>
                  <a:srgbClr val="173747"/>
                </a:solidFill>
                <a:latin typeface="DejaVu Sans Mono"/>
                <a:ea typeface="DejaVu Sans Mono"/>
                <a:cs typeface="DejaVu Sans Mono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173747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00" b="0">
                <a:solidFill>
                  <a:srgbClr val="173747"/>
                </a:solidFill>
                <a:latin typeface="DejaVu Sans Mono"/>
                <a:ea typeface="DejaVu Sans Mono"/>
                <a:cs typeface="DejaVu Sans Mono"/>
              </a:rPr>
              <a:t>MADSISEVSEGVHLILAAQALELPPFVVAARLEEARAKRPGSSLLPLPEDTSDVASGSISYPGASAFHLTGLAA</a:t>
            </a:r>
          </a:p>
          <a:p xmlns:a="http://schemas.openxmlformats.org/drawingml/2006/main">
            <a:pPr>
              <a:defRPr sz="1500" b="0">
                <a:solidFill>
                  <a:srgbClr val="173747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00" b="0">
                <a:solidFill>
                  <a:srgbClr val="173747"/>
                </a:solidFill>
                <a:latin typeface="DejaVu Sans Mono"/>
                <a:ea typeface="DejaVu Sans Mono"/>
                <a:cs typeface="DejaVu Sans Mono"/>
              </a:rPr>
              <a:t>RCGAVWRGVFCQFGNGVKGEGSVTGGSLNTFYILTVAPTSANILTSGSGSGSLEGS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6E41F0E-FF1A-4D74-87CB-7892052F9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248650"/>
            <a:ext cx="1304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2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2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2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2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2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2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2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2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2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2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50616C"/>
                </a:solidFill>
                <a:latin typeface="DejaVu Sans"/>
                <a:ea typeface="DejaVu Sans"/>
                <a:cs typeface="DejaVu Sans"/>
              </a:rPr>
              <a:t>Human GLP1R     Boltz2 Exact     Computational predictions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069BB8C-4453-40E1-9A6D-98A7A4790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0" y="82486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2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2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2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2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2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2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2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2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2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2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50616C"/>
                </a:solidFill>
                <a:latin typeface="DejaVu Sans"/>
                <a:ea typeface="DejaVu Sans"/>
                <a:cs typeface="DejaVu Sans"/>
              </a:rPr>
              <a:t>33</a:t>
            </a:r>
          </a:p>
        </p:txBody>
      </p:sp>
    </p:spTree>
    <p:extLst>
      <p:ext uri="{BB962C8B-B14F-4D97-AF65-F5344CB8AC3E}">
        <p14:creationId xmlns:p14="http://schemas.microsoft.com/office/powerpoint/2010/main" val="1477673701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7A63ABE-A2B6-4161-984C-657A3A83D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76225"/>
            <a:ext cx="1428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22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322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322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322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322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322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322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322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322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322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73747"/>
                </a:solidFill>
                <a:latin typeface="DejaVu Sans"/>
                <a:ea typeface="DejaVu Sans"/>
                <a:cs typeface="DejaVu Sans"/>
              </a:rPr>
              <a:t>17  LK_P012_04  structure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343588B-F2D3-49C7-B29C-CA4452602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95350"/>
            <a:ext cx="1428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8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8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8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8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8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8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8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8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8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50616C"/>
                </a:solidFill>
                <a:latin typeface="DejaVu Sans"/>
                <a:ea typeface="DejaVu Sans"/>
                <a:cs typeface="DejaVu Sans"/>
              </a:rPr>
              <a:t>D-L-D fusion   Candidate A: 130 aa   Human GLP1R B: 440 aa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9FCAFF8-9CE4-4D18-B447-93139EA90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362075"/>
            <a:ext cx="619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7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87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87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87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87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87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87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87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87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87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173747"/>
                </a:solidFill>
                <a:latin typeface="DejaVu Sans"/>
                <a:ea typeface="DejaVu Sans"/>
                <a:cs typeface="DejaVu Sans"/>
              </a:rPr>
              <a:t>Boltz2 Exact receptor complex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0B81164-58E3-4D2D-8B18-86A467B63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362075"/>
            <a:ext cx="619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7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87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87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87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87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87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87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87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87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87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173747"/>
                </a:solidFill>
                <a:latin typeface="DejaVu Sans"/>
                <a:ea typeface="DejaVu Sans"/>
                <a:cs typeface="DejaVu Sans"/>
              </a:rPr>
              <a:t>Boltz2 Exact interface detail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CB227A6-977F-424F-89B3-BF2E4DAF659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7d51ac63d8744fa"/>
          <a:stretch xmlns:a="http://schemas.openxmlformats.org/drawingml/2006/main"/>
        </p:blipFill>
        <p:spPr>
          <a:xfrm xmlns:a="http://schemas.openxmlformats.org/drawingml/2006/main">
            <a:off x="2344208" y="1724025"/>
            <a:ext cx="3217333" cy="4572000"/>
          </a:xfrm>
          <a:prstGeom xmlns:a="http://schemas.openxmlformats.org/drawingml/2006/main" prst="rect">
            <a:avLst/>
          </a:prstGeom>
        </p:spPr>
      </p:pic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11428C5-C42B-449B-A85B-161CA4AD705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74b4f5099b440ae"/>
          <a:stretch xmlns:a="http://schemas.openxmlformats.org/drawingml/2006/main"/>
        </p:blipFill>
        <p:spPr>
          <a:xfrm xmlns:a="http://schemas.openxmlformats.org/drawingml/2006/main">
            <a:off x="9296093" y="1724025"/>
            <a:ext cx="3982065" cy="457200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A39F64A-3BCA-4532-A8E4-93C008800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579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650" b="1">
                <a:solidFill>
                  <a:srgbClr val="E69F00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650" b="1">
                <a:solidFill>
                  <a:srgbClr val="E69F00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650" b="1">
                <a:solidFill>
                  <a:srgbClr val="E69F00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650" b="1">
                <a:solidFill>
                  <a:srgbClr val="E69F00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650" b="1">
                <a:solidFill>
                  <a:srgbClr val="E69F00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650" b="1">
                <a:solidFill>
                  <a:srgbClr val="E69F00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650" b="1">
                <a:solidFill>
                  <a:srgbClr val="E69F00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650" b="1">
                <a:solidFill>
                  <a:srgbClr val="E69F00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650" b="1">
                <a:solidFill>
                  <a:srgbClr val="E69F00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650" b="1">
                <a:solidFill>
                  <a:srgbClr val="E69F00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E69F00"/>
                </a:solidFill>
                <a:latin typeface="DejaVu Sans"/>
                <a:ea typeface="DejaVu Sans"/>
                <a:cs typeface="DejaVu Sans"/>
              </a:defRPr>
            </a:pPr>
            <a:r>
              <a:rPr sz="1650" b="1">
                <a:solidFill>
                  <a:srgbClr val="E69F00"/>
                </a:solidFill>
                <a:latin typeface="DejaVu Sans"/>
                <a:ea typeface="DejaVu Sans"/>
                <a:cs typeface="DejaVu Sans"/>
              </a:rPr>
              <a:t>LigandForge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E175058-417C-47EF-98C7-AF6FE0881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64579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650" b="1">
                <a:solidFill>
                  <a:srgbClr val="AA4499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650" b="1">
                <a:solidFill>
                  <a:srgbClr val="AA4499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650" b="1">
                <a:solidFill>
                  <a:srgbClr val="AA4499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650" b="1">
                <a:solidFill>
                  <a:srgbClr val="AA4499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650" b="1">
                <a:solidFill>
                  <a:srgbClr val="AA4499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650" b="1">
                <a:solidFill>
                  <a:srgbClr val="AA4499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650" b="1">
                <a:solidFill>
                  <a:srgbClr val="AA4499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650" b="1">
                <a:solidFill>
                  <a:srgbClr val="AA4499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650" b="1">
                <a:solidFill>
                  <a:srgbClr val="AA4499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650" b="1">
                <a:solidFill>
                  <a:srgbClr val="AA4499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AA4499"/>
                </a:solidFill>
                <a:latin typeface="DejaVu Sans"/>
                <a:ea typeface="DejaVu Sans"/>
                <a:cs typeface="DejaVu Sans"/>
              </a:defRPr>
            </a:pPr>
            <a:r>
              <a:rPr sz="1650" b="1">
                <a:solidFill>
                  <a:srgbClr val="AA4499"/>
                </a:solidFill>
                <a:latin typeface="DejaVu Sans"/>
                <a:ea typeface="DejaVu Sans"/>
                <a:cs typeface="DejaVu Sans"/>
              </a:rPr>
              <a:t>Linker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0B72026-8293-418B-B046-ED9D8C1B1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64579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650" b="1">
                <a:solidFill>
                  <a:srgbClr val="0072B2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650" b="1">
                <a:solidFill>
                  <a:srgbClr val="0072B2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650" b="1">
                <a:solidFill>
                  <a:srgbClr val="0072B2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650" b="1">
                <a:solidFill>
                  <a:srgbClr val="0072B2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650" b="1">
                <a:solidFill>
                  <a:srgbClr val="0072B2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650" b="1">
                <a:solidFill>
                  <a:srgbClr val="0072B2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650" b="1">
                <a:solidFill>
                  <a:srgbClr val="0072B2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650" b="1">
                <a:solidFill>
                  <a:srgbClr val="0072B2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650" b="1">
                <a:solidFill>
                  <a:srgbClr val="0072B2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650" b="1">
                <a:solidFill>
                  <a:srgbClr val="0072B2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0072B2"/>
                </a:solidFill>
                <a:latin typeface="DejaVu Sans"/>
                <a:ea typeface="DejaVu Sans"/>
                <a:cs typeface="DejaVu Sans"/>
              </a:defRPr>
            </a:pPr>
            <a:r>
              <a:rPr sz="1650" b="1">
                <a:solidFill>
                  <a:srgbClr val="0072B2"/>
                </a:solidFill>
                <a:latin typeface="DejaVu Sans"/>
                <a:ea typeface="DejaVu Sans"/>
                <a:cs typeface="DejaVu Sans"/>
              </a:rPr>
              <a:t>ECD binder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FA9D8E9-075C-44DE-8B03-657A66D92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64579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650" b="1">
                <a:solidFill>
                  <a:srgbClr val="009E73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650" b="1">
                <a:solidFill>
                  <a:srgbClr val="009E73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650" b="1">
                <a:solidFill>
                  <a:srgbClr val="009E73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650" b="1">
                <a:solidFill>
                  <a:srgbClr val="009E73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650" b="1">
                <a:solidFill>
                  <a:srgbClr val="009E73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650" b="1">
                <a:solidFill>
                  <a:srgbClr val="009E73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650" b="1">
                <a:solidFill>
                  <a:srgbClr val="009E73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650" b="1">
                <a:solidFill>
                  <a:srgbClr val="009E73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650" b="1">
                <a:solidFill>
                  <a:srgbClr val="009E73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650" b="1">
                <a:solidFill>
                  <a:srgbClr val="009E73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009E73"/>
                </a:solidFill>
                <a:latin typeface="DejaVu Sans"/>
                <a:ea typeface="DejaVu Sans"/>
                <a:cs typeface="DejaVu Sans"/>
              </a:defRPr>
            </a:pPr>
            <a:r>
              <a:rPr sz="1650" b="1">
                <a:solidFill>
                  <a:srgbClr val="009E73"/>
                </a:solidFill>
                <a:latin typeface="DejaVu Sans"/>
                <a:ea typeface="DejaVu Sans"/>
                <a:cs typeface="DejaVu Sans"/>
              </a:rPr>
              <a:t>Receptor ECD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2A66EF1-2947-4C2B-AA20-373B5E082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64579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650" b="1">
                <a:solidFill>
                  <a:srgbClr val="7B8794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650" b="1">
                <a:solidFill>
                  <a:srgbClr val="7B8794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650" b="1">
                <a:solidFill>
                  <a:srgbClr val="7B8794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650" b="1">
                <a:solidFill>
                  <a:srgbClr val="7B8794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650" b="1">
                <a:solidFill>
                  <a:srgbClr val="7B8794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650" b="1">
                <a:solidFill>
                  <a:srgbClr val="7B8794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650" b="1">
                <a:solidFill>
                  <a:srgbClr val="7B8794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650" b="1">
                <a:solidFill>
                  <a:srgbClr val="7B8794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650" b="1">
                <a:solidFill>
                  <a:srgbClr val="7B8794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650" b="1">
                <a:solidFill>
                  <a:srgbClr val="7B8794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7B8794"/>
                </a:solidFill>
                <a:latin typeface="DejaVu Sans"/>
                <a:ea typeface="DejaVu Sans"/>
                <a:cs typeface="DejaVu Sans"/>
              </a:defRPr>
            </a:pPr>
            <a:r>
              <a:rPr sz="1650" b="1">
                <a:solidFill>
                  <a:srgbClr val="7B8794"/>
                </a:solidFill>
                <a:latin typeface="DejaVu Sans"/>
                <a:ea typeface="DejaVu Sans"/>
                <a:cs typeface="DejaVu Sans"/>
              </a:rPr>
              <a:t>Remaining receptor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06CCE0E-0C44-409B-A3CD-912171C96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0" y="64579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650" b="1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650" b="1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650" b="1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650" b="1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650" b="1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650" b="1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650" b="1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650" b="1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650" b="1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650" b="1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1650" b="1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Hotspots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609D9EC-0284-4D91-8D5B-ED457A1D3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800850"/>
            <a:ext cx="1428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42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42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42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42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42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42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42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42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42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42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>
                <a:solidFill>
                  <a:srgbClr val="50616C"/>
                </a:solidFill>
                <a:latin typeface="DejaVu Sans"/>
                <a:ea typeface="DejaVu Sans"/>
                <a:cs typeface="DejaVu Sans"/>
              </a:rPr>
              <a:t>Receptor ECD B1–105 (UniProt 24–128). Black sticks: E34, Q37 and R40. View-specific zoom.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150C43A-4B08-49E4-B539-5104712C9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134225"/>
            <a:ext cx="14192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57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57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57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57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57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57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57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57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57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57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57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pPr>
            <a:r>
              <a:rPr sz="1575" b="1">
                <a:solidFill>
                  <a:srgbClr val="173747"/>
                </a:solidFill>
                <a:latin typeface="DejaVu Sans"/>
                <a:ea typeface="DejaVu Sans"/>
                <a:cs typeface="DejaVu Sans"/>
              </a:rPr>
              <a:t>Complete selected sequence, N to C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C3F32D4-1D3C-4761-A993-BC0109769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429500"/>
            <a:ext cx="141922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500" b="0">
                <a:solidFill>
                  <a:srgbClr val="173747"/>
                </a:solidFill>
                <a:latin typeface="DejaVu Sans Mono"/>
                <a:ea typeface="DejaVu Sans Mono"/>
                <a:cs typeface="DejaVu Sans Mono"/>
              </a:defRPr>
            </a:defPPr>
            <a:lvl1pPr>
              <a:defRPr sz="1500" b="0">
                <a:solidFill>
                  <a:srgbClr val="173747"/>
                </a:solidFill>
                <a:latin typeface="DejaVu Sans Mono"/>
                <a:ea typeface="DejaVu Sans Mono"/>
                <a:cs typeface="DejaVu Sans Mono"/>
              </a:defRPr>
            </a:lvl1pPr>
            <a:lvl2pPr>
              <a:defRPr sz="1500" b="0">
                <a:solidFill>
                  <a:srgbClr val="173747"/>
                </a:solidFill>
                <a:latin typeface="DejaVu Sans Mono"/>
                <a:ea typeface="DejaVu Sans Mono"/>
                <a:cs typeface="DejaVu Sans Mono"/>
              </a:defRPr>
            </a:lvl2pPr>
            <a:lvl3pPr>
              <a:defRPr sz="1500" b="0">
                <a:solidFill>
                  <a:srgbClr val="173747"/>
                </a:solidFill>
                <a:latin typeface="DejaVu Sans Mono"/>
                <a:ea typeface="DejaVu Sans Mono"/>
                <a:cs typeface="DejaVu Sans Mono"/>
              </a:defRPr>
            </a:lvl3pPr>
            <a:lvl4pPr>
              <a:defRPr sz="1500" b="0">
                <a:solidFill>
                  <a:srgbClr val="173747"/>
                </a:solidFill>
                <a:latin typeface="DejaVu Sans Mono"/>
                <a:ea typeface="DejaVu Sans Mono"/>
                <a:cs typeface="DejaVu Sans Mono"/>
              </a:defRPr>
            </a:lvl4pPr>
            <a:lvl5pPr>
              <a:defRPr sz="1500" b="0">
                <a:solidFill>
                  <a:srgbClr val="173747"/>
                </a:solidFill>
                <a:latin typeface="DejaVu Sans Mono"/>
                <a:ea typeface="DejaVu Sans Mono"/>
                <a:cs typeface="DejaVu Sans Mono"/>
              </a:defRPr>
            </a:lvl5pPr>
            <a:lvl6pPr>
              <a:defRPr sz="1500" b="0">
                <a:solidFill>
                  <a:srgbClr val="173747"/>
                </a:solidFill>
                <a:latin typeface="DejaVu Sans Mono"/>
                <a:ea typeface="DejaVu Sans Mono"/>
                <a:cs typeface="DejaVu Sans Mono"/>
              </a:defRPr>
            </a:lvl6pPr>
            <a:lvl7pPr>
              <a:defRPr sz="1500" b="0">
                <a:solidFill>
                  <a:srgbClr val="173747"/>
                </a:solidFill>
                <a:latin typeface="DejaVu Sans Mono"/>
                <a:ea typeface="DejaVu Sans Mono"/>
                <a:cs typeface="DejaVu Sans Mono"/>
              </a:defRPr>
            </a:lvl7pPr>
            <a:lvl8pPr>
              <a:defRPr sz="1500" b="0">
                <a:solidFill>
                  <a:srgbClr val="173747"/>
                </a:solidFill>
                <a:latin typeface="DejaVu Sans Mono"/>
                <a:ea typeface="DejaVu Sans Mono"/>
                <a:cs typeface="DejaVu Sans Mono"/>
              </a:defRPr>
            </a:lvl8pPr>
            <a:lvl9pPr>
              <a:defRPr sz="1500" b="0">
                <a:solidFill>
                  <a:srgbClr val="173747"/>
                </a:solidFill>
                <a:latin typeface="DejaVu Sans Mono"/>
                <a:ea typeface="DejaVu Sans Mono"/>
                <a:cs typeface="DejaVu Sans Mono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173747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00" b="0">
                <a:solidFill>
                  <a:srgbClr val="173747"/>
                </a:solidFill>
                <a:latin typeface="DejaVu Sans Mono"/>
                <a:ea typeface="DejaVu Sans Mono"/>
                <a:cs typeface="DejaVu Sans Mono"/>
              </a:rPr>
              <a:t>MADSISEVSEGVHLILAAQALELPPFVVAARLEEARAKRPGSSLLPLPEDTSDVASGSISYPGASAFHLTGLAA</a:t>
            </a:r>
          </a:p>
          <a:p xmlns:a="http://schemas.openxmlformats.org/drawingml/2006/main">
            <a:pPr>
              <a:defRPr sz="1500" b="0">
                <a:solidFill>
                  <a:srgbClr val="173747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00" b="0">
                <a:solidFill>
                  <a:srgbClr val="173747"/>
                </a:solidFill>
                <a:latin typeface="DejaVu Sans Mono"/>
                <a:ea typeface="DejaVu Sans Mono"/>
                <a:cs typeface="DejaVu Sans Mono"/>
              </a:rPr>
              <a:t>RCGAVWRGVFCQFGNGVKGEGSVTGGSLNTFYILTVAPTSANILTSGSGSGSLEGS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E4FA072-D591-4C4E-9E64-BF269D1EA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248650"/>
            <a:ext cx="1304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2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2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2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2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2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2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2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2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2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2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50616C"/>
                </a:solidFill>
                <a:latin typeface="DejaVu Sans"/>
                <a:ea typeface="DejaVu Sans"/>
                <a:cs typeface="DejaVu Sans"/>
              </a:rPr>
              <a:t>Human GLP1R     Boltz2 Exact     Computational predictions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FFDA782-0EEC-4B04-8BEB-9CC65F6A7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0" y="82486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2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2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2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2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2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2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2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2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2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2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50616C"/>
                </a:solidFill>
                <a:latin typeface="DejaVu Sans"/>
                <a:ea typeface="DejaVu Sans"/>
                <a:cs typeface="DejaVu Sans"/>
              </a:rPr>
              <a:t>34</a:t>
            </a:r>
          </a:p>
        </p:txBody>
      </p:sp>
    </p:spTree>
    <p:extLst>
      <p:ext uri="{BB962C8B-B14F-4D97-AF65-F5344CB8AC3E}">
        <p14:creationId xmlns:p14="http://schemas.microsoft.com/office/powerpoint/2010/main" val="2131376907"/>
      </p:ext>
    </p:extLst>
  </p:cSld>
</p:sld>
</file>

<file path=ppt/slides/slide3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284757E-B230-4134-8AB0-B8FB4E7A0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76225"/>
            <a:ext cx="1428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22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322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322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322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322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322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322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322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322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322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73747"/>
                </a:solidFill>
                <a:latin typeface="DejaVu Sans"/>
                <a:ea typeface="DejaVu Sans"/>
                <a:cs typeface="DejaVu Sans"/>
              </a:rPr>
              <a:t>18  Design_787  metrics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062A6CD-8009-4199-8651-A3DD45219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95350"/>
            <a:ext cx="1428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8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8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8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8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8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8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8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8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8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50616C"/>
                </a:solidFill>
                <a:latin typeface="DejaVu Sans"/>
                <a:ea typeface="DejaVu Sans"/>
                <a:cs typeface="DejaVu Sans"/>
              </a:rPr>
              <a:t>Original LigandForge   Candidate A: 49 aa   Human GLP1R B: 409 aa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4B686DC-6449-4307-8B1F-4CE4342C7D40}"/>
              </a:ext>
            </a:extLst>
          </p:cNvPr>
          <p:cNvGraphicFramePr/>
          <p:nvPr/>
        </p:nvGraphicFramePr>
        <p:xfrm>
          <a:off xmlns:a="http://schemas.openxmlformats.org/drawingml/2006/main" x="457200" y="1457325"/>
          <a:ext xmlns:a="http://schemas.openxmlformats.org/drawingml/2006/main" cx="9667875" cy="3429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6791325"/>
                <a:gridCol w="2876550"/>
              </a:tblGrid>
              <a:tr h="34290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Metric and scope</a:t>
                      </a:r>
                    </a:p>
                  </a:txBody>
                  <a:tcPr marL="91440" marR="91440" marT="45720" marB="45720">
                    <a:lnL w="5715">
                      <a:solidFill>
                        <a:srgbClr val="D8E1E5"/>
                      </a:solidFill>
                      <a:prstDash val="solid"/>
                    </a:lnL>
                    <a:lnR w="5715">
                      <a:solidFill>
                        <a:srgbClr val="D8E1E5"/>
                      </a:solidFill>
                      <a:prstDash val="solid"/>
                    </a:lnR>
                    <a:lnT w="5715">
                      <a:solidFill>
                        <a:srgbClr val="D8E1E5"/>
                      </a:solidFill>
                      <a:prstDash val="solid"/>
                    </a:lnT>
                    <a:lnB w="5715">
                      <a:solidFill>
                        <a:srgbClr val="D8E1E5"/>
                      </a:solidFill>
                      <a:prstDash val="solid"/>
                    </a:lnB>
                    <a:solidFill>
                      <a:srgbClr val="245D7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Value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8E1E5"/>
                      </a:solidFill>
                      <a:prstDash val="solid"/>
                    </a:lnR>
                    <a:lnT w="5715">
                      <a:solidFill>
                        <a:srgbClr val="D8E1E5"/>
                      </a:solidFill>
                      <a:prstDash val="solid"/>
                    </a:lnT>
                    <a:lnB w="5715">
                      <a:solidFill>
                        <a:srgbClr val="D8E1E5"/>
                      </a:solidFill>
                      <a:prstDash val="solid"/>
                    </a:lnB>
                    <a:solidFill>
                      <a:srgbClr val="245D73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73747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Boltz2 Exact ipSAE (A/B, Type=max)</a:t>
                      </a:r>
                    </a:p>
                  </a:txBody>
                  <a:tcPr marL="91440" marR="91440" marT="45720" marB="45720">
                    <a:lnL w="5715">
                      <a:solidFill>
                        <a:srgbClr val="D8E1E5"/>
                      </a:solidFill>
                      <a:prstDash val="solid"/>
                    </a:lnL>
                    <a:lnR w="5715">
                      <a:solidFill>
                        <a:srgbClr val="D8E1E5"/>
                      </a:solidFill>
                      <a:prstDash val="solid"/>
                    </a:lnR>
                    <a:lnB w="5715">
                      <a:solidFill>
                        <a:srgbClr val="D8E1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73747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0.899274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8E1E5"/>
                      </a:solidFill>
                      <a:prstDash val="solid"/>
                    </a:lnR>
                    <a:lnB w="5715">
                      <a:solidFill>
                        <a:srgbClr val="D8E1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73747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DeltaForge predicted Kd (nM)</a:t>
                      </a:r>
                    </a:p>
                  </a:txBody>
                  <a:tcPr marL="91440" marR="91440" marT="45720" marB="45720">
                    <a:lnL w="5715">
                      <a:solidFill>
                        <a:srgbClr val="D8E1E5"/>
                      </a:solidFill>
                      <a:prstDash val="solid"/>
                    </a:lnL>
                    <a:lnR w="5715">
                      <a:solidFill>
                        <a:srgbClr val="D8E1E5"/>
                      </a:solidFill>
                      <a:prstDash val="solid"/>
                    </a:lnR>
                    <a:lnB w="5715">
                      <a:solidFill>
                        <a:srgbClr val="D8E1E5"/>
                      </a:solidFill>
                      <a:prstDash val="solid"/>
                    </a:lnB>
                    <a:solidFill>
                      <a:srgbClr val="F1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73747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5.3824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8E1E5"/>
                      </a:solidFill>
                      <a:prstDash val="solid"/>
                    </a:lnR>
                    <a:lnB w="5715">
                      <a:solidFill>
                        <a:srgbClr val="D8E1E5"/>
                      </a:solidFill>
                      <a:prstDash val="solid"/>
                    </a:lnB>
                    <a:solidFill>
                      <a:srgbClr val="F1F5F7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73747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Boltz2 Exact ipTM</a:t>
                      </a:r>
                    </a:p>
                  </a:txBody>
                  <a:tcPr marL="91440" marR="91440" marT="45720" marB="45720">
                    <a:lnL w="5715">
                      <a:solidFill>
                        <a:srgbClr val="D8E1E5"/>
                      </a:solidFill>
                      <a:prstDash val="solid"/>
                    </a:lnL>
                    <a:lnR w="5715">
                      <a:solidFill>
                        <a:srgbClr val="D8E1E5"/>
                      </a:solidFill>
                      <a:prstDash val="solid"/>
                    </a:lnR>
                    <a:lnB w="5715">
                      <a:solidFill>
                        <a:srgbClr val="D8E1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73747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0.9546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8E1E5"/>
                      </a:solidFill>
                      <a:prstDash val="solid"/>
                    </a:lnR>
                    <a:lnB w="5715">
                      <a:solidFill>
                        <a:srgbClr val="D8E1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73747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Original population ipSAE rank</a:t>
                      </a:r>
                    </a:p>
                  </a:txBody>
                  <a:tcPr marL="91440" marR="91440" marT="45720" marB="45720">
                    <a:lnL w="5715">
                      <a:solidFill>
                        <a:srgbClr val="D8E1E5"/>
                      </a:solidFill>
                      <a:prstDash val="solid"/>
                    </a:lnL>
                    <a:lnR w="5715">
                      <a:solidFill>
                        <a:srgbClr val="D8E1E5"/>
                      </a:solidFill>
                      <a:prstDash val="solid"/>
                    </a:lnR>
                    <a:lnB w="5715">
                      <a:solidFill>
                        <a:srgbClr val="D8E1E5"/>
                      </a:solidFill>
                      <a:prstDash val="solid"/>
                    </a:lnB>
                    <a:solidFill>
                      <a:srgbClr val="F1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73747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14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8E1E5"/>
                      </a:solidFill>
                      <a:prstDash val="solid"/>
                    </a:lnR>
                    <a:lnB w="5715">
                      <a:solidFill>
                        <a:srgbClr val="D8E1E5"/>
                      </a:solidFill>
                      <a:prstDash val="solid"/>
                    </a:lnB>
                    <a:solidFill>
                      <a:srgbClr val="F1F5F7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73747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Predicted-Kd rank within population top50</a:t>
                      </a:r>
                    </a:p>
                  </a:txBody>
                  <a:tcPr marL="91440" marR="91440" marT="45720" marB="45720">
                    <a:lnL w="5715">
                      <a:solidFill>
                        <a:srgbClr val="D8E1E5"/>
                      </a:solidFill>
                      <a:prstDash val="solid"/>
                    </a:lnL>
                    <a:lnR w="5715">
                      <a:solidFill>
                        <a:srgbClr val="D8E1E5"/>
                      </a:solidFill>
                      <a:prstDash val="solid"/>
                    </a:lnR>
                    <a:lnB w="5715">
                      <a:solidFill>
                        <a:srgbClr val="D8E1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73747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20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8E1E5"/>
                      </a:solidFill>
                      <a:prstDash val="solid"/>
                    </a:lnR>
                    <a:lnB w="5715">
                      <a:solidFill>
                        <a:srgbClr val="D8E1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73747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Candidate / receptor residues (aa)</a:t>
                      </a:r>
                    </a:p>
                  </a:txBody>
                  <a:tcPr marL="91440" marR="91440" marT="45720" marB="45720">
                    <a:lnL w="5715">
                      <a:solidFill>
                        <a:srgbClr val="D8E1E5"/>
                      </a:solidFill>
                      <a:prstDash val="solid"/>
                    </a:lnL>
                    <a:lnR w="5715">
                      <a:solidFill>
                        <a:srgbClr val="D8E1E5"/>
                      </a:solidFill>
                      <a:prstDash val="solid"/>
                    </a:lnR>
                    <a:lnB w="5715">
                      <a:solidFill>
                        <a:srgbClr val="D8E1E5"/>
                      </a:solidFill>
                      <a:prstDash val="solid"/>
                    </a:lnB>
                    <a:solidFill>
                      <a:srgbClr val="F1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73747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49 / 409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8E1E5"/>
                      </a:solidFill>
                      <a:prstDash val="solid"/>
                    </a:lnR>
                    <a:lnB w="5715">
                      <a:solidFill>
                        <a:srgbClr val="D8E1E5"/>
                      </a:solidFill>
                      <a:prstDash val="solid"/>
                    </a:lnB>
                    <a:solidFill>
                      <a:srgbClr val="F1F5F7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73747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Complex pLDDT (0-100)</a:t>
                      </a:r>
                    </a:p>
                  </a:txBody>
                  <a:tcPr marL="91440" marR="91440" marT="45720" marB="45720">
                    <a:lnL w="5715">
                      <a:solidFill>
                        <a:srgbClr val="D8E1E5"/>
                      </a:solidFill>
                      <a:prstDash val="solid"/>
                    </a:lnL>
                    <a:lnR w="5715">
                      <a:solidFill>
                        <a:srgbClr val="D8E1E5"/>
                      </a:solidFill>
                      <a:prstDash val="solid"/>
                    </a:lnR>
                    <a:lnB w="5715">
                      <a:solidFill>
                        <a:srgbClr val="D8E1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73747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78.6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8E1E5"/>
                      </a:solidFill>
                      <a:prstDash val="solid"/>
                    </a:lnR>
                    <a:lnB w="5715">
                      <a:solidFill>
                        <a:srgbClr val="D8E1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73747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Generator-to-refold DockQ / TM-score</a:t>
                      </a:r>
                    </a:p>
                  </a:txBody>
                  <a:tcPr marL="91440" marR="91440" marT="45720" marB="45720">
                    <a:lnL w="5715">
                      <a:solidFill>
                        <a:srgbClr val="D8E1E5"/>
                      </a:solidFill>
                      <a:prstDash val="solid"/>
                    </a:lnL>
                    <a:lnR w="5715">
                      <a:solidFill>
                        <a:srgbClr val="D8E1E5"/>
                      </a:solidFill>
                      <a:prstDash val="solid"/>
                    </a:lnR>
                    <a:lnB w="5715">
                      <a:solidFill>
                        <a:srgbClr val="D8E1E5"/>
                      </a:solidFill>
                      <a:prstDash val="solid"/>
                    </a:lnB>
                    <a:solidFill>
                      <a:srgbClr val="F1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73747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N/A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8E1E5"/>
                      </a:solidFill>
                      <a:prstDash val="solid"/>
                    </a:lnR>
                    <a:lnB w="5715">
                      <a:solidFill>
                        <a:srgbClr val="D8E1E5"/>
                      </a:solidFill>
                      <a:prstDash val="solid"/>
                    </a:lnB>
                    <a:solidFill>
                      <a:srgbClr val="F1F5F7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73747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DeltaForge length scope</a:t>
                      </a:r>
                    </a:p>
                  </a:txBody>
                  <a:tcPr marL="91440" marR="91440" marT="45720" marB="45720">
                    <a:lnL w="5715">
                      <a:solidFill>
                        <a:srgbClr val="D8E1E5"/>
                      </a:solidFill>
                      <a:prstDash val="solid"/>
                    </a:lnL>
                    <a:lnR w="5715">
                      <a:solidFill>
                        <a:srgbClr val="D8E1E5"/>
                      </a:solidFill>
                      <a:prstDash val="solid"/>
                    </a:lnR>
                    <a:lnB w="5715">
                      <a:solidFill>
                        <a:srgbClr val="D8E1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73747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core_40_119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8E1E5"/>
                      </a:solidFill>
                      <a:prstDash val="solid"/>
                    </a:lnR>
                    <a:lnB w="5715">
                      <a:solidFill>
                        <a:srgbClr val="D8E1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F093773-679F-4175-9516-AF0F61371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1457325"/>
            <a:ext cx="4095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950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950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950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950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950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950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950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950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950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950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173747"/>
                </a:solidFill>
                <a:latin typeface="DejaVu Sans"/>
                <a:ea typeface="DejaVu Sans"/>
                <a:cs typeface="DejaVu Sans"/>
              </a:rPr>
              <a:t>Origin and prediction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1A684B6-3BB5-464A-AF93-79832004D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1952625"/>
            <a:ext cx="4095750" cy="390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725" b="0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725" b="0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725" b="0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725" b="0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725" b="0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725" b="0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725" b="0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725" b="0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725" b="0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725" b="0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173747"/>
                </a:solidFill>
                <a:latin typeface="DejaVu Sans"/>
                <a:ea typeface="DejaVu Sans"/>
                <a:cs typeface="DejaVu Sans"/>
              </a:rPr>
              <a:t>Original LigandForge v6.5.21</a:t>
            </a:r>
          </a:p>
          <a:p xmlns:a="http://schemas.openxmlformats.org/drawingml/2006/main">
            <a:pPr>
              <a:defRPr sz="1725" b="0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173747"/>
                </a:solidFill>
                <a:latin typeface="DejaVu Sans"/>
                <a:ea typeface="DejaVu Sans"/>
                <a:cs typeface="DejaVu Sans"/>
              </a:rPr>
              <a:t>Generation 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725" b="0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173747"/>
                </a:solidFill>
                <a:latin typeface="DejaVu Sans"/>
                <a:ea typeface="DejaVu Sans"/>
                <a:cs typeface="DejaVu Sans"/>
              </a:rPr>
              <a:t>Exact seed 101</a:t>
            </a:r>
          </a:p>
          <a:p xmlns:a="http://schemas.openxmlformats.org/drawingml/2006/main">
            <a:pPr>
              <a:defRPr sz="1725" b="0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173747"/>
                </a:solidFill>
                <a:latin typeface="DejaVu Sans"/>
                <a:ea typeface="DejaVu Sans"/>
                <a:cs typeface="DejaVu Sans"/>
              </a:rPr>
              <a:t>3 recycles, 200 steps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725" b="0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173747"/>
                </a:solidFill>
                <a:latin typeface="DejaVu Sans"/>
                <a:ea typeface="DejaVu Sans"/>
                <a:cs typeface="DejaVu Sans"/>
              </a:rPr>
              <a:t>WT GLP1R 24-432</a:t>
            </a:r>
          </a:p>
          <a:p xmlns:a="http://schemas.openxmlformats.org/drawingml/2006/main">
            <a:pPr>
              <a:defRPr sz="1725" b="0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173747"/>
                </a:solidFill>
                <a:latin typeface="DejaVu Sans"/>
                <a:ea typeface="DejaVu Sans"/>
                <a:cs typeface="DejaVu Sans"/>
              </a:rPr>
              <a:t>409 receptor residues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725" b="0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173747"/>
                </a:solidFill>
                <a:latin typeface="DejaVu Sans"/>
                <a:ea typeface="DejaVu Sans"/>
                <a:cs typeface="DejaVu Sans"/>
              </a:rPr>
              <a:t>Original generator coordinates unavailable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CD7B272-7598-4D64-A0BA-8B51CCBF4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81750"/>
            <a:ext cx="14192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650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650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650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650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650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650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650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650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650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650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50616C"/>
                </a:solidFill>
                <a:latin typeface="DejaVu Sans"/>
                <a:ea typeface="DejaVu Sans"/>
                <a:cs typeface="DejaVu Sans"/>
              </a:rPr>
              <a:t>Original generator coordinates are unavailable. This Exact prediction does not establish activation.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5B5CA0E-76C9-45D6-AC51-8648C27E8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115175"/>
            <a:ext cx="14192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57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57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57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57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57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57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57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57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57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57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57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pPr>
            <a:r>
              <a:rPr sz="1575" b="1">
                <a:solidFill>
                  <a:srgbClr val="173747"/>
                </a:solidFill>
                <a:latin typeface="DejaVu Sans"/>
                <a:ea typeface="DejaVu Sans"/>
                <a:cs typeface="DejaVu Sans"/>
              </a:rPr>
              <a:t>Complete selected sequence, N to C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826F24E-1439-4B86-90B1-8CC335B85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410450"/>
            <a:ext cx="141922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500" b="0">
                <a:solidFill>
                  <a:srgbClr val="173747"/>
                </a:solidFill>
                <a:latin typeface="DejaVu Sans Mono"/>
                <a:ea typeface="DejaVu Sans Mono"/>
                <a:cs typeface="DejaVu Sans Mono"/>
              </a:defRPr>
            </a:defPPr>
            <a:lvl1pPr>
              <a:defRPr sz="1500" b="0">
                <a:solidFill>
                  <a:srgbClr val="173747"/>
                </a:solidFill>
                <a:latin typeface="DejaVu Sans Mono"/>
                <a:ea typeface="DejaVu Sans Mono"/>
                <a:cs typeface="DejaVu Sans Mono"/>
              </a:defRPr>
            </a:lvl1pPr>
            <a:lvl2pPr>
              <a:defRPr sz="1500" b="0">
                <a:solidFill>
                  <a:srgbClr val="173747"/>
                </a:solidFill>
                <a:latin typeface="DejaVu Sans Mono"/>
                <a:ea typeface="DejaVu Sans Mono"/>
                <a:cs typeface="DejaVu Sans Mono"/>
              </a:defRPr>
            </a:lvl2pPr>
            <a:lvl3pPr>
              <a:defRPr sz="1500" b="0">
                <a:solidFill>
                  <a:srgbClr val="173747"/>
                </a:solidFill>
                <a:latin typeface="DejaVu Sans Mono"/>
                <a:ea typeface="DejaVu Sans Mono"/>
                <a:cs typeface="DejaVu Sans Mono"/>
              </a:defRPr>
            </a:lvl3pPr>
            <a:lvl4pPr>
              <a:defRPr sz="1500" b="0">
                <a:solidFill>
                  <a:srgbClr val="173747"/>
                </a:solidFill>
                <a:latin typeface="DejaVu Sans Mono"/>
                <a:ea typeface="DejaVu Sans Mono"/>
                <a:cs typeface="DejaVu Sans Mono"/>
              </a:defRPr>
            </a:lvl4pPr>
            <a:lvl5pPr>
              <a:defRPr sz="1500" b="0">
                <a:solidFill>
                  <a:srgbClr val="173747"/>
                </a:solidFill>
                <a:latin typeface="DejaVu Sans Mono"/>
                <a:ea typeface="DejaVu Sans Mono"/>
                <a:cs typeface="DejaVu Sans Mono"/>
              </a:defRPr>
            </a:lvl5pPr>
            <a:lvl6pPr>
              <a:defRPr sz="1500" b="0">
                <a:solidFill>
                  <a:srgbClr val="173747"/>
                </a:solidFill>
                <a:latin typeface="DejaVu Sans Mono"/>
                <a:ea typeface="DejaVu Sans Mono"/>
                <a:cs typeface="DejaVu Sans Mono"/>
              </a:defRPr>
            </a:lvl6pPr>
            <a:lvl7pPr>
              <a:defRPr sz="1500" b="0">
                <a:solidFill>
                  <a:srgbClr val="173747"/>
                </a:solidFill>
                <a:latin typeface="DejaVu Sans Mono"/>
                <a:ea typeface="DejaVu Sans Mono"/>
                <a:cs typeface="DejaVu Sans Mono"/>
              </a:defRPr>
            </a:lvl7pPr>
            <a:lvl8pPr>
              <a:defRPr sz="1500" b="0">
                <a:solidFill>
                  <a:srgbClr val="173747"/>
                </a:solidFill>
                <a:latin typeface="DejaVu Sans Mono"/>
                <a:ea typeface="DejaVu Sans Mono"/>
                <a:cs typeface="DejaVu Sans Mono"/>
              </a:defRPr>
            </a:lvl8pPr>
            <a:lvl9pPr>
              <a:defRPr sz="1500" b="0">
                <a:solidFill>
                  <a:srgbClr val="173747"/>
                </a:solidFill>
                <a:latin typeface="DejaVu Sans Mono"/>
                <a:ea typeface="DejaVu Sans Mono"/>
                <a:cs typeface="DejaVu Sans Mono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173747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00" b="0">
                <a:solidFill>
                  <a:srgbClr val="173747"/>
                </a:solidFill>
                <a:latin typeface="DejaVu Sans Mono"/>
                <a:ea typeface="DejaVu Sans Mono"/>
                <a:cs typeface="DejaVu Sans Mono"/>
              </a:rPr>
              <a:t>GTLALTHCVFAADRAEIFGQRGKEDLQTGKAASEGTELTGSGSGSLCDI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97C6792-5017-4657-9AD1-3ADC319AC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248650"/>
            <a:ext cx="1304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2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2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2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2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2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2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2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2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2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2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50616C"/>
                </a:solidFill>
                <a:latin typeface="DejaVu Sans"/>
                <a:ea typeface="DejaVu Sans"/>
                <a:cs typeface="DejaVu Sans"/>
              </a:rPr>
              <a:t>Human GLP1R     Boltz2 Exact     Computational predictions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AA7D3B7-C5D9-4329-822B-B55863899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0" y="82486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2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2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2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2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2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2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2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2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2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2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50616C"/>
                </a:solidFill>
                <a:latin typeface="DejaVu Sans"/>
                <a:ea typeface="DejaVu Sans"/>
                <a:cs typeface="DejaVu Sans"/>
              </a:rPr>
              <a:t>35</a:t>
            </a:r>
          </a:p>
        </p:txBody>
      </p:sp>
    </p:spTree>
    <p:extLst>
      <p:ext uri="{BB962C8B-B14F-4D97-AF65-F5344CB8AC3E}">
        <p14:creationId xmlns:p14="http://schemas.microsoft.com/office/powerpoint/2010/main" val="1566209011"/>
      </p:ext>
    </p:extLst>
  </p:cSld>
</p:sld>
</file>

<file path=ppt/slides/slide3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6B872A8-421E-4003-87DF-E6417D50B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76225"/>
            <a:ext cx="1428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22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322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322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322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322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322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322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322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322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322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73747"/>
                </a:solidFill>
                <a:latin typeface="DejaVu Sans"/>
                <a:ea typeface="DejaVu Sans"/>
                <a:cs typeface="DejaVu Sans"/>
              </a:rPr>
              <a:t>18  Design_787  structure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AF950D9-2D23-4624-89AC-9C459C25D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95350"/>
            <a:ext cx="1428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8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8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8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8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8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8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8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8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8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50616C"/>
                </a:solidFill>
                <a:latin typeface="DejaVu Sans"/>
                <a:ea typeface="DejaVu Sans"/>
                <a:cs typeface="DejaVu Sans"/>
              </a:rPr>
              <a:t>Original LigandForge   Candidate A: 49 aa   Human GLP1R B: 409 aa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F4AC67A-5BB5-473B-8645-E1A657000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362075"/>
            <a:ext cx="619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7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87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87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87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87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87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87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87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87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87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173747"/>
                </a:solidFill>
                <a:latin typeface="DejaVu Sans"/>
                <a:ea typeface="DejaVu Sans"/>
                <a:cs typeface="DejaVu Sans"/>
              </a:rPr>
              <a:t>Boltz2 Exact receptor complex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6688659-A500-4D46-828B-4A05FE6F0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362075"/>
            <a:ext cx="619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7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87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87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87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87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87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87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87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87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87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173747"/>
                </a:solidFill>
                <a:latin typeface="DejaVu Sans"/>
                <a:ea typeface="DejaVu Sans"/>
                <a:cs typeface="DejaVu Sans"/>
              </a:rPr>
              <a:t>Boltz2 Exact interface detail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3AAD534-CB18-4EEC-AFB2-0D8AC6313CC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15535ab7e874c2a"/>
          <a:stretch xmlns:a="http://schemas.openxmlformats.org/drawingml/2006/main"/>
        </p:blipFill>
        <p:spPr>
          <a:xfrm xmlns:a="http://schemas.openxmlformats.org/drawingml/2006/main">
            <a:off x="2344208" y="1724025"/>
            <a:ext cx="3217333" cy="4572000"/>
          </a:xfrm>
          <a:prstGeom xmlns:a="http://schemas.openxmlformats.org/drawingml/2006/main" prst="rect">
            <a:avLst/>
          </a:prstGeom>
        </p:spPr>
      </p:pic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DCC936B-3781-4C68-BC56-98560CC4E90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3164cdbc1154114"/>
          <a:stretch xmlns:a="http://schemas.openxmlformats.org/drawingml/2006/main"/>
        </p:blipFill>
        <p:spPr>
          <a:xfrm xmlns:a="http://schemas.openxmlformats.org/drawingml/2006/main">
            <a:off x="9678458" y="1724025"/>
            <a:ext cx="3217333" cy="457200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E6A3892-85C6-4D09-90A5-02107F556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579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650" b="1">
                <a:solidFill>
                  <a:srgbClr val="E69F00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650" b="1">
                <a:solidFill>
                  <a:srgbClr val="E69F00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650" b="1">
                <a:solidFill>
                  <a:srgbClr val="E69F00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650" b="1">
                <a:solidFill>
                  <a:srgbClr val="E69F00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650" b="1">
                <a:solidFill>
                  <a:srgbClr val="E69F00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650" b="1">
                <a:solidFill>
                  <a:srgbClr val="E69F00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650" b="1">
                <a:solidFill>
                  <a:srgbClr val="E69F00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650" b="1">
                <a:solidFill>
                  <a:srgbClr val="E69F00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650" b="1">
                <a:solidFill>
                  <a:srgbClr val="E69F00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650" b="1">
                <a:solidFill>
                  <a:srgbClr val="E69F00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E69F00"/>
                </a:solidFill>
                <a:latin typeface="DejaVu Sans"/>
                <a:ea typeface="DejaVu Sans"/>
                <a:cs typeface="DejaVu Sans"/>
              </a:defRPr>
            </a:pPr>
            <a:r>
              <a:rPr sz="1650" b="1">
                <a:solidFill>
                  <a:srgbClr val="E69F00"/>
                </a:solidFill>
                <a:latin typeface="DejaVu Sans"/>
                <a:ea typeface="DejaVu Sans"/>
                <a:cs typeface="DejaVu Sans"/>
              </a:rPr>
              <a:t>LigandForge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4BDF35F-1967-48C6-8A0C-E4A10A48F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64579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650" b="1">
                <a:solidFill>
                  <a:srgbClr val="009E73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650" b="1">
                <a:solidFill>
                  <a:srgbClr val="009E73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650" b="1">
                <a:solidFill>
                  <a:srgbClr val="009E73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650" b="1">
                <a:solidFill>
                  <a:srgbClr val="009E73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650" b="1">
                <a:solidFill>
                  <a:srgbClr val="009E73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650" b="1">
                <a:solidFill>
                  <a:srgbClr val="009E73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650" b="1">
                <a:solidFill>
                  <a:srgbClr val="009E73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650" b="1">
                <a:solidFill>
                  <a:srgbClr val="009E73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650" b="1">
                <a:solidFill>
                  <a:srgbClr val="009E73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650" b="1">
                <a:solidFill>
                  <a:srgbClr val="009E73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009E73"/>
                </a:solidFill>
                <a:latin typeface="DejaVu Sans"/>
                <a:ea typeface="DejaVu Sans"/>
                <a:cs typeface="DejaVu Sans"/>
              </a:defRPr>
            </a:pPr>
            <a:r>
              <a:rPr sz="1650" b="1">
                <a:solidFill>
                  <a:srgbClr val="009E73"/>
                </a:solidFill>
                <a:latin typeface="DejaVu Sans"/>
                <a:ea typeface="DejaVu Sans"/>
                <a:cs typeface="DejaVu Sans"/>
              </a:rPr>
              <a:t>Receptor ECD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F3468FB-5A6C-4B23-83D6-407B9F3CF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64579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650" b="1">
                <a:solidFill>
                  <a:srgbClr val="7B8794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650" b="1">
                <a:solidFill>
                  <a:srgbClr val="7B8794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650" b="1">
                <a:solidFill>
                  <a:srgbClr val="7B8794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650" b="1">
                <a:solidFill>
                  <a:srgbClr val="7B8794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650" b="1">
                <a:solidFill>
                  <a:srgbClr val="7B8794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650" b="1">
                <a:solidFill>
                  <a:srgbClr val="7B8794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650" b="1">
                <a:solidFill>
                  <a:srgbClr val="7B8794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650" b="1">
                <a:solidFill>
                  <a:srgbClr val="7B8794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650" b="1">
                <a:solidFill>
                  <a:srgbClr val="7B8794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650" b="1">
                <a:solidFill>
                  <a:srgbClr val="7B8794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7B8794"/>
                </a:solidFill>
                <a:latin typeface="DejaVu Sans"/>
                <a:ea typeface="DejaVu Sans"/>
                <a:cs typeface="DejaVu Sans"/>
              </a:defRPr>
            </a:pPr>
            <a:r>
              <a:rPr sz="1650" b="1">
                <a:solidFill>
                  <a:srgbClr val="7B8794"/>
                </a:solidFill>
                <a:latin typeface="DejaVu Sans"/>
                <a:ea typeface="DejaVu Sans"/>
                <a:cs typeface="DejaVu Sans"/>
              </a:rPr>
              <a:t>Remaining receptor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C22F0C8-646C-400D-8FC8-A679CD681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4579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650" b="1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650" b="1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650" b="1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650" b="1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650" b="1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650" b="1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650" b="1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650" b="1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650" b="1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650" b="1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1650" b="1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Hotspots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87314F3-A8AF-4373-94D5-E5BFCCA3D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800850"/>
            <a:ext cx="1428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42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42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42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42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42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42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42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42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42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42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>
                <a:solidFill>
                  <a:srgbClr val="50616C"/>
                </a:solidFill>
                <a:latin typeface="DejaVu Sans"/>
                <a:ea typeface="DejaVu Sans"/>
                <a:cs typeface="DejaVu Sans"/>
              </a:rPr>
              <a:t>Receptor ECD B1–105 (UniProt 24–128). Black sticks: 27 submitted pocket positions. View-specific zoom.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13891F3-1643-419D-AF96-51167246B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134225"/>
            <a:ext cx="14192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57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57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57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57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57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57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57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57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57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57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57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pPr>
            <a:r>
              <a:rPr sz="1575" b="1">
                <a:solidFill>
                  <a:srgbClr val="173747"/>
                </a:solidFill>
                <a:latin typeface="DejaVu Sans"/>
                <a:ea typeface="DejaVu Sans"/>
                <a:cs typeface="DejaVu Sans"/>
              </a:rPr>
              <a:t>Complete selected sequence, N to C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E2AB35D-64DB-4697-9215-26D1B1171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429500"/>
            <a:ext cx="141922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500" b="0">
                <a:solidFill>
                  <a:srgbClr val="173747"/>
                </a:solidFill>
                <a:latin typeface="DejaVu Sans Mono"/>
                <a:ea typeface="DejaVu Sans Mono"/>
                <a:cs typeface="DejaVu Sans Mono"/>
              </a:defRPr>
            </a:defPPr>
            <a:lvl1pPr>
              <a:defRPr sz="1500" b="0">
                <a:solidFill>
                  <a:srgbClr val="173747"/>
                </a:solidFill>
                <a:latin typeface="DejaVu Sans Mono"/>
                <a:ea typeface="DejaVu Sans Mono"/>
                <a:cs typeface="DejaVu Sans Mono"/>
              </a:defRPr>
            </a:lvl1pPr>
            <a:lvl2pPr>
              <a:defRPr sz="1500" b="0">
                <a:solidFill>
                  <a:srgbClr val="173747"/>
                </a:solidFill>
                <a:latin typeface="DejaVu Sans Mono"/>
                <a:ea typeface="DejaVu Sans Mono"/>
                <a:cs typeface="DejaVu Sans Mono"/>
              </a:defRPr>
            </a:lvl2pPr>
            <a:lvl3pPr>
              <a:defRPr sz="1500" b="0">
                <a:solidFill>
                  <a:srgbClr val="173747"/>
                </a:solidFill>
                <a:latin typeface="DejaVu Sans Mono"/>
                <a:ea typeface="DejaVu Sans Mono"/>
                <a:cs typeface="DejaVu Sans Mono"/>
              </a:defRPr>
            </a:lvl3pPr>
            <a:lvl4pPr>
              <a:defRPr sz="1500" b="0">
                <a:solidFill>
                  <a:srgbClr val="173747"/>
                </a:solidFill>
                <a:latin typeface="DejaVu Sans Mono"/>
                <a:ea typeface="DejaVu Sans Mono"/>
                <a:cs typeface="DejaVu Sans Mono"/>
              </a:defRPr>
            </a:lvl4pPr>
            <a:lvl5pPr>
              <a:defRPr sz="1500" b="0">
                <a:solidFill>
                  <a:srgbClr val="173747"/>
                </a:solidFill>
                <a:latin typeface="DejaVu Sans Mono"/>
                <a:ea typeface="DejaVu Sans Mono"/>
                <a:cs typeface="DejaVu Sans Mono"/>
              </a:defRPr>
            </a:lvl5pPr>
            <a:lvl6pPr>
              <a:defRPr sz="1500" b="0">
                <a:solidFill>
                  <a:srgbClr val="173747"/>
                </a:solidFill>
                <a:latin typeface="DejaVu Sans Mono"/>
                <a:ea typeface="DejaVu Sans Mono"/>
                <a:cs typeface="DejaVu Sans Mono"/>
              </a:defRPr>
            </a:lvl6pPr>
            <a:lvl7pPr>
              <a:defRPr sz="1500" b="0">
                <a:solidFill>
                  <a:srgbClr val="173747"/>
                </a:solidFill>
                <a:latin typeface="DejaVu Sans Mono"/>
                <a:ea typeface="DejaVu Sans Mono"/>
                <a:cs typeface="DejaVu Sans Mono"/>
              </a:defRPr>
            </a:lvl7pPr>
            <a:lvl8pPr>
              <a:defRPr sz="1500" b="0">
                <a:solidFill>
                  <a:srgbClr val="173747"/>
                </a:solidFill>
                <a:latin typeface="DejaVu Sans Mono"/>
                <a:ea typeface="DejaVu Sans Mono"/>
                <a:cs typeface="DejaVu Sans Mono"/>
              </a:defRPr>
            </a:lvl8pPr>
            <a:lvl9pPr>
              <a:defRPr sz="1500" b="0">
                <a:solidFill>
                  <a:srgbClr val="173747"/>
                </a:solidFill>
                <a:latin typeface="DejaVu Sans Mono"/>
                <a:ea typeface="DejaVu Sans Mono"/>
                <a:cs typeface="DejaVu Sans Mono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173747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00" b="0">
                <a:solidFill>
                  <a:srgbClr val="173747"/>
                </a:solidFill>
                <a:latin typeface="DejaVu Sans Mono"/>
                <a:ea typeface="DejaVu Sans Mono"/>
                <a:cs typeface="DejaVu Sans Mono"/>
              </a:rPr>
              <a:t>GTLALTHCVFAADRAEIFGQRGKEDLQTGKAASEGTELTGSGSGSLCDI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9C7E42A-DE84-44AC-9955-3E5C539E2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248650"/>
            <a:ext cx="1304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2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2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2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2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2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2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2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2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2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2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50616C"/>
                </a:solidFill>
                <a:latin typeface="DejaVu Sans"/>
                <a:ea typeface="DejaVu Sans"/>
                <a:cs typeface="DejaVu Sans"/>
              </a:rPr>
              <a:t>Human GLP1R     Boltz2 Exact     Computational predictions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801374E-DA9C-48A7-88EC-5DC24BFC5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0" y="82486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2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2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2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2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2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2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2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2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2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2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50616C"/>
                </a:solidFill>
                <a:latin typeface="DejaVu Sans"/>
                <a:ea typeface="DejaVu Sans"/>
                <a:cs typeface="DejaVu Sans"/>
              </a:rPr>
              <a:t>36</a:t>
            </a:r>
          </a:p>
        </p:txBody>
      </p:sp>
    </p:spTree>
    <p:extLst>
      <p:ext uri="{BB962C8B-B14F-4D97-AF65-F5344CB8AC3E}">
        <p14:creationId xmlns:p14="http://schemas.microsoft.com/office/powerpoint/2010/main" val="1978906286"/>
      </p:ext>
    </p:extLst>
  </p:cSld>
</p:sld>
</file>

<file path=ppt/slides/slide3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C2C4B74-A258-4E4C-832E-25B46C701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76225"/>
            <a:ext cx="1428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22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322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322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322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322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322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322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322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322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322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73747"/>
                </a:solidFill>
                <a:latin typeface="DejaVu Sans"/>
                <a:ea typeface="DejaVu Sans"/>
                <a:cs typeface="DejaVu Sans"/>
              </a:rPr>
              <a:t>19  Design_15  metrics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993FE18-AD0B-4C30-86BD-5E35501D7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95350"/>
            <a:ext cx="1428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8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8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8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8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8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8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8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8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8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50616C"/>
                </a:solidFill>
                <a:latin typeface="DejaVu Sans"/>
                <a:ea typeface="DejaVu Sans"/>
                <a:cs typeface="DejaVu Sans"/>
              </a:rPr>
              <a:t>Original LigandForge   Candidate A: 50 aa   Human GLP1R B: 409 aa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1C941CD-7B41-4A76-BDF3-67FBB1DA56F9}"/>
              </a:ext>
            </a:extLst>
          </p:cNvPr>
          <p:cNvGraphicFramePr/>
          <p:nvPr/>
        </p:nvGraphicFramePr>
        <p:xfrm>
          <a:off xmlns:a="http://schemas.openxmlformats.org/drawingml/2006/main" x="457200" y="1457325"/>
          <a:ext xmlns:a="http://schemas.openxmlformats.org/drawingml/2006/main" cx="9667875" cy="3429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6791325"/>
                <a:gridCol w="2876550"/>
              </a:tblGrid>
              <a:tr h="34290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Metric and scope</a:t>
                      </a:r>
                    </a:p>
                  </a:txBody>
                  <a:tcPr marL="91440" marR="91440" marT="45720" marB="45720">
                    <a:lnL w="5715">
                      <a:solidFill>
                        <a:srgbClr val="D8E1E5"/>
                      </a:solidFill>
                      <a:prstDash val="solid"/>
                    </a:lnL>
                    <a:lnR w="5715">
                      <a:solidFill>
                        <a:srgbClr val="D8E1E5"/>
                      </a:solidFill>
                      <a:prstDash val="solid"/>
                    </a:lnR>
                    <a:lnT w="5715">
                      <a:solidFill>
                        <a:srgbClr val="D8E1E5"/>
                      </a:solidFill>
                      <a:prstDash val="solid"/>
                    </a:lnT>
                    <a:lnB w="5715">
                      <a:solidFill>
                        <a:srgbClr val="D8E1E5"/>
                      </a:solidFill>
                      <a:prstDash val="solid"/>
                    </a:lnB>
                    <a:solidFill>
                      <a:srgbClr val="245D7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Value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8E1E5"/>
                      </a:solidFill>
                      <a:prstDash val="solid"/>
                    </a:lnR>
                    <a:lnT w="5715">
                      <a:solidFill>
                        <a:srgbClr val="D8E1E5"/>
                      </a:solidFill>
                      <a:prstDash val="solid"/>
                    </a:lnT>
                    <a:lnB w="5715">
                      <a:solidFill>
                        <a:srgbClr val="D8E1E5"/>
                      </a:solidFill>
                      <a:prstDash val="solid"/>
                    </a:lnB>
                    <a:solidFill>
                      <a:srgbClr val="245D73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73747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Boltz2 Exact ipSAE (A/B, Type=max)</a:t>
                      </a:r>
                    </a:p>
                  </a:txBody>
                  <a:tcPr marL="91440" marR="91440" marT="45720" marB="45720">
                    <a:lnL w="5715">
                      <a:solidFill>
                        <a:srgbClr val="D8E1E5"/>
                      </a:solidFill>
                      <a:prstDash val="solid"/>
                    </a:lnL>
                    <a:lnR w="5715">
                      <a:solidFill>
                        <a:srgbClr val="D8E1E5"/>
                      </a:solidFill>
                      <a:prstDash val="solid"/>
                    </a:lnR>
                    <a:lnB w="5715">
                      <a:solidFill>
                        <a:srgbClr val="D8E1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73747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0.898565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8E1E5"/>
                      </a:solidFill>
                      <a:prstDash val="solid"/>
                    </a:lnR>
                    <a:lnB w="5715">
                      <a:solidFill>
                        <a:srgbClr val="D8E1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73747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DeltaForge predicted Kd (nM)</a:t>
                      </a:r>
                    </a:p>
                  </a:txBody>
                  <a:tcPr marL="91440" marR="91440" marT="45720" marB="45720">
                    <a:lnL w="5715">
                      <a:solidFill>
                        <a:srgbClr val="D8E1E5"/>
                      </a:solidFill>
                      <a:prstDash val="solid"/>
                    </a:lnL>
                    <a:lnR w="5715">
                      <a:solidFill>
                        <a:srgbClr val="D8E1E5"/>
                      </a:solidFill>
                      <a:prstDash val="solid"/>
                    </a:lnR>
                    <a:lnB w="5715">
                      <a:solidFill>
                        <a:srgbClr val="D8E1E5"/>
                      </a:solidFill>
                      <a:prstDash val="solid"/>
                    </a:lnB>
                    <a:solidFill>
                      <a:srgbClr val="F1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73747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4.2907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8E1E5"/>
                      </a:solidFill>
                      <a:prstDash val="solid"/>
                    </a:lnR>
                    <a:lnB w="5715">
                      <a:solidFill>
                        <a:srgbClr val="D8E1E5"/>
                      </a:solidFill>
                      <a:prstDash val="solid"/>
                    </a:lnB>
                    <a:solidFill>
                      <a:srgbClr val="F1F5F7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73747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Boltz2 Exact ipTM</a:t>
                      </a:r>
                    </a:p>
                  </a:txBody>
                  <a:tcPr marL="91440" marR="91440" marT="45720" marB="45720">
                    <a:lnL w="5715">
                      <a:solidFill>
                        <a:srgbClr val="D8E1E5"/>
                      </a:solidFill>
                      <a:prstDash val="solid"/>
                    </a:lnL>
                    <a:lnR w="5715">
                      <a:solidFill>
                        <a:srgbClr val="D8E1E5"/>
                      </a:solidFill>
                      <a:prstDash val="solid"/>
                    </a:lnR>
                    <a:lnB w="5715">
                      <a:solidFill>
                        <a:srgbClr val="D8E1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73747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0.9471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8E1E5"/>
                      </a:solidFill>
                      <a:prstDash val="solid"/>
                    </a:lnR>
                    <a:lnB w="5715">
                      <a:solidFill>
                        <a:srgbClr val="D8E1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73747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Original population ipSAE rank</a:t>
                      </a:r>
                    </a:p>
                  </a:txBody>
                  <a:tcPr marL="91440" marR="91440" marT="45720" marB="45720">
                    <a:lnL w="5715">
                      <a:solidFill>
                        <a:srgbClr val="D8E1E5"/>
                      </a:solidFill>
                      <a:prstDash val="solid"/>
                    </a:lnL>
                    <a:lnR w="5715">
                      <a:solidFill>
                        <a:srgbClr val="D8E1E5"/>
                      </a:solidFill>
                      <a:prstDash val="solid"/>
                    </a:lnR>
                    <a:lnB w="5715">
                      <a:solidFill>
                        <a:srgbClr val="D8E1E5"/>
                      </a:solidFill>
                      <a:prstDash val="solid"/>
                    </a:lnB>
                    <a:solidFill>
                      <a:srgbClr val="F1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73747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15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8E1E5"/>
                      </a:solidFill>
                      <a:prstDash val="solid"/>
                    </a:lnR>
                    <a:lnB w="5715">
                      <a:solidFill>
                        <a:srgbClr val="D8E1E5"/>
                      </a:solidFill>
                      <a:prstDash val="solid"/>
                    </a:lnB>
                    <a:solidFill>
                      <a:srgbClr val="F1F5F7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73747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Predicted-Kd rank within population top50</a:t>
                      </a:r>
                    </a:p>
                  </a:txBody>
                  <a:tcPr marL="91440" marR="91440" marT="45720" marB="45720">
                    <a:lnL w="5715">
                      <a:solidFill>
                        <a:srgbClr val="D8E1E5"/>
                      </a:solidFill>
                      <a:prstDash val="solid"/>
                    </a:lnL>
                    <a:lnR w="5715">
                      <a:solidFill>
                        <a:srgbClr val="D8E1E5"/>
                      </a:solidFill>
                      <a:prstDash val="solid"/>
                    </a:lnR>
                    <a:lnB w="5715">
                      <a:solidFill>
                        <a:srgbClr val="D8E1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73747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18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8E1E5"/>
                      </a:solidFill>
                      <a:prstDash val="solid"/>
                    </a:lnR>
                    <a:lnB w="5715">
                      <a:solidFill>
                        <a:srgbClr val="D8E1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73747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Candidate / receptor residues (aa)</a:t>
                      </a:r>
                    </a:p>
                  </a:txBody>
                  <a:tcPr marL="91440" marR="91440" marT="45720" marB="45720">
                    <a:lnL w="5715">
                      <a:solidFill>
                        <a:srgbClr val="D8E1E5"/>
                      </a:solidFill>
                      <a:prstDash val="solid"/>
                    </a:lnL>
                    <a:lnR w="5715">
                      <a:solidFill>
                        <a:srgbClr val="D8E1E5"/>
                      </a:solidFill>
                      <a:prstDash val="solid"/>
                    </a:lnR>
                    <a:lnB w="5715">
                      <a:solidFill>
                        <a:srgbClr val="D8E1E5"/>
                      </a:solidFill>
                      <a:prstDash val="solid"/>
                    </a:lnB>
                    <a:solidFill>
                      <a:srgbClr val="F1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73747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50 / 409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8E1E5"/>
                      </a:solidFill>
                      <a:prstDash val="solid"/>
                    </a:lnR>
                    <a:lnB w="5715">
                      <a:solidFill>
                        <a:srgbClr val="D8E1E5"/>
                      </a:solidFill>
                      <a:prstDash val="solid"/>
                    </a:lnB>
                    <a:solidFill>
                      <a:srgbClr val="F1F5F7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73747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Complex pLDDT (0-100)</a:t>
                      </a:r>
                    </a:p>
                  </a:txBody>
                  <a:tcPr marL="91440" marR="91440" marT="45720" marB="45720">
                    <a:lnL w="5715">
                      <a:solidFill>
                        <a:srgbClr val="D8E1E5"/>
                      </a:solidFill>
                      <a:prstDash val="solid"/>
                    </a:lnL>
                    <a:lnR w="5715">
                      <a:solidFill>
                        <a:srgbClr val="D8E1E5"/>
                      </a:solidFill>
                      <a:prstDash val="solid"/>
                    </a:lnR>
                    <a:lnB w="5715">
                      <a:solidFill>
                        <a:srgbClr val="D8E1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73747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69.4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8E1E5"/>
                      </a:solidFill>
                      <a:prstDash val="solid"/>
                    </a:lnR>
                    <a:lnB w="5715">
                      <a:solidFill>
                        <a:srgbClr val="D8E1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73747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Generator-to-refold DockQ / TM-score</a:t>
                      </a:r>
                    </a:p>
                  </a:txBody>
                  <a:tcPr marL="91440" marR="91440" marT="45720" marB="45720">
                    <a:lnL w="5715">
                      <a:solidFill>
                        <a:srgbClr val="D8E1E5"/>
                      </a:solidFill>
                      <a:prstDash val="solid"/>
                    </a:lnL>
                    <a:lnR w="5715">
                      <a:solidFill>
                        <a:srgbClr val="D8E1E5"/>
                      </a:solidFill>
                      <a:prstDash val="solid"/>
                    </a:lnR>
                    <a:lnB w="5715">
                      <a:solidFill>
                        <a:srgbClr val="D8E1E5"/>
                      </a:solidFill>
                      <a:prstDash val="solid"/>
                    </a:lnB>
                    <a:solidFill>
                      <a:srgbClr val="F1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73747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N/A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8E1E5"/>
                      </a:solidFill>
                      <a:prstDash val="solid"/>
                    </a:lnR>
                    <a:lnB w="5715">
                      <a:solidFill>
                        <a:srgbClr val="D8E1E5"/>
                      </a:solidFill>
                      <a:prstDash val="solid"/>
                    </a:lnB>
                    <a:solidFill>
                      <a:srgbClr val="F1F5F7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73747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DeltaForge length scope</a:t>
                      </a:r>
                    </a:p>
                  </a:txBody>
                  <a:tcPr marL="91440" marR="91440" marT="45720" marB="45720">
                    <a:lnL w="5715">
                      <a:solidFill>
                        <a:srgbClr val="D8E1E5"/>
                      </a:solidFill>
                      <a:prstDash val="solid"/>
                    </a:lnL>
                    <a:lnR w="5715">
                      <a:solidFill>
                        <a:srgbClr val="D8E1E5"/>
                      </a:solidFill>
                      <a:prstDash val="solid"/>
                    </a:lnR>
                    <a:lnB w="5715">
                      <a:solidFill>
                        <a:srgbClr val="D8E1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73747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core_40_119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8E1E5"/>
                      </a:solidFill>
                      <a:prstDash val="solid"/>
                    </a:lnR>
                    <a:lnB w="5715">
                      <a:solidFill>
                        <a:srgbClr val="D8E1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2EEB3A7-F6C8-4816-B001-CFC178028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1457325"/>
            <a:ext cx="4095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950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950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950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950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950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950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950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950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950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950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173747"/>
                </a:solidFill>
                <a:latin typeface="DejaVu Sans"/>
                <a:ea typeface="DejaVu Sans"/>
                <a:cs typeface="DejaVu Sans"/>
              </a:rPr>
              <a:t>Origin and prediction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A678ED9-B7E2-4574-B5A4-022B8D559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1952625"/>
            <a:ext cx="4095750" cy="390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725" b="0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725" b="0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725" b="0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725" b="0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725" b="0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725" b="0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725" b="0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725" b="0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725" b="0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725" b="0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173747"/>
                </a:solidFill>
                <a:latin typeface="DejaVu Sans"/>
                <a:ea typeface="DejaVu Sans"/>
                <a:cs typeface="DejaVu Sans"/>
              </a:rPr>
              <a:t>Original LigandForge v6.5.21</a:t>
            </a:r>
          </a:p>
          <a:p xmlns:a="http://schemas.openxmlformats.org/drawingml/2006/main">
            <a:pPr>
              <a:defRPr sz="1725" b="0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173747"/>
                </a:solidFill>
                <a:latin typeface="DejaVu Sans"/>
                <a:ea typeface="DejaVu Sans"/>
                <a:cs typeface="DejaVu Sans"/>
              </a:rPr>
              <a:t>Generation 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725" b="0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173747"/>
                </a:solidFill>
                <a:latin typeface="DejaVu Sans"/>
                <a:ea typeface="DejaVu Sans"/>
                <a:cs typeface="DejaVu Sans"/>
              </a:rPr>
              <a:t>Exact seed 101</a:t>
            </a:r>
          </a:p>
          <a:p xmlns:a="http://schemas.openxmlformats.org/drawingml/2006/main">
            <a:pPr>
              <a:defRPr sz="1725" b="0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173747"/>
                </a:solidFill>
                <a:latin typeface="DejaVu Sans"/>
                <a:ea typeface="DejaVu Sans"/>
                <a:cs typeface="DejaVu Sans"/>
              </a:rPr>
              <a:t>3 recycles, 200 steps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725" b="0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173747"/>
                </a:solidFill>
                <a:latin typeface="DejaVu Sans"/>
                <a:ea typeface="DejaVu Sans"/>
                <a:cs typeface="DejaVu Sans"/>
              </a:rPr>
              <a:t>WT GLP1R 24-432</a:t>
            </a:r>
          </a:p>
          <a:p xmlns:a="http://schemas.openxmlformats.org/drawingml/2006/main">
            <a:pPr>
              <a:defRPr sz="1725" b="0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173747"/>
                </a:solidFill>
                <a:latin typeface="DejaVu Sans"/>
                <a:ea typeface="DejaVu Sans"/>
                <a:cs typeface="DejaVu Sans"/>
              </a:rPr>
              <a:t>409 receptor residues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725" b="0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173747"/>
                </a:solidFill>
                <a:latin typeface="DejaVu Sans"/>
                <a:ea typeface="DejaVu Sans"/>
                <a:cs typeface="DejaVu Sans"/>
              </a:rPr>
              <a:t>Original generator coordinates unavailable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CD34E0F-E643-48EB-BAAC-7BA0A6145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81750"/>
            <a:ext cx="14192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650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650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650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650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650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650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650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650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650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650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50616C"/>
                </a:solidFill>
                <a:latin typeface="DejaVu Sans"/>
                <a:ea typeface="DejaVu Sans"/>
                <a:cs typeface="DejaVu Sans"/>
              </a:rPr>
              <a:t>Original generator coordinates are unavailable. This Exact prediction does not establish activation.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988E59E-1D73-4352-9F4E-626743223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115175"/>
            <a:ext cx="14192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57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57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57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57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57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57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57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57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57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57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57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pPr>
            <a:r>
              <a:rPr sz="1575" b="1">
                <a:solidFill>
                  <a:srgbClr val="173747"/>
                </a:solidFill>
                <a:latin typeface="DejaVu Sans"/>
                <a:ea typeface="DejaVu Sans"/>
                <a:cs typeface="DejaVu Sans"/>
              </a:rPr>
              <a:t>Complete selected sequence, N to C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68B7BF2-6E69-4C8A-933D-AD73A330B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410450"/>
            <a:ext cx="141922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500" b="0">
                <a:solidFill>
                  <a:srgbClr val="173747"/>
                </a:solidFill>
                <a:latin typeface="DejaVu Sans Mono"/>
                <a:ea typeface="DejaVu Sans Mono"/>
                <a:cs typeface="DejaVu Sans Mono"/>
              </a:defRPr>
            </a:defPPr>
            <a:lvl1pPr>
              <a:defRPr sz="1500" b="0">
                <a:solidFill>
                  <a:srgbClr val="173747"/>
                </a:solidFill>
                <a:latin typeface="DejaVu Sans Mono"/>
                <a:ea typeface="DejaVu Sans Mono"/>
                <a:cs typeface="DejaVu Sans Mono"/>
              </a:defRPr>
            </a:lvl1pPr>
            <a:lvl2pPr>
              <a:defRPr sz="1500" b="0">
                <a:solidFill>
                  <a:srgbClr val="173747"/>
                </a:solidFill>
                <a:latin typeface="DejaVu Sans Mono"/>
                <a:ea typeface="DejaVu Sans Mono"/>
                <a:cs typeface="DejaVu Sans Mono"/>
              </a:defRPr>
            </a:lvl2pPr>
            <a:lvl3pPr>
              <a:defRPr sz="1500" b="0">
                <a:solidFill>
                  <a:srgbClr val="173747"/>
                </a:solidFill>
                <a:latin typeface="DejaVu Sans Mono"/>
                <a:ea typeface="DejaVu Sans Mono"/>
                <a:cs typeface="DejaVu Sans Mono"/>
              </a:defRPr>
            </a:lvl3pPr>
            <a:lvl4pPr>
              <a:defRPr sz="1500" b="0">
                <a:solidFill>
                  <a:srgbClr val="173747"/>
                </a:solidFill>
                <a:latin typeface="DejaVu Sans Mono"/>
                <a:ea typeface="DejaVu Sans Mono"/>
                <a:cs typeface="DejaVu Sans Mono"/>
              </a:defRPr>
            </a:lvl4pPr>
            <a:lvl5pPr>
              <a:defRPr sz="1500" b="0">
                <a:solidFill>
                  <a:srgbClr val="173747"/>
                </a:solidFill>
                <a:latin typeface="DejaVu Sans Mono"/>
                <a:ea typeface="DejaVu Sans Mono"/>
                <a:cs typeface="DejaVu Sans Mono"/>
              </a:defRPr>
            </a:lvl5pPr>
            <a:lvl6pPr>
              <a:defRPr sz="1500" b="0">
                <a:solidFill>
                  <a:srgbClr val="173747"/>
                </a:solidFill>
                <a:latin typeface="DejaVu Sans Mono"/>
                <a:ea typeface="DejaVu Sans Mono"/>
                <a:cs typeface="DejaVu Sans Mono"/>
              </a:defRPr>
            </a:lvl6pPr>
            <a:lvl7pPr>
              <a:defRPr sz="1500" b="0">
                <a:solidFill>
                  <a:srgbClr val="173747"/>
                </a:solidFill>
                <a:latin typeface="DejaVu Sans Mono"/>
                <a:ea typeface="DejaVu Sans Mono"/>
                <a:cs typeface="DejaVu Sans Mono"/>
              </a:defRPr>
            </a:lvl7pPr>
            <a:lvl8pPr>
              <a:defRPr sz="1500" b="0">
                <a:solidFill>
                  <a:srgbClr val="173747"/>
                </a:solidFill>
                <a:latin typeface="DejaVu Sans Mono"/>
                <a:ea typeface="DejaVu Sans Mono"/>
                <a:cs typeface="DejaVu Sans Mono"/>
              </a:defRPr>
            </a:lvl8pPr>
            <a:lvl9pPr>
              <a:defRPr sz="1500" b="0">
                <a:solidFill>
                  <a:srgbClr val="173747"/>
                </a:solidFill>
                <a:latin typeface="DejaVu Sans Mono"/>
                <a:ea typeface="DejaVu Sans Mono"/>
                <a:cs typeface="DejaVu Sans Mono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173747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00" b="0">
                <a:solidFill>
                  <a:srgbClr val="173747"/>
                </a:solidFill>
                <a:latin typeface="DejaVu Sans Mono"/>
                <a:ea typeface="DejaVu Sans Mono"/>
                <a:cs typeface="DejaVu Sans Mono"/>
              </a:rPr>
              <a:t>AQCTKTYAIGYDVYLKLTYLGFRRADGAGNDDDVCAGNVGGSGSGSFFVA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5E61C89-3113-46FB-AD12-1AC8B7B26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248650"/>
            <a:ext cx="1304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2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2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2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2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2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2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2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2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2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2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50616C"/>
                </a:solidFill>
                <a:latin typeface="DejaVu Sans"/>
                <a:ea typeface="DejaVu Sans"/>
                <a:cs typeface="DejaVu Sans"/>
              </a:rPr>
              <a:t>Human GLP1R     Boltz2 Exact     Computational predictions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9F11989-F0EA-4D46-BD3E-9A92EE828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0" y="82486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2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2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2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2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2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2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2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2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2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2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50616C"/>
                </a:solidFill>
                <a:latin typeface="DejaVu Sans"/>
                <a:ea typeface="DejaVu Sans"/>
                <a:cs typeface="DejaVu Sans"/>
              </a:rPr>
              <a:t>37</a:t>
            </a:r>
          </a:p>
        </p:txBody>
      </p:sp>
    </p:spTree>
    <p:extLst>
      <p:ext uri="{BB962C8B-B14F-4D97-AF65-F5344CB8AC3E}">
        <p14:creationId xmlns:p14="http://schemas.microsoft.com/office/powerpoint/2010/main" val="1922454963"/>
      </p:ext>
    </p:extLst>
  </p:cSld>
</p:sld>
</file>

<file path=ppt/slides/slide3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2893131-DF82-4D16-AE55-DDDD31F46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76225"/>
            <a:ext cx="1428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22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322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322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322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322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322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322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322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322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322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73747"/>
                </a:solidFill>
                <a:latin typeface="DejaVu Sans"/>
                <a:ea typeface="DejaVu Sans"/>
                <a:cs typeface="DejaVu Sans"/>
              </a:rPr>
              <a:t>19  Design_15  structure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C286E64-C977-429F-AF7D-96F0707A7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95350"/>
            <a:ext cx="1428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8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8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8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8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8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8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8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8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8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50616C"/>
                </a:solidFill>
                <a:latin typeface="DejaVu Sans"/>
                <a:ea typeface="DejaVu Sans"/>
                <a:cs typeface="DejaVu Sans"/>
              </a:rPr>
              <a:t>Original LigandForge   Candidate A: 50 aa   Human GLP1R B: 409 aa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EB4D1CE-1164-48F0-A76B-D65EDC490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362075"/>
            <a:ext cx="619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7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87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87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87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87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87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87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87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87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87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173747"/>
                </a:solidFill>
                <a:latin typeface="DejaVu Sans"/>
                <a:ea typeface="DejaVu Sans"/>
                <a:cs typeface="DejaVu Sans"/>
              </a:rPr>
              <a:t>Boltz2 Exact receptor complex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ED2C81B-64BD-461A-BBAB-45B1E3E75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362075"/>
            <a:ext cx="619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7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87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87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87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87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87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87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87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87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87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173747"/>
                </a:solidFill>
                <a:latin typeface="DejaVu Sans"/>
                <a:ea typeface="DejaVu Sans"/>
                <a:cs typeface="DejaVu Sans"/>
              </a:rPr>
              <a:t>Boltz2 Exact interface detail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FEC3501-AFA9-43E2-8B57-4C536680854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67116c6bb25443f"/>
          <a:stretch xmlns:a="http://schemas.openxmlformats.org/drawingml/2006/main"/>
        </p:blipFill>
        <p:spPr>
          <a:xfrm xmlns:a="http://schemas.openxmlformats.org/drawingml/2006/main">
            <a:off x="2344208" y="1724025"/>
            <a:ext cx="3217333" cy="4572000"/>
          </a:xfrm>
          <a:prstGeom xmlns:a="http://schemas.openxmlformats.org/drawingml/2006/main" prst="rect">
            <a:avLst/>
          </a:prstGeom>
        </p:spPr>
      </p:pic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45355CE-164A-4336-94D9-BA0DEA6B579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a119c2eb138444b"/>
          <a:stretch xmlns:a="http://schemas.openxmlformats.org/drawingml/2006/main"/>
        </p:blipFill>
        <p:spPr>
          <a:xfrm xmlns:a="http://schemas.openxmlformats.org/drawingml/2006/main">
            <a:off x="9678458" y="1724025"/>
            <a:ext cx="3217333" cy="457200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3602EDD-F032-49C3-98C9-30F3E0CCB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579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650" b="1">
                <a:solidFill>
                  <a:srgbClr val="E69F00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650" b="1">
                <a:solidFill>
                  <a:srgbClr val="E69F00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650" b="1">
                <a:solidFill>
                  <a:srgbClr val="E69F00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650" b="1">
                <a:solidFill>
                  <a:srgbClr val="E69F00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650" b="1">
                <a:solidFill>
                  <a:srgbClr val="E69F00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650" b="1">
                <a:solidFill>
                  <a:srgbClr val="E69F00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650" b="1">
                <a:solidFill>
                  <a:srgbClr val="E69F00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650" b="1">
                <a:solidFill>
                  <a:srgbClr val="E69F00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650" b="1">
                <a:solidFill>
                  <a:srgbClr val="E69F00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650" b="1">
                <a:solidFill>
                  <a:srgbClr val="E69F00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E69F00"/>
                </a:solidFill>
                <a:latin typeface="DejaVu Sans"/>
                <a:ea typeface="DejaVu Sans"/>
                <a:cs typeface="DejaVu Sans"/>
              </a:defRPr>
            </a:pPr>
            <a:r>
              <a:rPr sz="1650" b="1">
                <a:solidFill>
                  <a:srgbClr val="E69F00"/>
                </a:solidFill>
                <a:latin typeface="DejaVu Sans"/>
                <a:ea typeface="DejaVu Sans"/>
                <a:cs typeface="DejaVu Sans"/>
              </a:rPr>
              <a:t>LigandForge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7A6EE7A-A3E6-4151-88EC-7C492334D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64579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650" b="1">
                <a:solidFill>
                  <a:srgbClr val="009E73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650" b="1">
                <a:solidFill>
                  <a:srgbClr val="009E73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650" b="1">
                <a:solidFill>
                  <a:srgbClr val="009E73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650" b="1">
                <a:solidFill>
                  <a:srgbClr val="009E73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650" b="1">
                <a:solidFill>
                  <a:srgbClr val="009E73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650" b="1">
                <a:solidFill>
                  <a:srgbClr val="009E73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650" b="1">
                <a:solidFill>
                  <a:srgbClr val="009E73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650" b="1">
                <a:solidFill>
                  <a:srgbClr val="009E73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650" b="1">
                <a:solidFill>
                  <a:srgbClr val="009E73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650" b="1">
                <a:solidFill>
                  <a:srgbClr val="009E73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009E73"/>
                </a:solidFill>
                <a:latin typeface="DejaVu Sans"/>
                <a:ea typeface="DejaVu Sans"/>
                <a:cs typeface="DejaVu Sans"/>
              </a:defRPr>
            </a:pPr>
            <a:r>
              <a:rPr sz="1650" b="1">
                <a:solidFill>
                  <a:srgbClr val="009E73"/>
                </a:solidFill>
                <a:latin typeface="DejaVu Sans"/>
                <a:ea typeface="DejaVu Sans"/>
                <a:cs typeface="DejaVu Sans"/>
              </a:rPr>
              <a:t>Receptor ECD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B5909C6-8AA8-4A18-B569-A1E84A916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64579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650" b="1">
                <a:solidFill>
                  <a:srgbClr val="7B8794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650" b="1">
                <a:solidFill>
                  <a:srgbClr val="7B8794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650" b="1">
                <a:solidFill>
                  <a:srgbClr val="7B8794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650" b="1">
                <a:solidFill>
                  <a:srgbClr val="7B8794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650" b="1">
                <a:solidFill>
                  <a:srgbClr val="7B8794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650" b="1">
                <a:solidFill>
                  <a:srgbClr val="7B8794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650" b="1">
                <a:solidFill>
                  <a:srgbClr val="7B8794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650" b="1">
                <a:solidFill>
                  <a:srgbClr val="7B8794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650" b="1">
                <a:solidFill>
                  <a:srgbClr val="7B8794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650" b="1">
                <a:solidFill>
                  <a:srgbClr val="7B8794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7B8794"/>
                </a:solidFill>
                <a:latin typeface="DejaVu Sans"/>
                <a:ea typeface="DejaVu Sans"/>
                <a:cs typeface="DejaVu Sans"/>
              </a:defRPr>
            </a:pPr>
            <a:r>
              <a:rPr sz="1650" b="1">
                <a:solidFill>
                  <a:srgbClr val="7B8794"/>
                </a:solidFill>
                <a:latin typeface="DejaVu Sans"/>
                <a:ea typeface="DejaVu Sans"/>
                <a:cs typeface="DejaVu Sans"/>
              </a:rPr>
              <a:t>Remaining receptor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80F8FAB-74D2-4D8C-8633-78A694B57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4579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650" b="1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650" b="1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650" b="1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650" b="1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650" b="1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650" b="1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650" b="1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650" b="1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650" b="1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650" b="1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1650" b="1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Hotspots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1949D97-62BC-474F-814C-96D1D4728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800850"/>
            <a:ext cx="1428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42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42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42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42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42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42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42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42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42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42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>
                <a:solidFill>
                  <a:srgbClr val="50616C"/>
                </a:solidFill>
                <a:latin typeface="DejaVu Sans"/>
                <a:ea typeface="DejaVu Sans"/>
                <a:cs typeface="DejaVu Sans"/>
              </a:rPr>
              <a:t>Receptor ECD B1–105 (UniProt 24–128). Black sticks: 27 submitted pocket positions. View-specific zoom.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65E3B12-99E6-4EE7-951A-919A80DB0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134225"/>
            <a:ext cx="14192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57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57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57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57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57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57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57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57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57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57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57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pPr>
            <a:r>
              <a:rPr sz="1575" b="1">
                <a:solidFill>
                  <a:srgbClr val="173747"/>
                </a:solidFill>
                <a:latin typeface="DejaVu Sans"/>
                <a:ea typeface="DejaVu Sans"/>
                <a:cs typeface="DejaVu Sans"/>
              </a:rPr>
              <a:t>Complete selected sequence, N to C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B63B085-7067-4B4D-8782-6F9DA86F8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429500"/>
            <a:ext cx="141922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500" b="0">
                <a:solidFill>
                  <a:srgbClr val="173747"/>
                </a:solidFill>
                <a:latin typeface="DejaVu Sans Mono"/>
                <a:ea typeface="DejaVu Sans Mono"/>
                <a:cs typeface="DejaVu Sans Mono"/>
              </a:defRPr>
            </a:defPPr>
            <a:lvl1pPr>
              <a:defRPr sz="1500" b="0">
                <a:solidFill>
                  <a:srgbClr val="173747"/>
                </a:solidFill>
                <a:latin typeface="DejaVu Sans Mono"/>
                <a:ea typeface="DejaVu Sans Mono"/>
                <a:cs typeface="DejaVu Sans Mono"/>
              </a:defRPr>
            </a:lvl1pPr>
            <a:lvl2pPr>
              <a:defRPr sz="1500" b="0">
                <a:solidFill>
                  <a:srgbClr val="173747"/>
                </a:solidFill>
                <a:latin typeface="DejaVu Sans Mono"/>
                <a:ea typeface="DejaVu Sans Mono"/>
                <a:cs typeface="DejaVu Sans Mono"/>
              </a:defRPr>
            </a:lvl2pPr>
            <a:lvl3pPr>
              <a:defRPr sz="1500" b="0">
                <a:solidFill>
                  <a:srgbClr val="173747"/>
                </a:solidFill>
                <a:latin typeface="DejaVu Sans Mono"/>
                <a:ea typeface="DejaVu Sans Mono"/>
                <a:cs typeface="DejaVu Sans Mono"/>
              </a:defRPr>
            </a:lvl3pPr>
            <a:lvl4pPr>
              <a:defRPr sz="1500" b="0">
                <a:solidFill>
                  <a:srgbClr val="173747"/>
                </a:solidFill>
                <a:latin typeface="DejaVu Sans Mono"/>
                <a:ea typeface="DejaVu Sans Mono"/>
                <a:cs typeface="DejaVu Sans Mono"/>
              </a:defRPr>
            </a:lvl4pPr>
            <a:lvl5pPr>
              <a:defRPr sz="1500" b="0">
                <a:solidFill>
                  <a:srgbClr val="173747"/>
                </a:solidFill>
                <a:latin typeface="DejaVu Sans Mono"/>
                <a:ea typeface="DejaVu Sans Mono"/>
                <a:cs typeface="DejaVu Sans Mono"/>
              </a:defRPr>
            </a:lvl5pPr>
            <a:lvl6pPr>
              <a:defRPr sz="1500" b="0">
                <a:solidFill>
                  <a:srgbClr val="173747"/>
                </a:solidFill>
                <a:latin typeface="DejaVu Sans Mono"/>
                <a:ea typeface="DejaVu Sans Mono"/>
                <a:cs typeface="DejaVu Sans Mono"/>
              </a:defRPr>
            </a:lvl6pPr>
            <a:lvl7pPr>
              <a:defRPr sz="1500" b="0">
                <a:solidFill>
                  <a:srgbClr val="173747"/>
                </a:solidFill>
                <a:latin typeface="DejaVu Sans Mono"/>
                <a:ea typeface="DejaVu Sans Mono"/>
                <a:cs typeface="DejaVu Sans Mono"/>
              </a:defRPr>
            </a:lvl7pPr>
            <a:lvl8pPr>
              <a:defRPr sz="1500" b="0">
                <a:solidFill>
                  <a:srgbClr val="173747"/>
                </a:solidFill>
                <a:latin typeface="DejaVu Sans Mono"/>
                <a:ea typeface="DejaVu Sans Mono"/>
                <a:cs typeface="DejaVu Sans Mono"/>
              </a:defRPr>
            </a:lvl8pPr>
            <a:lvl9pPr>
              <a:defRPr sz="1500" b="0">
                <a:solidFill>
                  <a:srgbClr val="173747"/>
                </a:solidFill>
                <a:latin typeface="DejaVu Sans Mono"/>
                <a:ea typeface="DejaVu Sans Mono"/>
                <a:cs typeface="DejaVu Sans Mono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173747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00" b="0">
                <a:solidFill>
                  <a:srgbClr val="173747"/>
                </a:solidFill>
                <a:latin typeface="DejaVu Sans Mono"/>
                <a:ea typeface="DejaVu Sans Mono"/>
                <a:cs typeface="DejaVu Sans Mono"/>
              </a:rPr>
              <a:t>AQCTKTYAIGYDVYLKLTYLGFRRADGAGNDDDVCAGNVGGSGSGSFFVA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E0CBE90-9C6B-4F9F-AF66-B462B66D6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248650"/>
            <a:ext cx="1304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2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2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2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2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2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2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2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2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2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2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50616C"/>
                </a:solidFill>
                <a:latin typeface="DejaVu Sans"/>
                <a:ea typeface="DejaVu Sans"/>
                <a:cs typeface="DejaVu Sans"/>
              </a:rPr>
              <a:t>Human GLP1R     Boltz2 Exact     Computational predictions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5C667E5-D51C-4225-9344-B827257C5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0" y="82486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2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2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2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2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2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2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2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2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2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2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50616C"/>
                </a:solidFill>
                <a:latin typeface="DejaVu Sans"/>
                <a:ea typeface="DejaVu Sans"/>
                <a:cs typeface="DejaVu Sans"/>
              </a:rPr>
              <a:t>38</a:t>
            </a:r>
          </a:p>
        </p:txBody>
      </p:sp>
    </p:spTree>
    <p:extLst>
      <p:ext uri="{BB962C8B-B14F-4D97-AF65-F5344CB8AC3E}">
        <p14:creationId xmlns:p14="http://schemas.microsoft.com/office/powerpoint/2010/main" val="1279790229"/>
      </p:ext>
    </p:extLst>
  </p:cSld>
</p:sld>
</file>

<file path=ppt/slides/slide3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91F28B5-5686-4AB3-B7BC-33E73CD95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76225"/>
            <a:ext cx="1428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22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322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322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322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322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322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322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322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322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322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73747"/>
                </a:solidFill>
                <a:latin typeface="DejaVu Sans"/>
                <a:ea typeface="DejaVu Sans"/>
                <a:cs typeface="DejaVu Sans"/>
              </a:rPr>
              <a:t>20  LK_P093_03  metrics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E31C62F-0572-4917-AE85-B1E5CE4DC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95350"/>
            <a:ext cx="1428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8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8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8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8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8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8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8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8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8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50616C"/>
                </a:solidFill>
                <a:latin typeface="DejaVu Sans"/>
                <a:ea typeface="DejaVu Sans"/>
                <a:cs typeface="DejaVu Sans"/>
              </a:rPr>
              <a:t>D-L-D fusion   Candidate A: 159 aa   Human GLP1R B: 440 aa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A1D8A87-DB3B-42A5-A266-88CD6FEEB819}"/>
              </a:ext>
            </a:extLst>
          </p:cNvPr>
          <p:cNvGraphicFramePr/>
          <p:nvPr/>
        </p:nvGraphicFramePr>
        <p:xfrm>
          <a:off xmlns:a="http://schemas.openxmlformats.org/drawingml/2006/main" x="457200" y="1457325"/>
          <a:ext xmlns:a="http://schemas.openxmlformats.org/drawingml/2006/main" cx="9667875" cy="48006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6791325"/>
                <a:gridCol w="2876550"/>
              </a:tblGrid>
              <a:tr h="34290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Metric and scope</a:t>
                      </a:r>
                    </a:p>
                  </a:txBody>
                  <a:tcPr marL="91440" marR="91440" marT="45720" marB="45720">
                    <a:lnL w="5715">
                      <a:solidFill>
                        <a:srgbClr val="D8E1E5"/>
                      </a:solidFill>
                      <a:prstDash val="solid"/>
                    </a:lnL>
                    <a:lnR w="5715">
                      <a:solidFill>
                        <a:srgbClr val="D8E1E5"/>
                      </a:solidFill>
                      <a:prstDash val="solid"/>
                    </a:lnR>
                    <a:lnT w="5715">
                      <a:solidFill>
                        <a:srgbClr val="D8E1E5"/>
                      </a:solidFill>
                      <a:prstDash val="solid"/>
                    </a:lnT>
                    <a:lnB w="5715">
                      <a:solidFill>
                        <a:srgbClr val="D8E1E5"/>
                      </a:solidFill>
                      <a:prstDash val="solid"/>
                    </a:lnB>
                    <a:solidFill>
                      <a:srgbClr val="245D7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Value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8E1E5"/>
                      </a:solidFill>
                      <a:prstDash val="solid"/>
                    </a:lnR>
                    <a:lnT w="5715">
                      <a:solidFill>
                        <a:srgbClr val="D8E1E5"/>
                      </a:solidFill>
                      <a:prstDash val="solid"/>
                    </a:lnT>
                    <a:lnB w="5715">
                      <a:solidFill>
                        <a:srgbClr val="D8E1E5"/>
                      </a:solidFill>
                      <a:prstDash val="solid"/>
                    </a:lnB>
                    <a:solidFill>
                      <a:srgbClr val="245D73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73747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Boltz2 Exact ipSAE (A/B, Type=max)</a:t>
                      </a:r>
                    </a:p>
                  </a:txBody>
                  <a:tcPr marL="91440" marR="91440" marT="45720" marB="45720">
                    <a:lnL w="5715">
                      <a:solidFill>
                        <a:srgbClr val="D8E1E5"/>
                      </a:solidFill>
                      <a:prstDash val="solid"/>
                    </a:lnL>
                    <a:lnR w="5715">
                      <a:solidFill>
                        <a:srgbClr val="D8E1E5"/>
                      </a:solidFill>
                      <a:prstDash val="solid"/>
                    </a:lnR>
                    <a:lnB w="5715">
                      <a:solidFill>
                        <a:srgbClr val="D8E1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73747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0.898297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8E1E5"/>
                      </a:solidFill>
                      <a:prstDash val="solid"/>
                    </a:lnR>
                    <a:lnB w="5715">
                      <a:solidFill>
                        <a:srgbClr val="D8E1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73747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DeltaForge predicted Kd (nM)</a:t>
                      </a:r>
                    </a:p>
                  </a:txBody>
                  <a:tcPr marL="91440" marR="91440" marT="45720" marB="45720">
                    <a:lnL w="5715">
                      <a:solidFill>
                        <a:srgbClr val="D8E1E5"/>
                      </a:solidFill>
                      <a:prstDash val="solid"/>
                    </a:lnL>
                    <a:lnR w="5715">
                      <a:solidFill>
                        <a:srgbClr val="D8E1E5"/>
                      </a:solidFill>
                      <a:prstDash val="solid"/>
                    </a:lnR>
                    <a:lnB w="5715">
                      <a:solidFill>
                        <a:srgbClr val="D8E1E5"/>
                      </a:solidFill>
                      <a:prstDash val="solid"/>
                    </a:lnB>
                    <a:solidFill>
                      <a:srgbClr val="F1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73747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0.8232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8E1E5"/>
                      </a:solidFill>
                      <a:prstDash val="solid"/>
                    </a:lnR>
                    <a:lnB w="5715">
                      <a:solidFill>
                        <a:srgbClr val="D8E1E5"/>
                      </a:solidFill>
                      <a:prstDash val="solid"/>
                    </a:lnB>
                    <a:solidFill>
                      <a:srgbClr val="F1F5F7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73747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Boltz2 Exact ipTM</a:t>
                      </a:r>
                    </a:p>
                  </a:txBody>
                  <a:tcPr marL="91440" marR="91440" marT="45720" marB="45720">
                    <a:lnL w="5715">
                      <a:solidFill>
                        <a:srgbClr val="D8E1E5"/>
                      </a:solidFill>
                      <a:prstDash val="solid"/>
                    </a:lnL>
                    <a:lnR w="5715">
                      <a:solidFill>
                        <a:srgbClr val="D8E1E5"/>
                      </a:solidFill>
                      <a:prstDash val="solid"/>
                    </a:lnR>
                    <a:lnB w="5715">
                      <a:solidFill>
                        <a:srgbClr val="D8E1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73747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0.8864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8E1E5"/>
                      </a:solidFill>
                      <a:prstDash val="solid"/>
                    </a:lnR>
                    <a:lnB w="5715">
                      <a:solidFill>
                        <a:srgbClr val="D8E1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73747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Original population ipSAE rank</a:t>
                      </a:r>
                    </a:p>
                  </a:txBody>
                  <a:tcPr marL="91440" marR="91440" marT="45720" marB="45720">
                    <a:lnL w="5715">
                      <a:solidFill>
                        <a:srgbClr val="D8E1E5"/>
                      </a:solidFill>
                      <a:prstDash val="solid"/>
                    </a:lnL>
                    <a:lnR w="5715">
                      <a:solidFill>
                        <a:srgbClr val="D8E1E5"/>
                      </a:solidFill>
                      <a:prstDash val="solid"/>
                    </a:lnR>
                    <a:lnB w="5715">
                      <a:solidFill>
                        <a:srgbClr val="D8E1E5"/>
                      </a:solidFill>
                      <a:prstDash val="solid"/>
                    </a:lnB>
                    <a:solidFill>
                      <a:srgbClr val="F1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73747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19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8E1E5"/>
                      </a:solidFill>
                      <a:prstDash val="solid"/>
                    </a:lnR>
                    <a:lnB w="5715">
                      <a:solidFill>
                        <a:srgbClr val="D8E1E5"/>
                      </a:solidFill>
                      <a:prstDash val="solid"/>
                    </a:lnB>
                    <a:solidFill>
                      <a:srgbClr val="F1F5F7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73747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Predicted-Kd rank within population top50</a:t>
                      </a:r>
                    </a:p>
                  </a:txBody>
                  <a:tcPr marL="91440" marR="91440" marT="45720" marB="45720">
                    <a:lnL w="5715">
                      <a:solidFill>
                        <a:srgbClr val="D8E1E5"/>
                      </a:solidFill>
                      <a:prstDash val="solid"/>
                    </a:lnL>
                    <a:lnR w="5715">
                      <a:solidFill>
                        <a:srgbClr val="D8E1E5"/>
                      </a:solidFill>
                      <a:prstDash val="solid"/>
                    </a:lnR>
                    <a:lnB w="5715">
                      <a:solidFill>
                        <a:srgbClr val="D8E1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73747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5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8E1E5"/>
                      </a:solidFill>
                      <a:prstDash val="solid"/>
                    </a:lnR>
                    <a:lnB w="5715">
                      <a:solidFill>
                        <a:srgbClr val="D8E1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73747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Candidate / receptor residues (aa)</a:t>
                      </a:r>
                    </a:p>
                  </a:txBody>
                  <a:tcPr marL="91440" marR="91440" marT="45720" marB="45720">
                    <a:lnL w="5715">
                      <a:solidFill>
                        <a:srgbClr val="D8E1E5"/>
                      </a:solidFill>
                      <a:prstDash val="solid"/>
                    </a:lnL>
                    <a:lnR w="5715">
                      <a:solidFill>
                        <a:srgbClr val="D8E1E5"/>
                      </a:solidFill>
                      <a:prstDash val="solid"/>
                    </a:lnR>
                    <a:lnB w="5715">
                      <a:solidFill>
                        <a:srgbClr val="D8E1E5"/>
                      </a:solidFill>
                      <a:prstDash val="solid"/>
                    </a:lnB>
                    <a:solidFill>
                      <a:srgbClr val="F1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73747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159 / 440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8E1E5"/>
                      </a:solidFill>
                      <a:prstDash val="solid"/>
                    </a:lnR>
                    <a:lnB w="5715">
                      <a:solidFill>
                        <a:srgbClr val="D8E1E5"/>
                      </a:solidFill>
                      <a:prstDash val="solid"/>
                    </a:lnB>
                    <a:solidFill>
                      <a:srgbClr val="F1F5F7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73747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pDockQ / pDockQ2</a:t>
                      </a:r>
                    </a:p>
                  </a:txBody>
                  <a:tcPr marL="91440" marR="91440" marT="45720" marB="45720">
                    <a:lnL w="5715">
                      <a:solidFill>
                        <a:srgbClr val="D8E1E5"/>
                      </a:solidFill>
                      <a:prstDash val="solid"/>
                    </a:lnL>
                    <a:lnR w="5715">
                      <a:solidFill>
                        <a:srgbClr val="D8E1E5"/>
                      </a:solidFill>
                      <a:prstDash val="solid"/>
                    </a:lnR>
                    <a:lnB w="5715">
                      <a:solidFill>
                        <a:srgbClr val="D8E1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73747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0.4014 / 0.1735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8E1E5"/>
                      </a:solidFill>
                      <a:prstDash val="solid"/>
                    </a:lnR>
                    <a:lnB w="5715">
                      <a:solidFill>
                        <a:srgbClr val="D8E1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73747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Whole fusion / linker pLDDT (0-100)</a:t>
                      </a:r>
                    </a:p>
                  </a:txBody>
                  <a:tcPr marL="91440" marR="91440" marT="45720" marB="45720">
                    <a:lnL w="5715">
                      <a:solidFill>
                        <a:srgbClr val="D8E1E5"/>
                      </a:solidFill>
                      <a:prstDash val="solid"/>
                    </a:lnL>
                    <a:lnR w="5715">
                      <a:solidFill>
                        <a:srgbClr val="D8E1E5"/>
                      </a:solidFill>
                      <a:prstDash val="solid"/>
                    </a:lnR>
                    <a:lnB w="5715">
                      <a:solidFill>
                        <a:srgbClr val="D8E1E5"/>
                      </a:solidFill>
                      <a:prstDash val="solid"/>
                    </a:lnB>
                    <a:solidFill>
                      <a:srgbClr val="F1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73747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52.4 / 42.3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8E1E5"/>
                      </a:solidFill>
                      <a:prstDash val="solid"/>
                    </a:lnR>
                    <a:lnB w="5715">
                      <a:solidFill>
                        <a:srgbClr val="D8E1E5"/>
                      </a:solidFill>
                      <a:prstDash val="solid"/>
                    </a:lnB>
                    <a:solidFill>
                      <a:srgbClr val="F1F5F7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73747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ECD / LigandForge pLDDT (0-100)</a:t>
                      </a:r>
                    </a:p>
                  </a:txBody>
                  <a:tcPr marL="91440" marR="91440" marT="45720" marB="45720">
                    <a:lnL w="5715">
                      <a:solidFill>
                        <a:srgbClr val="D8E1E5"/>
                      </a:solidFill>
                      <a:prstDash val="solid"/>
                    </a:lnL>
                    <a:lnR w="5715">
                      <a:solidFill>
                        <a:srgbClr val="D8E1E5"/>
                      </a:solidFill>
                      <a:prstDash val="solid"/>
                    </a:lnR>
                    <a:lnB w="5715">
                      <a:solidFill>
                        <a:srgbClr val="D8E1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73747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68.2 / 43.1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8E1E5"/>
                      </a:solidFill>
                      <a:prstDash val="solid"/>
                    </a:lnR>
                    <a:lnB w="5715">
                      <a:solidFill>
                        <a:srgbClr val="D8E1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73747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Fusion design-to-refold DockQ</a:t>
                      </a:r>
                    </a:p>
                  </a:txBody>
                  <a:tcPr marL="91440" marR="91440" marT="45720" marB="45720">
                    <a:lnL w="5715">
                      <a:solidFill>
                        <a:srgbClr val="D8E1E5"/>
                      </a:solidFill>
                      <a:prstDash val="solid"/>
                    </a:lnL>
                    <a:lnR w="5715">
                      <a:solidFill>
                        <a:srgbClr val="D8E1E5"/>
                      </a:solidFill>
                      <a:prstDash val="solid"/>
                    </a:lnR>
                    <a:lnB w="5715">
                      <a:solidFill>
                        <a:srgbClr val="D8E1E5"/>
                      </a:solidFill>
                      <a:prstDash val="solid"/>
                    </a:lnB>
                    <a:solidFill>
                      <a:srgbClr val="F1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73747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0.2733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8E1E5"/>
                      </a:solidFill>
                      <a:prstDash val="solid"/>
                    </a:lnR>
                    <a:lnB w="5715">
                      <a:solidFill>
                        <a:srgbClr val="D8E1E5"/>
                      </a:solidFill>
                      <a:prstDash val="solid"/>
                    </a:lnB>
                    <a:solidFill>
                      <a:srgbClr val="F1F5F7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73747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Free C-terminal OPM z (A)</a:t>
                      </a:r>
                    </a:p>
                  </a:txBody>
                  <a:tcPr marL="91440" marR="91440" marT="45720" marB="45720">
                    <a:lnL w="5715">
                      <a:solidFill>
                        <a:srgbClr val="D8E1E5"/>
                      </a:solidFill>
                      <a:prstDash val="solid"/>
                    </a:lnL>
                    <a:lnR w="5715">
                      <a:solidFill>
                        <a:srgbClr val="D8E1E5"/>
                      </a:solidFill>
                      <a:prstDash val="solid"/>
                    </a:lnR>
                    <a:lnB w="5715">
                      <a:solidFill>
                        <a:srgbClr val="D8E1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73747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63.98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8E1E5"/>
                      </a:solidFill>
                      <a:prstDash val="solid"/>
                    </a:lnR>
                    <a:lnB w="5715">
                      <a:solidFill>
                        <a:srgbClr val="D8E1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73747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Extracellular free C-terminal screen</a:t>
                      </a:r>
                    </a:p>
                  </a:txBody>
                  <a:tcPr marL="91440" marR="91440" marT="45720" marB="45720">
                    <a:lnL w="5715">
                      <a:solidFill>
                        <a:srgbClr val="D8E1E5"/>
                      </a:solidFill>
                      <a:prstDash val="solid"/>
                    </a:lnL>
                    <a:lnR w="5715">
                      <a:solidFill>
                        <a:srgbClr val="D8E1E5"/>
                      </a:solidFill>
                      <a:prstDash val="solid"/>
                    </a:lnR>
                    <a:lnB w="5715">
                      <a:solidFill>
                        <a:srgbClr val="D8E1E5"/>
                      </a:solidFill>
                      <a:prstDash val="solid"/>
                    </a:lnB>
                    <a:solidFill>
                      <a:srgbClr val="F1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73747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Pass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8E1E5"/>
                      </a:solidFill>
                      <a:prstDash val="solid"/>
                    </a:lnR>
                    <a:lnB w="5715">
                      <a:solidFill>
                        <a:srgbClr val="D8E1E5"/>
                      </a:solidFill>
                      <a:prstDash val="solid"/>
                    </a:lnB>
                    <a:solidFill>
                      <a:srgbClr val="F1F5F7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73747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DeltaForge length scope</a:t>
                      </a:r>
                    </a:p>
                  </a:txBody>
                  <a:tcPr marL="91440" marR="91440" marT="45720" marB="45720">
                    <a:lnL w="5715">
                      <a:solidFill>
                        <a:srgbClr val="D8E1E5"/>
                      </a:solidFill>
                      <a:prstDash val="solid"/>
                    </a:lnL>
                    <a:lnR w="5715">
                      <a:solidFill>
                        <a:srgbClr val="D8E1E5"/>
                      </a:solidFill>
                      <a:prstDash val="solid"/>
                    </a:lnR>
                    <a:lnB w="5715">
                      <a:solidFill>
                        <a:srgbClr val="D8E1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73747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long_gt_140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8E1E5"/>
                      </a:solidFill>
                      <a:prstDash val="solid"/>
                    </a:lnR>
                    <a:lnB w="5715">
                      <a:solidFill>
                        <a:srgbClr val="D8E1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648FFE8-D0F2-4CFB-BEB0-9B0001626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1457325"/>
            <a:ext cx="4095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950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950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950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950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950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950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950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950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950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950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173747"/>
                </a:solidFill>
                <a:latin typeface="DejaVu Sans"/>
                <a:ea typeface="DejaVu Sans"/>
                <a:cs typeface="DejaVu Sans"/>
              </a:rPr>
              <a:t>Origin and prediction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0DC5659-E9BD-46EF-B292-8E4D02B9D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1952625"/>
            <a:ext cx="4095750" cy="390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725" b="0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725" b="0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725" b="0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725" b="0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725" b="0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725" b="0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725" b="0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725" b="0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725" b="0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725" b="0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173747"/>
                </a:solidFill>
                <a:latin typeface="DejaVu Sans"/>
                <a:ea typeface="DejaVu Sans"/>
                <a:cs typeface="DejaVu Sans"/>
              </a:rPr>
              <a:t>ECD parent S10_02_067</a:t>
            </a:r>
          </a:p>
          <a:p xmlns:a="http://schemas.openxmlformats.org/drawingml/2006/main">
            <a:pPr>
              <a:defRPr sz="1725" b="0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173747"/>
                </a:solidFill>
                <a:latin typeface="DejaVu Sans"/>
                <a:ea typeface="DejaVu Sans"/>
                <a:cs typeface="DejaVu Sans"/>
              </a:rPr>
              <a:t>LigandForge parent Design_280</a:t>
            </a:r>
          </a:p>
          <a:p xmlns:a="http://schemas.openxmlformats.org/drawingml/2006/main">
            <a:pPr>
              <a:defRPr sz="1725" b="0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173747"/>
                </a:solidFill>
                <a:latin typeface="DejaVu Sans"/>
                <a:ea typeface="DejaVu Sans"/>
                <a:cs typeface="DejaVu Sans"/>
              </a:rPr>
              <a:t>Pair P093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725" b="0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173747"/>
                </a:solidFill>
                <a:latin typeface="DejaVu Sans"/>
                <a:ea typeface="DejaVu Sans"/>
                <a:cs typeface="DejaVu Sans"/>
              </a:rPr>
              <a:t>AP Novo seed 1034</a:t>
            </a:r>
          </a:p>
          <a:p xmlns:a="http://schemas.openxmlformats.org/drawingml/2006/main">
            <a:pPr>
              <a:defRPr sz="1725" b="0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173747"/>
                </a:solidFill>
                <a:latin typeface="DejaVu Sans"/>
                <a:ea typeface="DejaVu Sans"/>
                <a:cs typeface="DejaVu Sans"/>
              </a:rPr>
              <a:t>Exact seed 101</a:t>
            </a:r>
          </a:p>
          <a:p xmlns:a="http://schemas.openxmlformats.org/drawingml/2006/main">
            <a:pPr>
              <a:defRPr sz="1725" b="0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173747"/>
                </a:solidFill>
                <a:latin typeface="DejaVu Sans"/>
                <a:ea typeface="DejaVu Sans"/>
                <a:cs typeface="DejaVu Sans"/>
              </a:rPr>
              <a:t>3 recycles, 200 steps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725" b="0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173747"/>
                </a:solidFill>
                <a:latin typeface="DejaVu Sans"/>
                <a:ea typeface="DejaVu Sans"/>
                <a:cs typeface="DejaVu Sans"/>
              </a:rPr>
              <a:t>ECD A1-60  linker A61-90  LF A91-159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03C20E3-0A46-4394-8B28-066A75114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81750"/>
            <a:ext cx="14192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650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650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650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650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650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650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650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650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650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650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50616C"/>
                </a:solidFill>
                <a:latin typeface="DejaVu Sans"/>
                <a:ea typeface="DejaVu Sans"/>
                <a:cs typeface="DejaVu Sans"/>
              </a:rPr>
              <a:t>Whole-fusion pLDDT remains modest. High interface confidence does not establish activation.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8E31A0F-8096-4320-9BFD-C43AC1C6C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115175"/>
            <a:ext cx="14192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57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57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57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57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57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57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57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57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57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57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57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pPr>
            <a:r>
              <a:rPr sz="1575" b="1">
                <a:solidFill>
                  <a:srgbClr val="173747"/>
                </a:solidFill>
                <a:latin typeface="DejaVu Sans"/>
                <a:ea typeface="DejaVu Sans"/>
                <a:cs typeface="DejaVu Sans"/>
              </a:rPr>
              <a:t>Complete selected sequence, N to C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23ACE3E-114E-4F2B-9D9D-BB856CEC9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410450"/>
            <a:ext cx="141922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500" b="0">
                <a:solidFill>
                  <a:srgbClr val="173747"/>
                </a:solidFill>
                <a:latin typeface="DejaVu Sans Mono"/>
                <a:ea typeface="DejaVu Sans Mono"/>
                <a:cs typeface="DejaVu Sans Mono"/>
              </a:defRPr>
            </a:defPPr>
            <a:lvl1pPr>
              <a:defRPr sz="1500" b="0">
                <a:solidFill>
                  <a:srgbClr val="173747"/>
                </a:solidFill>
                <a:latin typeface="DejaVu Sans Mono"/>
                <a:ea typeface="DejaVu Sans Mono"/>
                <a:cs typeface="DejaVu Sans Mono"/>
              </a:defRPr>
            </a:lvl1pPr>
            <a:lvl2pPr>
              <a:defRPr sz="1500" b="0">
                <a:solidFill>
                  <a:srgbClr val="173747"/>
                </a:solidFill>
                <a:latin typeface="DejaVu Sans Mono"/>
                <a:ea typeface="DejaVu Sans Mono"/>
                <a:cs typeface="DejaVu Sans Mono"/>
              </a:defRPr>
            </a:lvl2pPr>
            <a:lvl3pPr>
              <a:defRPr sz="1500" b="0">
                <a:solidFill>
                  <a:srgbClr val="173747"/>
                </a:solidFill>
                <a:latin typeface="DejaVu Sans Mono"/>
                <a:ea typeface="DejaVu Sans Mono"/>
                <a:cs typeface="DejaVu Sans Mono"/>
              </a:defRPr>
            </a:lvl3pPr>
            <a:lvl4pPr>
              <a:defRPr sz="1500" b="0">
                <a:solidFill>
                  <a:srgbClr val="173747"/>
                </a:solidFill>
                <a:latin typeface="DejaVu Sans Mono"/>
                <a:ea typeface="DejaVu Sans Mono"/>
                <a:cs typeface="DejaVu Sans Mono"/>
              </a:defRPr>
            </a:lvl4pPr>
            <a:lvl5pPr>
              <a:defRPr sz="1500" b="0">
                <a:solidFill>
                  <a:srgbClr val="173747"/>
                </a:solidFill>
                <a:latin typeface="DejaVu Sans Mono"/>
                <a:ea typeface="DejaVu Sans Mono"/>
                <a:cs typeface="DejaVu Sans Mono"/>
              </a:defRPr>
            </a:lvl5pPr>
            <a:lvl6pPr>
              <a:defRPr sz="1500" b="0">
                <a:solidFill>
                  <a:srgbClr val="173747"/>
                </a:solidFill>
                <a:latin typeface="DejaVu Sans Mono"/>
                <a:ea typeface="DejaVu Sans Mono"/>
                <a:cs typeface="DejaVu Sans Mono"/>
              </a:defRPr>
            </a:lvl6pPr>
            <a:lvl7pPr>
              <a:defRPr sz="1500" b="0">
                <a:solidFill>
                  <a:srgbClr val="173747"/>
                </a:solidFill>
                <a:latin typeface="DejaVu Sans Mono"/>
                <a:ea typeface="DejaVu Sans Mono"/>
                <a:cs typeface="DejaVu Sans Mono"/>
              </a:defRPr>
            </a:lvl7pPr>
            <a:lvl8pPr>
              <a:defRPr sz="1500" b="0">
                <a:solidFill>
                  <a:srgbClr val="173747"/>
                </a:solidFill>
                <a:latin typeface="DejaVu Sans Mono"/>
                <a:ea typeface="DejaVu Sans Mono"/>
                <a:cs typeface="DejaVu Sans Mono"/>
              </a:defRPr>
            </a:lvl8pPr>
            <a:lvl9pPr>
              <a:defRPr sz="1500" b="0">
                <a:solidFill>
                  <a:srgbClr val="173747"/>
                </a:solidFill>
                <a:latin typeface="DejaVu Sans Mono"/>
                <a:ea typeface="DejaVu Sans Mono"/>
                <a:cs typeface="DejaVu Sans Mono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173747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00" b="0">
                <a:solidFill>
                  <a:srgbClr val="173747"/>
                </a:solidFill>
                <a:latin typeface="DejaVu Sans Mono"/>
                <a:ea typeface="DejaVu Sans Mono"/>
                <a:cs typeface="DejaVu Sans Mono"/>
              </a:rPr>
              <a:t>SSSSSVPAPSIDYLGAFREHGANAEVAEFLYRYLREIKGKSEKEAILLLTAAASIANLVAGISSSVPDPRTPPP</a:t>
            </a:r>
          </a:p>
          <a:p xmlns:a="http://schemas.openxmlformats.org/drawingml/2006/main">
            <a:pPr>
              <a:defRPr sz="1500" b="0">
                <a:solidFill>
                  <a:srgbClr val="173747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00" b="0">
                <a:solidFill>
                  <a:srgbClr val="173747"/>
                </a:solidFill>
                <a:latin typeface="DejaVu Sans Mono"/>
                <a:ea typeface="DejaVu Sans Mono"/>
                <a:cs typeface="DejaVu Sans Mono"/>
              </a:rPr>
              <a:t>PPPPVPVEPLDPSSLTEVSGATIDLRVKTCVDFKQTVNFFKLRNTQLPGSCTKDNTVLFLLEGLKLGYASRYFS</a:t>
            </a:r>
          </a:p>
          <a:p xmlns:a="http://schemas.openxmlformats.org/drawingml/2006/main">
            <a:pPr>
              <a:defRPr sz="1500" b="0">
                <a:solidFill>
                  <a:srgbClr val="173747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00" b="0">
                <a:solidFill>
                  <a:srgbClr val="173747"/>
                </a:solidFill>
                <a:latin typeface="DejaVu Sans Mono"/>
                <a:ea typeface="DejaVu Sans Mono"/>
                <a:cs typeface="DejaVu Sans Mono"/>
              </a:rPr>
              <a:t>IGSGSGSQQFS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D369BFA-BC4C-45AC-868E-C7C67FC60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248650"/>
            <a:ext cx="1304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2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2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2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2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2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2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2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2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2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2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50616C"/>
                </a:solidFill>
                <a:latin typeface="DejaVu Sans"/>
                <a:ea typeface="DejaVu Sans"/>
                <a:cs typeface="DejaVu Sans"/>
              </a:rPr>
              <a:t>Human GLP1R     Boltz2 Exact     Computational predictions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6A6C0D8-ECA4-431E-88CE-E67157F67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0" y="82486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2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2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2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2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2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2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2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2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2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2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50616C"/>
                </a:solidFill>
                <a:latin typeface="DejaVu Sans"/>
                <a:ea typeface="DejaVu Sans"/>
                <a:cs typeface="DejaVu Sans"/>
              </a:rPr>
              <a:t>39</a:t>
            </a:r>
          </a:p>
        </p:txBody>
      </p:sp>
    </p:spTree>
    <p:extLst>
      <p:ext uri="{BB962C8B-B14F-4D97-AF65-F5344CB8AC3E}">
        <p14:creationId xmlns:p14="http://schemas.microsoft.com/office/powerpoint/2010/main" val="1484806348"/>
      </p:ext>
    </p:extLst>
  </p:cSld>
</p:sld>
</file>

<file path=ppt/slides/slide4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A2A0BCE-2124-416B-B363-DB222AA26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76225"/>
            <a:ext cx="1428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22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322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322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322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322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322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322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322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322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322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73747"/>
                </a:solidFill>
                <a:latin typeface="DejaVu Sans"/>
                <a:ea typeface="DejaVu Sans"/>
                <a:cs typeface="DejaVu Sans"/>
              </a:rPr>
              <a:t>20  LK_P093_03  structure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69CB636-B8EC-4897-BA30-58DD6399F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95350"/>
            <a:ext cx="1428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8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8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8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8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8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8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8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8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8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50616C"/>
                </a:solidFill>
                <a:latin typeface="DejaVu Sans"/>
                <a:ea typeface="DejaVu Sans"/>
                <a:cs typeface="DejaVu Sans"/>
              </a:rPr>
              <a:t>D-L-D fusion   Candidate A: 159 aa   Human GLP1R B: 440 aa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28B4AFA-C489-46FB-A339-7FD90706B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362075"/>
            <a:ext cx="619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7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87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87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87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87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87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87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87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87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87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173747"/>
                </a:solidFill>
                <a:latin typeface="DejaVu Sans"/>
                <a:ea typeface="DejaVu Sans"/>
                <a:cs typeface="DejaVu Sans"/>
              </a:rPr>
              <a:t>Boltz2 Exact receptor complex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8C1C18D-5BA2-4E48-B42B-4ECA1F58F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362075"/>
            <a:ext cx="619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7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87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87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87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87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87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87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87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87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87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173747"/>
                </a:solidFill>
                <a:latin typeface="DejaVu Sans"/>
                <a:ea typeface="DejaVu Sans"/>
                <a:cs typeface="DejaVu Sans"/>
              </a:rPr>
              <a:t>Boltz2 Exact interface detail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9D9DC4D-ADFA-44AA-A196-3200FBC4623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76af4025ff34682"/>
          <a:stretch xmlns:a="http://schemas.openxmlformats.org/drawingml/2006/main"/>
        </p:blipFill>
        <p:spPr>
          <a:xfrm xmlns:a="http://schemas.openxmlformats.org/drawingml/2006/main">
            <a:off x="2344208" y="1724025"/>
            <a:ext cx="3217333" cy="4572000"/>
          </a:xfrm>
          <a:prstGeom xmlns:a="http://schemas.openxmlformats.org/drawingml/2006/main" prst="rect">
            <a:avLst/>
          </a:prstGeom>
        </p:spPr>
      </p:pic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4E5823C-DE92-40E8-AE5C-005B8ED0A0A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2b8dacd5e3842d9"/>
          <a:stretch xmlns:a="http://schemas.openxmlformats.org/drawingml/2006/main"/>
        </p:blipFill>
        <p:spPr>
          <a:xfrm xmlns:a="http://schemas.openxmlformats.org/drawingml/2006/main">
            <a:off x="9296093" y="1724025"/>
            <a:ext cx="3982065" cy="457200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16D499E-7BAC-4A19-A1AB-08B2BF166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579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650" b="1">
                <a:solidFill>
                  <a:srgbClr val="E69F00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650" b="1">
                <a:solidFill>
                  <a:srgbClr val="E69F00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650" b="1">
                <a:solidFill>
                  <a:srgbClr val="E69F00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650" b="1">
                <a:solidFill>
                  <a:srgbClr val="E69F00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650" b="1">
                <a:solidFill>
                  <a:srgbClr val="E69F00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650" b="1">
                <a:solidFill>
                  <a:srgbClr val="E69F00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650" b="1">
                <a:solidFill>
                  <a:srgbClr val="E69F00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650" b="1">
                <a:solidFill>
                  <a:srgbClr val="E69F00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650" b="1">
                <a:solidFill>
                  <a:srgbClr val="E69F00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650" b="1">
                <a:solidFill>
                  <a:srgbClr val="E69F00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E69F00"/>
                </a:solidFill>
                <a:latin typeface="DejaVu Sans"/>
                <a:ea typeface="DejaVu Sans"/>
                <a:cs typeface="DejaVu Sans"/>
              </a:defRPr>
            </a:pPr>
            <a:r>
              <a:rPr sz="1650" b="1">
                <a:solidFill>
                  <a:srgbClr val="E69F00"/>
                </a:solidFill>
                <a:latin typeface="DejaVu Sans"/>
                <a:ea typeface="DejaVu Sans"/>
                <a:cs typeface="DejaVu Sans"/>
              </a:rPr>
              <a:t>LigandForge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3A7ADDD-CFFE-4339-BDC4-2FE0F8C99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64579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650" b="1">
                <a:solidFill>
                  <a:srgbClr val="AA4499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650" b="1">
                <a:solidFill>
                  <a:srgbClr val="AA4499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650" b="1">
                <a:solidFill>
                  <a:srgbClr val="AA4499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650" b="1">
                <a:solidFill>
                  <a:srgbClr val="AA4499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650" b="1">
                <a:solidFill>
                  <a:srgbClr val="AA4499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650" b="1">
                <a:solidFill>
                  <a:srgbClr val="AA4499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650" b="1">
                <a:solidFill>
                  <a:srgbClr val="AA4499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650" b="1">
                <a:solidFill>
                  <a:srgbClr val="AA4499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650" b="1">
                <a:solidFill>
                  <a:srgbClr val="AA4499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650" b="1">
                <a:solidFill>
                  <a:srgbClr val="AA4499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AA4499"/>
                </a:solidFill>
                <a:latin typeface="DejaVu Sans"/>
                <a:ea typeface="DejaVu Sans"/>
                <a:cs typeface="DejaVu Sans"/>
              </a:defRPr>
            </a:pPr>
            <a:r>
              <a:rPr sz="1650" b="1">
                <a:solidFill>
                  <a:srgbClr val="AA4499"/>
                </a:solidFill>
                <a:latin typeface="DejaVu Sans"/>
                <a:ea typeface="DejaVu Sans"/>
                <a:cs typeface="DejaVu Sans"/>
              </a:rPr>
              <a:t>Linker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29A1107-A56D-4B8C-9A00-700C507D7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64579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650" b="1">
                <a:solidFill>
                  <a:srgbClr val="0072B2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650" b="1">
                <a:solidFill>
                  <a:srgbClr val="0072B2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650" b="1">
                <a:solidFill>
                  <a:srgbClr val="0072B2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650" b="1">
                <a:solidFill>
                  <a:srgbClr val="0072B2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650" b="1">
                <a:solidFill>
                  <a:srgbClr val="0072B2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650" b="1">
                <a:solidFill>
                  <a:srgbClr val="0072B2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650" b="1">
                <a:solidFill>
                  <a:srgbClr val="0072B2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650" b="1">
                <a:solidFill>
                  <a:srgbClr val="0072B2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650" b="1">
                <a:solidFill>
                  <a:srgbClr val="0072B2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650" b="1">
                <a:solidFill>
                  <a:srgbClr val="0072B2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0072B2"/>
                </a:solidFill>
                <a:latin typeface="DejaVu Sans"/>
                <a:ea typeface="DejaVu Sans"/>
                <a:cs typeface="DejaVu Sans"/>
              </a:defRPr>
            </a:pPr>
            <a:r>
              <a:rPr sz="1650" b="1">
                <a:solidFill>
                  <a:srgbClr val="0072B2"/>
                </a:solidFill>
                <a:latin typeface="DejaVu Sans"/>
                <a:ea typeface="DejaVu Sans"/>
                <a:cs typeface="DejaVu Sans"/>
              </a:rPr>
              <a:t>ECD binder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8457681-C093-466E-BE06-2B51F96D9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64579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650" b="1">
                <a:solidFill>
                  <a:srgbClr val="009E73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650" b="1">
                <a:solidFill>
                  <a:srgbClr val="009E73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650" b="1">
                <a:solidFill>
                  <a:srgbClr val="009E73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650" b="1">
                <a:solidFill>
                  <a:srgbClr val="009E73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650" b="1">
                <a:solidFill>
                  <a:srgbClr val="009E73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650" b="1">
                <a:solidFill>
                  <a:srgbClr val="009E73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650" b="1">
                <a:solidFill>
                  <a:srgbClr val="009E73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650" b="1">
                <a:solidFill>
                  <a:srgbClr val="009E73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650" b="1">
                <a:solidFill>
                  <a:srgbClr val="009E73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650" b="1">
                <a:solidFill>
                  <a:srgbClr val="009E73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009E73"/>
                </a:solidFill>
                <a:latin typeface="DejaVu Sans"/>
                <a:ea typeface="DejaVu Sans"/>
                <a:cs typeface="DejaVu Sans"/>
              </a:defRPr>
            </a:pPr>
            <a:r>
              <a:rPr sz="1650" b="1">
                <a:solidFill>
                  <a:srgbClr val="009E73"/>
                </a:solidFill>
                <a:latin typeface="DejaVu Sans"/>
                <a:ea typeface="DejaVu Sans"/>
                <a:cs typeface="DejaVu Sans"/>
              </a:rPr>
              <a:t>Receptor ECD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9B5CF41-FCCA-4549-9B3C-728674A2E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64579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650" b="1">
                <a:solidFill>
                  <a:srgbClr val="7B8794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650" b="1">
                <a:solidFill>
                  <a:srgbClr val="7B8794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650" b="1">
                <a:solidFill>
                  <a:srgbClr val="7B8794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650" b="1">
                <a:solidFill>
                  <a:srgbClr val="7B8794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650" b="1">
                <a:solidFill>
                  <a:srgbClr val="7B8794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650" b="1">
                <a:solidFill>
                  <a:srgbClr val="7B8794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650" b="1">
                <a:solidFill>
                  <a:srgbClr val="7B8794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650" b="1">
                <a:solidFill>
                  <a:srgbClr val="7B8794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650" b="1">
                <a:solidFill>
                  <a:srgbClr val="7B8794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650" b="1">
                <a:solidFill>
                  <a:srgbClr val="7B8794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7B8794"/>
                </a:solidFill>
                <a:latin typeface="DejaVu Sans"/>
                <a:ea typeface="DejaVu Sans"/>
                <a:cs typeface="DejaVu Sans"/>
              </a:defRPr>
            </a:pPr>
            <a:r>
              <a:rPr sz="1650" b="1">
                <a:solidFill>
                  <a:srgbClr val="7B8794"/>
                </a:solidFill>
                <a:latin typeface="DejaVu Sans"/>
                <a:ea typeface="DejaVu Sans"/>
                <a:cs typeface="DejaVu Sans"/>
              </a:rPr>
              <a:t>Remaining receptor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BAD9C35-70D1-4011-B9DC-3F0AF9154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0" y="64579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650" b="1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650" b="1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650" b="1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650" b="1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650" b="1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650" b="1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650" b="1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650" b="1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650" b="1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650" b="1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1650" b="1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Hotspots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5A811EA-7B5F-4AF1-9212-CBC6FFA99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800850"/>
            <a:ext cx="1428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42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42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42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42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42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42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42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42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42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42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>
                <a:solidFill>
                  <a:srgbClr val="50616C"/>
                </a:solidFill>
                <a:latin typeface="DejaVu Sans"/>
                <a:ea typeface="DejaVu Sans"/>
                <a:cs typeface="DejaVu Sans"/>
              </a:rPr>
              <a:t>Receptor ECD B1–105 (UniProt 24–128). Black sticks: E34, Q37 and R40. View-specific zoom.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3DC24C2-3226-465E-95B3-C2DBF3C89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134225"/>
            <a:ext cx="14192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57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57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57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57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57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57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57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57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57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57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575" b="1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pPr>
            <a:r>
              <a:rPr sz="1575" b="1">
                <a:solidFill>
                  <a:srgbClr val="173747"/>
                </a:solidFill>
                <a:latin typeface="DejaVu Sans"/>
                <a:ea typeface="DejaVu Sans"/>
                <a:cs typeface="DejaVu Sans"/>
              </a:rPr>
              <a:t>Complete selected sequence, N to C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7623ACF-708C-4638-8A40-768856CE4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429500"/>
            <a:ext cx="141922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500" b="0">
                <a:solidFill>
                  <a:srgbClr val="173747"/>
                </a:solidFill>
                <a:latin typeface="DejaVu Sans Mono"/>
                <a:ea typeface="DejaVu Sans Mono"/>
                <a:cs typeface="DejaVu Sans Mono"/>
              </a:defRPr>
            </a:defPPr>
            <a:lvl1pPr>
              <a:defRPr sz="1500" b="0">
                <a:solidFill>
                  <a:srgbClr val="173747"/>
                </a:solidFill>
                <a:latin typeface="DejaVu Sans Mono"/>
                <a:ea typeface="DejaVu Sans Mono"/>
                <a:cs typeface="DejaVu Sans Mono"/>
              </a:defRPr>
            </a:lvl1pPr>
            <a:lvl2pPr>
              <a:defRPr sz="1500" b="0">
                <a:solidFill>
                  <a:srgbClr val="173747"/>
                </a:solidFill>
                <a:latin typeface="DejaVu Sans Mono"/>
                <a:ea typeface="DejaVu Sans Mono"/>
                <a:cs typeface="DejaVu Sans Mono"/>
              </a:defRPr>
            </a:lvl2pPr>
            <a:lvl3pPr>
              <a:defRPr sz="1500" b="0">
                <a:solidFill>
                  <a:srgbClr val="173747"/>
                </a:solidFill>
                <a:latin typeface="DejaVu Sans Mono"/>
                <a:ea typeface="DejaVu Sans Mono"/>
                <a:cs typeface="DejaVu Sans Mono"/>
              </a:defRPr>
            </a:lvl3pPr>
            <a:lvl4pPr>
              <a:defRPr sz="1500" b="0">
                <a:solidFill>
                  <a:srgbClr val="173747"/>
                </a:solidFill>
                <a:latin typeface="DejaVu Sans Mono"/>
                <a:ea typeface="DejaVu Sans Mono"/>
                <a:cs typeface="DejaVu Sans Mono"/>
              </a:defRPr>
            </a:lvl4pPr>
            <a:lvl5pPr>
              <a:defRPr sz="1500" b="0">
                <a:solidFill>
                  <a:srgbClr val="173747"/>
                </a:solidFill>
                <a:latin typeface="DejaVu Sans Mono"/>
                <a:ea typeface="DejaVu Sans Mono"/>
                <a:cs typeface="DejaVu Sans Mono"/>
              </a:defRPr>
            </a:lvl5pPr>
            <a:lvl6pPr>
              <a:defRPr sz="1500" b="0">
                <a:solidFill>
                  <a:srgbClr val="173747"/>
                </a:solidFill>
                <a:latin typeface="DejaVu Sans Mono"/>
                <a:ea typeface="DejaVu Sans Mono"/>
                <a:cs typeface="DejaVu Sans Mono"/>
              </a:defRPr>
            </a:lvl6pPr>
            <a:lvl7pPr>
              <a:defRPr sz="1500" b="0">
                <a:solidFill>
                  <a:srgbClr val="173747"/>
                </a:solidFill>
                <a:latin typeface="DejaVu Sans Mono"/>
                <a:ea typeface="DejaVu Sans Mono"/>
                <a:cs typeface="DejaVu Sans Mono"/>
              </a:defRPr>
            </a:lvl7pPr>
            <a:lvl8pPr>
              <a:defRPr sz="1500" b="0">
                <a:solidFill>
                  <a:srgbClr val="173747"/>
                </a:solidFill>
                <a:latin typeface="DejaVu Sans Mono"/>
                <a:ea typeface="DejaVu Sans Mono"/>
                <a:cs typeface="DejaVu Sans Mono"/>
              </a:defRPr>
            </a:lvl8pPr>
            <a:lvl9pPr>
              <a:defRPr sz="1500" b="0">
                <a:solidFill>
                  <a:srgbClr val="173747"/>
                </a:solidFill>
                <a:latin typeface="DejaVu Sans Mono"/>
                <a:ea typeface="DejaVu Sans Mono"/>
                <a:cs typeface="DejaVu Sans Mono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173747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00" b="0">
                <a:solidFill>
                  <a:srgbClr val="173747"/>
                </a:solidFill>
                <a:latin typeface="DejaVu Sans Mono"/>
                <a:ea typeface="DejaVu Sans Mono"/>
                <a:cs typeface="DejaVu Sans Mono"/>
              </a:rPr>
              <a:t>SSSSSVPAPSIDYLGAFREHGANAEVAEFLYRYLREIKGKSEKEAILLLTAAASIANLVAGISSSVPDPRTPPP</a:t>
            </a:r>
          </a:p>
          <a:p xmlns:a="http://schemas.openxmlformats.org/drawingml/2006/main">
            <a:pPr>
              <a:defRPr sz="1500" b="0">
                <a:solidFill>
                  <a:srgbClr val="173747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00" b="0">
                <a:solidFill>
                  <a:srgbClr val="173747"/>
                </a:solidFill>
                <a:latin typeface="DejaVu Sans Mono"/>
                <a:ea typeface="DejaVu Sans Mono"/>
                <a:cs typeface="DejaVu Sans Mono"/>
              </a:rPr>
              <a:t>PPPPVPVEPLDPSSLTEVSGATIDLRVKTCVDFKQTVNFFKLRNTQLPGSCTKDNTVLFLLEGLKLGYASRYFS</a:t>
            </a:r>
          </a:p>
          <a:p xmlns:a="http://schemas.openxmlformats.org/drawingml/2006/main">
            <a:pPr>
              <a:defRPr sz="1500" b="0">
                <a:solidFill>
                  <a:srgbClr val="173747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00" b="0">
                <a:solidFill>
                  <a:srgbClr val="173747"/>
                </a:solidFill>
                <a:latin typeface="DejaVu Sans Mono"/>
                <a:ea typeface="DejaVu Sans Mono"/>
                <a:cs typeface="DejaVu Sans Mono"/>
              </a:rPr>
              <a:t>IGSGSGSQQFS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E7BAD58-D34A-4288-A3A3-0F4A18E65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248650"/>
            <a:ext cx="1304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2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2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2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2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2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2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2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2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2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2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50616C"/>
                </a:solidFill>
                <a:latin typeface="DejaVu Sans"/>
                <a:ea typeface="DejaVu Sans"/>
                <a:cs typeface="DejaVu Sans"/>
              </a:rPr>
              <a:t>Human GLP1R     Boltz2 Exact     Computational predictions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C6C7902-A778-4774-9ECD-9E6F0A08E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0" y="82486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2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2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2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2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2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2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2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2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2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2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0616C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50616C"/>
                </a:solidFill>
                <a:latin typeface="DejaVu Sans"/>
                <a:ea typeface="DejaVu Sans"/>
                <a:cs typeface="DejaVu Sans"/>
              </a:rPr>
              <a:t>40</a:t>
            </a:r>
          </a:p>
        </p:txBody>
      </p:sp>
    </p:spTree>
    <p:extLst>
      <p:ext uri="{BB962C8B-B14F-4D97-AF65-F5344CB8AC3E}">
        <p14:creationId xmlns:p14="http://schemas.microsoft.com/office/powerpoint/2010/main" val="123552095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DejaVu Sans"/>
        <a:ea typeface=""/>
        <a:cs typeface=""/>
      </a:majorFont>
      <a:minorFont>
        <a:latin typeface="DejaVu San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2026-10-26T00:41:47.3660000Z</dcterms:created>
  <dcterms:modified xsi:type="dcterms:W3CDTF">2026-10-26T00:41:47.3660000Z</dcterms:modified>
</coreProperties>
</file>